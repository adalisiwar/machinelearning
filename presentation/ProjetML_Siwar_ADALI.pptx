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Calibri (MS) Bold" charset="1" panose="020F0702030404030204"/>
      <p:regular r:id="rId33"/>
    </p:embeddedFont>
    <p:embeddedFont>
      <p:font typeface="Calibri (MS) Italics" charset="1" panose="020F05020202040A0204"/>
      <p:regular r:id="rId34"/>
    </p:embeddedFont>
    <p:embeddedFont>
      <p:font typeface="Calibri (MS)" charset="1" panose="020F05020202040302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notesSlides/notesSlide5.xml" Type="http://schemas.openxmlformats.org/officeDocument/2006/relationships/notesSlide"/><Relationship Id="rId4" Target="theme/theme1.xml" Type="http://schemas.openxmlformats.org/officeDocument/2006/relationships/theme"/><Relationship Id="rId40" Target="notesSlides/notesSlide6.xml" Type="http://schemas.openxmlformats.org/officeDocument/2006/relationships/notesSlide"/><Relationship Id="rId41" Target="notesSlides/notesSlide7.xml" Type="http://schemas.openxmlformats.org/officeDocument/2006/relationships/notesSlide"/><Relationship Id="rId42" Target="notesSlides/notesSlide8.xml" Type="http://schemas.openxmlformats.org/officeDocument/2006/relationships/notesSlide"/><Relationship Id="rId43" Target="notesSlides/notesSlide9.xml" Type="http://schemas.openxmlformats.org/officeDocument/2006/relationships/notesSlide"/><Relationship Id="rId44" Target="notesSlides/notesSlide10.xml" Type="http://schemas.openxmlformats.org/officeDocument/2006/relationships/notesSlide"/><Relationship Id="rId45" Target="notesSlides/notesSlide11.xml" Type="http://schemas.openxmlformats.org/officeDocument/2006/relationships/notesSlide"/><Relationship Id="rId46" Target="notesSlides/notesSlide12.xml" Type="http://schemas.openxmlformats.org/officeDocument/2006/relationships/notesSlide"/><Relationship Id="rId47" Target="notesSlides/notesSlide13.xml" Type="http://schemas.openxmlformats.org/officeDocument/2006/relationships/notesSlide"/><Relationship Id="rId48" Target="notesSlides/notesSlide14.xml" Type="http://schemas.openxmlformats.org/officeDocument/2006/relationships/notesSlide"/><Relationship Id="rId49" Target="notesSlides/notesSlide15.xml" Type="http://schemas.openxmlformats.org/officeDocument/2006/relationships/notesSlide"/><Relationship Id="rId5" Target="tableStyles.xml" Type="http://schemas.openxmlformats.org/officeDocument/2006/relationships/tableStyles"/><Relationship Id="rId50" Target="notesSlides/notesSlide16.xml" Type="http://schemas.openxmlformats.org/officeDocument/2006/relationships/notesSlide"/><Relationship Id="rId51" Target="notesSlides/notesSlide17.xml" Type="http://schemas.openxmlformats.org/officeDocument/2006/relationships/notesSlide"/><Relationship Id="rId52" Target="notesSlides/notesSlide18.xml" Type="http://schemas.openxmlformats.org/officeDocument/2006/relationships/notesSlide"/><Relationship Id="rId53" Target="notesSlides/notesSlide19.xml" Type="http://schemas.openxmlformats.org/officeDocument/2006/relationships/notesSlide"/><Relationship Id="rId54" Target="notesSlides/notesSlide20.xml" Type="http://schemas.openxmlformats.org/officeDocument/2006/relationships/notesSlide"/><Relationship Id="rId55" Target="notesSlides/notesSlide21.xml" Type="http://schemas.openxmlformats.org/officeDocument/2006/relationships/notesSlide"/><Relationship Id="rId56" Target="notesSlides/notesSlide22.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Bonjour à toutes et à tous.Aujourd'hui, je vais vous présenter mon projet de Machine Learning appliqué à l'analyse comportementale de la clientèle retail.</a:t>
            </a:r>
          </a:p>
          <a:p>
            <a:r>
              <a:rPr lang="en-US"/>
              <a:t>L'objectif central de ce projet est de construire un système complet capable de prédire trois choses : quels clients vont partir (churn), combien chaque client va dépenser, et dans quel segment comportemental il se trouve.</a:t>
            </a:r>
          </a:p>
          <a:p>
            <a:r>
              <a:rPr lang="en-US"/>
              <a:t>Ce projet mobilise l'ensemble du pipeline data science : de l'exploration des données brutes jusqu'au déploiement d'une application web interactive via Flask.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commencera par poser le contexte et comprendre pourquoi ce problème est stratégiquement important. Ensuite, on explorera les données, on verra comment je les ai préparées en 3eme partie, puis je vous présenterai les modèles de classification, de régression et de clustering. Et on finira par le déploiement Flask et une conclusion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En fait dans un marché e-commerce en forte croissance, retenir un client existant coûte 5 à 7 fois moins cher qu'en acquérir un nouveau. Pourtant, sans outil analytique, il est impossible d'identifier à l'avance qui va partir.</a:t>
            </a:r>
          </a:p>
          <a:p>
            <a:r>
              <a:rPr lang="en-US"/>
              <a:t>C'est exactement le problème que ce projet résout. Au lieu de réagir après le départ d'un client, on veut être proactif : détecter les signaux faibles avant que le client ne soit perdu, et agir en conséquence.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dataset utilisé contient 4 372 clients avec 34 variables chacun — un mix de données comportementales, transactionnelles et démographiques.</a:t>
            </a:r>
          </a:p>
          <a:p>
            <a:r>
              <a:rPr lang="en-US"/>
              <a:t>Ce qui est intéressant ici, c'est la richesse du dataset : on a à la fois des métriques RFM classiques comme la récence, la fréquence et le montant, mais aussi des informations plus fines comme le ratio de retours, la préférence horaire d'achat, la diversité produit, ou encore le score de satisfaction.</a:t>
            </a:r>
          </a:p>
          <a:p>
            <a:r>
              <a:rPr lang="en-US"/>
              <a:t>Le taux de churn réel dans le dataset est d'environ 35%, ce qui crée un déséquilibre des classes — un problème que j'adresserai avec SMOTE lors de la modélisation. Les variables catégorielles comme la saison préférée ou le type de client ajoutent une dimension comportementale précieuse.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L'étape clé est la standardisation avant PCA : sans StandardScaler, la PCA serait biaisée par les variables à grande variance. Enfin, je réduis les 34 dimensions à 10 composantes principales qui capturent l'essentiel de l'information, puis j'applique KMeans pour créer 4 segments. </a:t>
            </a:r>
          </a:p>
          <a:p>
            <a:r>
              <a:rPr lang="en-US"/>
              <a:t/>
            </a:r>
          </a:p>
          <a:p>
            <a:r>
              <a:rPr lang="en-US"/>
              <a:t>Tous ces artefacts sont sauvegardés pour être réutilisés à l'inférence.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la prédiction du churn, j'ai adopté une approche comparative rigoureuse : entraîner 4 classifieurs différents dans les mêmes conditions et sélectionner le meilleur objectivement.</a:t>
            </a:r>
          </a:p>
          <a:p>
            <a:r>
              <a:rPr lang="en-US"/>
              <a:t>Avant tout, j'applique SMOTE — Synthetic Minority Over-sampling Technique — pour rééquilibrer les classes. Sans ça, un classifieur peut atteindre 65% d'accuracy en prédisant toujours "pas de churn", ce qui serait complètement inutile en pratique.</a:t>
            </a:r>
          </a:p>
          <a:p>
            <a:r>
              <a:rPr lang="en-US"/>
              <a:t>Les 4 modèles vont du plus simple (KNN) au plus sophistiqué (XGBoost). Cette progression me permet d'observer comment la complexité du modèle impacte les performances, et de justifier le choix final. Les métriques retenues — notamment l'AUC-ROC et le F1-Score — sont plus pertinentes que l'accuracy simple sur des données déséquilibrées.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tableau résume les performances comparées des 4 classifieurs sur le même jeu de test. Les résultats sont clairs.</a:t>
            </a:r>
          </a:p>
          <a:p>
            <a:r>
              <a:rPr lang="en-US"/>
              <a:t>XGBoost s'impose comme le meilleur modèle avec un AUC-ROC de 0.945 — c'est-à-dire qu'il discrimine correctement un client churnant d'un client stable dans 94.5% des cas. Son F1-Score de 0.838 confirme un bon équilibre entre précision et rappel, ce qui est exactement ce qu'on veut : ni trop de faux positifs (gaspillage de budget marketing), ni trop de faux négatifs (clients perdus non détectés).</a:t>
            </a:r>
          </a:p>
          <a:p>
            <a:r>
              <a:rPr lang="en-US"/>
              <a:t>Le Decision Tree est logiquement le moins performant — trop simple pour capturer les interactions complexes entre variables. Random Forest est compétitif mais légèrement en retrait face à XGBoost sur tous les critères. C'est donc XGBoost qui est sauvegardé comme modèle de production.</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première matrice nous montre les prédictions du modéle Decision Tree sur le jeu de test. On a 457 vrais négatifs — des clients fidèles correctement identifiés — et 225 vrais positifs — des churners bien détectés. Mais regardez les erreurs : 82 faux positifs, des clients fidèles qu'on a classés à tort comme churners, et surtout 58 faux négatifs — ce sont les clients qui ont churné mais que le modèle n'a pas détectés.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deuxième matrice présente notre modèle final : XGBoost. On obtient 492 vrais négatifs et 238 vrais positifs, soit encore plus de churners correctement détectés qu'avec le Random Forest. Côté erreurs : 47 faux positifs, légèrement plus élevés, mais surtout 45 faux négatifs — contre 51 avec le Random Forest.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graphique visualise les trois métriques principales côte à côte pour tous les modèles, et confirme visuellement ce que le tableau montrait.</a:t>
            </a:r>
          </a:p>
          <a:p>
            <a:r>
              <a:rPr lang="en-US"/>
              <a:t>On voit clairement que XGBoost reste le choix optimal car il combine la meilleure AUC-ROC avec un F1-Score supérieur, garantissant à la fois la détection et la précision.</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parallèle du classifieur de churn, j'ai développé un modèle de régression pour estimer les dépenses futures de chaque client. Cette information est complémentaire : savoir qu'un client va partir c'est bien, mais savoir combien il représente financièrement c'est indispensable pour prioriser les actions.</a:t>
            </a:r>
          </a:p>
          <a:p>
            <a:r>
              <a:rPr lang="en-US"/>
              <a:t>J'utilise un RandomForestRegressor entraîné sur les features numériques brutes — donc pas les composantes PCA, mais les variables originales. La transformation log sur la variable cible est cruciale : les montants sont fortement asymétriques, avec quelques très gros acheteurs qui faussent l'apprentissage. Après transformation, le modèle apprend sur une distribution plus proche de la normale.</a:t>
            </a:r>
          </a:p>
          <a:p>
            <a:r>
              <a:rPr lang="en-US"/>
              <a:t>Les résultats sont excellents : R² de 0.96 en cross-validation 5-fold, ce qui signifie que le modèle explique 96% de la variance des dépenses. Les features les plus prédictives sont les métriques de volume et de diversité d'achat.</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clustering est la troisième brique du projet. </a:t>
            </a:r>
          </a:p>
          <a:p>
            <a:r>
              <a:rPr lang="en-US"/>
              <a:t>Mon pipeline ici enchaîne trois étapes : standardisation des features, réduction à 10 composantes PCA, puis KMeans avec 4 clusters. Pourquoi 4 ? J'ai utilisé la méthode du coude sur l'inertie pour valider ce choix.</a:t>
            </a:r>
          </a:p>
          <a:p>
            <a:r>
              <a:rPr lang="en-US"/>
              <a:t>Les 4 segments obtenus ont une interprétation business claire. Les Ambassadeurs sont des clients fidèles et à haute valeur. Les Acheteurs de Gros Volume sont le segment le plus nombreux avec 43.7%, à fort potentiel d'upselling. Les Clients Actifs Standards forment le cœur stable de la clientèle. Et les Nouveaux ou À Risque, avec 22.7%, sont les profils à surveiller en priorité pour la rétention.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graphique en anneau illustre la distribution des 4 372 clients entre les segments. La répartition est relativement équilibrée, ce qui valide la pertinence du choix de k=4.</a:t>
            </a:r>
          </a:p>
          <a:p>
            <a:r>
              <a:rPr lang="en-US"/>
              <a:t>Le segment dominant à 43.7% est celui des Acheteurs de Gros Volume — ce sont des clients qui achètent beaucoup mais pas forcément de façon très engagée.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rendre ce travail utilisable en pratique, j'ai développé une application web complète avec Flask. L'idée est simple : n'importe quel responsable marketing ou commercial peut uploader un fichier CSV de clients et obtenir instantanément les prédictions de churn, de dépenses et de segment.</a:t>
            </a:r>
          </a:p>
          <a:p>
            <a:r>
              <a:rPr lang="en-US"/>
              <a:t>Le pipeline backend est entièrement automatisé en 5 étapes : l'utilisateur uploade le CSV, le préprocessing réplique exactement les transformations de l'entraînement, puis les trois modèles sont appliqués en séquence. Les résultats s'affichent dans un tableau de bord interactif avec 4 onglets et 6 graphiques Chart.js natifs.</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page d'accueil propose un drag-and-drop intuitif avec un loader animé qui montre en temps réel quelle étape du pipeline est en cours — Encodage, Scaling, PCA, Churn, Clustering, Régression. Cela donne une transparence totale sur ce qui se passe côté serveur.</a:t>
            </a:r>
          </a:p>
          <a:p>
            <a:r>
              <a:rPr lang="en-US"/>
              <a:t>Une fois les prédictions calculées, l'utilisateur dispose de 4 onglets : une vue d'ensemble avec les KPIs et les graphiques principaux, une analyse détaillée du churn avec le top 10 des clients à risque, la répartition des segments, et enfin un tableau de prévisualisation des 15 premiers clients. Les exports CSV et JSON permettent d'exploiter les résultats dans d'autres outils.</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page d'accueil propose un drag-and-drop intuitif avec un loader animé qui montre en temps réel quelle étape du pipeline est en cours — Encodage, Scaling, PCA, Churn, Clustering, Régression. Cela donne une transparence totale sur ce qui se passe côté serveur.</a:t>
            </a:r>
          </a:p>
          <a:p>
            <a:r>
              <a:rPr lang="en-US"/>
              <a:t>Une fois les prédictions calculées, l'utilisateur dispose de 4 onglets : une vue d'ensemble avec les KPIs et les graphiques principaux, une analyse détaillée du churn avec le top 10 des clients à risque, la répartition des segments, et enfin un tableau de prévisualisation des 15 premiers clients. Les exports CSV et JSON permettent d'exploiter les résultats dans d'autres outils.</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partant d'un CSV de 4 372 clients, j'ai construit un pipeline complet qui produit trois types de prédictions complémentaires, les expose via une application web interactive, et permet à n'importe quel utilisateur non-technique d'exploiter ces modèles sans toucher au code.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projet ouvre plusieurs pistes concrètes d'exploitation business. Connaître la probabilité de churn de chaque client permet de construire une liste priorisée pour les équipes de rétention — les ressources vont là où elles ont le plus d'impact.</a:t>
            </a:r>
          </a:p>
          <a:p>
            <a:r>
              <a:rPr lang="en-US"/>
              <a:t>Combiné avec les prédictions de dépenses, on peut calculer un score de valeur à risque : un client avec 80% de probabilité de churn et 5 000 DT de dépenses prévues est prioritaire sur un client à 90% mais qui ne représente que 200 DT.</a:t>
            </a:r>
          </a:p>
          <a:p>
            <a:r>
              <a:rPr lang="en-US"/>
              <a:t>Côté perspectives techniques, 5 axes sont particulièrement prometteurs.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 Id="rId4"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 Id="rId4" Target="../media/image1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12423143" y="-12697"/>
            <a:ext cx="5877563" cy="10312403"/>
            <a:chOff x="0" y="0"/>
            <a:chExt cx="7836751" cy="13749871"/>
          </a:xfrm>
        </p:grpSpPr>
        <p:sp>
          <p:nvSpPr>
            <p:cNvPr name="Freeform 3" id="3"/>
            <p:cNvSpPr/>
            <p:nvPr/>
          </p:nvSpPr>
          <p:spPr>
            <a:xfrm flipH="false" flipV="false" rot="0">
              <a:off x="16891" y="16891"/>
              <a:ext cx="7802881" cy="13715999"/>
            </a:xfrm>
            <a:custGeom>
              <a:avLst/>
              <a:gdLst/>
              <a:ahLst/>
              <a:cxnLst/>
              <a:rect r="r" b="b" t="t" l="l"/>
              <a:pathLst>
                <a:path h="13715999" w="7802881">
                  <a:moveTo>
                    <a:pt x="0" y="0"/>
                  </a:moveTo>
                  <a:lnTo>
                    <a:pt x="7802881" y="0"/>
                  </a:lnTo>
                  <a:lnTo>
                    <a:pt x="7802881" y="13715999"/>
                  </a:lnTo>
                  <a:lnTo>
                    <a:pt x="0" y="13715999"/>
                  </a:lnTo>
                  <a:close/>
                </a:path>
              </a:pathLst>
            </a:custGeom>
            <a:solidFill>
              <a:srgbClr val="0D1E35"/>
            </a:solidFill>
          </p:spPr>
        </p:sp>
        <p:sp>
          <p:nvSpPr>
            <p:cNvPr name="Freeform 4" id="4"/>
            <p:cNvSpPr/>
            <p:nvPr/>
          </p:nvSpPr>
          <p:spPr>
            <a:xfrm flipH="false" flipV="false" rot="0">
              <a:off x="0" y="0"/>
              <a:ext cx="7836662" cy="13749782"/>
            </a:xfrm>
            <a:custGeom>
              <a:avLst/>
              <a:gdLst/>
              <a:ahLst/>
              <a:cxnLst/>
              <a:rect r="r" b="b" t="t" l="l"/>
              <a:pathLst>
                <a:path h="13749782" w="7836662">
                  <a:moveTo>
                    <a:pt x="16891" y="0"/>
                  </a:moveTo>
                  <a:lnTo>
                    <a:pt x="7819772" y="0"/>
                  </a:lnTo>
                  <a:cubicBezTo>
                    <a:pt x="7829169" y="0"/>
                    <a:pt x="7836662" y="7620"/>
                    <a:pt x="7836662" y="16891"/>
                  </a:cubicBezTo>
                  <a:lnTo>
                    <a:pt x="7836662" y="13732890"/>
                  </a:lnTo>
                  <a:cubicBezTo>
                    <a:pt x="7836662" y="13742290"/>
                    <a:pt x="7829042" y="13749782"/>
                    <a:pt x="7819772"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7819772" y="13716000"/>
                  </a:lnTo>
                  <a:lnTo>
                    <a:pt x="7819772" y="13732890"/>
                  </a:lnTo>
                  <a:lnTo>
                    <a:pt x="7802880" y="13732890"/>
                  </a:lnTo>
                  <a:lnTo>
                    <a:pt x="7802880" y="16891"/>
                  </a:lnTo>
                  <a:lnTo>
                    <a:pt x="7819772" y="16891"/>
                  </a:lnTo>
                  <a:lnTo>
                    <a:pt x="7819772" y="33909"/>
                  </a:lnTo>
                  <a:lnTo>
                    <a:pt x="16891" y="33909"/>
                  </a:lnTo>
                  <a:close/>
                </a:path>
              </a:pathLst>
            </a:custGeom>
            <a:solidFill>
              <a:srgbClr val="1E3352"/>
            </a:solidFill>
          </p:spPr>
        </p:sp>
      </p:grpSp>
      <p:grpSp>
        <p:nvGrpSpPr>
          <p:cNvPr name="Group 5" id="5"/>
          <p:cNvGrpSpPr/>
          <p:nvPr/>
        </p:nvGrpSpPr>
        <p:grpSpPr>
          <a:xfrm rot="0">
            <a:off x="17543783" y="-12697"/>
            <a:ext cx="756923" cy="10312403"/>
            <a:chOff x="0" y="0"/>
            <a:chExt cx="1009231" cy="13749871"/>
          </a:xfrm>
        </p:grpSpPr>
        <p:sp>
          <p:nvSpPr>
            <p:cNvPr name="Freeform 6" id="6"/>
            <p:cNvSpPr/>
            <p:nvPr/>
          </p:nvSpPr>
          <p:spPr>
            <a:xfrm flipH="false" flipV="false" rot="0">
              <a:off x="16891" y="16891"/>
              <a:ext cx="975360" cy="13715999"/>
            </a:xfrm>
            <a:custGeom>
              <a:avLst/>
              <a:gdLst/>
              <a:ahLst/>
              <a:cxnLst/>
              <a:rect r="r" b="b" t="t" l="l"/>
              <a:pathLst>
                <a:path h="13715999" w="975360">
                  <a:moveTo>
                    <a:pt x="0" y="0"/>
                  </a:moveTo>
                  <a:lnTo>
                    <a:pt x="975360" y="0"/>
                  </a:lnTo>
                  <a:lnTo>
                    <a:pt x="975360" y="13715999"/>
                  </a:lnTo>
                  <a:lnTo>
                    <a:pt x="0" y="13715999"/>
                  </a:lnTo>
                  <a:close/>
                </a:path>
              </a:pathLst>
            </a:custGeom>
            <a:solidFill>
              <a:srgbClr val="00E5A0">
                <a:alpha val="15686"/>
              </a:srgbClr>
            </a:solidFill>
          </p:spPr>
        </p:sp>
        <p:sp>
          <p:nvSpPr>
            <p:cNvPr name="Freeform 7" id="7"/>
            <p:cNvSpPr/>
            <p:nvPr/>
          </p:nvSpPr>
          <p:spPr>
            <a:xfrm flipH="false" flipV="false" rot="0">
              <a:off x="0" y="0"/>
              <a:ext cx="1009142" cy="13749782"/>
            </a:xfrm>
            <a:custGeom>
              <a:avLst/>
              <a:gdLst/>
              <a:ahLst/>
              <a:cxnLst/>
              <a:rect r="r" b="b" t="t" l="l"/>
              <a:pathLst>
                <a:path h="13749782" w="1009142">
                  <a:moveTo>
                    <a:pt x="16891" y="0"/>
                  </a:moveTo>
                  <a:lnTo>
                    <a:pt x="992251" y="0"/>
                  </a:lnTo>
                  <a:cubicBezTo>
                    <a:pt x="1001649" y="0"/>
                    <a:pt x="1009142" y="7620"/>
                    <a:pt x="1009142" y="16891"/>
                  </a:cubicBezTo>
                  <a:lnTo>
                    <a:pt x="1009142" y="13732890"/>
                  </a:lnTo>
                  <a:cubicBezTo>
                    <a:pt x="1009142" y="13742290"/>
                    <a:pt x="1001522" y="13749782"/>
                    <a:pt x="992251"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992251" y="13716000"/>
                  </a:lnTo>
                  <a:lnTo>
                    <a:pt x="992251" y="13732890"/>
                  </a:lnTo>
                  <a:lnTo>
                    <a:pt x="975360" y="13732890"/>
                  </a:lnTo>
                  <a:lnTo>
                    <a:pt x="975360" y="16891"/>
                  </a:lnTo>
                  <a:lnTo>
                    <a:pt x="992251" y="16891"/>
                  </a:lnTo>
                  <a:lnTo>
                    <a:pt x="992251" y="33909"/>
                  </a:lnTo>
                  <a:lnTo>
                    <a:pt x="16891" y="33909"/>
                  </a:lnTo>
                  <a:close/>
                </a:path>
              </a:pathLst>
            </a:custGeom>
            <a:solidFill>
              <a:srgbClr val="00E5A0"/>
            </a:solidFill>
          </p:spPr>
        </p:sp>
      </p:grpSp>
      <p:grpSp>
        <p:nvGrpSpPr>
          <p:cNvPr name="Group 8" id="8"/>
          <p:cNvGrpSpPr/>
          <p:nvPr/>
        </p:nvGrpSpPr>
        <p:grpSpPr>
          <a:xfrm rot="0">
            <a:off x="901703" y="993143"/>
            <a:ext cx="5146043" cy="665483"/>
            <a:chOff x="0" y="0"/>
            <a:chExt cx="6861391" cy="887311"/>
          </a:xfrm>
        </p:grpSpPr>
        <p:sp>
          <p:nvSpPr>
            <p:cNvPr name="Freeform 9" id="9"/>
            <p:cNvSpPr/>
            <p:nvPr/>
          </p:nvSpPr>
          <p:spPr>
            <a:xfrm flipH="false" flipV="false" rot="0">
              <a:off x="16891" y="16891"/>
              <a:ext cx="6827520" cy="853440"/>
            </a:xfrm>
            <a:custGeom>
              <a:avLst/>
              <a:gdLst/>
              <a:ahLst/>
              <a:cxnLst/>
              <a:rect r="r" b="b" t="t" l="l"/>
              <a:pathLst>
                <a:path h="853440" w="6827520">
                  <a:moveTo>
                    <a:pt x="0" y="195072"/>
                  </a:moveTo>
                  <a:cubicBezTo>
                    <a:pt x="0" y="87376"/>
                    <a:pt x="90297" y="0"/>
                    <a:pt x="201803" y="0"/>
                  </a:cubicBezTo>
                  <a:lnTo>
                    <a:pt x="6625717" y="0"/>
                  </a:lnTo>
                  <a:cubicBezTo>
                    <a:pt x="6737223" y="0"/>
                    <a:pt x="6827520" y="87376"/>
                    <a:pt x="6827520" y="195072"/>
                  </a:cubicBezTo>
                  <a:lnTo>
                    <a:pt x="6827520" y="658368"/>
                  </a:lnTo>
                  <a:cubicBezTo>
                    <a:pt x="6827520" y="766064"/>
                    <a:pt x="6737223" y="853440"/>
                    <a:pt x="6625717" y="853440"/>
                  </a:cubicBezTo>
                  <a:lnTo>
                    <a:pt x="201803" y="853440"/>
                  </a:lnTo>
                  <a:cubicBezTo>
                    <a:pt x="90297" y="853440"/>
                    <a:pt x="0" y="766064"/>
                    <a:pt x="0" y="658368"/>
                  </a:cubicBezTo>
                  <a:close/>
                </a:path>
              </a:pathLst>
            </a:custGeom>
            <a:solidFill>
              <a:srgbClr val="00E5A0">
                <a:alpha val="1961"/>
              </a:srgbClr>
            </a:solidFill>
          </p:spPr>
        </p:sp>
        <p:sp>
          <p:nvSpPr>
            <p:cNvPr name="Freeform 10" id="10"/>
            <p:cNvSpPr/>
            <p:nvPr/>
          </p:nvSpPr>
          <p:spPr>
            <a:xfrm flipH="false" flipV="false" rot="0">
              <a:off x="0" y="0"/>
              <a:ext cx="6861301" cy="887222"/>
            </a:xfrm>
            <a:custGeom>
              <a:avLst/>
              <a:gdLst/>
              <a:ahLst/>
              <a:cxnLst/>
              <a:rect r="r" b="b" t="t" l="l"/>
              <a:pathLst>
                <a:path h="887222" w="6861301">
                  <a:moveTo>
                    <a:pt x="0" y="211963"/>
                  </a:moveTo>
                  <a:cubicBezTo>
                    <a:pt x="0" y="94361"/>
                    <a:pt x="98425" y="0"/>
                    <a:pt x="218694" y="0"/>
                  </a:cubicBezTo>
                  <a:lnTo>
                    <a:pt x="6642608" y="0"/>
                  </a:lnTo>
                  <a:lnTo>
                    <a:pt x="6642608" y="16891"/>
                  </a:lnTo>
                  <a:lnTo>
                    <a:pt x="6642608" y="0"/>
                  </a:lnTo>
                  <a:cubicBezTo>
                    <a:pt x="6762876" y="0"/>
                    <a:pt x="6861301" y="94361"/>
                    <a:pt x="6861301" y="211963"/>
                  </a:cubicBezTo>
                  <a:lnTo>
                    <a:pt x="6844411" y="211963"/>
                  </a:lnTo>
                  <a:lnTo>
                    <a:pt x="6861301" y="211963"/>
                  </a:lnTo>
                  <a:lnTo>
                    <a:pt x="6861301" y="675259"/>
                  </a:lnTo>
                  <a:lnTo>
                    <a:pt x="6844411" y="675259"/>
                  </a:lnTo>
                  <a:lnTo>
                    <a:pt x="6861301" y="675259"/>
                  </a:lnTo>
                  <a:cubicBezTo>
                    <a:pt x="6861301" y="792861"/>
                    <a:pt x="6762876" y="887222"/>
                    <a:pt x="6642608" y="887222"/>
                  </a:cubicBezTo>
                  <a:lnTo>
                    <a:pt x="6642608" y="870331"/>
                  </a:lnTo>
                  <a:lnTo>
                    <a:pt x="6642608" y="887222"/>
                  </a:lnTo>
                  <a:lnTo>
                    <a:pt x="218694" y="887222"/>
                  </a:lnTo>
                  <a:lnTo>
                    <a:pt x="218694" y="870331"/>
                  </a:lnTo>
                  <a:lnTo>
                    <a:pt x="218694" y="887222"/>
                  </a:lnTo>
                  <a:cubicBezTo>
                    <a:pt x="98425" y="887349"/>
                    <a:pt x="0" y="792988"/>
                    <a:pt x="0" y="675259"/>
                  </a:cubicBezTo>
                  <a:lnTo>
                    <a:pt x="0" y="211963"/>
                  </a:lnTo>
                  <a:lnTo>
                    <a:pt x="16891" y="211963"/>
                  </a:lnTo>
                  <a:lnTo>
                    <a:pt x="0" y="211963"/>
                  </a:lnTo>
                  <a:moveTo>
                    <a:pt x="33909" y="211963"/>
                  </a:moveTo>
                  <a:lnTo>
                    <a:pt x="33909" y="675259"/>
                  </a:lnTo>
                  <a:lnTo>
                    <a:pt x="16891" y="675259"/>
                  </a:lnTo>
                  <a:lnTo>
                    <a:pt x="33909" y="675259"/>
                  </a:lnTo>
                  <a:cubicBezTo>
                    <a:pt x="33909" y="773049"/>
                    <a:pt x="116078" y="853440"/>
                    <a:pt x="218821" y="853440"/>
                  </a:cubicBezTo>
                  <a:lnTo>
                    <a:pt x="6642608" y="853440"/>
                  </a:lnTo>
                  <a:cubicBezTo>
                    <a:pt x="6745224" y="853440"/>
                    <a:pt x="6827520" y="773176"/>
                    <a:pt x="6827520" y="675259"/>
                  </a:cubicBezTo>
                  <a:lnTo>
                    <a:pt x="6827520" y="211963"/>
                  </a:lnTo>
                  <a:cubicBezTo>
                    <a:pt x="6827520" y="114173"/>
                    <a:pt x="6745351" y="33782"/>
                    <a:pt x="6642608" y="33782"/>
                  </a:cubicBezTo>
                  <a:lnTo>
                    <a:pt x="218694" y="33782"/>
                  </a:lnTo>
                  <a:lnTo>
                    <a:pt x="218694" y="16891"/>
                  </a:lnTo>
                  <a:lnTo>
                    <a:pt x="218694" y="33909"/>
                  </a:lnTo>
                  <a:cubicBezTo>
                    <a:pt x="116078" y="33909"/>
                    <a:pt x="33909" y="114173"/>
                    <a:pt x="33909" y="211963"/>
                  </a:cubicBezTo>
                  <a:close/>
                </a:path>
              </a:pathLst>
            </a:custGeom>
            <a:solidFill>
              <a:srgbClr val="00E5A0"/>
            </a:solidFill>
          </p:spPr>
        </p:sp>
      </p:grpSp>
      <p:grpSp>
        <p:nvGrpSpPr>
          <p:cNvPr name="Group 11" id="11"/>
          <p:cNvGrpSpPr/>
          <p:nvPr/>
        </p:nvGrpSpPr>
        <p:grpSpPr>
          <a:xfrm rot="0">
            <a:off x="914400" y="1005840"/>
            <a:ext cx="5120640" cy="640080"/>
            <a:chOff x="0" y="0"/>
            <a:chExt cx="6827520" cy="853440"/>
          </a:xfrm>
        </p:grpSpPr>
        <p:sp>
          <p:nvSpPr>
            <p:cNvPr name="Freeform 12" id="12"/>
            <p:cNvSpPr/>
            <p:nvPr/>
          </p:nvSpPr>
          <p:spPr>
            <a:xfrm flipH="false" flipV="false" rot="0">
              <a:off x="0" y="0"/>
              <a:ext cx="6827520" cy="853440"/>
            </a:xfrm>
            <a:custGeom>
              <a:avLst/>
              <a:gdLst/>
              <a:ahLst/>
              <a:cxnLst/>
              <a:rect r="r" b="b" t="t" l="l"/>
              <a:pathLst>
                <a:path h="853440" w="6827520">
                  <a:moveTo>
                    <a:pt x="0" y="0"/>
                  </a:moveTo>
                  <a:lnTo>
                    <a:pt x="6827520" y="0"/>
                  </a:lnTo>
                  <a:lnTo>
                    <a:pt x="6827520" y="853440"/>
                  </a:lnTo>
                  <a:lnTo>
                    <a:pt x="0" y="853440"/>
                  </a:lnTo>
                  <a:close/>
                </a:path>
              </a:pathLst>
            </a:custGeom>
            <a:blipFill>
              <a:blip r:embed="rId3">
                <a:alphaModFix amt="0"/>
              </a:blip>
              <a:stretch>
                <a:fillRect l="0" t="-105880" r="0" b="-105880"/>
              </a:stretch>
            </a:blipFill>
          </p:spPr>
        </p:sp>
        <p:sp>
          <p:nvSpPr>
            <p:cNvPr name="TextBox 13" id="13"/>
            <p:cNvSpPr txBox="true"/>
            <p:nvPr/>
          </p:nvSpPr>
          <p:spPr>
            <a:xfrm>
              <a:off x="0" y="-28575"/>
              <a:ext cx="6827520" cy="882015"/>
            </a:xfrm>
            <a:prstGeom prst="rect">
              <a:avLst/>
            </a:prstGeom>
          </p:spPr>
          <p:txBody>
            <a:bodyPr anchor="ctr" rtlCol="false" tIns="0" lIns="0" bIns="0" rIns="0"/>
            <a:lstStyle/>
            <a:p>
              <a:pPr algn="ctr">
                <a:lnSpc>
                  <a:spcPts val="1920"/>
                </a:lnSpc>
              </a:pPr>
              <a:r>
                <a:rPr lang="en-US" b="true" sz="1600" spc="600">
                  <a:solidFill>
                    <a:srgbClr val="00E5A0"/>
                  </a:solidFill>
                  <a:latin typeface="Calibri (MS) Bold"/>
                  <a:ea typeface="Calibri (MS) Bold"/>
                  <a:cs typeface="Calibri (MS) Bold"/>
                  <a:sym typeface="Calibri (MS) Bold"/>
                </a:rPr>
                <a:t>ATELIER MACHINE LEARNING</a:t>
              </a:r>
            </a:p>
          </p:txBody>
        </p:sp>
      </p:grpSp>
      <p:sp>
        <p:nvSpPr>
          <p:cNvPr name="TextBox 14" id="14"/>
          <p:cNvSpPr txBox="true"/>
          <p:nvPr/>
        </p:nvSpPr>
        <p:spPr>
          <a:xfrm rot="0">
            <a:off x="1005840" y="1823085"/>
            <a:ext cx="10789920" cy="4806315"/>
          </a:xfrm>
          <a:prstGeom prst="rect">
            <a:avLst/>
          </a:prstGeom>
        </p:spPr>
        <p:txBody>
          <a:bodyPr anchor="t" rtlCol="false" tIns="0" lIns="0" bIns="0" rIns="0">
            <a:spAutoFit/>
          </a:bodyPr>
          <a:lstStyle/>
          <a:p>
            <a:pPr algn="l">
              <a:lnSpc>
                <a:spcPts val="8640"/>
              </a:lnSpc>
            </a:pPr>
            <a:r>
              <a:rPr lang="en-US" sz="7200" b="true">
                <a:solidFill>
                  <a:srgbClr val="FFFFFF"/>
                </a:solidFill>
                <a:latin typeface="Calibri (MS) Bold"/>
                <a:ea typeface="Calibri (MS) Bold"/>
                <a:cs typeface="Calibri (MS) Bold"/>
                <a:sym typeface="Calibri (MS) Bold"/>
              </a:rPr>
              <a:t>Analyse</a:t>
            </a:r>
          </a:p>
          <a:p>
            <a:pPr algn="l">
              <a:lnSpc>
                <a:spcPts val="8640"/>
              </a:lnSpc>
            </a:pPr>
            <a:r>
              <a:rPr lang="en-US" sz="7200" b="true">
                <a:solidFill>
                  <a:srgbClr val="FFFFFF"/>
                </a:solidFill>
                <a:latin typeface="Calibri (MS) Bold"/>
                <a:ea typeface="Calibri (MS) Bold"/>
                <a:cs typeface="Calibri (MS) Bold"/>
                <a:sym typeface="Calibri (MS) Bold"/>
              </a:rPr>
              <a:t>Comportementale</a:t>
            </a:r>
          </a:p>
          <a:p>
            <a:pPr algn="l">
              <a:lnSpc>
                <a:spcPts val="8640"/>
              </a:lnSpc>
            </a:pPr>
            <a:r>
              <a:rPr lang="en-US" sz="7200" b="true">
                <a:solidFill>
                  <a:srgbClr val="FFFFFF"/>
                </a:solidFill>
                <a:latin typeface="Calibri (MS) Bold"/>
                <a:ea typeface="Calibri (MS) Bold"/>
                <a:cs typeface="Calibri (MS) Bold"/>
                <a:sym typeface="Calibri (MS) Bold"/>
              </a:rPr>
              <a:t>Clientèle Retail</a:t>
            </a:r>
          </a:p>
        </p:txBody>
      </p:sp>
      <p:grpSp>
        <p:nvGrpSpPr>
          <p:cNvPr name="Group 15" id="15"/>
          <p:cNvGrpSpPr/>
          <p:nvPr/>
        </p:nvGrpSpPr>
        <p:grpSpPr>
          <a:xfrm rot="0">
            <a:off x="901703" y="6833197"/>
            <a:ext cx="8242297" cy="110661"/>
            <a:chOff x="0" y="0"/>
            <a:chExt cx="9787471" cy="131407"/>
          </a:xfrm>
        </p:grpSpPr>
        <p:sp>
          <p:nvSpPr>
            <p:cNvPr name="Freeform 16" id="16"/>
            <p:cNvSpPr/>
            <p:nvPr/>
          </p:nvSpPr>
          <p:spPr>
            <a:xfrm flipH="false" flipV="false" rot="0">
              <a:off x="16891" y="16891"/>
              <a:ext cx="9753600" cy="97536"/>
            </a:xfrm>
            <a:custGeom>
              <a:avLst/>
              <a:gdLst/>
              <a:ahLst/>
              <a:cxnLst/>
              <a:rect r="r" b="b" t="t" l="l"/>
              <a:pathLst>
                <a:path h="97536" w="9753600">
                  <a:moveTo>
                    <a:pt x="0" y="0"/>
                  </a:moveTo>
                  <a:lnTo>
                    <a:pt x="9753600" y="0"/>
                  </a:lnTo>
                  <a:lnTo>
                    <a:pt x="9753600" y="97536"/>
                  </a:lnTo>
                  <a:lnTo>
                    <a:pt x="0" y="97536"/>
                  </a:lnTo>
                  <a:close/>
                </a:path>
              </a:pathLst>
            </a:custGeom>
            <a:solidFill>
              <a:srgbClr val="00E5A0"/>
            </a:solidFill>
          </p:spPr>
        </p:sp>
        <p:sp>
          <p:nvSpPr>
            <p:cNvPr name="Freeform 17" id="17"/>
            <p:cNvSpPr/>
            <p:nvPr/>
          </p:nvSpPr>
          <p:spPr>
            <a:xfrm flipH="false" flipV="false" rot="0">
              <a:off x="0" y="0"/>
              <a:ext cx="9787382" cy="131320"/>
            </a:xfrm>
            <a:custGeom>
              <a:avLst/>
              <a:gdLst/>
              <a:ahLst/>
              <a:cxnLst/>
              <a:rect r="r" b="b" t="t" l="l"/>
              <a:pathLst>
                <a:path h="131320" w="9787382">
                  <a:moveTo>
                    <a:pt x="16891" y="0"/>
                  </a:moveTo>
                  <a:lnTo>
                    <a:pt x="9770491" y="0"/>
                  </a:lnTo>
                  <a:cubicBezTo>
                    <a:pt x="9779889" y="0"/>
                    <a:pt x="9787382" y="7620"/>
                    <a:pt x="9787382" y="16891"/>
                  </a:cubicBezTo>
                  <a:lnTo>
                    <a:pt x="9787382" y="114427"/>
                  </a:lnTo>
                  <a:cubicBezTo>
                    <a:pt x="9787382" y="123825"/>
                    <a:pt x="9779762" y="131318"/>
                    <a:pt x="9770491" y="131318"/>
                  </a:cubicBezTo>
                  <a:lnTo>
                    <a:pt x="16891" y="131318"/>
                  </a:lnTo>
                  <a:cubicBezTo>
                    <a:pt x="7620" y="131445"/>
                    <a:pt x="0" y="123825"/>
                    <a:pt x="0" y="114427"/>
                  </a:cubicBezTo>
                  <a:lnTo>
                    <a:pt x="0" y="16891"/>
                  </a:lnTo>
                  <a:cubicBezTo>
                    <a:pt x="0" y="7620"/>
                    <a:pt x="7620" y="0"/>
                    <a:pt x="16891" y="0"/>
                  </a:cubicBezTo>
                  <a:moveTo>
                    <a:pt x="16891" y="33909"/>
                  </a:moveTo>
                  <a:lnTo>
                    <a:pt x="16891" y="16891"/>
                  </a:lnTo>
                  <a:lnTo>
                    <a:pt x="33909" y="16891"/>
                  </a:lnTo>
                  <a:lnTo>
                    <a:pt x="33909" y="114427"/>
                  </a:lnTo>
                  <a:lnTo>
                    <a:pt x="16891" y="114427"/>
                  </a:lnTo>
                  <a:lnTo>
                    <a:pt x="16891" y="97536"/>
                  </a:lnTo>
                  <a:lnTo>
                    <a:pt x="9770491" y="97536"/>
                  </a:lnTo>
                  <a:lnTo>
                    <a:pt x="9770491" y="114427"/>
                  </a:lnTo>
                  <a:lnTo>
                    <a:pt x="9753600" y="114427"/>
                  </a:lnTo>
                  <a:lnTo>
                    <a:pt x="9753600" y="16891"/>
                  </a:lnTo>
                  <a:lnTo>
                    <a:pt x="9770491" y="16891"/>
                  </a:lnTo>
                  <a:lnTo>
                    <a:pt x="9770491" y="33909"/>
                  </a:lnTo>
                  <a:lnTo>
                    <a:pt x="16891" y="33909"/>
                  </a:lnTo>
                  <a:close/>
                </a:path>
              </a:pathLst>
            </a:custGeom>
            <a:solidFill>
              <a:srgbClr val="00E5A0"/>
            </a:solidFill>
          </p:spPr>
        </p:sp>
      </p:grpSp>
      <p:grpSp>
        <p:nvGrpSpPr>
          <p:cNvPr name="Group 18" id="18"/>
          <p:cNvGrpSpPr/>
          <p:nvPr/>
        </p:nvGrpSpPr>
        <p:grpSpPr>
          <a:xfrm rot="0">
            <a:off x="914400" y="7040880"/>
            <a:ext cx="10972800" cy="731520"/>
            <a:chOff x="0" y="0"/>
            <a:chExt cx="14630400" cy="975360"/>
          </a:xfrm>
        </p:grpSpPr>
        <p:sp>
          <p:nvSpPr>
            <p:cNvPr name="Freeform 19" id="19"/>
            <p:cNvSpPr/>
            <p:nvPr/>
          </p:nvSpPr>
          <p:spPr>
            <a:xfrm flipH="false" flipV="false" rot="0">
              <a:off x="0" y="0"/>
              <a:ext cx="14630400" cy="975360"/>
            </a:xfrm>
            <a:custGeom>
              <a:avLst/>
              <a:gdLst/>
              <a:ahLst/>
              <a:cxnLst/>
              <a:rect r="r" b="b" t="t" l="l"/>
              <a:pathLst>
                <a:path h="975360" w="14630400">
                  <a:moveTo>
                    <a:pt x="0" y="0"/>
                  </a:moveTo>
                  <a:lnTo>
                    <a:pt x="14630400" y="0"/>
                  </a:lnTo>
                  <a:lnTo>
                    <a:pt x="14630400" y="975360"/>
                  </a:lnTo>
                  <a:lnTo>
                    <a:pt x="0" y="975360"/>
                  </a:lnTo>
                  <a:close/>
                </a:path>
              </a:pathLst>
            </a:custGeom>
            <a:blipFill>
              <a:blip r:embed="rId3">
                <a:alphaModFix amt="0"/>
              </a:blip>
              <a:stretch>
                <a:fillRect l="0" t="-242275" r="0" b="-242275"/>
              </a:stretch>
            </a:blipFill>
          </p:spPr>
        </p:sp>
        <p:sp>
          <p:nvSpPr>
            <p:cNvPr name="TextBox 20" id="20"/>
            <p:cNvSpPr txBox="true"/>
            <p:nvPr/>
          </p:nvSpPr>
          <p:spPr>
            <a:xfrm>
              <a:off x="0" y="-57150"/>
              <a:ext cx="14630400" cy="1032510"/>
            </a:xfrm>
            <a:prstGeom prst="rect">
              <a:avLst/>
            </a:prstGeom>
          </p:spPr>
          <p:txBody>
            <a:bodyPr anchor="ctr" rtlCol="false" tIns="0" lIns="0" bIns="0" rIns="0"/>
            <a:lstStyle/>
            <a:p>
              <a:pPr algn="l">
                <a:lnSpc>
                  <a:spcPts val="3120"/>
                </a:lnSpc>
              </a:pPr>
              <a:r>
                <a:rPr lang="en-US" sz="2600" i="true">
                  <a:solidFill>
                    <a:srgbClr val="E2EDF5"/>
                  </a:solidFill>
                  <a:latin typeface="Calibri (MS) Italics"/>
                  <a:ea typeface="Calibri (MS) Italics"/>
                  <a:cs typeface="Calibri (MS) Italics"/>
                  <a:sym typeface="Calibri (MS) Italics"/>
                </a:rPr>
                <a:t>Prédiction du Churn · Régression · Clustering</a:t>
              </a:r>
            </a:p>
          </p:txBody>
        </p:sp>
      </p:grpSp>
      <p:grpSp>
        <p:nvGrpSpPr>
          <p:cNvPr name="Group 21" id="21"/>
          <p:cNvGrpSpPr/>
          <p:nvPr/>
        </p:nvGrpSpPr>
        <p:grpSpPr>
          <a:xfrm rot="0">
            <a:off x="12801600" y="2377440"/>
            <a:ext cx="5120640" cy="548640"/>
            <a:chOff x="0" y="0"/>
            <a:chExt cx="6827520" cy="731520"/>
          </a:xfrm>
        </p:grpSpPr>
        <p:sp>
          <p:nvSpPr>
            <p:cNvPr name="Freeform 22" id="22"/>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23" id="23"/>
            <p:cNvSpPr txBox="true"/>
            <p:nvPr/>
          </p:nvSpPr>
          <p:spPr>
            <a:xfrm>
              <a:off x="0" y="-28575"/>
              <a:ext cx="6827520" cy="760095"/>
            </a:xfrm>
            <a:prstGeom prst="rect">
              <a:avLst/>
            </a:prstGeom>
          </p:spPr>
          <p:txBody>
            <a:bodyPr anchor="ctr" rtlCol="false" tIns="0" lIns="0" bIns="0" rIns="0"/>
            <a:lstStyle/>
            <a:p>
              <a:pPr algn="ctr">
                <a:lnSpc>
                  <a:spcPts val="1920"/>
                </a:lnSpc>
              </a:pPr>
              <a:r>
                <a:rPr lang="en-US" b="true" sz="1600" spc="600">
                  <a:solidFill>
                    <a:srgbClr val="6B8BAA"/>
                  </a:solidFill>
                  <a:latin typeface="Calibri (MS) Bold"/>
                  <a:ea typeface="Calibri (MS) Bold"/>
                  <a:cs typeface="Calibri (MS) Bold"/>
                  <a:sym typeface="Calibri (MS) Bold"/>
                </a:rPr>
                <a:t>PRÉPARÉ PAR</a:t>
              </a:r>
            </a:p>
          </p:txBody>
        </p:sp>
      </p:grpSp>
      <p:grpSp>
        <p:nvGrpSpPr>
          <p:cNvPr name="Group 24" id="24"/>
          <p:cNvGrpSpPr/>
          <p:nvPr/>
        </p:nvGrpSpPr>
        <p:grpSpPr>
          <a:xfrm rot="0">
            <a:off x="12801600" y="2926080"/>
            <a:ext cx="5120640" cy="822960"/>
            <a:chOff x="0" y="0"/>
            <a:chExt cx="6827520" cy="1097280"/>
          </a:xfrm>
        </p:grpSpPr>
        <p:sp>
          <p:nvSpPr>
            <p:cNvPr name="Freeform 25" id="25"/>
            <p:cNvSpPr/>
            <p:nvPr/>
          </p:nvSpPr>
          <p:spPr>
            <a:xfrm flipH="false" flipV="false" rot="0">
              <a:off x="0" y="0"/>
              <a:ext cx="6827520" cy="1097280"/>
            </a:xfrm>
            <a:custGeom>
              <a:avLst/>
              <a:gdLst/>
              <a:ahLst/>
              <a:cxnLst/>
              <a:rect r="r" b="b" t="t" l="l"/>
              <a:pathLst>
                <a:path h="1097280" w="6827520">
                  <a:moveTo>
                    <a:pt x="0" y="0"/>
                  </a:moveTo>
                  <a:lnTo>
                    <a:pt x="6827520" y="0"/>
                  </a:lnTo>
                  <a:lnTo>
                    <a:pt x="6827520" y="1097280"/>
                  </a:lnTo>
                  <a:lnTo>
                    <a:pt x="0" y="1097280"/>
                  </a:lnTo>
                  <a:close/>
                </a:path>
              </a:pathLst>
            </a:custGeom>
            <a:blipFill>
              <a:blip r:embed="rId3">
                <a:alphaModFix amt="0"/>
              </a:blip>
              <a:stretch>
                <a:fillRect l="0" t="-71240" r="0" b="-71240"/>
              </a:stretch>
            </a:blipFill>
          </p:spPr>
        </p:sp>
        <p:sp>
          <p:nvSpPr>
            <p:cNvPr name="TextBox 26" id="26"/>
            <p:cNvSpPr txBox="true"/>
            <p:nvPr/>
          </p:nvSpPr>
          <p:spPr>
            <a:xfrm>
              <a:off x="0" y="-76200"/>
              <a:ext cx="6827520" cy="1173480"/>
            </a:xfrm>
            <a:prstGeom prst="rect">
              <a:avLst/>
            </a:prstGeom>
          </p:spPr>
          <p:txBody>
            <a:bodyPr anchor="ctr" rtlCol="false" tIns="0" lIns="0" bIns="0" rIns="0"/>
            <a:lstStyle/>
            <a:p>
              <a:pPr algn="ctr">
                <a:lnSpc>
                  <a:spcPts val="4800"/>
                </a:lnSpc>
              </a:pPr>
              <a:r>
                <a:rPr lang="en-US" sz="4000" b="true">
                  <a:solidFill>
                    <a:srgbClr val="00E5A0"/>
                  </a:solidFill>
                  <a:latin typeface="Calibri (MS) Bold"/>
                  <a:ea typeface="Calibri (MS) Bold"/>
                  <a:cs typeface="Calibri (MS) Bold"/>
                  <a:sym typeface="Calibri (MS) Bold"/>
                </a:rPr>
                <a:t>Siwar ADALI</a:t>
              </a:r>
            </a:p>
          </p:txBody>
        </p:sp>
      </p:grpSp>
      <p:grpSp>
        <p:nvGrpSpPr>
          <p:cNvPr name="Group 27" id="27"/>
          <p:cNvGrpSpPr/>
          <p:nvPr/>
        </p:nvGrpSpPr>
        <p:grpSpPr>
          <a:xfrm rot="0">
            <a:off x="12801600" y="3803904"/>
            <a:ext cx="5120640" cy="548640"/>
            <a:chOff x="0" y="0"/>
            <a:chExt cx="6827520" cy="731520"/>
          </a:xfrm>
        </p:grpSpPr>
        <p:sp>
          <p:nvSpPr>
            <p:cNvPr name="Freeform 28" id="28"/>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29" id="29"/>
            <p:cNvSpPr txBox="true"/>
            <p:nvPr/>
          </p:nvSpPr>
          <p:spPr>
            <a:xfrm>
              <a:off x="0" y="-47625"/>
              <a:ext cx="6827520" cy="779145"/>
            </a:xfrm>
            <a:prstGeom prst="rect">
              <a:avLst/>
            </a:prstGeom>
          </p:spPr>
          <p:txBody>
            <a:bodyPr anchor="ctr" rtlCol="false" tIns="0" lIns="0" bIns="0" rIns="0"/>
            <a:lstStyle/>
            <a:p>
              <a:pPr algn="ctr">
                <a:lnSpc>
                  <a:spcPts val="2640"/>
                </a:lnSpc>
              </a:pPr>
              <a:r>
                <a:rPr lang="en-US" sz="2200">
                  <a:solidFill>
                    <a:srgbClr val="6B8BAA"/>
                  </a:solidFill>
                  <a:latin typeface="Calibri (MS)"/>
                  <a:ea typeface="Calibri (MS)"/>
                  <a:cs typeface="Calibri (MS)"/>
                  <a:sym typeface="Calibri (MS)"/>
                </a:rPr>
                <a:t>ENIS GI2</a:t>
              </a:r>
            </a:p>
          </p:txBody>
        </p:sp>
      </p:grpSp>
      <p:grpSp>
        <p:nvGrpSpPr>
          <p:cNvPr name="Group 30" id="30"/>
          <p:cNvGrpSpPr/>
          <p:nvPr/>
        </p:nvGrpSpPr>
        <p:grpSpPr>
          <a:xfrm rot="0">
            <a:off x="12801600" y="4480560"/>
            <a:ext cx="5120640" cy="548640"/>
            <a:chOff x="0" y="0"/>
            <a:chExt cx="6827520" cy="731520"/>
          </a:xfrm>
        </p:grpSpPr>
        <p:sp>
          <p:nvSpPr>
            <p:cNvPr name="Freeform 31" id="31"/>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32" id="32"/>
            <p:cNvSpPr txBox="true"/>
            <p:nvPr/>
          </p:nvSpPr>
          <p:spPr>
            <a:xfrm>
              <a:off x="0" y="-38100"/>
              <a:ext cx="6827520" cy="769620"/>
            </a:xfrm>
            <a:prstGeom prst="rect">
              <a:avLst/>
            </a:prstGeom>
          </p:spPr>
          <p:txBody>
            <a:bodyPr anchor="ctr" rtlCol="false" tIns="0" lIns="0" bIns="0" rIns="0"/>
            <a:lstStyle/>
            <a:p>
              <a:pPr algn="ctr">
                <a:lnSpc>
                  <a:spcPts val="2400"/>
                </a:lnSpc>
              </a:pPr>
              <a:r>
                <a:rPr lang="en-US" sz="2000">
                  <a:solidFill>
                    <a:srgbClr val="1E3352"/>
                  </a:solidFill>
                  <a:latin typeface="Calibri (MS)"/>
                  <a:ea typeface="Calibri (MS)"/>
                  <a:cs typeface="Calibri (MS)"/>
                  <a:sym typeface="Calibri (MS)"/>
                </a:rPr>
                <a:t>──────────────</a:t>
              </a:r>
            </a:p>
          </p:txBody>
        </p:sp>
      </p:grpSp>
      <p:grpSp>
        <p:nvGrpSpPr>
          <p:cNvPr name="Group 33" id="33"/>
          <p:cNvGrpSpPr/>
          <p:nvPr/>
        </p:nvGrpSpPr>
        <p:grpSpPr>
          <a:xfrm rot="0">
            <a:off x="12801600" y="5084064"/>
            <a:ext cx="5120640" cy="512064"/>
            <a:chOff x="0" y="0"/>
            <a:chExt cx="6827520" cy="682752"/>
          </a:xfrm>
        </p:grpSpPr>
        <p:sp>
          <p:nvSpPr>
            <p:cNvPr name="Freeform 34" id="34"/>
            <p:cNvSpPr/>
            <p:nvPr/>
          </p:nvSpPr>
          <p:spPr>
            <a:xfrm flipH="false" flipV="false" rot="0">
              <a:off x="0" y="0"/>
              <a:ext cx="6827520" cy="682752"/>
            </a:xfrm>
            <a:custGeom>
              <a:avLst/>
              <a:gdLst/>
              <a:ahLst/>
              <a:cxnLst/>
              <a:rect r="r" b="b" t="t" l="l"/>
              <a:pathLst>
                <a:path h="682752" w="6827520">
                  <a:moveTo>
                    <a:pt x="0" y="0"/>
                  </a:moveTo>
                  <a:lnTo>
                    <a:pt x="6827520" y="0"/>
                  </a:lnTo>
                  <a:lnTo>
                    <a:pt x="6827520" y="682752"/>
                  </a:lnTo>
                  <a:lnTo>
                    <a:pt x="0" y="682752"/>
                  </a:lnTo>
                  <a:close/>
                </a:path>
              </a:pathLst>
            </a:custGeom>
            <a:blipFill>
              <a:blip r:embed="rId3">
                <a:alphaModFix amt="0"/>
              </a:blip>
              <a:stretch>
                <a:fillRect l="0" t="-144850" r="0" b="-144850"/>
              </a:stretch>
            </a:blipFill>
          </p:spPr>
        </p:sp>
        <p:sp>
          <p:nvSpPr>
            <p:cNvPr name="TextBox 35" id="35"/>
            <p:cNvSpPr txBox="true"/>
            <p:nvPr/>
          </p:nvSpPr>
          <p:spPr>
            <a:xfrm>
              <a:off x="0" y="-38100"/>
              <a:ext cx="6827520" cy="720852"/>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Année Universitaire</a:t>
              </a:r>
            </a:p>
          </p:txBody>
        </p:sp>
      </p:grpSp>
      <p:grpSp>
        <p:nvGrpSpPr>
          <p:cNvPr name="Group 36" id="36"/>
          <p:cNvGrpSpPr/>
          <p:nvPr/>
        </p:nvGrpSpPr>
        <p:grpSpPr>
          <a:xfrm rot="0">
            <a:off x="12801600" y="5577840"/>
            <a:ext cx="5120640" cy="731520"/>
            <a:chOff x="0" y="0"/>
            <a:chExt cx="6827520" cy="975360"/>
          </a:xfrm>
        </p:grpSpPr>
        <p:sp>
          <p:nvSpPr>
            <p:cNvPr name="Freeform 37" id="37"/>
            <p:cNvSpPr/>
            <p:nvPr/>
          </p:nvSpPr>
          <p:spPr>
            <a:xfrm flipH="false" flipV="false" rot="0">
              <a:off x="0" y="0"/>
              <a:ext cx="6827520" cy="975360"/>
            </a:xfrm>
            <a:custGeom>
              <a:avLst/>
              <a:gdLst/>
              <a:ahLst/>
              <a:cxnLst/>
              <a:rect r="r" b="b" t="t" l="l"/>
              <a:pathLst>
                <a:path h="975360" w="6827520">
                  <a:moveTo>
                    <a:pt x="0" y="0"/>
                  </a:moveTo>
                  <a:lnTo>
                    <a:pt x="6827520" y="0"/>
                  </a:lnTo>
                  <a:lnTo>
                    <a:pt x="6827520" y="975360"/>
                  </a:lnTo>
                  <a:lnTo>
                    <a:pt x="0" y="975360"/>
                  </a:lnTo>
                  <a:close/>
                </a:path>
              </a:pathLst>
            </a:custGeom>
            <a:blipFill>
              <a:blip r:embed="rId3">
                <a:alphaModFix amt="0"/>
              </a:blip>
              <a:stretch>
                <a:fillRect l="0" t="-86395" r="0" b="-86395"/>
              </a:stretch>
            </a:blipFill>
          </p:spPr>
        </p:sp>
        <p:sp>
          <p:nvSpPr>
            <p:cNvPr name="TextBox 38" id="38"/>
            <p:cNvSpPr txBox="true"/>
            <p:nvPr/>
          </p:nvSpPr>
          <p:spPr>
            <a:xfrm>
              <a:off x="0" y="-57150"/>
              <a:ext cx="6827520" cy="103251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2025 — 2026</a:t>
              </a:r>
            </a:p>
          </p:txBody>
        </p:sp>
      </p:grpSp>
      <p:grpSp>
        <p:nvGrpSpPr>
          <p:cNvPr name="Group 39" id="39"/>
          <p:cNvGrpSpPr/>
          <p:nvPr/>
        </p:nvGrpSpPr>
        <p:grpSpPr>
          <a:xfrm rot="0">
            <a:off x="904237" y="8859517"/>
            <a:ext cx="2580637" cy="660397"/>
            <a:chOff x="0" y="0"/>
            <a:chExt cx="3440849" cy="880529"/>
          </a:xfrm>
        </p:grpSpPr>
        <p:sp>
          <p:nvSpPr>
            <p:cNvPr name="Freeform 40" id="40"/>
            <p:cNvSpPr/>
            <p:nvPr/>
          </p:nvSpPr>
          <p:spPr>
            <a:xfrm flipH="false" flipV="false" rot="0">
              <a:off x="13589" y="13589"/>
              <a:ext cx="3413633" cy="853440"/>
            </a:xfrm>
            <a:custGeom>
              <a:avLst/>
              <a:gdLst/>
              <a:ahLst/>
              <a:cxnLst/>
              <a:rect r="r" b="b" t="t" l="l"/>
              <a:pathLst>
                <a:path h="853440" w="3413633">
                  <a:moveTo>
                    <a:pt x="0" y="195072"/>
                  </a:moveTo>
                  <a:cubicBezTo>
                    <a:pt x="0" y="87376"/>
                    <a:pt x="89408" y="0"/>
                    <a:pt x="199644" y="0"/>
                  </a:cubicBezTo>
                  <a:lnTo>
                    <a:pt x="3213989" y="0"/>
                  </a:lnTo>
                  <a:cubicBezTo>
                    <a:pt x="3324225" y="0"/>
                    <a:pt x="3413633" y="87376"/>
                    <a:pt x="3413633" y="195072"/>
                  </a:cubicBezTo>
                  <a:lnTo>
                    <a:pt x="3413633" y="658368"/>
                  </a:lnTo>
                  <a:cubicBezTo>
                    <a:pt x="3413633" y="766064"/>
                    <a:pt x="3324225" y="853440"/>
                    <a:pt x="3213989" y="853440"/>
                  </a:cubicBezTo>
                  <a:lnTo>
                    <a:pt x="199644" y="853440"/>
                  </a:lnTo>
                  <a:cubicBezTo>
                    <a:pt x="89408" y="853440"/>
                    <a:pt x="0" y="766064"/>
                    <a:pt x="0" y="658368"/>
                  </a:cubicBezTo>
                  <a:close/>
                </a:path>
              </a:pathLst>
            </a:custGeom>
            <a:solidFill>
              <a:srgbClr val="1A8FFF">
                <a:alpha val="3922"/>
              </a:srgbClr>
            </a:solidFill>
          </p:spPr>
        </p:sp>
        <p:sp>
          <p:nvSpPr>
            <p:cNvPr name="Freeform 41" id="41"/>
            <p:cNvSpPr/>
            <p:nvPr/>
          </p:nvSpPr>
          <p:spPr>
            <a:xfrm flipH="false" flipV="false" rot="0">
              <a:off x="0" y="0"/>
              <a:ext cx="3440811" cy="880618"/>
            </a:xfrm>
            <a:custGeom>
              <a:avLst/>
              <a:gdLst/>
              <a:ahLst/>
              <a:cxnLst/>
              <a:rect r="r" b="b" t="t" l="l"/>
              <a:pathLst>
                <a:path h="880618" w="3440811">
                  <a:moveTo>
                    <a:pt x="0" y="208661"/>
                  </a:moveTo>
                  <a:cubicBezTo>
                    <a:pt x="0" y="93091"/>
                    <a:pt x="95758" y="0"/>
                    <a:pt x="213233" y="0"/>
                  </a:cubicBezTo>
                  <a:lnTo>
                    <a:pt x="3227578" y="0"/>
                  </a:lnTo>
                  <a:lnTo>
                    <a:pt x="3227578" y="13589"/>
                  </a:lnTo>
                  <a:lnTo>
                    <a:pt x="3227578" y="0"/>
                  </a:lnTo>
                  <a:cubicBezTo>
                    <a:pt x="3345053" y="0"/>
                    <a:pt x="3440811" y="93091"/>
                    <a:pt x="3440811" y="208661"/>
                  </a:cubicBezTo>
                  <a:lnTo>
                    <a:pt x="3427222" y="208661"/>
                  </a:lnTo>
                  <a:lnTo>
                    <a:pt x="3440811" y="208661"/>
                  </a:lnTo>
                  <a:lnTo>
                    <a:pt x="3440811" y="671957"/>
                  </a:lnTo>
                  <a:lnTo>
                    <a:pt x="3427222" y="671957"/>
                  </a:lnTo>
                  <a:lnTo>
                    <a:pt x="3440811" y="671957"/>
                  </a:lnTo>
                  <a:cubicBezTo>
                    <a:pt x="3440811" y="787527"/>
                    <a:pt x="3345053" y="880618"/>
                    <a:pt x="3227578" y="880618"/>
                  </a:cubicBezTo>
                  <a:lnTo>
                    <a:pt x="3227578" y="867029"/>
                  </a:lnTo>
                  <a:lnTo>
                    <a:pt x="3227578" y="880618"/>
                  </a:lnTo>
                  <a:lnTo>
                    <a:pt x="213233" y="880618"/>
                  </a:lnTo>
                  <a:lnTo>
                    <a:pt x="213233" y="867029"/>
                  </a:lnTo>
                  <a:lnTo>
                    <a:pt x="213233" y="880618"/>
                  </a:lnTo>
                  <a:cubicBezTo>
                    <a:pt x="95758" y="880491"/>
                    <a:pt x="0" y="787400"/>
                    <a:pt x="0" y="671957"/>
                  </a:cubicBezTo>
                  <a:lnTo>
                    <a:pt x="0" y="208661"/>
                  </a:lnTo>
                  <a:lnTo>
                    <a:pt x="13589" y="208661"/>
                  </a:lnTo>
                  <a:lnTo>
                    <a:pt x="0" y="208661"/>
                  </a:lnTo>
                  <a:moveTo>
                    <a:pt x="27051" y="208661"/>
                  </a:moveTo>
                  <a:lnTo>
                    <a:pt x="27051" y="671957"/>
                  </a:lnTo>
                  <a:lnTo>
                    <a:pt x="13589" y="671957"/>
                  </a:lnTo>
                  <a:lnTo>
                    <a:pt x="27051" y="671957"/>
                  </a:lnTo>
                  <a:cubicBezTo>
                    <a:pt x="27051" y="771906"/>
                    <a:pt x="110109" y="853440"/>
                    <a:pt x="213233" y="853440"/>
                  </a:cubicBezTo>
                  <a:lnTo>
                    <a:pt x="3227578" y="853440"/>
                  </a:lnTo>
                  <a:cubicBezTo>
                    <a:pt x="3330702" y="853440"/>
                    <a:pt x="3413760" y="771906"/>
                    <a:pt x="3413760" y="671957"/>
                  </a:cubicBezTo>
                  <a:lnTo>
                    <a:pt x="3413760" y="208661"/>
                  </a:lnTo>
                  <a:cubicBezTo>
                    <a:pt x="3413760" y="108712"/>
                    <a:pt x="3330702" y="27178"/>
                    <a:pt x="3227578" y="27178"/>
                  </a:cubicBezTo>
                  <a:lnTo>
                    <a:pt x="213233" y="27178"/>
                  </a:lnTo>
                  <a:lnTo>
                    <a:pt x="213233" y="13589"/>
                  </a:lnTo>
                  <a:lnTo>
                    <a:pt x="213233" y="27051"/>
                  </a:lnTo>
                  <a:cubicBezTo>
                    <a:pt x="110109" y="27051"/>
                    <a:pt x="27051" y="108712"/>
                    <a:pt x="27051" y="208661"/>
                  </a:cubicBezTo>
                  <a:close/>
                </a:path>
              </a:pathLst>
            </a:custGeom>
            <a:solidFill>
              <a:srgbClr val="1A8FFF"/>
            </a:solidFill>
          </p:spPr>
        </p:sp>
      </p:grpSp>
      <p:grpSp>
        <p:nvGrpSpPr>
          <p:cNvPr name="Group 42" id="42"/>
          <p:cNvGrpSpPr/>
          <p:nvPr/>
        </p:nvGrpSpPr>
        <p:grpSpPr>
          <a:xfrm rot="0">
            <a:off x="914400" y="8869680"/>
            <a:ext cx="2560320" cy="640080"/>
            <a:chOff x="0" y="0"/>
            <a:chExt cx="3413760" cy="853440"/>
          </a:xfrm>
        </p:grpSpPr>
        <p:sp>
          <p:nvSpPr>
            <p:cNvPr name="Freeform 43" id="43"/>
            <p:cNvSpPr/>
            <p:nvPr/>
          </p:nvSpPr>
          <p:spPr>
            <a:xfrm flipH="false" flipV="false" rot="0">
              <a:off x="0" y="0"/>
              <a:ext cx="3413760" cy="853440"/>
            </a:xfrm>
            <a:custGeom>
              <a:avLst/>
              <a:gdLst/>
              <a:ahLst/>
              <a:cxnLst/>
              <a:rect r="r" b="b" t="t" l="l"/>
              <a:pathLst>
                <a:path h="853440" w="3413760">
                  <a:moveTo>
                    <a:pt x="0" y="0"/>
                  </a:moveTo>
                  <a:lnTo>
                    <a:pt x="3413760" y="0"/>
                  </a:lnTo>
                  <a:lnTo>
                    <a:pt x="3413760" y="853440"/>
                  </a:lnTo>
                  <a:lnTo>
                    <a:pt x="0" y="853440"/>
                  </a:lnTo>
                  <a:close/>
                </a:path>
              </a:pathLst>
            </a:custGeom>
            <a:blipFill>
              <a:blip r:embed="rId3">
                <a:alphaModFix amt="0"/>
              </a:blip>
              <a:stretch>
                <a:fillRect l="0" t="-27940" r="0" b="-27940"/>
              </a:stretch>
            </a:blipFill>
          </p:spPr>
        </p:sp>
        <p:sp>
          <p:nvSpPr>
            <p:cNvPr name="TextBox 44" id="44"/>
            <p:cNvSpPr txBox="true"/>
            <p:nvPr/>
          </p:nvSpPr>
          <p:spPr>
            <a:xfrm>
              <a:off x="0" y="-38100"/>
              <a:ext cx="3413760" cy="891540"/>
            </a:xfrm>
            <a:prstGeom prst="rect">
              <a:avLst/>
            </a:prstGeom>
          </p:spPr>
          <p:txBody>
            <a:bodyPr anchor="ctr" rtlCol="false" tIns="0" lIns="0" bIns="0" rIns="0"/>
            <a:lstStyle/>
            <a:p>
              <a:pPr algn="ctr">
                <a:lnSpc>
                  <a:spcPts val="2160"/>
                </a:lnSpc>
              </a:pPr>
              <a:r>
                <a:rPr lang="en-US" sz="1800" b="true">
                  <a:solidFill>
                    <a:srgbClr val="1A8FFF"/>
                  </a:solidFill>
                  <a:latin typeface="Calibri (MS) Bold"/>
                  <a:ea typeface="Calibri (MS) Bold"/>
                  <a:cs typeface="Calibri (MS) Bold"/>
                  <a:sym typeface="Calibri (MS) Bold"/>
                </a:rPr>
                <a:t>E-commerce</a:t>
              </a:r>
            </a:p>
          </p:txBody>
        </p:sp>
      </p:grpSp>
      <p:grpSp>
        <p:nvGrpSpPr>
          <p:cNvPr name="Group 45" id="45"/>
          <p:cNvGrpSpPr/>
          <p:nvPr/>
        </p:nvGrpSpPr>
        <p:grpSpPr>
          <a:xfrm rot="0">
            <a:off x="3738877" y="8859517"/>
            <a:ext cx="2580637" cy="660397"/>
            <a:chOff x="0" y="0"/>
            <a:chExt cx="3440849" cy="880529"/>
          </a:xfrm>
        </p:grpSpPr>
        <p:sp>
          <p:nvSpPr>
            <p:cNvPr name="Freeform 46" id="46"/>
            <p:cNvSpPr/>
            <p:nvPr/>
          </p:nvSpPr>
          <p:spPr>
            <a:xfrm flipH="false" flipV="false" rot="0">
              <a:off x="13589" y="13589"/>
              <a:ext cx="3413633" cy="853440"/>
            </a:xfrm>
            <a:custGeom>
              <a:avLst/>
              <a:gdLst/>
              <a:ahLst/>
              <a:cxnLst/>
              <a:rect r="r" b="b" t="t" l="l"/>
              <a:pathLst>
                <a:path h="853440" w="3413633">
                  <a:moveTo>
                    <a:pt x="0" y="195072"/>
                  </a:moveTo>
                  <a:cubicBezTo>
                    <a:pt x="0" y="87376"/>
                    <a:pt x="89408" y="0"/>
                    <a:pt x="199644" y="0"/>
                  </a:cubicBezTo>
                  <a:lnTo>
                    <a:pt x="3213989" y="0"/>
                  </a:lnTo>
                  <a:cubicBezTo>
                    <a:pt x="3324225" y="0"/>
                    <a:pt x="3413633" y="87376"/>
                    <a:pt x="3413633" y="195072"/>
                  </a:cubicBezTo>
                  <a:lnTo>
                    <a:pt x="3413633" y="658368"/>
                  </a:lnTo>
                  <a:cubicBezTo>
                    <a:pt x="3413633" y="766064"/>
                    <a:pt x="3324225" y="853440"/>
                    <a:pt x="3213989" y="853440"/>
                  </a:cubicBezTo>
                  <a:lnTo>
                    <a:pt x="199644" y="853440"/>
                  </a:lnTo>
                  <a:cubicBezTo>
                    <a:pt x="89408" y="853440"/>
                    <a:pt x="0" y="766064"/>
                    <a:pt x="0" y="658368"/>
                  </a:cubicBezTo>
                  <a:close/>
                </a:path>
              </a:pathLst>
            </a:custGeom>
            <a:solidFill>
              <a:srgbClr val="00E5A0">
                <a:alpha val="3922"/>
              </a:srgbClr>
            </a:solidFill>
          </p:spPr>
        </p:sp>
        <p:sp>
          <p:nvSpPr>
            <p:cNvPr name="Freeform 47" id="47"/>
            <p:cNvSpPr/>
            <p:nvPr/>
          </p:nvSpPr>
          <p:spPr>
            <a:xfrm flipH="false" flipV="false" rot="0">
              <a:off x="0" y="0"/>
              <a:ext cx="3440811" cy="880618"/>
            </a:xfrm>
            <a:custGeom>
              <a:avLst/>
              <a:gdLst/>
              <a:ahLst/>
              <a:cxnLst/>
              <a:rect r="r" b="b" t="t" l="l"/>
              <a:pathLst>
                <a:path h="880618" w="3440811">
                  <a:moveTo>
                    <a:pt x="0" y="208661"/>
                  </a:moveTo>
                  <a:cubicBezTo>
                    <a:pt x="0" y="93091"/>
                    <a:pt x="95758" y="0"/>
                    <a:pt x="213233" y="0"/>
                  </a:cubicBezTo>
                  <a:lnTo>
                    <a:pt x="3227578" y="0"/>
                  </a:lnTo>
                  <a:lnTo>
                    <a:pt x="3227578" y="13589"/>
                  </a:lnTo>
                  <a:lnTo>
                    <a:pt x="3227578" y="0"/>
                  </a:lnTo>
                  <a:cubicBezTo>
                    <a:pt x="3345053" y="0"/>
                    <a:pt x="3440811" y="93091"/>
                    <a:pt x="3440811" y="208661"/>
                  </a:cubicBezTo>
                  <a:lnTo>
                    <a:pt x="3427222" y="208661"/>
                  </a:lnTo>
                  <a:lnTo>
                    <a:pt x="3440811" y="208661"/>
                  </a:lnTo>
                  <a:lnTo>
                    <a:pt x="3440811" y="671957"/>
                  </a:lnTo>
                  <a:lnTo>
                    <a:pt x="3427222" y="671957"/>
                  </a:lnTo>
                  <a:lnTo>
                    <a:pt x="3440811" y="671957"/>
                  </a:lnTo>
                  <a:cubicBezTo>
                    <a:pt x="3440811" y="787527"/>
                    <a:pt x="3345053" y="880618"/>
                    <a:pt x="3227578" y="880618"/>
                  </a:cubicBezTo>
                  <a:lnTo>
                    <a:pt x="3227578" y="867029"/>
                  </a:lnTo>
                  <a:lnTo>
                    <a:pt x="3227578" y="880618"/>
                  </a:lnTo>
                  <a:lnTo>
                    <a:pt x="213233" y="880618"/>
                  </a:lnTo>
                  <a:lnTo>
                    <a:pt x="213233" y="867029"/>
                  </a:lnTo>
                  <a:lnTo>
                    <a:pt x="213233" y="880618"/>
                  </a:lnTo>
                  <a:cubicBezTo>
                    <a:pt x="95758" y="880491"/>
                    <a:pt x="0" y="787400"/>
                    <a:pt x="0" y="671957"/>
                  </a:cubicBezTo>
                  <a:lnTo>
                    <a:pt x="0" y="208661"/>
                  </a:lnTo>
                  <a:lnTo>
                    <a:pt x="13589" y="208661"/>
                  </a:lnTo>
                  <a:lnTo>
                    <a:pt x="0" y="208661"/>
                  </a:lnTo>
                  <a:moveTo>
                    <a:pt x="27051" y="208661"/>
                  </a:moveTo>
                  <a:lnTo>
                    <a:pt x="27051" y="671957"/>
                  </a:lnTo>
                  <a:lnTo>
                    <a:pt x="13589" y="671957"/>
                  </a:lnTo>
                  <a:lnTo>
                    <a:pt x="27051" y="671957"/>
                  </a:lnTo>
                  <a:cubicBezTo>
                    <a:pt x="27051" y="771906"/>
                    <a:pt x="110109" y="853440"/>
                    <a:pt x="213233" y="853440"/>
                  </a:cubicBezTo>
                  <a:lnTo>
                    <a:pt x="3227578" y="853440"/>
                  </a:lnTo>
                  <a:cubicBezTo>
                    <a:pt x="3330702" y="853440"/>
                    <a:pt x="3413760" y="771906"/>
                    <a:pt x="3413760" y="671957"/>
                  </a:cubicBezTo>
                  <a:lnTo>
                    <a:pt x="3413760" y="208661"/>
                  </a:lnTo>
                  <a:cubicBezTo>
                    <a:pt x="3413760" y="108712"/>
                    <a:pt x="3330702" y="27178"/>
                    <a:pt x="3227578" y="27178"/>
                  </a:cubicBezTo>
                  <a:lnTo>
                    <a:pt x="213233" y="27178"/>
                  </a:lnTo>
                  <a:lnTo>
                    <a:pt x="213233" y="13589"/>
                  </a:lnTo>
                  <a:lnTo>
                    <a:pt x="213233" y="27051"/>
                  </a:lnTo>
                  <a:cubicBezTo>
                    <a:pt x="110109" y="27051"/>
                    <a:pt x="27051" y="108712"/>
                    <a:pt x="27051" y="208661"/>
                  </a:cubicBezTo>
                  <a:close/>
                </a:path>
              </a:pathLst>
            </a:custGeom>
            <a:solidFill>
              <a:srgbClr val="00E5A0"/>
            </a:solidFill>
          </p:spPr>
        </p:sp>
      </p:grpSp>
      <p:grpSp>
        <p:nvGrpSpPr>
          <p:cNvPr name="Group 48" id="48"/>
          <p:cNvGrpSpPr/>
          <p:nvPr/>
        </p:nvGrpSpPr>
        <p:grpSpPr>
          <a:xfrm rot="0">
            <a:off x="3749040" y="8869680"/>
            <a:ext cx="2560320" cy="640080"/>
            <a:chOff x="0" y="0"/>
            <a:chExt cx="3413760" cy="853440"/>
          </a:xfrm>
        </p:grpSpPr>
        <p:sp>
          <p:nvSpPr>
            <p:cNvPr name="Freeform 49" id="49"/>
            <p:cNvSpPr/>
            <p:nvPr/>
          </p:nvSpPr>
          <p:spPr>
            <a:xfrm flipH="false" flipV="false" rot="0">
              <a:off x="0" y="0"/>
              <a:ext cx="3413760" cy="853440"/>
            </a:xfrm>
            <a:custGeom>
              <a:avLst/>
              <a:gdLst/>
              <a:ahLst/>
              <a:cxnLst/>
              <a:rect r="r" b="b" t="t" l="l"/>
              <a:pathLst>
                <a:path h="853440" w="3413760">
                  <a:moveTo>
                    <a:pt x="0" y="0"/>
                  </a:moveTo>
                  <a:lnTo>
                    <a:pt x="3413760" y="0"/>
                  </a:lnTo>
                  <a:lnTo>
                    <a:pt x="3413760" y="853440"/>
                  </a:lnTo>
                  <a:lnTo>
                    <a:pt x="0" y="853440"/>
                  </a:lnTo>
                  <a:close/>
                </a:path>
              </a:pathLst>
            </a:custGeom>
            <a:blipFill>
              <a:blip r:embed="rId3">
                <a:alphaModFix amt="0"/>
              </a:blip>
              <a:stretch>
                <a:fillRect l="0" t="-27940" r="0" b="-27940"/>
              </a:stretch>
            </a:blipFill>
          </p:spPr>
        </p:sp>
        <p:sp>
          <p:nvSpPr>
            <p:cNvPr name="TextBox 50" id="50"/>
            <p:cNvSpPr txBox="true"/>
            <p:nvPr/>
          </p:nvSpPr>
          <p:spPr>
            <a:xfrm>
              <a:off x="0" y="-38100"/>
              <a:ext cx="3413760" cy="891540"/>
            </a:xfrm>
            <a:prstGeom prst="rect">
              <a:avLst/>
            </a:prstGeom>
          </p:spPr>
          <p:txBody>
            <a:bodyPr anchor="ctr" rtlCol="false" tIns="0" lIns="0" bIns="0" rIns="0"/>
            <a:lstStyle/>
            <a:p>
              <a:pPr algn="ctr">
                <a:lnSpc>
                  <a:spcPts val="2160"/>
                </a:lnSpc>
              </a:pPr>
              <a:r>
                <a:rPr lang="en-US" sz="1800" b="true">
                  <a:solidFill>
                    <a:srgbClr val="00E5A0"/>
                  </a:solidFill>
                  <a:latin typeface="Calibri (MS) Bold"/>
                  <a:ea typeface="Calibri (MS) Bold"/>
                  <a:cs typeface="Calibri (MS) Bold"/>
                  <a:sym typeface="Calibri (MS) Bold"/>
                </a:rPr>
                <a:t>Churn ML</a:t>
              </a:r>
            </a:p>
          </p:txBody>
        </p:sp>
      </p:grpSp>
      <p:grpSp>
        <p:nvGrpSpPr>
          <p:cNvPr name="Group 51" id="51"/>
          <p:cNvGrpSpPr/>
          <p:nvPr/>
        </p:nvGrpSpPr>
        <p:grpSpPr>
          <a:xfrm rot="0">
            <a:off x="6573517" y="8859517"/>
            <a:ext cx="2580637" cy="660397"/>
            <a:chOff x="0" y="0"/>
            <a:chExt cx="3440849" cy="880529"/>
          </a:xfrm>
        </p:grpSpPr>
        <p:sp>
          <p:nvSpPr>
            <p:cNvPr name="Freeform 52" id="52"/>
            <p:cNvSpPr/>
            <p:nvPr/>
          </p:nvSpPr>
          <p:spPr>
            <a:xfrm flipH="false" flipV="false" rot="0">
              <a:off x="13589" y="13589"/>
              <a:ext cx="3413633" cy="853440"/>
            </a:xfrm>
            <a:custGeom>
              <a:avLst/>
              <a:gdLst/>
              <a:ahLst/>
              <a:cxnLst/>
              <a:rect r="r" b="b" t="t" l="l"/>
              <a:pathLst>
                <a:path h="853440" w="3413633">
                  <a:moveTo>
                    <a:pt x="0" y="195072"/>
                  </a:moveTo>
                  <a:cubicBezTo>
                    <a:pt x="0" y="87376"/>
                    <a:pt x="89408" y="0"/>
                    <a:pt x="199644" y="0"/>
                  </a:cubicBezTo>
                  <a:lnTo>
                    <a:pt x="3213989" y="0"/>
                  </a:lnTo>
                  <a:cubicBezTo>
                    <a:pt x="3324225" y="0"/>
                    <a:pt x="3413633" y="87376"/>
                    <a:pt x="3413633" y="195072"/>
                  </a:cubicBezTo>
                  <a:lnTo>
                    <a:pt x="3413633" y="658368"/>
                  </a:lnTo>
                  <a:cubicBezTo>
                    <a:pt x="3413633" y="766064"/>
                    <a:pt x="3324225" y="853440"/>
                    <a:pt x="3213989" y="853440"/>
                  </a:cubicBezTo>
                  <a:lnTo>
                    <a:pt x="199644" y="853440"/>
                  </a:lnTo>
                  <a:cubicBezTo>
                    <a:pt x="89408" y="853440"/>
                    <a:pt x="0" y="766064"/>
                    <a:pt x="0" y="658368"/>
                  </a:cubicBezTo>
                  <a:close/>
                </a:path>
              </a:pathLst>
            </a:custGeom>
            <a:solidFill>
              <a:srgbClr val="A855F7">
                <a:alpha val="3922"/>
              </a:srgbClr>
            </a:solidFill>
          </p:spPr>
        </p:sp>
        <p:sp>
          <p:nvSpPr>
            <p:cNvPr name="Freeform 53" id="53"/>
            <p:cNvSpPr/>
            <p:nvPr/>
          </p:nvSpPr>
          <p:spPr>
            <a:xfrm flipH="false" flipV="false" rot="0">
              <a:off x="0" y="0"/>
              <a:ext cx="3440811" cy="880618"/>
            </a:xfrm>
            <a:custGeom>
              <a:avLst/>
              <a:gdLst/>
              <a:ahLst/>
              <a:cxnLst/>
              <a:rect r="r" b="b" t="t" l="l"/>
              <a:pathLst>
                <a:path h="880618" w="3440811">
                  <a:moveTo>
                    <a:pt x="0" y="208661"/>
                  </a:moveTo>
                  <a:cubicBezTo>
                    <a:pt x="0" y="93091"/>
                    <a:pt x="95758" y="0"/>
                    <a:pt x="213233" y="0"/>
                  </a:cubicBezTo>
                  <a:lnTo>
                    <a:pt x="3227578" y="0"/>
                  </a:lnTo>
                  <a:lnTo>
                    <a:pt x="3227578" y="13589"/>
                  </a:lnTo>
                  <a:lnTo>
                    <a:pt x="3227578" y="0"/>
                  </a:lnTo>
                  <a:cubicBezTo>
                    <a:pt x="3345053" y="0"/>
                    <a:pt x="3440811" y="93091"/>
                    <a:pt x="3440811" y="208661"/>
                  </a:cubicBezTo>
                  <a:lnTo>
                    <a:pt x="3427222" y="208661"/>
                  </a:lnTo>
                  <a:lnTo>
                    <a:pt x="3440811" y="208661"/>
                  </a:lnTo>
                  <a:lnTo>
                    <a:pt x="3440811" y="671957"/>
                  </a:lnTo>
                  <a:lnTo>
                    <a:pt x="3427222" y="671957"/>
                  </a:lnTo>
                  <a:lnTo>
                    <a:pt x="3440811" y="671957"/>
                  </a:lnTo>
                  <a:cubicBezTo>
                    <a:pt x="3440811" y="787527"/>
                    <a:pt x="3345053" y="880618"/>
                    <a:pt x="3227578" y="880618"/>
                  </a:cubicBezTo>
                  <a:lnTo>
                    <a:pt x="3227578" y="867029"/>
                  </a:lnTo>
                  <a:lnTo>
                    <a:pt x="3227578" y="880618"/>
                  </a:lnTo>
                  <a:lnTo>
                    <a:pt x="213233" y="880618"/>
                  </a:lnTo>
                  <a:lnTo>
                    <a:pt x="213233" y="867029"/>
                  </a:lnTo>
                  <a:lnTo>
                    <a:pt x="213233" y="880618"/>
                  </a:lnTo>
                  <a:cubicBezTo>
                    <a:pt x="95758" y="880491"/>
                    <a:pt x="0" y="787400"/>
                    <a:pt x="0" y="671957"/>
                  </a:cubicBezTo>
                  <a:lnTo>
                    <a:pt x="0" y="208661"/>
                  </a:lnTo>
                  <a:lnTo>
                    <a:pt x="13589" y="208661"/>
                  </a:lnTo>
                  <a:lnTo>
                    <a:pt x="0" y="208661"/>
                  </a:lnTo>
                  <a:moveTo>
                    <a:pt x="27051" y="208661"/>
                  </a:moveTo>
                  <a:lnTo>
                    <a:pt x="27051" y="671957"/>
                  </a:lnTo>
                  <a:lnTo>
                    <a:pt x="13589" y="671957"/>
                  </a:lnTo>
                  <a:lnTo>
                    <a:pt x="27051" y="671957"/>
                  </a:lnTo>
                  <a:cubicBezTo>
                    <a:pt x="27051" y="771906"/>
                    <a:pt x="110109" y="853440"/>
                    <a:pt x="213233" y="853440"/>
                  </a:cubicBezTo>
                  <a:lnTo>
                    <a:pt x="3227578" y="853440"/>
                  </a:lnTo>
                  <a:cubicBezTo>
                    <a:pt x="3330702" y="853440"/>
                    <a:pt x="3413760" y="771906"/>
                    <a:pt x="3413760" y="671957"/>
                  </a:cubicBezTo>
                  <a:lnTo>
                    <a:pt x="3413760" y="208661"/>
                  </a:lnTo>
                  <a:cubicBezTo>
                    <a:pt x="3413760" y="108712"/>
                    <a:pt x="3330702" y="27178"/>
                    <a:pt x="3227578" y="27178"/>
                  </a:cubicBezTo>
                  <a:lnTo>
                    <a:pt x="213233" y="27178"/>
                  </a:lnTo>
                  <a:lnTo>
                    <a:pt x="213233" y="13589"/>
                  </a:lnTo>
                  <a:lnTo>
                    <a:pt x="213233" y="27051"/>
                  </a:lnTo>
                  <a:cubicBezTo>
                    <a:pt x="110109" y="27051"/>
                    <a:pt x="27051" y="108712"/>
                    <a:pt x="27051" y="208661"/>
                  </a:cubicBezTo>
                  <a:close/>
                </a:path>
              </a:pathLst>
            </a:custGeom>
            <a:solidFill>
              <a:srgbClr val="A855F7"/>
            </a:solidFill>
          </p:spPr>
        </p:sp>
      </p:grpSp>
      <p:grpSp>
        <p:nvGrpSpPr>
          <p:cNvPr name="Group 54" id="54"/>
          <p:cNvGrpSpPr/>
          <p:nvPr/>
        </p:nvGrpSpPr>
        <p:grpSpPr>
          <a:xfrm rot="0">
            <a:off x="6583680" y="8869680"/>
            <a:ext cx="2560320" cy="640080"/>
            <a:chOff x="0" y="0"/>
            <a:chExt cx="3413760" cy="853440"/>
          </a:xfrm>
        </p:grpSpPr>
        <p:sp>
          <p:nvSpPr>
            <p:cNvPr name="Freeform 55" id="55"/>
            <p:cNvSpPr/>
            <p:nvPr/>
          </p:nvSpPr>
          <p:spPr>
            <a:xfrm flipH="false" flipV="false" rot="0">
              <a:off x="0" y="0"/>
              <a:ext cx="3413760" cy="853440"/>
            </a:xfrm>
            <a:custGeom>
              <a:avLst/>
              <a:gdLst/>
              <a:ahLst/>
              <a:cxnLst/>
              <a:rect r="r" b="b" t="t" l="l"/>
              <a:pathLst>
                <a:path h="853440" w="3413760">
                  <a:moveTo>
                    <a:pt x="0" y="0"/>
                  </a:moveTo>
                  <a:lnTo>
                    <a:pt x="3413760" y="0"/>
                  </a:lnTo>
                  <a:lnTo>
                    <a:pt x="3413760" y="853440"/>
                  </a:lnTo>
                  <a:lnTo>
                    <a:pt x="0" y="853440"/>
                  </a:lnTo>
                  <a:close/>
                </a:path>
              </a:pathLst>
            </a:custGeom>
            <a:blipFill>
              <a:blip r:embed="rId3">
                <a:alphaModFix amt="0"/>
              </a:blip>
              <a:stretch>
                <a:fillRect l="0" t="-27940" r="0" b="-27940"/>
              </a:stretch>
            </a:blipFill>
          </p:spPr>
        </p:sp>
        <p:sp>
          <p:nvSpPr>
            <p:cNvPr name="TextBox 56" id="56"/>
            <p:cNvSpPr txBox="true"/>
            <p:nvPr/>
          </p:nvSpPr>
          <p:spPr>
            <a:xfrm>
              <a:off x="0" y="-38100"/>
              <a:ext cx="3413760" cy="891540"/>
            </a:xfrm>
            <a:prstGeom prst="rect">
              <a:avLst/>
            </a:prstGeom>
          </p:spPr>
          <p:txBody>
            <a:bodyPr anchor="ctr" rtlCol="false" tIns="0" lIns="0" bIns="0" rIns="0"/>
            <a:lstStyle/>
            <a:p>
              <a:pPr algn="ctr">
                <a:lnSpc>
                  <a:spcPts val="2160"/>
                </a:lnSpc>
              </a:pPr>
              <a:r>
                <a:rPr lang="en-US" sz="1800" b="true">
                  <a:solidFill>
                    <a:srgbClr val="A855F7"/>
                  </a:solidFill>
                  <a:latin typeface="Calibri (MS) Bold"/>
                  <a:ea typeface="Calibri (MS) Bold"/>
                  <a:cs typeface="Calibri (MS) Bold"/>
                  <a:sym typeface="Calibri (MS) Bold"/>
                </a:rPr>
                <a:t>Flask API</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14400" y="512064"/>
            <a:ext cx="16459200" cy="1280160"/>
            <a:chOff x="0" y="0"/>
            <a:chExt cx="21945600" cy="1706880"/>
          </a:xfrm>
        </p:grpSpPr>
        <p:sp>
          <p:nvSpPr>
            <p:cNvPr name="Freeform 3" id="3"/>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4" id="4"/>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Plan de la Présentation</a:t>
              </a:r>
            </a:p>
          </p:txBody>
        </p:sp>
      </p:grpSp>
      <p:grpSp>
        <p:nvGrpSpPr>
          <p:cNvPr name="Group 5" id="5"/>
          <p:cNvGrpSpPr/>
          <p:nvPr/>
        </p:nvGrpSpPr>
        <p:grpSpPr>
          <a:xfrm rot="0">
            <a:off x="914400" y="1682496"/>
            <a:ext cx="16459200" cy="640080"/>
            <a:chOff x="0" y="0"/>
            <a:chExt cx="21945600" cy="853440"/>
          </a:xfrm>
        </p:grpSpPr>
        <p:sp>
          <p:nvSpPr>
            <p:cNvPr name="Freeform 6" id="6"/>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7" id="7"/>
            <p:cNvSpPr txBox="true"/>
            <p:nvPr/>
          </p:nvSpPr>
          <p:spPr>
            <a:xfrm>
              <a:off x="0" y="-38100"/>
              <a:ext cx="21945600" cy="891540"/>
            </a:xfrm>
            <a:prstGeom prst="rect">
              <a:avLst/>
            </a:prstGeom>
          </p:spPr>
          <p:txBody>
            <a:bodyPr anchor="ctr" rtlCol="false" tIns="0" lIns="0" bIns="0" rIns="0"/>
            <a:lstStyle/>
            <a:p>
              <a:pPr algn="l">
                <a:lnSpc>
                  <a:spcPts val="2879"/>
                </a:lnSpc>
              </a:pPr>
              <a:r>
                <a:rPr lang="en-US" sz="2400">
                  <a:solidFill>
                    <a:srgbClr val="6B8BAA"/>
                  </a:solidFill>
                  <a:latin typeface="Calibri (MS)"/>
                  <a:ea typeface="Calibri (MS)"/>
                  <a:cs typeface="Calibri (MS)"/>
                  <a:sym typeface="Calibri (MS)"/>
                </a:rPr>
                <a:t>Structure en 8 parties</a:t>
              </a:r>
            </a:p>
          </p:txBody>
        </p:sp>
      </p:grpSp>
      <p:grpSp>
        <p:nvGrpSpPr>
          <p:cNvPr name="Group 8" id="8"/>
          <p:cNvGrpSpPr/>
          <p:nvPr/>
        </p:nvGrpSpPr>
        <p:grpSpPr>
          <a:xfrm rot="0">
            <a:off x="908047" y="2462527"/>
            <a:ext cx="8059417" cy="1512313"/>
            <a:chOff x="0" y="0"/>
            <a:chExt cx="10745889" cy="2016417"/>
          </a:xfrm>
        </p:grpSpPr>
        <p:sp>
          <p:nvSpPr>
            <p:cNvPr name="Freeform 9" id="9"/>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0D1E35"/>
            </a:solidFill>
          </p:spPr>
        </p:sp>
        <p:sp>
          <p:nvSpPr>
            <p:cNvPr name="Freeform 10" id="10"/>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11" id="11"/>
          <p:cNvGrpSpPr/>
          <p:nvPr/>
        </p:nvGrpSpPr>
        <p:grpSpPr>
          <a:xfrm rot="0">
            <a:off x="901703" y="2456183"/>
            <a:ext cx="135131" cy="1525019"/>
            <a:chOff x="0" y="0"/>
            <a:chExt cx="180175" cy="2033359"/>
          </a:xfrm>
        </p:grpSpPr>
        <p:sp>
          <p:nvSpPr>
            <p:cNvPr name="Freeform 12" id="12"/>
            <p:cNvSpPr/>
            <p:nvPr/>
          </p:nvSpPr>
          <p:spPr>
            <a:xfrm flipH="false" flipV="false" rot="0">
              <a:off x="16891" y="16891"/>
              <a:ext cx="146304" cy="1999488"/>
            </a:xfrm>
            <a:custGeom>
              <a:avLst/>
              <a:gdLst/>
              <a:ahLst/>
              <a:cxnLst/>
              <a:rect r="r" b="b" t="t" l="l"/>
              <a:pathLst>
                <a:path h="1999488" w="146304">
                  <a:moveTo>
                    <a:pt x="0" y="0"/>
                  </a:moveTo>
                  <a:lnTo>
                    <a:pt x="146304" y="0"/>
                  </a:lnTo>
                  <a:lnTo>
                    <a:pt x="146304" y="1999488"/>
                  </a:lnTo>
                  <a:lnTo>
                    <a:pt x="0" y="1999488"/>
                  </a:lnTo>
                  <a:close/>
                </a:path>
              </a:pathLst>
            </a:custGeom>
            <a:solidFill>
              <a:srgbClr val="00E5A0"/>
            </a:solidFill>
          </p:spPr>
        </p:sp>
        <p:sp>
          <p:nvSpPr>
            <p:cNvPr name="Freeform 13" id="13"/>
            <p:cNvSpPr/>
            <p:nvPr/>
          </p:nvSpPr>
          <p:spPr>
            <a:xfrm flipH="false" flipV="false" rot="0">
              <a:off x="0" y="0"/>
              <a:ext cx="180086" cy="2033270"/>
            </a:xfrm>
            <a:custGeom>
              <a:avLst/>
              <a:gdLst/>
              <a:ahLst/>
              <a:cxnLst/>
              <a:rect r="r" b="b" t="t" l="l"/>
              <a:pathLst>
                <a:path h="2033270" w="180086">
                  <a:moveTo>
                    <a:pt x="16891" y="0"/>
                  </a:moveTo>
                  <a:lnTo>
                    <a:pt x="163195" y="0"/>
                  </a:lnTo>
                  <a:cubicBezTo>
                    <a:pt x="172593" y="0"/>
                    <a:pt x="180086" y="7620"/>
                    <a:pt x="180086" y="16891"/>
                  </a:cubicBezTo>
                  <a:lnTo>
                    <a:pt x="180086" y="2016379"/>
                  </a:lnTo>
                  <a:cubicBezTo>
                    <a:pt x="180086" y="2025777"/>
                    <a:pt x="172466" y="2033270"/>
                    <a:pt x="163195"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63195" y="1999488"/>
                  </a:lnTo>
                  <a:lnTo>
                    <a:pt x="163195" y="2016379"/>
                  </a:lnTo>
                  <a:lnTo>
                    <a:pt x="146304" y="2016379"/>
                  </a:lnTo>
                  <a:lnTo>
                    <a:pt x="146304" y="16891"/>
                  </a:lnTo>
                  <a:lnTo>
                    <a:pt x="163195" y="16891"/>
                  </a:lnTo>
                  <a:lnTo>
                    <a:pt x="163195" y="33909"/>
                  </a:lnTo>
                  <a:lnTo>
                    <a:pt x="16891" y="33909"/>
                  </a:lnTo>
                  <a:close/>
                </a:path>
              </a:pathLst>
            </a:custGeom>
            <a:solidFill>
              <a:srgbClr val="00E5A0"/>
            </a:solidFill>
          </p:spPr>
        </p:sp>
      </p:grpSp>
      <p:grpSp>
        <p:nvGrpSpPr>
          <p:cNvPr name="Group 14" id="14"/>
          <p:cNvGrpSpPr/>
          <p:nvPr/>
        </p:nvGrpSpPr>
        <p:grpSpPr>
          <a:xfrm rot="0">
            <a:off x="1243584" y="2688336"/>
            <a:ext cx="914400" cy="914400"/>
            <a:chOff x="0" y="0"/>
            <a:chExt cx="1219200" cy="1219200"/>
          </a:xfrm>
        </p:grpSpPr>
        <p:sp>
          <p:nvSpPr>
            <p:cNvPr name="Freeform 15" id="15"/>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3">
                <a:alphaModFix amt="0"/>
              </a:blip>
              <a:stretch>
                <a:fillRect l="-78303" t="0" r="-78303" b="0"/>
              </a:stretch>
            </a:blipFill>
          </p:spPr>
        </p:sp>
        <p:sp>
          <p:nvSpPr>
            <p:cNvPr name="TextBox 16" id="16"/>
            <p:cNvSpPr txBox="true"/>
            <p:nvPr/>
          </p:nvSpPr>
          <p:spPr>
            <a:xfrm>
              <a:off x="0" y="-76200"/>
              <a:ext cx="1219200" cy="1295400"/>
            </a:xfrm>
            <a:prstGeom prst="rect">
              <a:avLst/>
            </a:prstGeom>
          </p:spPr>
          <p:txBody>
            <a:bodyPr anchor="ctr" rtlCol="false" tIns="0" lIns="0" bIns="0" rIns="0"/>
            <a:lstStyle/>
            <a:p>
              <a:pPr algn="l">
                <a:lnSpc>
                  <a:spcPts val="5280"/>
                </a:lnSpc>
              </a:pPr>
              <a:r>
                <a:rPr lang="en-US" sz="4400" b="true">
                  <a:solidFill>
                    <a:srgbClr val="00E5A0"/>
                  </a:solidFill>
                  <a:latin typeface="Calibri (MS) Bold"/>
                  <a:ea typeface="Calibri (MS) Bold"/>
                  <a:cs typeface="Calibri (MS) Bold"/>
                  <a:sym typeface="Calibri (MS) Bold"/>
                </a:rPr>
                <a:t>01</a:t>
              </a:r>
            </a:p>
          </p:txBody>
        </p:sp>
      </p:grpSp>
      <p:grpSp>
        <p:nvGrpSpPr>
          <p:cNvPr name="Group 17" id="17"/>
          <p:cNvGrpSpPr/>
          <p:nvPr/>
        </p:nvGrpSpPr>
        <p:grpSpPr>
          <a:xfrm rot="0">
            <a:off x="2286000" y="2871216"/>
            <a:ext cx="6400800" cy="694944"/>
            <a:chOff x="0" y="0"/>
            <a:chExt cx="8534400" cy="926592"/>
          </a:xfrm>
        </p:grpSpPr>
        <p:sp>
          <p:nvSpPr>
            <p:cNvPr name="Freeform 18" id="18"/>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3">
                <a:alphaModFix amt="0"/>
              </a:blip>
              <a:stretch>
                <a:fillRect l="0" t="-129467" r="0" b="-129467"/>
              </a:stretch>
            </a:blipFill>
          </p:spPr>
        </p:sp>
        <p:sp>
          <p:nvSpPr>
            <p:cNvPr name="TextBox 19" id="19"/>
            <p:cNvSpPr txBox="true"/>
            <p:nvPr/>
          </p:nvSpPr>
          <p:spPr>
            <a:xfrm>
              <a:off x="0" y="-47625"/>
              <a:ext cx="8534400" cy="974217"/>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Contexte &amp; Enjeux</a:t>
              </a:r>
            </a:p>
          </p:txBody>
        </p:sp>
      </p:grpSp>
      <p:grpSp>
        <p:nvGrpSpPr>
          <p:cNvPr name="Group 20" id="20"/>
          <p:cNvGrpSpPr/>
          <p:nvPr/>
        </p:nvGrpSpPr>
        <p:grpSpPr>
          <a:xfrm rot="0">
            <a:off x="908047" y="4291327"/>
            <a:ext cx="8059417" cy="1512313"/>
            <a:chOff x="0" y="0"/>
            <a:chExt cx="10745889" cy="2016417"/>
          </a:xfrm>
        </p:grpSpPr>
        <p:sp>
          <p:nvSpPr>
            <p:cNvPr name="Freeform 21" id="21"/>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0D1E35"/>
            </a:solidFill>
          </p:spPr>
        </p:sp>
        <p:sp>
          <p:nvSpPr>
            <p:cNvPr name="Freeform 22" id="22"/>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23" id="23"/>
          <p:cNvGrpSpPr/>
          <p:nvPr/>
        </p:nvGrpSpPr>
        <p:grpSpPr>
          <a:xfrm rot="0">
            <a:off x="901703" y="4284983"/>
            <a:ext cx="135131" cy="1525019"/>
            <a:chOff x="0" y="0"/>
            <a:chExt cx="180175" cy="2033359"/>
          </a:xfrm>
        </p:grpSpPr>
        <p:sp>
          <p:nvSpPr>
            <p:cNvPr name="Freeform 24" id="24"/>
            <p:cNvSpPr/>
            <p:nvPr/>
          </p:nvSpPr>
          <p:spPr>
            <a:xfrm flipH="false" flipV="false" rot="0">
              <a:off x="16891" y="16891"/>
              <a:ext cx="146304" cy="1999488"/>
            </a:xfrm>
            <a:custGeom>
              <a:avLst/>
              <a:gdLst/>
              <a:ahLst/>
              <a:cxnLst/>
              <a:rect r="r" b="b" t="t" l="l"/>
              <a:pathLst>
                <a:path h="1999488" w="146304">
                  <a:moveTo>
                    <a:pt x="0" y="0"/>
                  </a:moveTo>
                  <a:lnTo>
                    <a:pt x="146304" y="0"/>
                  </a:lnTo>
                  <a:lnTo>
                    <a:pt x="146304" y="1999488"/>
                  </a:lnTo>
                  <a:lnTo>
                    <a:pt x="0" y="1999488"/>
                  </a:lnTo>
                  <a:close/>
                </a:path>
              </a:pathLst>
            </a:custGeom>
            <a:solidFill>
              <a:srgbClr val="1A8FFF"/>
            </a:solidFill>
          </p:spPr>
        </p:sp>
        <p:sp>
          <p:nvSpPr>
            <p:cNvPr name="Freeform 25" id="25"/>
            <p:cNvSpPr/>
            <p:nvPr/>
          </p:nvSpPr>
          <p:spPr>
            <a:xfrm flipH="false" flipV="false" rot="0">
              <a:off x="0" y="0"/>
              <a:ext cx="180086" cy="2033270"/>
            </a:xfrm>
            <a:custGeom>
              <a:avLst/>
              <a:gdLst/>
              <a:ahLst/>
              <a:cxnLst/>
              <a:rect r="r" b="b" t="t" l="l"/>
              <a:pathLst>
                <a:path h="2033270" w="180086">
                  <a:moveTo>
                    <a:pt x="16891" y="0"/>
                  </a:moveTo>
                  <a:lnTo>
                    <a:pt x="163195" y="0"/>
                  </a:lnTo>
                  <a:cubicBezTo>
                    <a:pt x="172593" y="0"/>
                    <a:pt x="180086" y="7620"/>
                    <a:pt x="180086" y="16891"/>
                  </a:cubicBezTo>
                  <a:lnTo>
                    <a:pt x="180086" y="2016379"/>
                  </a:lnTo>
                  <a:cubicBezTo>
                    <a:pt x="180086" y="2025777"/>
                    <a:pt x="172466" y="2033270"/>
                    <a:pt x="163195"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63195" y="1999488"/>
                  </a:lnTo>
                  <a:lnTo>
                    <a:pt x="163195" y="2016379"/>
                  </a:lnTo>
                  <a:lnTo>
                    <a:pt x="146304" y="2016379"/>
                  </a:lnTo>
                  <a:lnTo>
                    <a:pt x="146304" y="16891"/>
                  </a:lnTo>
                  <a:lnTo>
                    <a:pt x="163195" y="16891"/>
                  </a:lnTo>
                  <a:lnTo>
                    <a:pt x="163195" y="33909"/>
                  </a:lnTo>
                  <a:lnTo>
                    <a:pt x="16891" y="33909"/>
                  </a:lnTo>
                  <a:close/>
                </a:path>
              </a:pathLst>
            </a:custGeom>
            <a:solidFill>
              <a:srgbClr val="1A8FFF"/>
            </a:solidFill>
          </p:spPr>
        </p:sp>
      </p:grpSp>
      <p:grpSp>
        <p:nvGrpSpPr>
          <p:cNvPr name="Group 26" id="26"/>
          <p:cNvGrpSpPr/>
          <p:nvPr/>
        </p:nvGrpSpPr>
        <p:grpSpPr>
          <a:xfrm rot="0">
            <a:off x="1243584" y="4517136"/>
            <a:ext cx="914400" cy="914400"/>
            <a:chOff x="0" y="0"/>
            <a:chExt cx="1219200" cy="1219200"/>
          </a:xfrm>
        </p:grpSpPr>
        <p:sp>
          <p:nvSpPr>
            <p:cNvPr name="Freeform 27" id="27"/>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3">
                <a:alphaModFix amt="0"/>
              </a:blip>
              <a:stretch>
                <a:fillRect l="-78303" t="0" r="-78303" b="0"/>
              </a:stretch>
            </a:blipFill>
          </p:spPr>
        </p:sp>
        <p:sp>
          <p:nvSpPr>
            <p:cNvPr name="TextBox 28" id="28"/>
            <p:cNvSpPr txBox="true"/>
            <p:nvPr/>
          </p:nvSpPr>
          <p:spPr>
            <a:xfrm>
              <a:off x="0" y="-76200"/>
              <a:ext cx="1219200" cy="1295400"/>
            </a:xfrm>
            <a:prstGeom prst="rect">
              <a:avLst/>
            </a:prstGeom>
          </p:spPr>
          <p:txBody>
            <a:bodyPr anchor="ctr" rtlCol="false" tIns="0" lIns="0" bIns="0" rIns="0"/>
            <a:lstStyle/>
            <a:p>
              <a:pPr algn="l">
                <a:lnSpc>
                  <a:spcPts val="5280"/>
                </a:lnSpc>
              </a:pPr>
              <a:r>
                <a:rPr lang="en-US" sz="4400" b="true">
                  <a:solidFill>
                    <a:srgbClr val="1A8FFF"/>
                  </a:solidFill>
                  <a:latin typeface="Calibri (MS) Bold"/>
                  <a:ea typeface="Calibri (MS) Bold"/>
                  <a:cs typeface="Calibri (MS) Bold"/>
                  <a:sym typeface="Calibri (MS) Bold"/>
                </a:rPr>
                <a:t>02</a:t>
              </a:r>
            </a:p>
          </p:txBody>
        </p:sp>
      </p:grpSp>
      <p:grpSp>
        <p:nvGrpSpPr>
          <p:cNvPr name="Group 29" id="29"/>
          <p:cNvGrpSpPr/>
          <p:nvPr/>
        </p:nvGrpSpPr>
        <p:grpSpPr>
          <a:xfrm rot="0">
            <a:off x="2286000" y="4700016"/>
            <a:ext cx="6400800" cy="694944"/>
            <a:chOff x="0" y="0"/>
            <a:chExt cx="8534400" cy="926592"/>
          </a:xfrm>
        </p:grpSpPr>
        <p:sp>
          <p:nvSpPr>
            <p:cNvPr name="Freeform 30" id="30"/>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3">
                <a:alphaModFix amt="0"/>
              </a:blip>
              <a:stretch>
                <a:fillRect l="0" t="-129467" r="0" b="-129467"/>
              </a:stretch>
            </a:blipFill>
          </p:spPr>
        </p:sp>
        <p:sp>
          <p:nvSpPr>
            <p:cNvPr name="TextBox 31" id="31"/>
            <p:cNvSpPr txBox="true"/>
            <p:nvPr/>
          </p:nvSpPr>
          <p:spPr>
            <a:xfrm>
              <a:off x="0" y="-47625"/>
              <a:ext cx="8534400" cy="974217"/>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Exploration des Données</a:t>
              </a:r>
            </a:p>
          </p:txBody>
        </p:sp>
      </p:grpSp>
      <p:grpSp>
        <p:nvGrpSpPr>
          <p:cNvPr name="Group 32" id="32"/>
          <p:cNvGrpSpPr/>
          <p:nvPr/>
        </p:nvGrpSpPr>
        <p:grpSpPr>
          <a:xfrm rot="0">
            <a:off x="908047" y="6120127"/>
            <a:ext cx="8059417" cy="1512313"/>
            <a:chOff x="0" y="0"/>
            <a:chExt cx="10745889" cy="2016417"/>
          </a:xfrm>
        </p:grpSpPr>
        <p:sp>
          <p:nvSpPr>
            <p:cNvPr name="Freeform 33" id="33"/>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0D1E35"/>
            </a:solidFill>
          </p:spPr>
        </p:sp>
        <p:sp>
          <p:nvSpPr>
            <p:cNvPr name="Freeform 34" id="34"/>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35" id="35"/>
          <p:cNvGrpSpPr/>
          <p:nvPr/>
        </p:nvGrpSpPr>
        <p:grpSpPr>
          <a:xfrm rot="0">
            <a:off x="901703" y="6113783"/>
            <a:ext cx="135131" cy="1525019"/>
            <a:chOff x="0" y="0"/>
            <a:chExt cx="180175" cy="2033359"/>
          </a:xfrm>
        </p:grpSpPr>
        <p:sp>
          <p:nvSpPr>
            <p:cNvPr name="Freeform 36" id="36"/>
            <p:cNvSpPr/>
            <p:nvPr/>
          </p:nvSpPr>
          <p:spPr>
            <a:xfrm flipH="false" flipV="false" rot="0">
              <a:off x="16891" y="16891"/>
              <a:ext cx="146304" cy="1999488"/>
            </a:xfrm>
            <a:custGeom>
              <a:avLst/>
              <a:gdLst/>
              <a:ahLst/>
              <a:cxnLst/>
              <a:rect r="r" b="b" t="t" l="l"/>
              <a:pathLst>
                <a:path h="1999488" w="146304">
                  <a:moveTo>
                    <a:pt x="0" y="0"/>
                  </a:moveTo>
                  <a:lnTo>
                    <a:pt x="146304" y="0"/>
                  </a:lnTo>
                  <a:lnTo>
                    <a:pt x="146304" y="1999488"/>
                  </a:lnTo>
                  <a:lnTo>
                    <a:pt x="0" y="1999488"/>
                  </a:lnTo>
                  <a:close/>
                </a:path>
              </a:pathLst>
            </a:custGeom>
            <a:solidFill>
              <a:srgbClr val="FFB800"/>
            </a:solidFill>
          </p:spPr>
        </p:sp>
        <p:sp>
          <p:nvSpPr>
            <p:cNvPr name="Freeform 37" id="37"/>
            <p:cNvSpPr/>
            <p:nvPr/>
          </p:nvSpPr>
          <p:spPr>
            <a:xfrm flipH="false" flipV="false" rot="0">
              <a:off x="0" y="0"/>
              <a:ext cx="180086" cy="2033270"/>
            </a:xfrm>
            <a:custGeom>
              <a:avLst/>
              <a:gdLst/>
              <a:ahLst/>
              <a:cxnLst/>
              <a:rect r="r" b="b" t="t" l="l"/>
              <a:pathLst>
                <a:path h="2033270" w="180086">
                  <a:moveTo>
                    <a:pt x="16891" y="0"/>
                  </a:moveTo>
                  <a:lnTo>
                    <a:pt x="163195" y="0"/>
                  </a:lnTo>
                  <a:cubicBezTo>
                    <a:pt x="172593" y="0"/>
                    <a:pt x="180086" y="7620"/>
                    <a:pt x="180086" y="16891"/>
                  </a:cubicBezTo>
                  <a:lnTo>
                    <a:pt x="180086" y="2016379"/>
                  </a:lnTo>
                  <a:cubicBezTo>
                    <a:pt x="180086" y="2025777"/>
                    <a:pt x="172466" y="2033270"/>
                    <a:pt x="163195"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63195" y="1999488"/>
                  </a:lnTo>
                  <a:lnTo>
                    <a:pt x="163195" y="2016379"/>
                  </a:lnTo>
                  <a:lnTo>
                    <a:pt x="146304" y="2016379"/>
                  </a:lnTo>
                  <a:lnTo>
                    <a:pt x="146304" y="16891"/>
                  </a:lnTo>
                  <a:lnTo>
                    <a:pt x="163195" y="16891"/>
                  </a:lnTo>
                  <a:lnTo>
                    <a:pt x="163195" y="33909"/>
                  </a:lnTo>
                  <a:lnTo>
                    <a:pt x="16891" y="33909"/>
                  </a:lnTo>
                  <a:close/>
                </a:path>
              </a:pathLst>
            </a:custGeom>
            <a:solidFill>
              <a:srgbClr val="FFB800"/>
            </a:solidFill>
          </p:spPr>
        </p:sp>
      </p:grpSp>
      <p:grpSp>
        <p:nvGrpSpPr>
          <p:cNvPr name="Group 38" id="38"/>
          <p:cNvGrpSpPr/>
          <p:nvPr/>
        </p:nvGrpSpPr>
        <p:grpSpPr>
          <a:xfrm rot="0">
            <a:off x="1243584" y="6345936"/>
            <a:ext cx="914400" cy="914400"/>
            <a:chOff x="0" y="0"/>
            <a:chExt cx="1219200" cy="1219200"/>
          </a:xfrm>
        </p:grpSpPr>
        <p:sp>
          <p:nvSpPr>
            <p:cNvPr name="Freeform 39" id="39"/>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3">
                <a:alphaModFix amt="0"/>
              </a:blip>
              <a:stretch>
                <a:fillRect l="-78303" t="0" r="-78303" b="0"/>
              </a:stretch>
            </a:blipFill>
          </p:spPr>
        </p:sp>
        <p:sp>
          <p:nvSpPr>
            <p:cNvPr name="TextBox 40" id="40"/>
            <p:cNvSpPr txBox="true"/>
            <p:nvPr/>
          </p:nvSpPr>
          <p:spPr>
            <a:xfrm>
              <a:off x="0" y="-76200"/>
              <a:ext cx="1219200" cy="1295400"/>
            </a:xfrm>
            <a:prstGeom prst="rect">
              <a:avLst/>
            </a:prstGeom>
          </p:spPr>
          <p:txBody>
            <a:bodyPr anchor="ctr" rtlCol="false" tIns="0" lIns="0" bIns="0" rIns="0"/>
            <a:lstStyle/>
            <a:p>
              <a:pPr algn="l">
                <a:lnSpc>
                  <a:spcPts val="5280"/>
                </a:lnSpc>
              </a:pPr>
              <a:r>
                <a:rPr lang="en-US" sz="4400" b="true">
                  <a:solidFill>
                    <a:srgbClr val="FFB800"/>
                  </a:solidFill>
                  <a:latin typeface="Calibri (MS) Bold"/>
                  <a:ea typeface="Calibri (MS) Bold"/>
                  <a:cs typeface="Calibri (MS) Bold"/>
                  <a:sym typeface="Calibri (MS) Bold"/>
                </a:rPr>
                <a:t>03</a:t>
              </a:r>
            </a:p>
          </p:txBody>
        </p:sp>
      </p:grpSp>
      <p:grpSp>
        <p:nvGrpSpPr>
          <p:cNvPr name="Group 41" id="41"/>
          <p:cNvGrpSpPr/>
          <p:nvPr/>
        </p:nvGrpSpPr>
        <p:grpSpPr>
          <a:xfrm rot="0">
            <a:off x="2286000" y="6528816"/>
            <a:ext cx="6400800" cy="694944"/>
            <a:chOff x="0" y="0"/>
            <a:chExt cx="8534400" cy="926592"/>
          </a:xfrm>
        </p:grpSpPr>
        <p:sp>
          <p:nvSpPr>
            <p:cNvPr name="Freeform 42" id="42"/>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3">
                <a:alphaModFix amt="0"/>
              </a:blip>
              <a:stretch>
                <a:fillRect l="0" t="-129467" r="0" b="-129467"/>
              </a:stretch>
            </a:blipFill>
          </p:spPr>
        </p:sp>
        <p:sp>
          <p:nvSpPr>
            <p:cNvPr name="TextBox 43" id="43"/>
            <p:cNvSpPr txBox="true"/>
            <p:nvPr/>
          </p:nvSpPr>
          <p:spPr>
            <a:xfrm>
              <a:off x="0" y="-47625"/>
              <a:ext cx="8534400" cy="974217"/>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Préprocessing</a:t>
              </a:r>
            </a:p>
          </p:txBody>
        </p:sp>
      </p:grpSp>
      <p:grpSp>
        <p:nvGrpSpPr>
          <p:cNvPr name="Group 44" id="44"/>
          <p:cNvGrpSpPr/>
          <p:nvPr/>
        </p:nvGrpSpPr>
        <p:grpSpPr>
          <a:xfrm rot="0">
            <a:off x="908047" y="7948927"/>
            <a:ext cx="8059417" cy="1512313"/>
            <a:chOff x="0" y="0"/>
            <a:chExt cx="10745889" cy="2016417"/>
          </a:xfrm>
        </p:grpSpPr>
        <p:sp>
          <p:nvSpPr>
            <p:cNvPr name="Freeform 45" id="45"/>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0D1E35"/>
            </a:solidFill>
          </p:spPr>
        </p:sp>
        <p:sp>
          <p:nvSpPr>
            <p:cNvPr name="Freeform 46" id="46"/>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47" id="47"/>
          <p:cNvGrpSpPr/>
          <p:nvPr/>
        </p:nvGrpSpPr>
        <p:grpSpPr>
          <a:xfrm rot="0">
            <a:off x="901703" y="7942583"/>
            <a:ext cx="135131" cy="1525019"/>
            <a:chOff x="0" y="0"/>
            <a:chExt cx="180175" cy="2033359"/>
          </a:xfrm>
        </p:grpSpPr>
        <p:sp>
          <p:nvSpPr>
            <p:cNvPr name="Freeform 48" id="48"/>
            <p:cNvSpPr/>
            <p:nvPr/>
          </p:nvSpPr>
          <p:spPr>
            <a:xfrm flipH="false" flipV="false" rot="0">
              <a:off x="16891" y="16891"/>
              <a:ext cx="146304" cy="1999488"/>
            </a:xfrm>
            <a:custGeom>
              <a:avLst/>
              <a:gdLst/>
              <a:ahLst/>
              <a:cxnLst/>
              <a:rect r="r" b="b" t="t" l="l"/>
              <a:pathLst>
                <a:path h="1999488" w="146304">
                  <a:moveTo>
                    <a:pt x="0" y="0"/>
                  </a:moveTo>
                  <a:lnTo>
                    <a:pt x="146304" y="0"/>
                  </a:lnTo>
                  <a:lnTo>
                    <a:pt x="146304" y="1999488"/>
                  </a:lnTo>
                  <a:lnTo>
                    <a:pt x="0" y="1999488"/>
                  </a:lnTo>
                  <a:close/>
                </a:path>
              </a:pathLst>
            </a:custGeom>
            <a:solidFill>
              <a:srgbClr val="FF4D6A"/>
            </a:solidFill>
          </p:spPr>
        </p:sp>
        <p:sp>
          <p:nvSpPr>
            <p:cNvPr name="Freeform 49" id="49"/>
            <p:cNvSpPr/>
            <p:nvPr/>
          </p:nvSpPr>
          <p:spPr>
            <a:xfrm flipH="false" flipV="false" rot="0">
              <a:off x="0" y="0"/>
              <a:ext cx="180086" cy="2033270"/>
            </a:xfrm>
            <a:custGeom>
              <a:avLst/>
              <a:gdLst/>
              <a:ahLst/>
              <a:cxnLst/>
              <a:rect r="r" b="b" t="t" l="l"/>
              <a:pathLst>
                <a:path h="2033270" w="180086">
                  <a:moveTo>
                    <a:pt x="16891" y="0"/>
                  </a:moveTo>
                  <a:lnTo>
                    <a:pt x="163195" y="0"/>
                  </a:lnTo>
                  <a:cubicBezTo>
                    <a:pt x="172593" y="0"/>
                    <a:pt x="180086" y="7620"/>
                    <a:pt x="180086" y="16891"/>
                  </a:cubicBezTo>
                  <a:lnTo>
                    <a:pt x="180086" y="2016379"/>
                  </a:lnTo>
                  <a:cubicBezTo>
                    <a:pt x="180086" y="2025777"/>
                    <a:pt x="172466" y="2033270"/>
                    <a:pt x="163195"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63195" y="1999488"/>
                  </a:lnTo>
                  <a:lnTo>
                    <a:pt x="163195" y="2016379"/>
                  </a:lnTo>
                  <a:lnTo>
                    <a:pt x="146304" y="2016379"/>
                  </a:lnTo>
                  <a:lnTo>
                    <a:pt x="146304" y="16891"/>
                  </a:lnTo>
                  <a:lnTo>
                    <a:pt x="163195" y="16891"/>
                  </a:lnTo>
                  <a:lnTo>
                    <a:pt x="163195" y="33909"/>
                  </a:lnTo>
                  <a:lnTo>
                    <a:pt x="16891" y="33909"/>
                  </a:lnTo>
                  <a:close/>
                </a:path>
              </a:pathLst>
            </a:custGeom>
            <a:solidFill>
              <a:srgbClr val="FF4D6A"/>
            </a:solidFill>
          </p:spPr>
        </p:sp>
      </p:grpSp>
      <p:grpSp>
        <p:nvGrpSpPr>
          <p:cNvPr name="Group 50" id="50"/>
          <p:cNvGrpSpPr/>
          <p:nvPr/>
        </p:nvGrpSpPr>
        <p:grpSpPr>
          <a:xfrm rot="0">
            <a:off x="1243584" y="8174736"/>
            <a:ext cx="914400" cy="914400"/>
            <a:chOff x="0" y="0"/>
            <a:chExt cx="1219200" cy="1219200"/>
          </a:xfrm>
        </p:grpSpPr>
        <p:sp>
          <p:nvSpPr>
            <p:cNvPr name="Freeform 51" id="51"/>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3">
                <a:alphaModFix amt="0"/>
              </a:blip>
              <a:stretch>
                <a:fillRect l="-78303" t="0" r="-78303" b="0"/>
              </a:stretch>
            </a:blipFill>
          </p:spPr>
        </p:sp>
        <p:sp>
          <p:nvSpPr>
            <p:cNvPr name="TextBox 52" id="52"/>
            <p:cNvSpPr txBox="true"/>
            <p:nvPr/>
          </p:nvSpPr>
          <p:spPr>
            <a:xfrm>
              <a:off x="0" y="-76200"/>
              <a:ext cx="1219200" cy="1295400"/>
            </a:xfrm>
            <a:prstGeom prst="rect">
              <a:avLst/>
            </a:prstGeom>
          </p:spPr>
          <p:txBody>
            <a:bodyPr anchor="ctr" rtlCol="false" tIns="0" lIns="0" bIns="0" rIns="0"/>
            <a:lstStyle/>
            <a:p>
              <a:pPr algn="l">
                <a:lnSpc>
                  <a:spcPts val="5280"/>
                </a:lnSpc>
              </a:pPr>
              <a:r>
                <a:rPr lang="en-US" sz="4400" b="true">
                  <a:solidFill>
                    <a:srgbClr val="FF4D6A"/>
                  </a:solidFill>
                  <a:latin typeface="Calibri (MS) Bold"/>
                  <a:ea typeface="Calibri (MS) Bold"/>
                  <a:cs typeface="Calibri (MS) Bold"/>
                  <a:sym typeface="Calibri (MS) Bold"/>
                </a:rPr>
                <a:t>04</a:t>
              </a:r>
            </a:p>
          </p:txBody>
        </p:sp>
      </p:grpSp>
      <p:grpSp>
        <p:nvGrpSpPr>
          <p:cNvPr name="Group 53" id="53"/>
          <p:cNvGrpSpPr/>
          <p:nvPr/>
        </p:nvGrpSpPr>
        <p:grpSpPr>
          <a:xfrm rot="0">
            <a:off x="2286000" y="8357616"/>
            <a:ext cx="6400800" cy="694944"/>
            <a:chOff x="0" y="0"/>
            <a:chExt cx="8534400" cy="926592"/>
          </a:xfrm>
        </p:grpSpPr>
        <p:sp>
          <p:nvSpPr>
            <p:cNvPr name="Freeform 54" id="54"/>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3">
                <a:alphaModFix amt="0"/>
              </a:blip>
              <a:stretch>
                <a:fillRect l="0" t="-129467" r="0" b="-129467"/>
              </a:stretch>
            </a:blipFill>
          </p:spPr>
        </p:sp>
        <p:sp>
          <p:nvSpPr>
            <p:cNvPr name="TextBox 55" id="55"/>
            <p:cNvSpPr txBox="true"/>
            <p:nvPr/>
          </p:nvSpPr>
          <p:spPr>
            <a:xfrm>
              <a:off x="0" y="-47625"/>
              <a:ext cx="8534400" cy="974217"/>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Classification — Churn</a:t>
              </a:r>
            </a:p>
          </p:txBody>
        </p:sp>
      </p:grpSp>
      <p:grpSp>
        <p:nvGrpSpPr>
          <p:cNvPr name="Group 56" id="56"/>
          <p:cNvGrpSpPr/>
          <p:nvPr/>
        </p:nvGrpSpPr>
        <p:grpSpPr>
          <a:xfrm rot="0">
            <a:off x="9686287" y="2462527"/>
            <a:ext cx="8059417" cy="1512313"/>
            <a:chOff x="0" y="0"/>
            <a:chExt cx="10745889" cy="2016417"/>
          </a:xfrm>
        </p:grpSpPr>
        <p:sp>
          <p:nvSpPr>
            <p:cNvPr name="Freeform 57" id="57"/>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0D1E35"/>
            </a:solidFill>
          </p:spPr>
        </p:sp>
        <p:sp>
          <p:nvSpPr>
            <p:cNvPr name="Freeform 58" id="58"/>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59" id="59"/>
          <p:cNvGrpSpPr/>
          <p:nvPr/>
        </p:nvGrpSpPr>
        <p:grpSpPr>
          <a:xfrm rot="0">
            <a:off x="9679943" y="2456183"/>
            <a:ext cx="135131" cy="1525019"/>
            <a:chOff x="0" y="0"/>
            <a:chExt cx="180175" cy="2033359"/>
          </a:xfrm>
        </p:grpSpPr>
        <p:sp>
          <p:nvSpPr>
            <p:cNvPr name="Freeform 60" id="60"/>
            <p:cNvSpPr/>
            <p:nvPr/>
          </p:nvSpPr>
          <p:spPr>
            <a:xfrm flipH="false" flipV="false" rot="0">
              <a:off x="16891" y="16891"/>
              <a:ext cx="146304" cy="1999488"/>
            </a:xfrm>
            <a:custGeom>
              <a:avLst/>
              <a:gdLst/>
              <a:ahLst/>
              <a:cxnLst/>
              <a:rect r="r" b="b" t="t" l="l"/>
              <a:pathLst>
                <a:path h="1999488" w="146304">
                  <a:moveTo>
                    <a:pt x="0" y="0"/>
                  </a:moveTo>
                  <a:lnTo>
                    <a:pt x="146304" y="0"/>
                  </a:lnTo>
                  <a:lnTo>
                    <a:pt x="146304" y="1999488"/>
                  </a:lnTo>
                  <a:lnTo>
                    <a:pt x="0" y="1999488"/>
                  </a:lnTo>
                  <a:close/>
                </a:path>
              </a:pathLst>
            </a:custGeom>
            <a:solidFill>
              <a:srgbClr val="A855F7"/>
            </a:solidFill>
          </p:spPr>
        </p:sp>
        <p:sp>
          <p:nvSpPr>
            <p:cNvPr name="Freeform 61" id="61"/>
            <p:cNvSpPr/>
            <p:nvPr/>
          </p:nvSpPr>
          <p:spPr>
            <a:xfrm flipH="false" flipV="false" rot="0">
              <a:off x="0" y="0"/>
              <a:ext cx="180086" cy="2033270"/>
            </a:xfrm>
            <a:custGeom>
              <a:avLst/>
              <a:gdLst/>
              <a:ahLst/>
              <a:cxnLst/>
              <a:rect r="r" b="b" t="t" l="l"/>
              <a:pathLst>
                <a:path h="2033270" w="180086">
                  <a:moveTo>
                    <a:pt x="16891" y="0"/>
                  </a:moveTo>
                  <a:lnTo>
                    <a:pt x="163195" y="0"/>
                  </a:lnTo>
                  <a:cubicBezTo>
                    <a:pt x="172593" y="0"/>
                    <a:pt x="180086" y="7620"/>
                    <a:pt x="180086" y="16891"/>
                  </a:cubicBezTo>
                  <a:lnTo>
                    <a:pt x="180086" y="2016379"/>
                  </a:lnTo>
                  <a:cubicBezTo>
                    <a:pt x="180086" y="2025777"/>
                    <a:pt x="172466" y="2033270"/>
                    <a:pt x="163195"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63195" y="1999488"/>
                  </a:lnTo>
                  <a:lnTo>
                    <a:pt x="163195" y="2016379"/>
                  </a:lnTo>
                  <a:lnTo>
                    <a:pt x="146304" y="2016379"/>
                  </a:lnTo>
                  <a:lnTo>
                    <a:pt x="146304" y="16891"/>
                  </a:lnTo>
                  <a:lnTo>
                    <a:pt x="163195" y="16891"/>
                  </a:lnTo>
                  <a:lnTo>
                    <a:pt x="163195" y="33909"/>
                  </a:lnTo>
                  <a:lnTo>
                    <a:pt x="16891" y="33909"/>
                  </a:lnTo>
                  <a:close/>
                </a:path>
              </a:pathLst>
            </a:custGeom>
            <a:solidFill>
              <a:srgbClr val="A855F7"/>
            </a:solidFill>
          </p:spPr>
        </p:sp>
      </p:grpSp>
      <p:grpSp>
        <p:nvGrpSpPr>
          <p:cNvPr name="Group 62" id="62"/>
          <p:cNvGrpSpPr/>
          <p:nvPr/>
        </p:nvGrpSpPr>
        <p:grpSpPr>
          <a:xfrm rot="0">
            <a:off x="10021824" y="2688336"/>
            <a:ext cx="914400" cy="914400"/>
            <a:chOff x="0" y="0"/>
            <a:chExt cx="1219200" cy="1219200"/>
          </a:xfrm>
        </p:grpSpPr>
        <p:sp>
          <p:nvSpPr>
            <p:cNvPr name="Freeform 63" id="63"/>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3">
                <a:alphaModFix amt="0"/>
              </a:blip>
              <a:stretch>
                <a:fillRect l="-78303" t="0" r="-78303" b="0"/>
              </a:stretch>
            </a:blipFill>
          </p:spPr>
        </p:sp>
        <p:sp>
          <p:nvSpPr>
            <p:cNvPr name="TextBox 64" id="64"/>
            <p:cNvSpPr txBox="true"/>
            <p:nvPr/>
          </p:nvSpPr>
          <p:spPr>
            <a:xfrm>
              <a:off x="0" y="-76200"/>
              <a:ext cx="1219200" cy="1295400"/>
            </a:xfrm>
            <a:prstGeom prst="rect">
              <a:avLst/>
            </a:prstGeom>
          </p:spPr>
          <p:txBody>
            <a:bodyPr anchor="ctr" rtlCol="false" tIns="0" lIns="0" bIns="0" rIns="0"/>
            <a:lstStyle/>
            <a:p>
              <a:pPr algn="l">
                <a:lnSpc>
                  <a:spcPts val="5280"/>
                </a:lnSpc>
              </a:pPr>
              <a:r>
                <a:rPr lang="en-US" sz="4400" b="true">
                  <a:solidFill>
                    <a:srgbClr val="A855F7"/>
                  </a:solidFill>
                  <a:latin typeface="Calibri (MS) Bold"/>
                  <a:ea typeface="Calibri (MS) Bold"/>
                  <a:cs typeface="Calibri (MS) Bold"/>
                  <a:sym typeface="Calibri (MS) Bold"/>
                </a:rPr>
                <a:t>05</a:t>
              </a:r>
            </a:p>
          </p:txBody>
        </p:sp>
      </p:grpSp>
      <p:grpSp>
        <p:nvGrpSpPr>
          <p:cNvPr name="Group 65" id="65"/>
          <p:cNvGrpSpPr/>
          <p:nvPr/>
        </p:nvGrpSpPr>
        <p:grpSpPr>
          <a:xfrm rot="0">
            <a:off x="11064240" y="2871216"/>
            <a:ext cx="6400800" cy="694944"/>
            <a:chOff x="0" y="0"/>
            <a:chExt cx="8534400" cy="926592"/>
          </a:xfrm>
        </p:grpSpPr>
        <p:sp>
          <p:nvSpPr>
            <p:cNvPr name="Freeform 66" id="66"/>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3">
                <a:alphaModFix amt="0"/>
              </a:blip>
              <a:stretch>
                <a:fillRect l="0" t="-129467" r="0" b="-129467"/>
              </a:stretch>
            </a:blipFill>
          </p:spPr>
        </p:sp>
        <p:sp>
          <p:nvSpPr>
            <p:cNvPr name="TextBox 67" id="67"/>
            <p:cNvSpPr txBox="true"/>
            <p:nvPr/>
          </p:nvSpPr>
          <p:spPr>
            <a:xfrm>
              <a:off x="0" y="-47625"/>
              <a:ext cx="8534400" cy="974217"/>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Régression</a:t>
              </a:r>
            </a:p>
          </p:txBody>
        </p:sp>
      </p:grpSp>
      <p:grpSp>
        <p:nvGrpSpPr>
          <p:cNvPr name="Group 68" id="68"/>
          <p:cNvGrpSpPr/>
          <p:nvPr/>
        </p:nvGrpSpPr>
        <p:grpSpPr>
          <a:xfrm rot="0">
            <a:off x="9686287" y="4291327"/>
            <a:ext cx="8059417" cy="1512313"/>
            <a:chOff x="0" y="0"/>
            <a:chExt cx="10745889" cy="2016417"/>
          </a:xfrm>
        </p:grpSpPr>
        <p:sp>
          <p:nvSpPr>
            <p:cNvPr name="Freeform 69" id="69"/>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0D1E35"/>
            </a:solidFill>
          </p:spPr>
        </p:sp>
        <p:sp>
          <p:nvSpPr>
            <p:cNvPr name="Freeform 70" id="70"/>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71" id="71"/>
          <p:cNvGrpSpPr/>
          <p:nvPr/>
        </p:nvGrpSpPr>
        <p:grpSpPr>
          <a:xfrm rot="0">
            <a:off x="9679943" y="4284983"/>
            <a:ext cx="135131" cy="1525019"/>
            <a:chOff x="0" y="0"/>
            <a:chExt cx="180175" cy="2033359"/>
          </a:xfrm>
        </p:grpSpPr>
        <p:sp>
          <p:nvSpPr>
            <p:cNvPr name="Freeform 72" id="72"/>
            <p:cNvSpPr/>
            <p:nvPr/>
          </p:nvSpPr>
          <p:spPr>
            <a:xfrm flipH="false" flipV="false" rot="0">
              <a:off x="16891" y="16891"/>
              <a:ext cx="146304" cy="1999488"/>
            </a:xfrm>
            <a:custGeom>
              <a:avLst/>
              <a:gdLst/>
              <a:ahLst/>
              <a:cxnLst/>
              <a:rect r="r" b="b" t="t" l="l"/>
              <a:pathLst>
                <a:path h="1999488" w="146304">
                  <a:moveTo>
                    <a:pt x="0" y="0"/>
                  </a:moveTo>
                  <a:lnTo>
                    <a:pt x="146304" y="0"/>
                  </a:lnTo>
                  <a:lnTo>
                    <a:pt x="146304" y="1999488"/>
                  </a:lnTo>
                  <a:lnTo>
                    <a:pt x="0" y="1999488"/>
                  </a:lnTo>
                  <a:close/>
                </a:path>
              </a:pathLst>
            </a:custGeom>
            <a:solidFill>
              <a:srgbClr val="00E5A0"/>
            </a:solidFill>
          </p:spPr>
        </p:sp>
        <p:sp>
          <p:nvSpPr>
            <p:cNvPr name="Freeform 73" id="73"/>
            <p:cNvSpPr/>
            <p:nvPr/>
          </p:nvSpPr>
          <p:spPr>
            <a:xfrm flipH="false" flipV="false" rot="0">
              <a:off x="0" y="0"/>
              <a:ext cx="180086" cy="2033270"/>
            </a:xfrm>
            <a:custGeom>
              <a:avLst/>
              <a:gdLst/>
              <a:ahLst/>
              <a:cxnLst/>
              <a:rect r="r" b="b" t="t" l="l"/>
              <a:pathLst>
                <a:path h="2033270" w="180086">
                  <a:moveTo>
                    <a:pt x="16891" y="0"/>
                  </a:moveTo>
                  <a:lnTo>
                    <a:pt x="163195" y="0"/>
                  </a:lnTo>
                  <a:cubicBezTo>
                    <a:pt x="172593" y="0"/>
                    <a:pt x="180086" y="7620"/>
                    <a:pt x="180086" y="16891"/>
                  </a:cubicBezTo>
                  <a:lnTo>
                    <a:pt x="180086" y="2016379"/>
                  </a:lnTo>
                  <a:cubicBezTo>
                    <a:pt x="180086" y="2025777"/>
                    <a:pt x="172466" y="2033270"/>
                    <a:pt x="163195"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63195" y="1999488"/>
                  </a:lnTo>
                  <a:lnTo>
                    <a:pt x="163195" y="2016379"/>
                  </a:lnTo>
                  <a:lnTo>
                    <a:pt x="146304" y="2016379"/>
                  </a:lnTo>
                  <a:lnTo>
                    <a:pt x="146304" y="16891"/>
                  </a:lnTo>
                  <a:lnTo>
                    <a:pt x="163195" y="16891"/>
                  </a:lnTo>
                  <a:lnTo>
                    <a:pt x="163195" y="33909"/>
                  </a:lnTo>
                  <a:lnTo>
                    <a:pt x="16891" y="33909"/>
                  </a:lnTo>
                  <a:close/>
                </a:path>
              </a:pathLst>
            </a:custGeom>
            <a:solidFill>
              <a:srgbClr val="00E5A0"/>
            </a:solidFill>
          </p:spPr>
        </p:sp>
      </p:grpSp>
      <p:grpSp>
        <p:nvGrpSpPr>
          <p:cNvPr name="Group 74" id="74"/>
          <p:cNvGrpSpPr/>
          <p:nvPr/>
        </p:nvGrpSpPr>
        <p:grpSpPr>
          <a:xfrm rot="0">
            <a:off x="10021824" y="4517136"/>
            <a:ext cx="914400" cy="914400"/>
            <a:chOff x="0" y="0"/>
            <a:chExt cx="1219200" cy="1219200"/>
          </a:xfrm>
        </p:grpSpPr>
        <p:sp>
          <p:nvSpPr>
            <p:cNvPr name="Freeform 75" id="75"/>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3">
                <a:alphaModFix amt="0"/>
              </a:blip>
              <a:stretch>
                <a:fillRect l="-78303" t="0" r="-78303" b="0"/>
              </a:stretch>
            </a:blipFill>
          </p:spPr>
        </p:sp>
        <p:sp>
          <p:nvSpPr>
            <p:cNvPr name="TextBox 76" id="76"/>
            <p:cNvSpPr txBox="true"/>
            <p:nvPr/>
          </p:nvSpPr>
          <p:spPr>
            <a:xfrm>
              <a:off x="0" y="-76200"/>
              <a:ext cx="1219200" cy="1295400"/>
            </a:xfrm>
            <a:prstGeom prst="rect">
              <a:avLst/>
            </a:prstGeom>
          </p:spPr>
          <p:txBody>
            <a:bodyPr anchor="ctr" rtlCol="false" tIns="0" lIns="0" bIns="0" rIns="0"/>
            <a:lstStyle/>
            <a:p>
              <a:pPr algn="l">
                <a:lnSpc>
                  <a:spcPts val="5280"/>
                </a:lnSpc>
              </a:pPr>
              <a:r>
                <a:rPr lang="en-US" sz="4400" b="true">
                  <a:solidFill>
                    <a:srgbClr val="00E5A0"/>
                  </a:solidFill>
                  <a:latin typeface="Calibri (MS) Bold"/>
                  <a:ea typeface="Calibri (MS) Bold"/>
                  <a:cs typeface="Calibri (MS) Bold"/>
                  <a:sym typeface="Calibri (MS) Bold"/>
                </a:rPr>
                <a:t>06</a:t>
              </a:r>
            </a:p>
          </p:txBody>
        </p:sp>
      </p:grpSp>
      <p:grpSp>
        <p:nvGrpSpPr>
          <p:cNvPr name="Group 77" id="77"/>
          <p:cNvGrpSpPr/>
          <p:nvPr/>
        </p:nvGrpSpPr>
        <p:grpSpPr>
          <a:xfrm rot="0">
            <a:off x="11064240" y="4700016"/>
            <a:ext cx="6400800" cy="694944"/>
            <a:chOff x="0" y="0"/>
            <a:chExt cx="8534400" cy="926592"/>
          </a:xfrm>
        </p:grpSpPr>
        <p:sp>
          <p:nvSpPr>
            <p:cNvPr name="Freeform 78" id="78"/>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3">
                <a:alphaModFix amt="0"/>
              </a:blip>
              <a:stretch>
                <a:fillRect l="0" t="-129467" r="0" b="-129467"/>
              </a:stretch>
            </a:blipFill>
          </p:spPr>
        </p:sp>
        <p:sp>
          <p:nvSpPr>
            <p:cNvPr name="TextBox 79" id="79"/>
            <p:cNvSpPr txBox="true"/>
            <p:nvPr/>
          </p:nvSpPr>
          <p:spPr>
            <a:xfrm>
              <a:off x="0" y="-47625"/>
              <a:ext cx="8534400" cy="974217"/>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Clustering &amp; PCA</a:t>
              </a:r>
            </a:p>
          </p:txBody>
        </p:sp>
      </p:grpSp>
      <p:grpSp>
        <p:nvGrpSpPr>
          <p:cNvPr name="Group 80" id="80"/>
          <p:cNvGrpSpPr/>
          <p:nvPr/>
        </p:nvGrpSpPr>
        <p:grpSpPr>
          <a:xfrm rot="0">
            <a:off x="9686287" y="6120127"/>
            <a:ext cx="8059417" cy="1512313"/>
            <a:chOff x="0" y="0"/>
            <a:chExt cx="10745889" cy="2016417"/>
          </a:xfrm>
        </p:grpSpPr>
        <p:sp>
          <p:nvSpPr>
            <p:cNvPr name="Freeform 81" id="81"/>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0D1E35"/>
            </a:solidFill>
          </p:spPr>
        </p:sp>
        <p:sp>
          <p:nvSpPr>
            <p:cNvPr name="Freeform 82" id="82"/>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83" id="83"/>
          <p:cNvGrpSpPr/>
          <p:nvPr/>
        </p:nvGrpSpPr>
        <p:grpSpPr>
          <a:xfrm rot="0">
            <a:off x="9679943" y="6113783"/>
            <a:ext cx="135131" cy="1525019"/>
            <a:chOff x="0" y="0"/>
            <a:chExt cx="180175" cy="2033359"/>
          </a:xfrm>
        </p:grpSpPr>
        <p:sp>
          <p:nvSpPr>
            <p:cNvPr name="Freeform 84" id="84"/>
            <p:cNvSpPr/>
            <p:nvPr/>
          </p:nvSpPr>
          <p:spPr>
            <a:xfrm flipH="false" flipV="false" rot="0">
              <a:off x="16891" y="16891"/>
              <a:ext cx="146304" cy="1999488"/>
            </a:xfrm>
            <a:custGeom>
              <a:avLst/>
              <a:gdLst/>
              <a:ahLst/>
              <a:cxnLst/>
              <a:rect r="r" b="b" t="t" l="l"/>
              <a:pathLst>
                <a:path h="1999488" w="146304">
                  <a:moveTo>
                    <a:pt x="0" y="0"/>
                  </a:moveTo>
                  <a:lnTo>
                    <a:pt x="146304" y="0"/>
                  </a:lnTo>
                  <a:lnTo>
                    <a:pt x="146304" y="1999488"/>
                  </a:lnTo>
                  <a:lnTo>
                    <a:pt x="0" y="1999488"/>
                  </a:lnTo>
                  <a:close/>
                </a:path>
              </a:pathLst>
            </a:custGeom>
            <a:solidFill>
              <a:srgbClr val="1A8FFF"/>
            </a:solidFill>
          </p:spPr>
        </p:sp>
        <p:sp>
          <p:nvSpPr>
            <p:cNvPr name="Freeform 85" id="85"/>
            <p:cNvSpPr/>
            <p:nvPr/>
          </p:nvSpPr>
          <p:spPr>
            <a:xfrm flipH="false" flipV="false" rot="0">
              <a:off x="0" y="0"/>
              <a:ext cx="180086" cy="2033270"/>
            </a:xfrm>
            <a:custGeom>
              <a:avLst/>
              <a:gdLst/>
              <a:ahLst/>
              <a:cxnLst/>
              <a:rect r="r" b="b" t="t" l="l"/>
              <a:pathLst>
                <a:path h="2033270" w="180086">
                  <a:moveTo>
                    <a:pt x="16891" y="0"/>
                  </a:moveTo>
                  <a:lnTo>
                    <a:pt x="163195" y="0"/>
                  </a:lnTo>
                  <a:cubicBezTo>
                    <a:pt x="172593" y="0"/>
                    <a:pt x="180086" y="7620"/>
                    <a:pt x="180086" y="16891"/>
                  </a:cubicBezTo>
                  <a:lnTo>
                    <a:pt x="180086" y="2016379"/>
                  </a:lnTo>
                  <a:cubicBezTo>
                    <a:pt x="180086" y="2025777"/>
                    <a:pt x="172466" y="2033270"/>
                    <a:pt x="163195"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63195" y="1999488"/>
                  </a:lnTo>
                  <a:lnTo>
                    <a:pt x="163195" y="2016379"/>
                  </a:lnTo>
                  <a:lnTo>
                    <a:pt x="146304" y="2016379"/>
                  </a:lnTo>
                  <a:lnTo>
                    <a:pt x="146304" y="16891"/>
                  </a:lnTo>
                  <a:lnTo>
                    <a:pt x="163195" y="16891"/>
                  </a:lnTo>
                  <a:lnTo>
                    <a:pt x="163195" y="33909"/>
                  </a:lnTo>
                  <a:lnTo>
                    <a:pt x="16891" y="33909"/>
                  </a:lnTo>
                  <a:close/>
                </a:path>
              </a:pathLst>
            </a:custGeom>
            <a:solidFill>
              <a:srgbClr val="1A8FFF"/>
            </a:solidFill>
          </p:spPr>
        </p:sp>
      </p:grpSp>
      <p:grpSp>
        <p:nvGrpSpPr>
          <p:cNvPr name="Group 86" id="86"/>
          <p:cNvGrpSpPr/>
          <p:nvPr/>
        </p:nvGrpSpPr>
        <p:grpSpPr>
          <a:xfrm rot="0">
            <a:off x="10021824" y="6345936"/>
            <a:ext cx="914400" cy="914400"/>
            <a:chOff x="0" y="0"/>
            <a:chExt cx="1219200" cy="1219200"/>
          </a:xfrm>
        </p:grpSpPr>
        <p:sp>
          <p:nvSpPr>
            <p:cNvPr name="Freeform 87" id="87"/>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3">
                <a:alphaModFix amt="0"/>
              </a:blip>
              <a:stretch>
                <a:fillRect l="-78303" t="0" r="-78303" b="0"/>
              </a:stretch>
            </a:blipFill>
          </p:spPr>
        </p:sp>
        <p:sp>
          <p:nvSpPr>
            <p:cNvPr name="TextBox 88" id="88"/>
            <p:cNvSpPr txBox="true"/>
            <p:nvPr/>
          </p:nvSpPr>
          <p:spPr>
            <a:xfrm>
              <a:off x="0" y="-76200"/>
              <a:ext cx="1219200" cy="1295400"/>
            </a:xfrm>
            <a:prstGeom prst="rect">
              <a:avLst/>
            </a:prstGeom>
          </p:spPr>
          <p:txBody>
            <a:bodyPr anchor="ctr" rtlCol="false" tIns="0" lIns="0" bIns="0" rIns="0"/>
            <a:lstStyle/>
            <a:p>
              <a:pPr algn="l">
                <a:lnSpc>
                  <a:spcPts val="5280"/>
                </a:lnSpc>
              </a:pPr>
              <a:r>
                <a:rPr lang="en-US" sz="4400" b="true">
                  <a:solidFill>
                    <a:srgbClr val="1A8FFF"/>
                  </a:solidFill>
                  <a:latin typeface="Calibri (MS) Bold"/>
                  <a:ea typeface="Calibri (MS) Bold"/>
                  <a:cs typeface="Calibri (MS) Bold"/>
                  <a:sym typeface="Calibri (MS) Bold"/>
                </a:rPr>
                <a:t>07</a:t>
              </a:r>
            </a:p>
          </p:txBody>
        </p:sp>
      </p:grpSp>
      <p:grpSp>
        <p:nvGrpSpPr>
          <p:cNvPr name="Group 89" id="89"/>
          <p:cNvGrpSpPr/>
          <p:nvPr/>
        </p:nvGrpSpPr>
        <p:grpSpPr>
          <a:xfrm rot="0">
            <a:off x="11064240" y="6528816"/>
            <a:ext cx="6400800" cy="694944"/>
            <a:chOff x="0" y="0"/>
            <a:chExt cx="8534400" cy="926592"/>
          </a:xfrm>
        </p:grpSpPr>
        <p:sp>
          <p:nvSpPr>
            <p:cNvPr name="Freeform 90" id="90"/>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3">
                <a:alphaModFix amt="0"/>
              </a:blip>
              <a:stretch>
                <a:fillRect l="0" t="-129467" r="0" b="-129467"/>
              </a:stretch>
            </a:blipFill>
          </p:spPr>
        </p:sp>
        <p:sp>
          <p:nvSpPr>
            <p:cNvPr name="TextBox 91" id="91"/>
            <p:cNvSpPr txBox="true"/>
            <p:nvPr/>
          </p:nvSpPr>
          <p:spPr>
            <a:xfrm>
              <a:off x="0" y="-47625"/>
              <a:ext cx="8534400" cy="974217"/>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Déploiement Flask</a:t>
              </a:r>
            </a:p>
          </p:txBody>
        </p:sp>
      </p:grpSp>
      <p:grpSp>
        <p:nvGrpSpPr>
          <p:cNvPr name="Group 92" id="92"/>
          <p:cNvGrpSpPr/>
          <p:nvPr/>
        </p:nvGrpSpPr>
        <p:grpSpPr>
          <a:xfrm rot="0">
            <a:off x="9686287" y="7948927"/>
            <a:ext cx="8059417" cy="1512313"/>
            <a:chOff x="0" y="0"/>
            <a:chExt cx="10745889" cy="2016417"/>
          </a:xfrm>
        </p:grpSpPr>
        <p:sp>
          <p:nvSpPr>
            <p:cNvPr name="Freeform 93" id="93"/>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0D1E35"/>
            </a:solidFill>
          </p:spPr>
        </p:sp>
        <p:sp>
          <p:nvSpPr>
            <p:cNvPr name="Freeform 94" id="94"/>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95" id="95"/>
          <p:cNvGrpSpPr/>
          <p:nvPr/>
        </p:nvGrpSpPr>
        <p:grpSpPr>
          <a:xfrm rot="0">
            <a:off x="9679943" y="7942583"/>
            <a:ext cx="135131" cy="1525019"/>
            <a:chOff x="0" y="0"/>
            <a:chExt cx="180175" cy="2033359"/>
          </a:xfrm>
        </p:grpSpPr>
        <p:sp>
          <p:nvSpPr>
            <p:cNvPr name="Freeform 96" id="96"/>
            <p:cNvSpPr/>
            <p:nvPr/>
          </p:nvSpPr>
          <p:spPr>
            <a:xfrm flipH="false" flipV="false" rot="0">
              <a:off x="16891" y="16891"/>
              <a:ext cx="146304" cy="1999488"/>
            </a:xfrm>
            <a:custGeom>
              <a:avLst/>
              <a:gdLst/>
              <a:ahLst/>
              <a:cxnLst/>
              <a:rect r="r" b="b" t="t" l="l"/>
              <a:pathLst>
                <a:path h="1999488" w="146304">
                  <a:moveTo>
                    <a:pt x="0" y="0"/>
                  </a:moveTo>
                  <a:lnTo>
                    <a:pt x="146304" y="0"/>
                  </a:lnTo>
                  <a:lnTo>
                    <a:pt x="146304" y="1999488"/>
                  </a:lnTo>
                  <a:lnTo>
                    <a:pt x="0" y="1999488"/>
                  </a:lnTo>
                  <a:close/>
                </a:path>
              </a:pathLst>
            </a:custGeom>
            <a:solidFill>
              <a:srgbClr val="FFB800"/>
            </a:solidFill>
          </p:spPr>
        </p:sp>
        <p:sp>
          <p:nvSpPr>
            <p:cNvPr name="Freeform 97" id="97"/>
            <p:cNvSpPr/>
            <p:nvPr/>
          </p:nvSpPr>
          <p:spPr>
            <a:xfrm flipH="false" flipV="false" rot="0">
              <a:off x="0" y="0"/>
              <a:ext cx="180086" cy="2033270"/>
            </a:xfrm>
            <a:custGeom>
              <a:avLst/>
              <a:gdLst/>
              <a:ahLst/>
              <a:cxnLst/>
              <a:rect r="r" b="b" t="t" l="l"/>
              <a:pathLst>
                <a:path h="2033270" w="180086">
                  <a:moveTo>
                    <a:pt x="16891" y="0"/>
                  </a:moveTo>
                  <a:lnTo>
                    <a:pt x="163195" y="0"/>
                  </a:lnTo>
                  <a:cubicBezTo>
                    <a:pt x="172593" y="0"/>
                    <a:pt x="180086" y="7620"/>
                    <a:pt x="180086" y="16891"/>
                  </a:cubicBezTo>
                  <a:lnTo>
                    <a:pt x="180086" y="2016379"/>
                  </a:lnTo>
                  <a:cubicBezTo>
                    <a:pt x="180086" y="2025777"/>
                    <a:pt x="172466" y="2033270"/>
                    <a:pt x="163195"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63195" y="1999488"/>
                  </a:lnTo>
                  <a:lnTo>
                    <a:pt x="163195" y="2016379"/>
                  </a:lnTo>
                  <a:lnTo>
                    <a:pt x="146304" y="2016379"/>
                  </a:lnTo>
                  <a:lnTo>
                    <a:pt x="146304" y="16891"/>
                  </a:lnTo>
                  <a:lnTo>
                    <a:pt x="163195" y="16891"/>
                  </a:lnTo>
                  <a:lnTo>
                    <a:pt x="163195" y="33909"/>
                  </a:lnTo>
                  <a:lnTo>
                    <a:pt x="16891" y="33909"/>
                  </a:lnTo>
                  <a:close/>
                </a:path>
              </a:pathLst>
            </a:custGeom>
            <a:solidFill>
              <a:srgbClr val="FFB800"/>
            </a:solidFill>
          </p:spPr>
        </p:sp>
      </p:grpSp>
      <p:grpSp>
        <p:nvGrpSpPr>
          <p:cNvPr name="Group 98" id="98"/>
          <p:cNvGrpSpPr/>
          <p:nvPr/>
        </p:nvGrpSpPr>
        <p:grpSpPr>
          <a:xfrm rot="0">
            <a:off x="10021824" y="8174736"/>
            <a:ext cx="914400" cy="914400"/>
            <a:chOff x="0" y="0"/>
            <a:chExt cx="1219200" cy="1219200"/>
          </a:xfrm>
        </p:grpSpPr>
        <p:sp>
          <p:nvSpPr>
            <p:cNvPr name="Freeform 99" id="99"/>
            <p:cNvSpPr/>
            <p:nvPr/>
          </p:nvSpPr>
          <p:spPr>
            <a:xfrm flipH="false" flipV="false" rot="0">
              <a:off x="0" y="0"/>
              <a:ext cx="1219200" cy="1219200"/>
            </a:xfrm>
            <a:custGeom>
              <a:avLst/>
              <a:gdLst/>
              <a:ahLst/>
              <a:cxnLst/>
              <a:rect r="r" b="b" t="t" l="l"/>
              <a:pathLst>
                <a:path h="1219200" w="1219200">
                  <a:moveTo>
                    <a:pt x="0" y="0"/>
                  </a:moveTo>
                  <a:lnTo>
                    <a:pt x="1219200" y="0"/>
                  </a:lnTo>
                  <a:lnTo>
                    <a:pt x="1219200" y="1219200"/>
                  </a:lnTo>
                  <a:lnTo>
                    <a:pt x="0" y="1219200"/>
                  </a:lnTo>
                  <a:close/>
                </a:path>
              </a:pathLst>
            </a:custGeom>
            <a:blipFill>
              <a:blip r:embed="rId3">
                <a:alphaModFix amt="0"/>
              </a:blip>
              <a:stretch>
                <a:fillRect l="-78303" t="0" r="-78303" b="0"/>
              </a:stretch>
            </a:blipFill>
          </p:spPr>
        </p:sp>
        <p:sp>
          <p:nvSpPr>
            <p:cNvPr name="TextBox 100" id="100"/>
            <p:cNvSpPr txBox="true"/>
            <p:nvPr/>
          </p:nvSpPr>
          <p:spPr>
            <a:xfrm>
              <a:off x="0" y="-76200"/>
              <a:ext cx="1219200" cy="1295400"/>
            </a:xfrm>
            <a:prstGeom prst="rect">
              <a:avLst/>
            </a:prstGeom>
          </p:spPr>
          <p:txBody>
            <a:bodyPr anchor="ctr" rtlCol="false" tIns="0" lIns="0" bIns="0" rIns="0"/>
            <a:lstStyle/>
            <a:p>
              <a:pPr algn="l">
                <a:lnSpc>
                  <a:spcPts val="5280"/>
                </a:lnSpc>
              </a:pPr>
              <a:r>
                <a:rPr lang="en-US" sz="4400" b="true">
                  <a:solidFill>
                    <a:srgbClr val="FFB800"/>
                  </a:solidFill>
                  <a:latin typeface="Calibri (MS) Bold"/>
                  <a:ea typeface="Calibri (MS) Bold"/>
                  <a:cs typeface="Calibri (MS) Bold"/>
                  <a:sym typeface="Calibri (MS) Bold"/>
                </a:rPr>
                <a:t>08</a:t>
              </a:r>
            </a:p>
          </p:txBody>
        </p:sp>
      </p:grpSp>
      <p:grpSp>
        <p:nvGrpSpPr>
          <p:cNvPr name="Group 101" id="101"/>
          <p:cNvGrpSpPr/>
          <p:nvPr/>
        </p:nvGrpSpPr>
        <p:grpSpPr>
          <a:xfrm rot="0">
            <a:off x="11064240" y="8357616"/>
            <a:ext cx="6400800" cy="694944"/>
            <a:chOff x="0" y="0"/>
            <a:chExt cx="8534400" cy="926592"/>
          </a:xfrm>
        </p:grpSpPr>
        <p:sp>
          <p:nvSpPr>
            <p:cNvPr name="Freeform 102" id="102"/>
            <p:cNvSpPr/>
            <p:nvPr/>
          </p:nvSpPr>
          <p:spPr>
            <a:xfrm flipH="false" flipV="false" rot="0">
              <a:off x="0" y="0"/>
              <a:ext cx="8534400" cy="926592"/>
            </a:xfrm>
            <a:custGeom>
              <a:avLst/>
              <a:gdLst/>
              <a:ahLst/>
              <a:cxnLst/>
              <a:rect r="r" b="b" t="t" l="l"/>
              <a:pathLst>
                <a:path h="926592" w="8534400">
                  <a:moveTo>
                    <a:pt x="0" y="0"/>
                  </a:moveTo>
                  <a:lnTo>
                    <a:pt x="8534400" y="0"/>
                  </a:lnTo>
                  <a:lnTo>
                    <a:pt x="8534400" y="926592"/>
                  </a:lnTo>
                  <a:lnTo>
                    <a:pt x="0" y="926592"/>
                  </a:lnTo>
                  <a:close/>
                </a:path>
              </a:pathLst>
            </a:custGeom>
            <a:blipFill>
              <a:blip r:embed="rId3">
                <a:alphaModFix amt="0"/>
              </a:blip>
              <a:stretch>
                <a:fillRect l="0" t="-129467" r="0" b="-129467"/>
              </a:stretch>
            </a:blipFill>
          </p:spPr>
        </p:sp>
        <p:sp>
          <p:nvSpPr>
            <p:cNvPr name="TextBox 103" id="103"/>
            <p:cNvSpPr txBox="true"/>
            <p:nvPr/>
          </p:nvSpPr>
          <p:spPr>
            <a:xfrm>
              <a:off x="0" y="-47625"/>
              <a:ext cx="8534400" cy="974217"/>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Conclusion &amp; Perspectives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04237" y="392173"/>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914400" y="402336"/>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01 — CONTEXTE</a:t>
              </a:r>
            </a:p>
          </p:txBody>
        </p:sp>
      </p:grpSp>
      <p:grpSp>
        <p:nvGrpSpPr>
          <p:cNvPr name="Group 8" id="8"/>
          <p:cNvGrpSpPr/>
          <p:nvPr/>
        </p:nvGrpSpPr>
        <p:grpSpPr>
          <a:xfrm rot="0">
            <a:off x="914400" y="1028700"/>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Contexte &amp; Enjeux du Projet</a:t>
              </a:r>
            </a:p>
          </p:txBody>
        </p:sp>
      </p:grpSp>
      <p:grpSp>
        <p:nvGrpSpPr>
          <p:cNvPr name="Group 11" id="11"/>
          <p:cNvGrpSpPr/>
          <p:nvPr/>
        </p:nvGrpSpPr>
        <p:grpSpPr>
          <a:xfrm rot="0">
            <a:off x="908047" y="2741419"/>
            <a:ext cx="8059417" cy="7145017"/>
            <a:chOff x="0" y="0"/>
            <a:chExt cx="10745889" cy="9526689"/>
          </a:xfrm>
        </p:grpSpPr>
        <p:sp>
          <p:nvSpPr>
            <p:cNvPr name="Freeform 12" id="12"/>
            <p:cNvSpPr/>
            <p:nvPr/>
          </p:nvSpPr>
          <p:spPr>
            <a:xfrm flipH="false" flipV="false" rot="0">
              <a:off x="8509" y="8509"/>
              <a:ext cx="10728960" cy="9509760"/>
            </a:xfrm>
            <a:custGeom>
              <a:avLst/>
              <a:gdLst/>
              <a:ahLst/>
              <a:cxnLst/>
              <a:rect r="r" b="b" t="t" l="l"/>
              <a:pathLst>
                <a:path h="9509760" w="10728960">
                  <a:moveTo>
                    <a:pt x="0" y="0"/>
                  </a:moveTo>
                  <a:lnTo>
                    <a:pt x="10728960" y="0"/>
                  </a:lnTo>
                  <a:lnTo>
                    <a:pt x="10728960" y="9509760"/>
                  </a:lnTo>
                  <a:lnTo>
                    <a:pt x="0" y="9509760"/>
                  </a:lnTo>
                  <a:close/>
                </a:path>
              </a:pathLst>
            </a:custGeom>
            <a:solidFill>
              <a:srgbClr val="0D1E35"/>
            </a:solidFill>
          </p:spPr>
        </p:sp>
        <p:sp>
          <p:nvSpPr>
            <p:cNvPr name="Freeform 13" id="13"/>
            <p:cNvSpPr/>
            <p:nvPr/>
          </p:nvSpPr>
          <p:spPr>
            <a:xfrm flipH="false" flipV="false" rot="0">
              <a:off x="0" y="0"/>
              <a:ext cx="10745978" cy="9526778"/>
            </a:xfrm>
            <a:custGeom>
              <a:avLst/>
              <a:gdLst/>
              <a:ahLst/>
              <a:cxnLst/>
              <a:rect r="r" b="b" t="t" l="l"/>
              <a:pathLst>
                <a:path h="9526778" w="10745978">
                  <a:moveTo>
                    <a:pt x="8509" y="0"/>
                  </a:moveTo>
                  <a:lnTo>
                    <a:pt x="10737469" y="0"/>
                  </a:lnTo>
                  <a:cubicBezTo>
                    <a:pt x="10742168" y="0"/>
                    <a:pt x="10745978" y="3810"/>
                    <a:pt x="10745978" y="8509"/>
                  </a:cubicBezTo>
                  <a:lnTo>
                    <a:pt x="10745978" y="9518269"/>
                  </a:lnTo>
                  <a:cubicBezTo>
                    <a:pt x="10745978" y="9522968"/>
                    <a:pt x="10742168" y="9526778"/>
                    <a:pt x="10737469" y="9526778"/>
                  </a:cubicBezTo>
                  <a:lnTo>
                    <a:pt x="8509" y="9526778"/>
                  </a:lnTo>
                  <a:cubicBezTo>
                    <a:pt x="3810" y="9526778"/>
                    <a:pt x="0" y="9522968"/>
                    <a:pt x="0" y="9518269"/>
                  </a:cubicBezTo>
                  <a:lnTo>
                    <a:pt x="0" y="8509"/>
                  </a:lnTo>
                  <a:cubicBezTo>
                    <a:pt x="0" y="3810"/>
                    <a:pt x="3810" y="0"/>
                    <a:pt x="8509" y="0"/>
                  </a:cubicBezTo>
                  <a:moveTo>
                    <a:pt x="8509" y="16891"/>
                  </a:moveTo>
                  <a:lnTo>
                    <a:pt x="8509" y="8509"/>
                  </a:lnTo>
                  <a:lnTo>
                    <a:pt x="17018" y="8509"/>
                  </a:lnTo>
                  <a:lnTo>
                    <a:pt x="17018" y="9518269"/>
                  </a:lnTo>
                  <a:lnTo>
                    <a:pt x="8509" y="9518269"/>
                  </a:lnTo>
                  <a:lnTo>
                    <a:pt x="8509" y="9509760"/>
                  </a:lnTo>
                  <a:lnTo>
                    <a:pt x="10737469" y="9509760"/>
                  </a:lnTo>
                  <a:lnTo>
                    <a:pt x="10737469" y="9518269"/>
                  </a:lnTo>
                  <a:lnTo>
                    <a:pt x="10728960" y="9518269"/>
                  </a:lnTo>
                  <a:lnTo>
                    <a:pt x="10728960" y="8509"/>
                  </a:lnTo>
                  <a:lnTo>
                    <a:pt x="10737469" y="8509"/>
                  </a:lnTo>
                  <a:lnTo>
                    <a:pt x="10737469" y="17018"/>
                  </a:lnTo>
                  <a:lnTo>
                    <a:pt x="8509" y="17018"/>
                  </a:lnTo>
                  <a:close/>
                </a:path>
              </a:pathLst>
            </a:custGeom>
            <a:solidFill>
              <a:srgbClr val="1E3352"/>
            </a:solidFill>
          </p:spPr>
        </p:sp>
      </p:grpSp>
      <p:grpSp>
        <p:nvGrpSpPr>
          <p:cNvPr name="Group 14" id="14"/>
          <p:cNvGrpSpPr/>
          <p:nvPr/>
        </p:nvGrpSpPr>
        <p:grpSpPr>
          <a:xfrm rot="0">
            <a:off x="1280160" y="2985516"/>
            <a:ext cx="7315200" cy="731520"/>
            <a:chOff x="0" y="0"/>
            <a:chExt cx="9753600" cy="975360"/>
          </a:xfrm>
        </p:grpSpPr>
        <p:sp>
          <p:nvSpPr>
            <p:cNvPr name="Freeform 15" id="15"/>
            <p:cNvSpPr/>
            <p:nvPr/>
          </p:nvSpPr>
          <p:spPr>
            <a:xfrm flipH="false" flipV="false" rot="0">
              <a:off x="0" y="0"/>
              <a:ext cx="9753600" cy="975360"/>
            </a:xfrm>
            <a:custGeom>
              <a:avLst/>
              <a:gdLst/>
              <a:ahLst/>
              <a:cxnLst/>
              <a:rect r="r" b="b" t="t" l="l"/>
              <a:pathLst>
                <a:path h="975360" w="9753600">
                  <a:moveTo>
                    <a:pt x="0" y="0"/>
                  </a:moveTo>
                  <a:lnTo>
                    <a:pt x="9753600" y="0"/>
                  </a:lnTo>
                  <a:lnTo>
                    <a:pt x="9753600" y="975360"/>
                  </a:lnTo>
                  <a:lnTo>
                    <a:pt x="0" y="975360"/>
                  </a:lnTo>
                  <a:close/>
                </a:path>
              </a:pathLst>
            </a:custGeom>
            <a:blipFill>
              <a:blip r:embed="rId3">
                <a:alphaModFix amt="0"/>
              </a:blip>
              <a:stretch>
                <a:fillRect l="0" t="-144850" r="0" b="-144850"/>
              </a:stretch>
            </a:blipFill>
          </p:spPr>
        </p:sp>
        <p:sp>
          <p:nvSpPr>
            <p:cNvPr name="TextBox 16" id="16"/>
            <p:cNvSpPr txBox="true"/>
            <p:nvPr/>
          </p:nvSpPr>
          <p:spPr>
            <a:xfrm>
              <a:off x="0" y="-47625"/>
              <a:ext cx="9753600" cy="1022985"/>
            </a:xfrm>
            <a:prstGeom prst="rect">
              <a:avLst/>
            </a:prstGeom>
          </p:spPr>
          <p:txBody>
            <a:bodyPr anchor="ctr" rtlCol="false" tIns="0" lIns="0" bIns="0" rIns="0"/>
            <a:lstStyle/>
            <a:p>
              <a:pPr algn="l">
                <a:lnSpc>
                  <a:spcPts val="3359"/>
                </a:lnSpc>
              </a:pPr>
              <a:r>
                <a:rPr lang="en-US" sz="2799" b="true">
                  <a:solidFill>
                    <a:srgbClr val="00E5A0"/>
                  </a:solidFill>
                  <a:latin typeface="Calibri (MS) Bold"/>
                  <a:ea typeface="Calibri (MS) Bold"/>
                  <a:cs typeface="Calibri (MS) Bold"/>
                  <a:sym typeface="Calibri (MS) Bold"/>
                </a:rPr>
                <a:t>Problématique</a:t>
              </a:r>
            </a:p>
          </p:txBody>
        </p:sp>
      </p:grpSp>
      <p:sp>
        <p:nvSpPr>
          <p:cNvPr name="TextBox 17" id="17"/>
          <p:cNvSpPr txBox="true"/>
          <p:nvPr/>
        </p:nvSpPr>
        <p:spPr>
          <a:xfrm rot="0">
            <a:off x="1371600" y="3692271"/>
            <a:ext cx="7132320" cy="3894558"/>
          </a:xfrm>
          <a:prstGeom prst="rect">
            <a:avLst/>
          </a:prstGeom>
        </p:spPr>
        <p:txBody>
          <a:bodyPr anchor="t" rtlCol="false" tIns="0" lIns="0" bIns="0" rIns="0">
            <a:spAutoFit/>
          </a:bodyPr>
          <a:lstStyle/>
          <a:p>
            <a:pPr algn="l">
              <a:lnSpc>
                <a:spcPts val="3850"/>
              </a:lnSpc>
            </a:pPr>
            <a:r>
              <a:rPr lang="en-US" sz="2200">
                <a:solidFill>
                  <a:srgbClr val="E2EDF5"/>
                </a:solidFill>
                <a:latin typeface="Calibri (MS)"/>
                <a:ea typeface="Calibri (MS)"/>
                <a:cs typeface="Calibri (MS)"/>
                <a:sym typeface="Calibri (MS)"/>
              </a:rPr>
              <a:t>Dans un marché e-commerce ultra-concurrentiel, comprendre et anticiper le comportement client est devenu un levier stratégique incontournable.</a:t>
            </a:r>
          </a:p>
          <a:p>
            <a:pPr algn="l">
              <a:lnSpc>
                <a:spcPts val="3850"/>
              </a:lnSpc>
            </a:pPr>
            <a:r>
              <a:rPr lang="en-US" sz="2200">
                <a:solidFill>
                  <a:srgbClr val="E2EDF5"/>
                </a:solidFill>
                <a:latin typeface="Calibri (MS)"/>
                <a:ea typeface="Calibri (MS)"/>
                <a:cs typeface="Calibri (MS)"/>
                <a:sym typeface="Calibri (MS)"/>
              </a:rPr>
              <a:t> </a:t>
            </a:r>
          </a:p>
          <a:p>
            <a:pPr algn="l">
              <a:lnSpc>
                <a:spcPts val="3850"/>
              </a:lnSpc>
            </a:pPr>
            <a:r>
              <a:rPr lang="en-US" sz="2200">
                <a:solidFill>
                  <a:srgbClr val="E2EDF5"/>
                </a:solidFill>
                <a:latin typeface="Calibri (MS)"/>
                <a:ea typeface="Calibri (MS)"/>
                <a:cs typeface="Calibri (MS)"/>
                <a:sym typeface="Calibri (MS)"/>
              </a:rPr>
              <a:t>Ce projet développe une suite complète de modèles ML pour :</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Détecter les clients susceptibles de churner</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Estimer la valeur monétaire des clients</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Segmenter intelligemment la clientèle</a:t>
            </a:r>
          </a:p>
        </p:txBody>
      </p:sp>
      <p:grpSp>
        <p:nvGrpSpPr>
          <p:cNvPr name="Group 18" id="18"/>
          <p:cNvGrpSpPr/>
          <p:nvPr/>
        </p:nvGrpSpPr>
        <p:grpSpPr>
          <a:xfrm rot="0">
            <a:off x="9320527" y="2741419"/>
            <a:ext cx="8059417" cy="1512313"/>
            <a:chOff x="0" y="0"/>
            <a:chExt cx="10745889" cy="2016417"/>
          </a:xfrm>
        </p:grpSpPr>
        <p:sp>
          <p:nvSpPr>
            <p:cNvPr name="Freeform 19" id="19"/>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122540"/>
            </a:solidFill>
          </p:spPr>
        </p:sp>
        <p:sp>
          <p:nvSpPr>
            <p:cNvPr name="Freeform 20" id="20"/>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21" id="21"/>
          <p:cNvGrpSpPr/>
          <p:nvPr/>
        </p:nvGrpSpPr>
        <p:grpSpPr>
          <a:xfrm rot="0">
            <a:off x="9497063" y="3100835"/>
            <a:ext cx="756923" cy="756923"/>
            <a:chOff x="0" y="0"/>
            <a:chExt cx="1009231" cy="1009231"/>
          </a:xfrm>
        </p:grpSpPr>
        <p:sp>
          <p:nvSpPr>
            <p:cNvPr name="Freeform 22" id="22"/>
            <p:cNvSpPr/>
            <p:nvPr/>
          </p:nvSpPr>
          <p:spPr>
            <a:xfrm flipH="false" flipV="false" rot="0">
              <a:off x="16891" y="16891"/>
              <a:ext cx="975360" cy="975360"/>
            </a:xfrm>
            <a:custGeom>
              <a:avLst/>
              <a:gdLst/>
              <a:ahLst/>
              <a:cxnLst/>
              <a:rect r="r" b="b" t="t" l="l"/>
              <a:pathLst>
                <a:path h="975360" w="975360">
                  <a:moveTo>
                    <a:pt x="0" y="487680"/>
                  </a:moveTo>
                  <a:cubicBezTo>
                    <a:pt x="0" y="218313"/>
                    <a:pt x="218313" y="0"/>
                    <a:pt x="487680" y="0"/>
                  </a:cubicBezTo>
                  <a:cubicBezTo>
                    <a:pt x="757047" y="0"/>
                    <a:pt x="975360" y="218313"/>
                    <a:pt x="975360" y="487680"/>
                  </a:cubicBezTo>
                  <a:cubicBezTo>
                    <a:pt x="975360" y="757047"/>
                    <a:pt x="757047" y="975360"/>
                    <a:pt x="487680" y="975360"/>
                  </a:cubicBezTo>
                  <a:cubicBezTo>
                    <a:pt x="218313" y="975360"/>
                    <a:pt x="0" y="757047"/>
                    <a:pt x="0" y="487680"/>
                  </a:cubicBezTo>
                  <a:close/>
                </a:path>
              </a:pathLst>
            </a:custGeom>
            <a:solidFill>
              <a:srgbClr val="FF4D6A">
                <a:alpha val="5882"/>
              </a:srgbClr>
            </a:solidFill>
          </p:spPr>
        </p:sp>
        <p:sp>
          <p:nvSpPr>
            <p:cNvPr name="Freeform 23" id="23"/>
            <p:cNvSpPr/>
            <p:nvPr/>
          </p:nvSpPr>
          <p:spPr>
            <a:xfrm flipH="false" flipV="false" rot="0">
              <a:off x="0" y="0"/>
              <a:ext cx="1009269" cy="1009142"/>
            </a:xfrm>
            <a:custGeom>
              <a:avLst/>
              <a:gdLst/>
              <a:ahLst/>
              <a:cxnLst/>
              <a:rect r="r" b="b" t="t" l="l"/>
              <a:pathLst>
                <a:path h="1009142" w="1009269">
                  <a:moveTo>
                    <a:pt x="0" y="504571"/>
                  </a:moveTo>
                  <a:cubicBezTo>
                    <a:pt x="0" y="225933"/>
                    <a:pt x="225933" y="0"/>
                    <a:pt x="504571" y="0"/>
                  </a:cubicBezTo>
                  <a:lnTo>
                    <a:pt x="504571" y="16891"/>
                  </a:lnTo>
                  <a:lnTo>
                    <a:pt x="504571" y="0"/>
                  </a:lnTo>
                  <a:cubicBezTo>
                    <a:pt x="783336" y="0"/>
                    <a:pt x="1009269" y="225933"/>
                    <a:pt x="1009269" y="504571"/>
                  </a:cubicBezTo>
                  <a:lnTo>
                    <a:pt x="992251" y="504571"/>
                  </a:lnTo>
                  <a:lnTo>
                    <a:pt x="1009142" y="504571"/>
                  </a:lnTo>
                  <a:cubicBezTo>
                    <a:pt x="1009142" y="783209"/>
                    <a:pt x="783209" y="1009142"/>
                    <a:pt x="504571" y="1009142"/>
                  </a:cubicBezTo>
                  <a:lnTo>
                    <a:pt x="504571" y="992251"/>
                  </a:lnTo>
                  <a:lnTo>
                    <a:pt x="504571" y="1009142"/>
                  </a:lnTo>
                  <a:cubicBezTo>
                    <a:pt x="225933" y="1009269"/>
                    <a:pt x="0" y="783336"/>
                    <a:pt x="0" y="504571"/>
                  </a:cubicBezTo>
                  <a:lnTo>
                    <a:pt x="16891" y="504571"/>
                  </a:lnTo>
                  <a:lnTo>
                    <a:pt x="33909" y="504571"/>
                  </a:lnTo>
                  <a:lnTo>
                    <a:pt x="16891" y="504571"/>
                  </a:lnTo>
                  <a:lnTo>
                    <a:pt x="0" y="504571"/>
                  </a:lnTo>
                  <a:moveTo>
                    <a:pt x="33909" y="504571"/>
                  </a:moveTo>
                  <a:cubicBezTo>
                    <a:pt x="33909" y="513969"/>
                    <a:pt x="26289" y="521462"/>
                    <a:pt x="17018" y="521462"/>
                  </a:cubicBezTo>
                  <a:cubicBezTo>
                    <a:pt x="7747" y="521462"/>
                    <a:pt x="0" y="513969"/>
                    <a:pt x="0" y="504571"/>
                  </a:cubicBezTo>
                  <a:cubicBezTo>
                    <a:pt x="0" y="495173"/>
                    <a:pt x="7620" y="487680"/>
                    <a:pt x="16891" y="487680"/>
                  </a:cubicBezTo>
                  <a:cubicBezTo>
                    <a:pt x="26162" y="487680"/>
                    <a:pt x="33782" y="495300"/>
                    <a:pt x="33782" y="504571"/>
                  </a:cubicBezTo>
                  <a:cubicBezTo>
                    <a:pt x="33782" y="764540"/>
                    <a:pt x="244602" y="975360"/>
                    <a:pt x="504571" y="975360"/>
                  </a:cubicBezTo>
                  <a:cubicBezTo>
                    <a:pt x="764540" y="975360"/>
                    <a:pt x="975360" y="764540"/>
                    <a:pt x="975360" y="504571"/>
                  </a:cubicBezTo>
                  <a:cubicBezTo>
                    <a:pt x="975360" y="244602"/>
                    <a:pt x="764540" y="33782"/>
                    <a:pt x="504571" y="33782"/>
                  </a:cubicBezTo>
                  <a:lnTo>
                    <a:pt x="504571" y="16891"/>
                  </a:lnTo>
                  <a:lnTo>
                    <a:pt x="504571" y="33909"/>
                  </a:lnTo>
                  <a:cubicBezTo>
                    <a:pt x="244602" y="33909"/>
                    <a:pt x="33782" y="244729"/>
                    <a:pt x="33782" y="504698"/>
                  </a:cubicBezTo>
                  <a:close/>
                </a:path>
              </a:pathLst>
            </a:custGeom>
            <a:solidFill>
              <a:srgbClr val="FF4D6A"/>
            </a:solidFill>
          </p:spPr>
        </p:sp>
      </p:grpSp>
      <p:grpSp>
        <p:nvGrpSpPr>
          <p:cNvPr name="Group 24" id="24"/>
          <p:cNvGrpSpPr/>
          <p:nvPr/>
        </p:nvGrpSpPr>
        <p:grpSpPr>
          <a:xfrm rot="0">
            <a:off x="10515600" y="2930652"/>
            <a:ext cx="6583680" cy="548640"/>
            <a:chOff x="0" y="0"/>
            <a:chExt cx="8778240" cy="731520"/>
          </a:xfrm>
        </p:grpSpPr>
        <p:sp>
          <p:nvSpPr>
            <p:cNvPr name="Freeform 25" id="25"/>
            <p:cNvSpPr/>
            <p:nvPr/>
          </p:nvSpPr>
          <p:spPr>
            <a:xfrm flipH="false" flipV="false" rot="0">
              <a:off x="0" y="0"/>
              <a:ext cx="8778240" cy="731520"/>
            </a:xfrm>
            <a:custGeom>
              <a:avLst/>
              <a:gdLst/>
              <a:ahLst/>
              <a:cxnLst/>
              <a:rect r="r" b="b" t="t" l="l"/>
              <a:pathLst>
                <a:path h="731520" w="8778240">
                  <a:moveTo>
                    <a:pt x="0" y="0"/>
                  </a:moveTo>
                  <a:lnTo>
                    <a:pt x="8778240" y="0"/>
                  </a:lnTo>
                  <a:lnTo>
                    <a:pt x="8778240" y="731520"/>
                  </a:lnTo>
                  <a:lnTo>
                    <a:pt x="0" y="731520"/>
                  </a:lnTo>
                  <a:close/>
                </a:path>
              </a:pathLst>
            </a:custGeom>
            <a:blipFill>
              <a:blip r:embed="rId3">
                <a:alphaModFix amt="0"/>
              </a:blip>
              <a:stretch>
                <a:fillRect l="0" t="-183820" r="0" b="-183820"/>
              </a:stretch>
            </a:blipFill>
          </p:spPr>
        </p:sp>
        <p:sp>
          <p:nvSpPr>
            <p:cNvPr name="TextBox 26" id="26"/>
            <p:cNvSpPr txBox="true"/>
            <p:nvPr/>
          </p:nvSpPr>
          <p:spPr>
            <a:xfrm>
              <a:off x="0" y="-38100"/>
              <a:ext cx="8778240" cy="76962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Réduire le churn</a:t>
              </a:r>
            </a:p>
          </p:txBody>
        </p:sp>
      </p:grpSp>
      <p:grpSp>
        <p:nvGrpSpPr>
          <p:cNvPr name="Group 27" id="27"/>
          <p:cNvGrpSpPr/>
          <p:nvPr/>
        </p:nvGrpSpPr>
        <p:grpSpPr>
          <a:xfrm rot="0">
            <a:off x="10515600" y="3552444"/>
            <a:ext cx="6583680" cy="512064"/>
            <a:chOff x="0" y="0"/>
            <a:chExt cx="8778240" cy="682752"/>
          </a:xfrm>
        </p:grpSpPr>
        <p:sp>
          <p:nvSpPr>
            <p:cNvPr name="Freeform 28" id="28"/>
            <p:cNvSpPr/>
            <p:nvPr/>
          </p:nvSpPr>
          <p:spPr>
            <a:xfrm flipH="false" flipV="false" rot="0">
              <a:off x="0" y="0"/>
              <a:ext cx="8778240" cy="682752"/>
            </a:xfrm>
            <a:custGeom>
              <a:avLst/>
              <a:gdLst/>
              <a:ahLst/>
              <a:cxnLst/>
              <a:rect r="r" b="b" t="t" l="l"/>
              <a:pathLst>
                <a:path h="682752" w="8778240">
                  <a:moveTo>
                    <a:pt x="0" y="0"/>
                  </a:moveTo>
                  <a:lnTo>
                    <a:pt x="8778240" y="0"/>
                  </a:lnTo>
                  <a:lnTo>
                    <a:pt x="8778240" y="682752"/>
                  </a:lnTo>
                  <a:lnTo>
                    <a:pt x="0" y="682752"/>
                  </a:lnTo>
                  <a:close/>
                </a:path>
              </a:pathLst>
            </a:custGeom>
            <a:blipFill>
              <a:blip r:embed="rId3">
                <a:alphaModFix amt="0"/>
              </a:blip>
              <a:stretch>
                <a:fillRect l="0" t="-200521" r="0" b="-200521"/>
              </a:stretch>
            </a:blipFill>
          </p:spPr>
        </p:sp>
        <p:sp>
          <p:nvSpPr>
            <p:cNvPr name="TextBox 29" id="29"/>
            <p:cNvSpPr txBox="true"/>
            <p:nvPr/>
          </p:nvSpPr>
          <p:spPr>
            <a:xfrm>
              <a:off x="0" y="-38100"/>
              <a:ext cx="8778240" cy="720852"/>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Détecter les profils à risque en amont</a:t>
              </a:r>
            </a:p>
          </p:txBody>
        </p:sp>
      </p:grpSp>
      <p:grpSp>
        <p:nvGrpSpPr>
          <p:cNvPr name="Group 30" id="30"/>
          <p:cNvGrpSpPr/>
          <p:nvPr/>
        </p:nvGrpSpPr>
        <p:grpSpPr>
          <a:xfrm rot="0">
            <a:off x="9320527" y="4515355"/>
            <a:ext cx="8059417" cy="1512313"/>
            <a:chOff x="0" y="0"/>
            <a:chExt cx="10745889" cy="2016417"/>
          </a:xfrm>
        </p:grpSpPr>
        <p:sp>
          <p:nvSpPr>
            <p:cNvPr name="Freeform 31" id="31"/>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122540"/>
            </a:solidFill>
          </p:spPr>
        </p:sp>
        <p:sp>
          <p:nvSpPr>
            <p:cNvPr name="Freeform 32" id="32"/>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33" id="33"/>
          <p:cNvGrpSpPr/>
          <p:nvPr/>
        </p:nvGrpSpPr>
        <p:grpSpPr>
          <a:xfrm rot="0">
            <a:off x="9497063" y="4874771"/>
            <a:ext cx="756923" cy="756923"/>
            <a:chOff x="0" y="0"/>
            <a:chExt cx="1009231" cy="1009231"/>
          </a:xfrm>
        </p:grpSpPr>
        <p:sp>
          <p:nvSpPr>
            <p:cNvPr name="Freeform 34" id="34"/>
            <p:cNvSpPr/>
            <p:nvPr/>
          </p:nvSpPr>
          <p:spPr>
            <a:xfrm flipH="false" flipV="false" rot="0">
              <a:off x="16891" y="16891"/>
              <a:ext cx="975360" cy="975360"/>
            </a:xfrm>
            <a:custGeom>
              <a:avLst/>
              <a:gdLst/>
              <a:ahLst/>
              <a:cxnLst/>
              <a:rect r="r" b="b" t="t" l="l"/>
              <a:pathLst>
                <a:path h="975360" w="975360">
                  <a:moveTo>
                    <a:pt x="0" y="487680"/>
                  </a:moveTo>
                  <a:cubicBezTo>
                    <a:pt x="0" y="218313"/>
                    <a:pt x="218313" y="0"/>
                    <a:pt x="487680" y="0"/>
                  </a:cubicBezTo>
                  <a:cubicBezTo>
                    <a:pt x="757047" y="0"/>
                    <a:pt x="975360" y="218313"/>
                    <a:pt x="975360" y="487680"/>
                  </a:cubicBezTo>
                  <a:cubicBezTo>
                    <a:pt x="975360" y="757047"/>
                    <a:pt x="757047" y="975360"/>
                    <a:pt x="487680" y="975360"/>
                  </a:cubicBezTo>
                  <a:cubicBezTo>
                    <a:pt x="218313" y="975360"/>
                    <a:pt x="0" y="757047"/>
                    <a:pt x="0" y="487680"/>
                  </a:cubicBezTo>
                  <a:close/>
                </a:path>
              </a:pathLst>
            </a:custGeom>
            <a:solidFill>
              <a:srgbClr val="1A8FFF">
                <a:alpha val="5882"/>
              </a:srgbClr>
            </a:solidFill>
          </p:spPr>
        </p:sp>
        <p:sp>
          <p:nvSpPr>
            <p:cNvPr name="Freeform 35" id="35"/>
            <p:cNvSpPr/>
            <p:nvPr/>
          </p:nvSpPr>
          <p:spPr>
            <a:xfrm flipH="false" flipV="false" rot="0">
              <a:off x="0" y="0"/>
              <a:ext cx="1009269" cy="1009142"/>
            </a:xfrm>
            <a:custGeom>
              <a:avLst/>
              <a:gdLst/>
              <a:ahLst/>
              <a:cxnLst/>
              <a:rect r="r" b="b" t="t" l="l"/>
              <a:pathLst>
                <a:path h="1009142" w="1009269">
                  <a:moveTo>
                    <a:pt x="0" y="504571"/>
                  </a:moveTo>
                  <a:cubicBezTo>
                    <a:pt x="0" y="225933"/>
                    <a:pt x="225933" y="0"/>
                    <a:pt x="504571" y="0"/>
                  </a:cubicBezTo>
                  <a:lnTo>
                    <a:pt x="504571" y="16891"/>
                  </a:lnTo>
                  <a:lnTo>
                    <a:pt x="504571" y="0"/>
                  </a:lnTo>
                  <a:cubicBezTo>
                    <a:pt x="783336" y="0"/>
                    <a:pt x="1009269" y="225933"/>
                    <a:pt x="1009269" y="504571"/>
                  </a:cubicBezTo>
                  <a:lnTo>
                    <a:pt x="992251" y="504571"/>
                  </a:lnTo>
                  <a:lnTo>
                    <a:pt x="1009142" y="504571"/>
                  </a:lnTo>
                  <a:cubicBezTo>
                    <a:pt x="1009142" y="783209"/>
                    <a:pt x="783209" y="1009142"/>
                    <a:pt x="504571" y="1009142"/>
                  </a:cubicBezTo>
                  <a:lnTo>
                    <a:pt x="504571" y="992251"/>
                  </a:lnTo>
                  <a:lnTo>
                    <a:pt x="504571" y="1009142"/>
                  </a:lnTo>
                  <a:cubicBezTo>
                    <a:pt x="225933" y="1009269"/>
                    <a:pt x="0" y="783336"/>
                    <a:pt x="0" y="504571"/>
                  </a:cubicBezTo>
                  <a:lnTo>
                    <a:pt x="16891" y="504571"/>
                  </a:lnTo>
                  <a:lnTo>
                    <a:pt x="33909" y="504571"/>
                  </a:lnTo>
                  <a:lnTo>
                    <a:pt x="16891" y="504571"/>
                  </a:lnTo>
                  <a:lnTo>
                    <a:pt x="0" y="504571"/>
                  </a:lnTo>
                  <a:moveTo>
                    <a:pt x="33909" y="504571"/>
                  </a:moveTo>
                  <a:cubicBezTo>
                    <a:pt x="33909" y="513969"/>
                    <a:pt x="26289" y="521462"/>
                    <a:pt x="17018" y="521462"/>
                  </a:cubicBezTo>
                  <a:cubicBezTo>
                    <a:pt x="7747" y="521462"/>
                    <a:pt x="0" y="513969"/>
                    <a:pt x="0" y="504571"/>
                  </a:cubicBezTo>
                  <a:cubicBezTo>
                    <a:pt x="0" y="495173"/>
                    <a:pt x="7620" y="487680"/>
                    <a:pt x="16891" y="487680"/>
                  </a:cubicBezTo>
                  <a:cubicBezTo>
                    <a:pt x="26162" y="487680"/>
                    <a:pt x="33782" y="495300"/>
                    <a:pt x="33782" y="504571"/>
                  </a:cubicBezTo>
                  <a:cubicBezTo>
                    <a:pt x="33782" y="764540"/>
                    <a:pt x="244602" y="975360"/>
                    <a:pt x="504571" y="975360"/>
                  </a:cubicBezTo>
                  <a:cubicBezTo>
                    <a:pt x="764540" y="975360"/>
                    <a:pt x="975360" y="764540"/>
                    <a:pt x="975360" y="504571"/>
                  </a:cubicBezTo>
                  <a:cubicBezTo>
                    <a:pt x="975360" y="244602"/>
                    <a:pt x="764540" y="33782"/>
                    <a:pt x="504571" y="33782"/>
                  </a:cubicBezTo>
                  <a:lnTo>
                    <a:pt x="504571" y="16891"/>
                  </a:lnTo>
                  <a:lnTo>
                    <a:pt x="504571" y="33909"/>
                  </a:lnTo>
                  <a:cubicBezTo>
                    <a:pt x="244602" y="33909"/>
                    <a:pt x="33782" y="244729"/>
                    <a:pt x="33782" y="504698"/>
                  </a:cubicBezTo>
                  <a:close/>
                </a:path>
              </a:pathLst>
            </a:custGeom>
            <a:solidFill>
              <a:srgbClr val="1A8FFF"/>
            </a:solidFill>
          </p:spPr>
        </p:sp>
      </p:grpSp>
      <p:grpSp>
        <p:nvGrpSpPr>
          <p:cNvPr name="Group 36" id="36"/>
          <p:cNvGrpSpPr/>
          <p:nvPr/>
        </p:nvGrpSpPr>
        <p:grpSpPr>
          <a:xfrm rot="0">
            <a:off x="10515600" y="4704588"/>
            <a:ext cx="6583680" cy="548640"/>
            <a:chOff x="0" y="0"/>
            <a:chExt cx="8778240" cy="731520"/>
          </a:xfrm>
        </p:grpSpPr>
        <p:sp>
          <p:nvSpPr>
            <p:cNvPr name="Freeform 37" id="37"/>
            <p:cNvSpPr/>
            <p:nvPr/>
          </p:nvSpPr>
          <p:spPr>
            <a:xfrm flipH="false" flipV="false" rot="0">
              <a:off x="0" y="0"/>
              <a:ext cx="8778240" cy="731520"/>
            </a:xfrm>
            <a:custGeom>
              <a:avLst/>
              <a:gdLst/>
              <a:ahLst/>
              <a:cxnLst/>
              <a:rect r="r" b="b" t="t" l="l"/>
              <a:pathLst>
                <a:path h="731520" w="8778240">
                  <a:moveTo>
                    <a:pt x="0" y="0"/>
                  </a:moveTo>
                  <a:lnTo>
                    <a:pt x="8778240" y="0"/>
                  </a:lnTo>
                  <a:lnTo>
                    <a:pt x="8778240" y="731520"/>
                  </a:lnTo>
                  <a:lnTo>
                    <a:pt x="0" y="731520"/>
                  </a:lnTo>
                  <a:close/>
                </a:path>
              </a:pathLst>
            </a:custGeom>
            <a:blipFill>
              <a:blip r:embed="rId3">
                <a:alphaModFix amt="0"/>
              </a:blip>
              <a:stretch>
                <a:fillRect l="0" t="-183820" r="0" b="-183820"/>
              </a:stretch>
            </a:blipFill>
          </p:spPr>
        </p:sp>
        <p:sp>
          <p:nvSpPr>
            <p:cNvPr name="TextBox 38" id="38"/>
            <p:cNvSpPr txBox="true"/>
            <p:nvPr/>
          </p:nvSpPr>
          <p:spPr>
            <a:xfrm>
              <a:off x="0" y="-38100"/>
              <a:ext cx="8778240" cy="76962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Meilleure connaissance client</a:t>
              </a:r>
            </a:p>
          </p:txBody>
        </p:sp>
      </p:grpSp>
      <p:grpSp>
        <p:nvGrpSpPr>
          <p:cNvPr name="Group 39" id="39"/>
          <p:cNvGrpSpPr/>
          <p:nvPr/>
        </p:nvGrpSpPr>
        <p:grpSpPr>
          <a:xfrm rot="0">
            <a:off x="10515600" y="5326380"/>
            <a:ext cx="6583680" cy="512064"/>
            <a:chOff x="0" y="0"/>
            <a:chExt cx="8778240" cy="682752"/>
          </a:xfrm>
        </p:grpSpPr>
        <p:sp>
          <p:nvSpPr>
            <p:cNvPr name="Freeform 40" id="40"/>
            <p:cNvSpPr/>
            <p:nvPr/>
          </p:nvSpPr>
          <p:spPr>
            <a:xfrm flipH="false" flipV="false" rot="0">
              <a:off x="0" y="0"/>
              <a:ext cx="8778240" cy="682752"/>
            </a:xfrm>
            <a:custGeom>
              <a:avLst/>
              <a:gdLst/>
              <a:ahLst/>
              <a:cxnLst/>
              <a:rect r="r" b="b" t="t" l="l"/>
              <a:pathLst>
                <a:path h="682752" w="8778240">
                  <a:moveTo>
                    <a:pt x="0" y="0"/>
                  </a:moveTo>
                  <a:lnTo>
                    <a:pt x="8778240" y="0"/>
                  </a:lnTo>
                  <a:lnTo>
                    <a:pt x="8778240" y="682752"/>
                  </a:lnTo>
                  <a:lnTo>
                    <a:pt x="0" y="682752"/>
                  </a:lnTo>
                  <a:close/>
                </a:path>
              </a:pathLst>
            </a:custGeom>
            <a:blipFill>
              <a:blip r:embed="rId3">
                <a:alphaModFix amt="0"/>
              </a:blip>
              <a:stretch>
                <a:fillRect l="0" t="-200521" r="0" b="-200521"/>
              </a:stretch>
            </a:blipFill>
          </p:spPr>
        </p:sp>
        <p:sp>
          <p:nvSpPr>
            <p:cNvPr name="TextBox 41" id="41"/>
            <p:cNvSpPr txBox="true"/>
            <p:nvPr/>
          </p:nvSpPr>
          <p:spPr>
            <a:xfrm>
              <a:off x="0" y="-38100"/>
              <a:ext cx="8778240" cy="720852"/>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Segmentation fondée sur les comportements</a:t>
              </a:r>
            </a:p>
          </p:txBody>
        </p:sp>
      </p:grpSp>
      <p:grpSp>
        <p:nvGrpSpPr>
          <p:cNvPr name="Group 42" id="42"/>
          <p:cNvGrpSpPr/>
          <p:nvPr/>
        </p:nvGrpSpPr>
        <p:grpSpPr>
          <a:xfrm rot="0">
            <a:off x="9320527" y="6289291"/>
            <a:ext cx="8059417" cy="1512313"/>
            <a:chOff x="0" y="0"/>
            <a:chExt cx="10745889" cy="2016417"/>
          </a:xfrm>
        </p:grpSpPr>
        <p:sp>
          <p:nvSpPr>
            <p:cNvPr name="Freeform 43" id="43"/>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122540"/>
            </a:solidFill>
          </p:spPr>
        </p:sp>
        <p:sp>
          <p:nvSpPr>
            <p:cNvPr name="Freeform 44" id="44"/>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45" id="45"/>
          <p:cNvGrpSpPr/>
          <p:nvPr/>
        </p:nvGrpSpPr>
        <p:grpSpPr>
          <a:xfrm rot="0">
            <a:off x="9497063" y="6648707"/>
            <a:ext cx="756923" cy="756923"/>
            <a:chOff x="0" y="0"/>
            <a:chExt cx="1009231" cy="1009231"/>
          </a:xfrm>
        </p:grpSpPr>
        <p:sp>
          <p:nvSpPr>
            <p:cNvPr name="Freeform 46" id="46"/>
            <p:cNvSpPr/>
            <p:nvPr/>
          </p:nvSpPr>
          <p:spPr>
            <a:xfrm flipH="false" flipV="false" rot="0">
              <a:off x="16891" y="16891"/>
              <a:ext cx="975360" cy="975360"/>
            </a:xfrm>
            <a:custGeom>
              <a:avLst/>
              <a:gdLst/>
              <a:ahLst/>
              <a:cxnLst/>
              <a:rect r="r" b="b" t="t" l="l"/>
              <a:pathLst>
                <a:path h="975360" w="975360">
                  <a:moveTo>
                    <a:pt x="0" y="487680"/>
                  </a:moveTo>
                  <a:cubicBezTo>
                    <a:pt x="0" y="218313"/>
                    <a:pt x="218313" y="0"/>
                    <a:pt x="487680" y="0"/>
                  </a:cubicBezTo>
                  <a:cubicBezTo>
                    <a:pt x="757047" y="0"/>
                    <a:pt x="975360" y="218313"/>
                    <a:pt x="975360" y="487680"/>
                  </a:cubicBezTo>
                  <a:cubicBezTo>
                    <a:pt x="975360" y="757047"/>
                    <a:pt x="757047" y="975360"/>
                    <a:pt x="487680" y="975360"/>
                  </a:cubicBezTo>
                  <a:cubicBezTo>
                    <a:pt x="218313" y="975360"/>
                    <a:pt x="0" y="757047"/>
                    <a:pt x="0" y="487680"/>
                  </a:cubicBezTo>
                  <a:close/>
                </a:path>
              </a:pathLst>
            </a:custGeom>
            <a:solidFill>
              <a:srgbClr val="FFB800">
                <a:alpha val="5882"/>
              </a:srgbClr>
            </a:solidFill>
          </p:spPr>
        </p:sp>
        <p:sp>
          <p:nvSpPr>
            <p:cNvPr name="Freeform 47" id="47"/>
            <p:cNvSpPr/>
            <p:nvPr/>
          </p:nvSpPr>
          <p:spPr>
            <a:xfrm flipH="false" flipV="false" rot="0">
              <a:off x="0" y="0"/>
              <a:ext cx="1009269" cy="1009142"/>
            </a:xfrm>
            <a:custGeom>
              <a:avLst/>
              <a:gdLst/>
              <a:ahLst/>
              <a:cxnLst/>
              <a:rect r="r" b="b" t="t" l="l"/>
              <a:pathLst>
                <a:path h="1009142" w="1009269">
                  <a:moveTo>
                    <a:pt x="0" y="504571"/>
                  </a:moveTo>
                  <a:cubicBezTo>
                    <a:pt x="0" y="225933"/>
                    <a:pt x="225933" y="0"/>
                    <a:pt x="504571" y="0"/>
                  </a:cubicBezTo>
                  <a:lnTo>
                    <a:pt x="504571" y="16891"/>
                  </a:lnTo>
                  <a:lnTo>
                    <a:pt x="504571" y="0"/>
                  </a:lnTo>
                  <a:cubicBezTo>
                    <a:pt x="783336" y="0"/>
                    <a:pt x="1009269" y="225933"/>
                    <a:pt x="1009269" y="504571"/>
                  </a:cubicBezTo>
                  <a:lnTo>
                    <a:pt x="992251" y="504571"/>
                  </a:lnTo>
                  <a:lnTo>
                    <a:pt x="1009142" y="504571"/>
                  </a:lnTo>
                  <a:cubicBezTo>
                    <a:pt x="1009142" y="783209"/>
                    <a:pt x="783209" y="1009142"/>
                    <a:pt x="504571" y="1009142"/>
                  </a:cubicBezTo>
                  <a:lnTo>
                    <a:pt x="504571" y="992251"/>
                  </a:lnTo>
                  <a:lnTo>
                    <a:pt x="504571" y="1009142"/>
                  </a:lnTo>
                  <a:cubicBezTo>
                    <a:pt x="225933" y="1009269"/>
                    <a:pt x="0" y="783336"/>
                    <a:pt x="0" y="504571"/>
                  </a:cubicBezTo>
                  <a:lnTo>
                    <a:pt x="16891" y="504571"/>
                  </a:lnTo>
                  <a:lnTo>
                    <a:pt x="33909" y="504571"/>
                  </a:lnTo>
                  <a:lnTo>
                    <a:pt x="16891" y="504571"/>
                  </a:lnTo>
                  <a:lnTo>
                    <a:pt x="0" y="504571"/>
                  </a:lnTo>
                  <a:moveTo>
                    <a:pt x="33909" y="504571"/>
                  </a:moveTo>
                  <a:cubicBezTo>
                    <a:pt x="33909" y="513969"/>
                    <a:pt x="26289" y="521462"/>
                    <a:pt x="17018" y="521462"/>
                  </a:cubicBezTo>
                  <a:cubicBezTo>
                    <a:pt x="7747" y="521462"/>
                    <a:pt x="0" y="513969"/>
                    <a:pt x="0" y="504571"/>
                  </a:cubicBezTo>
                  <a:cubicBezTo>
                    <a:pt x="0" y="495173"/>
                    <a:pt x="7620" y="487680"/>
                    <a:pt x="16891" y="487680"/>
                  </a:cubicBezTo>
                  <a:cubicBezTo>
                    <a:pt x="26162" y="487680"/>
                    <a:pt x="33782" y="495300"/>
                    <a:pt x="33782" y="504571"/>
                  </a:cubicBezTo>
                  <a:cubicBezTo>
                    <a:pt x="33782" y="764540"/>
                    <a:pt x="244602" y="975360"/>
                    <a:pt x="504571" y="975360"/>
                  </a:cubicBezTo>
                  <a:cubicBezTo>
                    <a:pt x="764540" y="975360"/>
                    <a:pt x="975360" y="764540"/>
                    <a:pt x="975360" y="504571"/>
                  </a:cubicBezTo>
                  <a:cubicBezTo>
                    <a:pt x="975360" y="244602"/>
                    <a:pt x="764540" y="33782"/>
                    <a:pt x="504571" y="33782"/>
                  </a:cubicBezTo>
                  <a:lnTo>
                    <a:pt x="504571" y="16891"/>
                  </a:lnTo>
                  <a:lnTo>
                    <a:pt x="504571" y="33909"/>
                  </a:lnTo>
                  <a:cubicBezTo>
                    <a:pt x="244602" y="33909"/>
                    <a:pt x="33782" y="244729"/>
                    <a:pt x="33782" y="504698"/>
                  </a:cubicBezTo>
                  <a:close/>
                </a:path>
              </a:pathLst>
            </a:custGeom>
            <a:solidFill>
              <a:srgbClr val="FFB800"/>
            </a:solidFill>
          </p:spPr>
        </p:sp>
      </p:grpSp>
      <p:grpSp>
        <p:nvGrpSpPr>
          <p:cNvPr name="Group 48" id="48"/>
          <p:cNvGrpSpPr/>
          <p:nvPr/>
        </p:nvGrpSpPr>
        <p:grpSpPr>
          <a:xfrm rot="0">
            <a:off x="10515600" y="6478524"/>
            <a:ext cx="6583680" cy="548640"/>
            <a:chOff x="0" y="0"/>
            <a:chExt cx="8778240" cy="731520"/>
          </a:xfrm>
        </p:grpSpPr>
        <p:sp>
          <p:nvSpPr>
            <p:cNvPr name="Freeform 49" id="49"/>
            <p:cNvSpPr/>
            <p:nvPr/>
          </p:nvSpPr>
          <p:spPr>
            <a:xfrm flipH="false" flipV="false" rot="0">
              <a:off x="0" y="0"/>
              <a:ext cx="8778240" cy="731520"/>
            </a:xfrm>
            <a:custGeom>
              <a:avLst/>
              <a:gdLst/>
              <a:ahLst/>
              <a:cxnLst/>
              <a:rect r="r" b="b" t="t" l="l"/>
              <a:pathLst>
                <a:path h="731520" w="8778240">
                  <a:moveTo>
                    <a:pt x="0" y="0"/>
                  </a:moveTo>
                  <a:lnTo>
                    <a:pt x="8778240" y="0"/>
                  </a:lnTo>
                  <a:lnTo>
                    <a:pt x="8778240" y="731520"/>
                  </a:lnTo>
                  <a:lnTo>
                    <a:pt x="0" y="731520"/>
                  </a:lnTo>
                  <a:close/>
                </a:path>
              </a:pathLst>
            </a:custGeom>
            <a:blipFill>
              <a:blip r:embed="rId3">
                <a:alphaModFix amt="0"/>
              </a:blip>
              <a:stretch>
                <a:fillRect l="0" t="-183820" r="0" b="-183820"/>
              </a:stretch>
            </a:blipFill>
          </p:spPr>
        </p:sp>
        <p:sp>
          <p:nvSpPr>
            <p:cNvPr name="TextBox 50" id="50"/>
            <p:cNvSpPr txBox="true"/>
            <p:nvPr/>
          </p:nvSpPr>
          <p:spPr>
            <a:xfrm>
              <a:off x="0" y="-38100"/>
              <a:ext cx="8778240" cy="76962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Décisions marketing data-driven</a:t>
              </a:r>
            </a:p>
          </p:txBody>
        </p:sp>
      </p:grpSp>
      <p:grpSp>
        <p:nvGrpSpPr>
          <p:cNvPr name="Group 51" id="51"/>
          <p:cNvGrpSpPr/>
          <p:nvPr/>
        </p:nvGrpSpPr>
        <p:grpSpPr>
          <a:xfrm rot="0">
            <a:off x="10515600" y="7100316"/>
            <a:ext cx="6583680" cy="512064"/>
            <a:chOff x="0" y="0"/>
            <a:chExt cx="8778240" cy="682752"/>
          </a:xfrm>
        </p:grpSpPr>
        <p:sp>
          <p:nvSpPr>
            <p:cNvPr name="Freeform 52" id="52"/>
            <p:cNvSpPr/>
            <p:nvPr/>
          </p:nvSpPr>
          <p:spPr>
            <a:xfrm flipH="false" flipV="false" rot="0">
              <a:off x="0" y="0"/>
              <a:ext cx="8778240" cy="682752"/>
            </a:xfrm>
            <a:custGeom>
              <a:avLst/>
              <a:gdLst/>
              <a:ahLst/>
              <a:cxnLst/>
              <a:rect r="r" b="b" t="t" l="l"/>
              <a:pathLst>
                <a:path h="682752" w="8778240">
                  <a:moveTo>
                    <a:pt x="0" y="0"/>
                  </a:moveTo>
                  <a:lnTo>
                    <a:pt x="8778240" y="0"/>
                  </a:lnTo>
                  <a:lnTo>
                    <a:pt x="8778240" y="682752"/>
                  </a:lnTo>
                  <a:lnTo>
                    <a:pt x="0" y="682752"/>
                  </a:lnTo>
                  <a:close/>
                </a:path>
              </a:pathLst>
            </a:custGeom>
            <a:blipFill>
              <a:blip r:embed="rId3">
                <a:alphaModFix amt="0"/>
              </a:blip>
              <a:stretch>
                <a:fillRect l="0" t="-200521" r="0" b="-200521"/>
              </a:stretch>
            </a:blipFill>
          </p:spPr>
        </p:sp>
        <p:sp>
          <p:nvSpPr>
            <p:cNvPr name="TextBox 53" id="53"/>
            <p:cNvSpPr txBox="true"/>
            <p:nvPr/>
          </p:nvSpPr>
          <p:spPr>
            <a:xfrm>
              <a:off x="0" y="-38100"/>
              <a:ext cx="8778240" cy="720852"/>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Indicateurs quantitatifs exploitables</a:t>
              </a:r>
            </a:p>
          </p:txBody>
        </p:sp>
      </p:grpSp>
      <p:grpSp>
        <p:nvGrpSpPr>
          <p:cNvPr name="Group 54" id="54"/>
          <p:cNvGrpSpPr/>
          <p:nvPr/>
        </p:nvGrpSpPr>
        <p:grpSpPr>
          <a:xfrm rot="0">
            <a:off x="9320527" y="7546591"/>
            <a:ext cx="8059417" cy="1512313"/>
            <a:chOff x="0" y="0"/>
            <a:chExt cx="10745889" cy="2016417"/>
          </a:xfrm>
        </p:grpSpPr>
        <p:sp>
          <p:nvSpPr>
            <p:cNvPr name="Freeform 55" id="55"/>
            <p:cNvSpPr/>
            <p:nvPr/>
          </p:nvSpPr>
          <p:spPr>
            <a:xfrm flipH="false" flipV="false" rot="0">
              <a:off x="8509" y="8509"/>
              <a:ext cx="10728960" cy="1999488"/>
            </a:xfrm>
            <a:custGeom>
              <a:avLst/>
              <a:gdLst/>
              <a:ahLst/>
              <a:cxnLst/>
              <a:rect r="r" b="b" t="t" l="l"/>
              <a:pathLst>
                <a:path h="1999488" w="10728960">
                  <a:moveTo>
                    <a:pt x="0" y="0"/>
                  </a:moveTo>
                  <a:lnTo>
                    <a:pt x="10728960" y="0"/>
                  </a:lnTo>
                  <a:lnTo>
                    <a:pt x="10728960" y="1999488"/>
                  </a:lnTo>
                  <a:lnTo>
                    <a:pt x="0" y="1999488"/>
                  </a:lnTo>
                  <a:close/>
                </a:path>
              </a:pathLst>
            </a:custGeom>
            <a:solidFill>
              <a:srgbClr val="122540"/>
            </a:solidFill>
          </p:spPr>
        </p:sp>
        <p:sp>
          <p:nvSpPr>
            <p:cNvPr name="Freeform 56" id="56"/>
            <p:cNvSpPr/>
            <p:nvPr/>
          </p:nvSpPr>
          <p:spPr>
            <a:xfrm flipH="false" flipV="false" rot="0">
              <a:off x="0" y="0"/>
              <a:ext cx="10745978" cy="2016506"/>
            </a:xfrm>
            <a:custGeom>
              <a:avLst/>
              <a:gdLst/>
              <a:ahLst/>
              <a:cxnLst/>
              <a:rect r="r" b="b" t="t" l="l"/>
              <a:pathLst>
                <a:path h="2016506" w="10745978">
                  <a:moveTo>
                    <a:pt x="8509" y="0"/>
                  </a:moveTo>
                  <a:lnTo>
                    <a:pt x="10737469" y="0"/>
                  </a:lnTo>
                  <a:cubicBezTo>
                    <a:pt x="10742168" y="0"/>
                    <a:pt x="10745978" y="3810"/>
                    <a:pt x="10745978" y="8509"/>
                  </a:cubicBezTo>
                  <a:lnTo>
                    <a:pt x="10745978" y="2007997"/>
                  </a:lnTo>
                  <a:cubicBezTo>
                    <a:pt x="10745978" y="2012696"/>
                    <a:pt x="10742168" y="2016506"/>
                    <a:pt x="1073746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0737469" y="1999488"/>
                  </a:lnTo>
                  <a:lnTo>
                    <a:pt x="10737469" y="2007997"/>
                  </a:lnTo>
                  <a:lnTo>
                    <a:pt x="10728960" y="2007997"/>
                  </a:lnTo>
                  <a:lnTo>
                    <a:pt x="10728960" y="8509"/>
                  </a:lnTo>
                  <a:lnTo>
                    <a:pt x="10737469" y="8509"/>
                  </a:lnTo>
                  <a:lnTo>
                    <a:pt x="10737469" y="17018"/>
                  </a:lnTo>
                  <a:lnTo>
                    <a:pt x="8509" y="17018"/>
                  </a:lnTo>
                  <a:close/>
                </a:path>
              </a:pathLst>
            </a:custGeom>
            <a:solidFill>
              <a:srgbClr val="1E3352"/>
            </a:solidFill>
          </p:spPr>
        </p:sp>
      </p:grpSp>
      <p:grpSp>
        <p:nvGrpSpPr>
          <p:cNvPr name="Group 57" id="57"/>
          <p:cNvGrpSpPr/>
          <p:nvPr/>
        </p:nvGrpSpPr>
        <p:grpSpPr>
          <a:xfrm rot="0">
            <a:off x="9497063" y="7906007"/>
            <a:ext cx="756923" cy="756923"/>
            <a:chOff x="0" y="0"/>
            <a:chExt cx="1009231" cy="1009231"/>
          </a:xfrm>
        </p:grpSpPr>
        <p:sp>
          <p:nvSpPr>
            <p:cNvPr name="Freeform 58" id="58"/>
            <p:cNvSpPr/>
            <p:nvPr/>
          </p:nvSpPr>
          <p:spPr>
            <a:xfrm flipH="false" flipV="false" rot="0">
              <a:off x="16891" y="16891"/>
              <a:ext cx="975360" cy="975360"/>
            </a:xfrm>
            <a:custGeom>
              <a:avLst/>
              <a:gdLst/>
              <a:ahLst/>
              <a:cxnLst/>
              <a:rect r="r" b="b" t="t" l="l"/>
              <a:pathLst>
                <a:path h="975360" w="975360">
                  <a:moveTo>
                    <a:pt x="0" y="487680"/>
                  </a:moveTo>
                  <a:cubicBezTo>
                    <a:pt x="0" y="218313"/>
                    <a:pt x="218313" y="0"/>
                    <a:pt x="487680" y="0"/>
                  </a:cubicBezTo>
                  <a:cubicBezTo>
                    <a:pt x="757047" y="0"/>
                    <a:pt x="975360" y="218313"/>
                    <a:pt x="975360" y="487680"/>
                  </a:cubicBezTo>
                  <a:cubicBezTo>
                    <a:pt x="975360" y="757047"/>
                    <a:pt x="757047" y="975360"/>
                    <a:pt x="487680" y="975360"/>
                  </a:cubicBezTo>
                  <a:cubicBezTo>
                    <a:pt x="218313" y="975360"/>
                    <a:pt x="0" y="757047"/>
                    <a:pt x="0" y="487680"/>
                  </a:cubicBezTo>
                  <a:close/>
                </a:path>
              </a:pathLst>
            </a:custGeom>
            <a:solidFill>
              <a:srgbClr val="00E5A0">
                <a:alpha val="5882"/>
              </a:srgbClr>
            </a:solidFill>
          </p:spPr>
        </p:sp>
        <p:sp>
          <p:nvSpPr>
            <p:cNvPr name="Freeform 59" id="59"/>
            <p:cNvSpPr/>
            <p:nvPr/>
          </p:nvSpPr>
          <p:spPr>
            <a:xfrm flipH="false" flipV="false" rot="0">
              <a:off x="0" y="0"/>
              <a:ext cx="1009269" cy="1009142"/>
            </a:xfrm>
            <a:custGeom>
              <a:avLst/>
              <a:gdLst/>
              <a:ahLst/>
              <a:cxnLst/>
              <a:rect r="r" b="b" t="t" l="l"/>
              <a:pathLst>
                <a:path h="1009142" w="1009269">
                  <a:moveTo>
                    <a:pt x="0" y="504571"/>
                  </a:moveTo>
                  <a:cubicBezTo>
                    <a:pt x="0" y="225933"/>
                    <a:pt x="225933" y="0"/>
                    <a:pt x="504571" y="0"/>
                  </a:cubicBezTo>
                  <a:lnTo>
                    <a:pt x="504571" y="16891"/>
                  </a:lnTo>
                  <a:lnTo>
                    <a:pt x="504571" y="0"/>
                  </a:lnTo>
                  <a:cubicBezTo>
                    <a:pt x="783336" y="0"/>
                    <a:pt x="1009269" y="225933"/>
                    <a:pt x="1009269" y="504571"/>
                  </a:cubicBezTo>
                  <a:lnTo>
                    <a:pt x="992251" y="504571"/>
                  </a:lnTo>
                  <a:lnTo>
                    <a:pt x="1009142" y="504571"/>
                  </a:lnTo>
                  <a:cubicBezTo>
                    <a:pt x="1009142" y="783209"/>
                    <a:pt x="783209" y="1009142"/>
                    <a:pt x="504571" y="1009142"/>
                  </a:cubicBezTo>
                  <a:lnTo>
                    <a:pt x="504571" y="992251"/>
                  </a:lnTo>
                  <a:lnTo>
                    <a:pt x="504571" y="1009142"/>
                  </a:lnTo>
                  <a:cubicBezTo>
                    <a:pt x="225933" y="1009269"/>
                    <a:pt x="0" y="783336"/>
                    <a:pt x="0" y="504571"/>
                  </a:cubicBezTo>
                  <a:lnTo>
                    <a:pt x="16891" y="504571"/>
                  </a:lnTo>
                  <a:lnTo>
                    <a:pt x="33909" y="504571"/>
                  </a:lnTo>
                  <a:lnTo>
                    <a:pt x="16891" y="504571"/>
                  </a:lnTo>
                  <a:lnTo>
                    <a:pt x="0" y="504571"/>
                  </a:lnTo>
                  <a:moveTo>
                    <a:pt x="33909" y="504571"/>
                  </a:moveTo>
                  <a:cubicBezTo>
                    <a:pt x="33909" y="513969"/>
                    <a:pt x="26289" y="521462"/>
                    <a:pt x="17018" y="521462"/>
                  </a:cubicBezTo>
                  <a:cubicBezTo>
                    <a:pt x="7747" y="521462"/>
                    <a:pt x="0" y="513969"/>
                    <a:pt x="0" y="504571"/>
                  </a:cubicBezTo>
                  <a:cubicBezTo>
                    <a:pt x="0" y="495173"/>
                    <a:pt x="7620" y="487680"/>
                    <a:pt x="16891" y="487680"/>
                  </a:cubicBezTo>
                  <a:cubicBezTo>
                    <a:pt x="26162" y="487680"/>
                    <a:pt x="33782" y="495300"/>
                    <a:pt x="33782" y="504571"/>
                  </a:cubicBezTo>
                  <a:cubicBezTo>
                    <a:pt x="33782" y="764540"/>
                    <a:pt x="244602" y="975360"/>
                    <a:pt x="504571" y="975360"/>
                  </a:cubicBezTo>
                  <a:cubicBezTo>
                    <a:pt x="764540" y="975360"/>
                    <a:pt x="975360" y="764540"/>
                    <a:pt x="975360" y="504571"/>
                  </a:cubicBezTo>
                  <a:cubicBezTo>
                    <a:pt x="975360" y="244602"/>
                    <a:pt x="764540" y="33782"/>
                    <a:pt x="504571" y="33782"/>
                  </a:cubicBezTo>
                  <a:lnTo>
                    <a:pt x="504571" y="16891"/>
                  </a:lnTo>
                  <a:lnTo>
                    <a:pt x="504571" y="33909"/>
                  </a:lnTo>
                  <a:cubicBezTo>
                    <a:pt x="244602" y="33909"/>
                    <a:pt x="33782" y="244729"/>
                    <a:pt x="33782" y="504698"/>
                  </a:cubicBezTo>
                  <a:close/>
                </a:path>
              </a:pathLst>
            </a:custGeom>
            <a:solidFill>
              <a:srgbClr val="00E5A0"/>
            </a:solidFill>
          </p:spPr>
        </p:sp>
      </p:grpSp>
      <p:grpSp>
        <p:nvGrpSpPr>
          <p:cNvPr name="Group 60" id="60"/>
          <p:cNvGrpSpPr/>
          <p:nvPr/>
        </p:nvGrpSpPr>
        <p:grpSpPr>
          <a:xfrm rot="0">
            <a:off x="10515600" y="7735824"/>
            <a:ext cx="6583680" cy="548640"/>
            <a:chOff x="0" y="0"/>
            <a:chExt cx="8778240" cy="731520"/>
          </a:xfrm>
        </p:grpSpPr>
        <p:sp>
          <p:nvSpPr>
            <p:cNvPr name="Freeform 61" id="61"/>
            <p:cNvSpPr/>
            <p:nvPr/>
          </p:nvSpPr>
          <p:spPr>
            <a:xfrm flipH="false" flipV="false" rot="0">
              <a:off x="0" y="0"/>
              <a:ext cx="8778240" cy="731520"/>
            </a:xfrm>
            <a:custGeom>
              <a:avLst/>
              <a:gdLst/>
              <a:ahLst/>
              <a:cxnLst/>
              <a:rect r="r" b="b" t="t" l="l"/>
              <a:pathLst>
                <a:path h="731520" w="8778240">
                  <a:moveTo>
                    <a:pt x="0" y="0"/>
                  </a:moveTo>
                  <a:lnTo>
                    <a:pt x="8778240" y="0"/>
                  </a:lnTo>
                  <a:lnTo>
                    <a:pt x="8778240" y="731520"/>
                  </a:lnTo>
                  <a:lnTo>
                    <a:pt x="0" y="731520"/>
                  </a:lnTo>
                  <a:close/>
                </a:path>
              </a:pathLst>
            </a:custGeom>
            <a:blipFill>
              <a:blip r:embed="rId3">
                <a:alphaModFix amt="0"/>
              </a:blip>
              <a:stretch>
                <a:fillRect l="0" t="-183820" r="0" b="-183820"/>
              </a:stretch>
            </a:blipFill>
          </p:spPr>
        </p:sp>
        <p:sp>
          <p:nvSpPr>
            <p:cNvPr name="TextBox 62" id="62"/>
            <p:cNvSpPr txBox="true"/>
            <p:nvPr/>
          </p:nvSpPr>
          <p:spPr>
            <a:xfrm>
              <a:off x="0" y="-38100"/>
              <a:ext cx="8778240" cy="76962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Fidélisation &amp; upselling</a:t>
              </a:r>
            </a:p>
          </p:txBody>
        </p:sp>
      </p:grpSp>
      <p:grpSp>
        <p:nvGrpSpPr>
          <p:cNvPr name="Group 63" id="63"/>
          <p:cNvGrpSpPr/>
          <p:nvPr/>
        </p:nvGrpSpPr>
        <p:grpSpPr>
          <a:xfrm rot="0">
            <a:off x="10515600" y="8357616"/>
            <a:ext cx="6583680" cy="512064"/>
            <a:chOff x="0" y="0"/>
            <a:chExt cx="8778240" cy="682752"/>
          </a:xfrm>
        </p:grpSpPr>
        <p:sp>
          <p:nvSpPr>
            <p:cNvPr name="Freeform 64" id="64"/>
            <p:cNvSpPr/>
            <p:nvPr/>
          </p:nvSpPr>
          <p:spPr>
            <a:xfrm flipH="false" flipV="false" rot="0">
              <a:off x="0" y="0"/>
              <a:ext cx="8778240" cy="682752"/>
            </a:xfrm>
            <a:custGeom>
              <a:avLst/>
              <a:gdLst/>
              <a:ahLst/>
              <a:cxnLst/>
              <a:rect r="r" b="b" t="t" l="l"/>
              <a:pathLst>
                <a:path h="682752" w="8778240">
                  <a:moveTo>
                    <a:pt x="0" y="0"/>
                  </a:moveTo>
                  <a:lnTo>
                    <a:pt x="8778240" y="0"/>
                  </a:lnTo>
                  <a:lnTo>
                    <a:pt x="8778240" y="682752"/>
                  </a:lnTo>
                  <a:lnTo>
                    <a:pt x="0" y="682752"/>
                  </a:lnTo>
                  <a:close/>
                </a:path>
              </a:pathLst>
            </a:custGeom>
            <a:blipFill>
              <a:blip r:embed="rId3">
                <a:alphaModFix amt="0"/>
              </a:blip>
              <a:stretch>
                <a:fillRect l="0" t="-200521" r="0" b="-200521"/>
              </a:stretch>
            </a:blipFill>
          </p:spPr>
        </p:sp>
        <p:sp>
          <p:nvSpPr>
            <p:cNvPr name="TextBox 65" id="65"/>
            <p:cNvSpPr txBox="true"/>
            <p:nvPr/>
          </p:nvSpPr>
          <p:spPr>
            <a:xfrm>
              <a:off x="0" y="-38100"/>
              <a:ext cx="8778240" cy="720852"/>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Ciblage précis des actions commerciales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04237" y="392173"/>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914400" y="402336"/>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02 — DONNÉES</a:t>
              </a:r>
            </a:p>
          </p:txBody>
        </p:sp>
      </p:grpSp>
      <p:grpSp>
        <p:nvGrpSpPr>
          <p:cNvPr name="Group 8" id="8"/>
          <p:cNvGrpSpPr/>
          <p:nvPr/>
        </p:nvGrpSpPr>
        <p:grpSpPr>
          <a:xfrm rot="0">
            <a:off x="920753" y="1154944"/>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Exploration des Données (EDA)</a:t>
              </a:r>
            </a:p>
          </p:txBody>
        </p:sp>
      </p:grpSp>
      <p:grpSp>
        <p:nvGrpSpPr>
          <p:cNvPr name="Group 11" id="11"/>
          <p:cNvGrpSpPr/>
          <p:nvPr/>
        </p:nvGrpSpPr>
        <p:grpSpPr>
          <a:xfrm rot="0">
            <a:off x="927097" y="2606554"/>
            <a:ext cx="16459200" cy="640080"/>
            <a:chOff x="0" y="0"/>
            <a:chExt cx="21945600" cy="853440"/>
          </a:xfrm>
        </p:grpSpPr>
        <p:sp>
          <p:nvSpPr>
            <p:cNvPr name="Freeform 12" id="12"/>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13" id="13"/>
            <p:cNvSpPr txBox="true"/>
            <p:nvPr/>
          </p:nvSpPr>
          <p:spPr>
            <a:xfrm>
              <a:off x="0" y="-38100"/>
              <a:ext cx="21945600" cy="891540"/>
            </a:xfrm>
            <a:prstGeom prst="rect">
              <a:avLst/>
            </a:prstGeom>
          </p:spPr>
          <p:txBody>
            <a:bodyPr anchor="ctr" rtlCol="false" tIns="0" lIns="0" bIns="0" rIns="0"/>
            <a:lstStyle/>
            <a:p>
              <a:pPr algn="l">
                <a:lnSpc>
                  <a:spcPts val="2879"/>
                </a:lnSpc>
              </a:pPr>
              <a:r>
                <a:rPr lang="en-US" sz="2400">
                  <a:solidFill>
                    <a:srgbClr val="6B8BAA"/>
                  </a:solidFill>
                  <a:latin typeface="Calibri (MS)"/>
                  <a:ea typeface="Calibri (MS)"/>
                  <a:cs typeface="Calibri (MS)"/>
                  <a:sym typeface="Calibri (MS)"/>
                </a:rPr>
                <a:t>retail_customers_COMPLETE_CATEGORICAL.csv</a:t>
              </a:r>
            </a:p>
          </p:txBody>
        </p:sp>
      </p:grpSp>
      <p:grpSp>
        <p:nvGrpSpPr>
          <p:cNvPr name="Group 14" id="14"/>
          <p:cNvGrpSpPr/>
          <p:nvPr/>
        </p:nvGrpSpPr>
        <p:grpSpPr>
          <a:xfrm rot="0">
            <a:off x="908047" y="3861017"/>
            <a:ext cx="3853177" cy="2115817"/>
            <a:chOff x="0" y="0"/>
            <a:chExt cx="5137569" cy="2821089"/>
          </a:xfrm>
        </p:grpSpPr>
        <p:sp>
          <p:nvSpPr>
            <p:cNvPr name="Freeform 15" id="15"/>
            <p:cNvSpPr/>
            <p:nvPr/>
          </p:nvSpPr>
          <p:spPr>
            <a:xfrm flipH="false" flipV="false" rot="0">
              <a:off x="8509" y="8509"/>
              <a:ext cx="5120640" cy="2804160"/>
            </a:xfrm>
            <a:custGeom>
              <a:avLst/>
              <a:gdLst/>
              <a:ahLst/>
              <a:cxnLst/>
              <a:rect r="r" b="b" t="t" l="l"/>
              <a:pathLst>
                <a:path h="2804160" w="5120640">
                  <a:moveTo>
                    <a:pt x="0" y="0"/>
                  </a:moveTo>
                  <a:lnTo>
                    <a:pt x="5120640" y="0"/>
                  </a:lnTo>
                  <a:lnTo>
                    <a:pt x="5120640" y="2804160"/>
                  </a:lnTo>
                  <a:lnTo>
                    <a:pt x="0" y="2804160"/>
                  </a:lnTo>
                  <a:close/>
                </a:path>
              </a:pathLst>
            </a:custGeom>
            <a:solidFill>
              <a:srgbClr val="0D1E35"/>
            </a:solidFill>
          </p:spPr>
        </p:sp>
        <p:sp>
          <p:nvSpPr>
            <p:cNvPr name="Freeform 16" id="16"/>
            <p:cNvSpPr/>
            <p:nvPr/>
          </p:nvSpPr>
          <p:spPr>
            <a:xfrm flipH="false" flipV="false" rot="0">
              <a:off x="0" y="0"/>
              <a:ext cx="5137658" cy="2821178"/>
            </a:xfrm>
            <a:custGeom>
              <a:avLst/>
              <a:gdLst/>
              <a:ahLst/>
              <a:cxnLst/>
              <a:rect r="r" b="b" t="t" l="l"/>
              <a:pathLst>
                <a:path h="2821178" w="5137658">
                  <a:moveTo>
                    <a:pt x="8509" y="0"/>
                  </a:moveTo>
                  <a:lnTo>
                    <a:pt x="5129149" y="0"/>
                  </a:lnTo>
                  <a:cubicBezTo>
                    <a:pt x="5133848" y="0"/>
                    <a:pt x="5137658" y="3810"/>
                    <a:pt x="5137658" y="8509"/>
                  </a:cubicBezTo>
                  <a:lnTo>
                    <a:pt x="5137658" y="2812669"/>
                  </a:lnTo>
                  <a:cubicBezTo>
                    <a:pt x="5137658" y="2817368"/>
                    <a:pt x="5133848" y="2821178"/>
                    <a:pt x="512914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5129149" y="2804160"/>
                  </a:lnTo>
                  <a:lnTo>
                    <a:pt x="5129149" y="2812669"/>
                  </a:lnTo>
                  <a:lnTo>
                    <a:pt x="5120640" y="2812669"/>
                  </a:lnTo>
                  <a:lnTo>
                    <a:pt x="5120640" y="8509"/>
                  </a:lnTo>
                  <a:lnTo>
                    <a:pt x="5129149" y="8509"/>
                  </a:lnTo>
                  <a:lnTo>
                    <a:pt x="5129149" y="17018"/>
                  </a:lnTo>
                  <a:lnTo>
                    <a:pt x="8509" y="17018"/>
                  </a:lnTo>
                  <a:close/>
                </a:path>
              </a:pathLst>
            </a:custGeom>
            <a:solidFill>
              <a:srgbClr val="1E3352"/>
            </a:solidFill>
          </p:spPr>
        </p:sp>
      </p:grpSp>
      <p:grpSp>
        <p:nvGrpSpPr>
          <p:cNvPr name="Group 17" id="17"/>
          <p:cNvGrpSpPr/>
          <p:nvPr/>
        </p:nvGrpSpPr>
        <p:grpSpPr>
          <a:xfrm rot="0">
            <a:off x="901703" y="5848066"/>
            <a:ext cx="3865883" cy="135131"/>
            <a:chOff x="0" y="0"/>
            <a:chExt cx="5154511" cy="180175"/>
          </a:xfrm>
        </p:grpSpPr>
        <p:sp>
          <p:nvSpPr>
            <p:cNvPr name="Freeform 18" id="18"/>
            <p:cNvSpPr/>
            <p:nvPr/>
          </p:nvSpPr>
          <p:spPr>
            <a:xfrm flipH="false" flipV="false" rot="0">
              <a:off x="16891" y="16891"/>
              <a:ext cx="5120640" cy="146304"/>
            </a:xfrm>
            <a:custGeom>
              <a:avLst/>
              <a:gdLst/>
              <a:ahLst/>
              <a:cxnLst/>
              <a:rect r="r" b="b" t="t" l="l"/>
              <a:pathLst>
                <a:path h="146304" w="5120640">
                  <a:moveTo>
                    <a:pt x="0" y="0"/>
                  </a:moveTo>
                  <a:lnTo>
                    <a:pt x="5120640" y="0"/>
                  </a:lnTo>
                  <a:lnTo>
                    <a:pt x="5120640" y="146304"/>
                  </a:lnTo>
                  <a:lnTo>
                    <a:pt x="0" y="146304"/>
                  </a:lnTo>
                  <a:close/>
                </a:path>
              </a:pathLst>
            </a:custGeom>
            <a:solidFill>
              <a:srgbClr val="1A8FFF"/>
            </a:solidFill>
          </p:spPr>
        </p:sp>
        <p:sp>
          <p:nvSpPr>
            <p:cNvPr name="Freeform 19" id="19"/>
            <p:cNvSpPr/>
            <p:nvPr/>
          </p:nvSpPr>
          <p:spPr>
            <a:xfrm flipH="false" flipV="false" rot="0">
              <a:off x="0" y="0"/>
              <a:ext cx="5154422" cy="180088"/>
            </a:xfrm>
            <a:custGeom>
              <a:avLst/>
              <a:gdLst/>
              <a:ahLst/>
              <a:cxnLst/>
              <a:rect r="r" b="b" t="t" l="l"/>
              <a:pathLst>
                <a:path h="180088" w="5154422">
                  <a:moveTo>
                    <a:pt x="16891" y="0"/>
                  </a:moveTo>
                  <a:lnTo>
                    <a:pt x="5137531" y="0"/>
                  </a:lnTo>
                  <a:cubicBezTo>
                    <a:pt x="5146929" y="0"/>
                    <a:pt x="5154422" y="7620"/>
                    <a:pt x="5154422" y="16891"/>
                  </a:cubicBezTo>
                  <a:lnTo>
                    <a:pt x="5154422" y="163195"/>
                  </a:lnTo>
                  <a:cubicBezTo>
                    <a:pt x="5154422" y="172593"/>
                    <a:pt x="5146802" y="180086"/>
                    <a:pt x="513753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5137531" y="146304"/>
                  </a:lnTo>
                  <a:lnTo>
                    <a:pt x="5137531" y="163195"/>
                  </a:lnTo>
                  <a:lnTo>
                    <a:pt x="5120640" y="163195"/>
                  </a:lnTo>
                  <a:lnTo>
                    <a:pt x="5120640" y="16891"/>
                  </a:lnTo>
                  <a:lnTo>
                    <a:pt x="5137531" y="16891"/>
                  </a:lnTo>
                  <a:lnTo>
                    <a:pt x="5137531" y="33909"/>
                  </a:lnTo>
                  <a:lnTo>
                    <a:pt x="16891" y="33909"/>
                  </a:lnTo>
                  <a:close/>
                </a:path>
              </a:pathLst>
            </a:custGeom>
            <a:solidFill>
              <a:srgbClr val="1A8FFF"/>
            </a:solidFill>
          </p:spPr>
        </p:sp>
      </p:grpSp>
      <p:grpSp>
        <p:nvGrpSpPr>
          <p:cNvPr name="Group 20" id="20"/>
          <p:cNvGrpSpPr/>
          <p:nvPr/>
        </p:nvGrpSpPr>
        <p:grpSpPr>
          <a:xfrm rot="0">
            <a:off x="914400" y="3958810"/>
            <a:ext cx="3840480" cy="1097280"/>
            <a:chOff x="0" y="0"/>
            <a:chExt cx="5120640" cy="1463040"/>
          </a:xfrm>
        </p:grpSpPr>
        <p:sp>
          <p:nvSpPr>
            <p:cNvPr name="Freeform 21" id="21"/>
            <p:cNvSpPr/>
            <p:nvPr/>
          </p:nvSpPr>
          <p:spPr>
            <a:xfrm flipH="false" flipV="false" rot="0">
              <a:off x="0" y="0"/>
              <a:ext cx="5120640" cy="1463040"/>
            </a:xfrm>
            <a:custGeom>
              <a:avLst/>
              <a:gdLst/>
              <a:ahLst/>
              <a:cxnLst/>
              <a:rect r="r" b="b" t="t" l="l"/>
              <a:pathLst>
                <a:path h="1463040" w="5120640">
                  <a:moveTo>
                    <a:pt x="0" y="0"/>
                  </a:moveTo>
                  <a:lnTo>
                    <a:pt x="5120640" y="0"/>
                  </a:lnTo>
                  <a:lnTo>
                    <a:pt x="5120640" y="1463040"/>
                  </a:lnTo>
                  <a:lnTo>
                    <a:pt x="0" y="1463040"/>
                  </a:lnTo>
                  <a:close/>
                </a:path>
              </a:pathLst>
            </a:custGeom>
            <a:blipFill>
              <a:blip r:embed="rId3">
                <a:alphaModFix amt="0"/>
              </a:blip>
              <a:stretch>
                <a:fillRect l="0" t="-18197" r="0" b="-18197"/>
              </a:stretch>
            </a:blipFill>
          </p:spPr>
        </p:sp>
        <p:sp>
          <p:nvSpPr>
            <p:cNvPr name="TextBox 22" id="22"/>
            <p:cNvSpPr txBox="true"/>
            <p:nvPr/>
          </p:nvSpPr>
          <p:spPr>
            <a:xfrm>
              <a:off x="0" y="-123825"/>
              <a:ext cx="5120640" cy="1586865"/>
            </a:xfrm>
            <a:prstGeom prst="rect">
              <a:avLst/>
            </a:prstGeom>
          </p:spPr>
          <p:txBody>
            <a:bodyPr anchor="ctr" rtlCol="false" tIns="0" lIns="0" bIns="0" rIns="0"/>
            <a:lstStyle/>
            <a:p>
              <a:pPr algn="ctr">
                <a:lnSpc>
                  <a:spcPts val="7200"/>
                </a:lnSpc>
              </a:pPr>
              <a:r>
                <a:rPr lang="en-US" sz="6000" b="true">
                  <a:solidFill>
                    <a:srgbClr val="1A8FFF"/>
                  </a:solidFill>
                  <a:latin typeface="Calibri (MS) Bold"/>
                  <a:ea typeface="Calibri (MS) Bold"/>
                  <a:cs typeface="Calibri (MS) Bold"/>
                  <a:sym typeface="Calibri (MS) Bold"/>
                </a:rPr>
                <a:t>4 372</a:t>
              </a:r>
            </a:p>
          </p:txBody>
        </p:sp>
      </p:grpSp>
      <p:grpSp>
        <p:nvGrpSpPr>
          <p:cNvPr name="Group 23" id="23"/>
          <p:cNvGrpSpPr/>
          <p:nvPr/>
        </p:nvGrpSpPr>
        <p:grpSpPr>
          <a:xfrm rot="0">
            <a:off x="914400" y="5110954"/>
            <a:ext cx="3840480" cy="731520"/>
            <a:chOff x="0" y="0"/>
            <a:chExt cx="5120640" cy="975360"/>
          </a:xfrm>
        </p:grpSpPr>
        <p:sp>
          <p:nvSpPr>
            <p:cNvPr name="Freeform 24" id="24"/>
            <p:cNvSpPr/>
            <p:nvPr/>
          </p:nvSpPr>
          <p:spPr>
            <a:xfrm flipH="false" flipV="false" rot="0">
              <a:off x="0" y="0"/>
              <a:ext cx="5120640" cy="975360"/>
            </a:xfrm>
            <a:custGeom>
              <a:avLst/>
              <a:gdLst/>
              <a:ahLst/>
              <a:cxnLst/>
              <a:rect r="r" b="b" t="t" l="l"/>
              <a:pathLst>
                <a:path h="975360" w="5120640">
                  <a:moveTo>
                    <a:pt x="0" y="0"/>
                  </a:moveTo>
                  <a:lnTo>
                    <a:pt x="5120640" y="0"/>
                  </a:lnTo>
                  <a:lnTo>
                    <a:pt x="5120640" y="975360"/>
                  </a:lnTo>
                  <a:lnTo>
                    <a:pt x="0" y="975360"/>
                  </a:lnTo>
                  <a:close/>
                </a:path>
              </a:pathLst>
            </a:custGeom>
            <a:blipFill>
              <a:blip r:embed="rId3">
                <a:alphaModFix amt="0"/>
              </a:blip>
              <a:stretch>
                <a:fillRect l="0" t="-52296" r="0" b="-52296"/>
              </a:stretch>
            </a:blipFill>
          </p:spPr>
        </p:sp>
        <p:sp>
          <p:nvSpPr>
            <p:cNvPr name="TextBox 25" id="25"/>
            <p:cNvSpPr txBox="true"/>
            <p:nvPr/>
          </p:nvSpPr>
          <p:spPr>
            <a:xfrm>
              <a:off x="0" y="-38100"/>
              <a:ext cx="5120640" cy="1013460"/>
            </a:xfrm>
            <a:prstGeom prst="rect">
              <a:avLst/>
            </a:prstGeom>
          </p:spPr>
          <p:txBody>
            <a:bodyPr anchor="ctr" rtlCol="false" tIns="0" lIns="0" bIns="0" rIns="0"/>
            <a:lstStyle/>
            <a:p>
              <a:pPr algn="ctr">
                <a:lnSpc>
                  <a:spcPts val="2400"/>
                </a:lnSpc>
              </a:pPr>
              <a:r>
                <a:rPr lang="en-US" sz="2000">
                  <a:solidFill>
                    <a:srgbClr val="6B8BAA"/>
                  </a:solidFill>
                  <a:latin typeface="Calibri (MS)"/>
                  <a:ea typeface="Calibri (MS)"/>
                  <a:cs typeface="Calibri (MS)"/>
                  <a:sym typeface="Calibri (MS)"/>
                </a:rPr>
                <a:t>Clients dans le dataset</a:t>
              </a:r>
            </a:p>
          </p:txBody>
        </p:sp>
      </p:grpSp>
      <p:grpSp>
        <p:nvGrpSpPr>
          <p:cNvPr name="Group 26" id="26"/>
          <p:cNvGrpSpPr/>
          <p:nvPr/>
        </p:nvGrpSpPr>
        <p:grpSpPr>
          <a:xfrm rot="0">
            <a:off x="4974336" y="3867380"/>
            <a:ext cx="3853177" cy="2115817"/>
            <a:chOff x="0" y="0"/>
            <a:chExt cx="5137569" cy="2821089"/>
          </a:xfrm>
        </p:grpSpPr>
        <p:sp>
          <p:nvSpPr>
            <p:cNvPr name="Freeform 27" id="27"/>
            <p:cNvSpPr/>
            <p:nvPr/>
          </p:nvSpPr>
          <p:spPr>
            <a:xfrm flipH="false" flipV="false" rot="0">
              <a:off x="8509" y="8509"/>
              <a:ext cx="5120640" cy="2804160"/>
            </a:xfrm>
            <a:custGeom>
              <a:avLst/>
              <a:gdLst/>
              <a:ahLst/>
              <a:cxnLst/>
              <a:rect r="r" b="b" t="t" l="l"/>
              <a:pathLst>
                <a:path h="2804160" w="5120640">
                  <a:moveTo>
                    <a:pt x="0" y="0"/>
                  </a:moveTo>
                  <a:lnTo>
                    <a:pt x="5120640" y="0"/>
                  </a:lnTo>
                  <a:lnTo>
                    <a:pt x="5120640" y="2804160"/>
                  </a:lnTo>
                  <a:lnTo>
                    <a:pt x="0" y="2804160"/>
                  </a:lnTo>
                  <a:close/>
                </a:path>
              </a:pathLst>
            </a:custGeom>
            <a:solidFill>
              <a:srgbClr val="0D1E35"/>
            </a:solidFill>
          </p:spPr>
        </p:sp>
        <p:sp>
          <p:nvSpPr>
            <p:cNvPr name="Freeform 28" id="28"/>
            <p:cNvSpPr/>
            <p:nvPr/>
          </p:nvSpPr>
          <p:spPr>
            <a:xfrm flipH="false" flipV="false" rot="0">
              <a:off x="0" y="0"/>
              <a:ext cx="5137658" cy="2821178"/>
            </a:xfrm>
            <a:custGeom>
              <a:avLst/>
              <a:gdLst/>
              <a:ahLst/>
              <a:cxnLst/>
              <a:rect r="r" b="b" t="t" l="l"/>
              <a:pathLst>
                <a:path h="2821178" w="5137658">
                  <a:moveTo>
                    <a:pt x="8509" y="0"/>
                  </a:moveTo>
                  <a:lnTo>
                    <a:pt x="5129149" y="0"/>
                  </a:lnTo>
                  <a:cubicBezTo>
                    <a:pt x="5133848" y="0"/>
                    <a:pt x="5137658" y="3810"/>
                    <a:pt x="5137658" y="8509"/>
                  </a:cubicBezTo>
                  <a:lnTo>
                    <a:pt x="5137658" y="2812669"/>
                  </a:lnTo>
                  <a:cubicBezTo>
                    <a:pt x="5137658" y="2817368"/>
                    <a:pt x="5133848" y="2821178"/>
                    <a:pt x="512914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5129149" y="2804160"/>
                  </a:lnTo>
                  <a:lnTo>
                    <a:pt x="5129149" y="2812669"/>
                  </a:lnTo>
                  <a:lnTo>
                    <a:pt x="5120640" y="2812669"/>
                  </a:lnTo>
                  <a:lnTo>
                    <a:pt x="5120640" y="8509"/>
                  </a:lnTo>
                  <a:lnTo>
                    <a:pt x="5129149" y="8509"/>
                  </a:lnTo>
                  <a:lnTo>
                    <a:pt x="5129149" y="17018"/>
                  </a:lnTo>
                  <a:lnTo>
                    <a:pt x="8509" y="17018"/>
                  </a:lnTo>
                  <a:close/>
                </a:path>
              </a:pathLst>
            </a:custGeom>
            <a:solidFill>
              <a:srgbClr val="1E3352"/>
            </a:solidFill>
          </p:spPr>
        </p:sp>
      </p:grpSp>
      <p:grpSp>
        <p:nvGrpSpPr>
          <p:cNvPr name="Group 29" id="29"/>
          <p:cNvGrpSpPr/>
          <p:nvPr/>
        </p:nvGrpSpPr>
        <p:grpSpPr>
          <a:xfrm rot="0">
            <a:off x="4967992" y="5854428"/>
            <a:ext cx="3865883" cy="135131"/>
            <a:chOff x="0" y="0"/>
            <a:chExt cx="5154511" cy="180175"/>
          </a:xfrm>
        </p:grpSpPr>
        <p:sp>
          <p:nvSpPr>
            <p:cNvPr name="Freeform 30" id="30"/>
            <p:cNvSpPr/>
            <p:nvPr/>
          </p:nvSpPr>
          <p:spPr>
            <a:xfrm flipH="false" flipV="false" rot="0">
              <a:off x="16891" y="16891"/>
              <a:ext cx="5120640" cy="146304"/>
            </a:xfrm>
            <a:custGeom>
              <a:avLst/>
              <a:gdLst/>
              <a:ahLst/>
              <a:cxnLst/>
              <a:rect r="r" b="b" t="t" l="l"/>
              <a:pathLst>
                <a:path h="146304" w="5120640">
                  <a:moveTo>
                    <a:pt x="0" y="0"/>
                  </a:moveTo>
                  <a:lnTo>
                    <a:pt x="5120640" y="0"/>
                  </a:lnTo>
                  <a:lnTo>
                    <a:pt x="5120640" y="146304"/>
                  </a:lnTo>
                  <a:lnTo>
                    <a:pt x="0" y="146304"/>
                  </a:lnTo>
                  <a:close/>
                </a:path>
              </a:pathLst>
            </a:custGeom>
            <a:solidFill>
              <a:srgbClr val="00E5A0"/>
            </a:solidFill>
          </p:spPr>
        </p:sp>
        <p:sp>
          <p:nvSpPr>
            <p:cNvPr name="Freeform 31" id="31"/>
            <p:cNvSpPr/>
            <p:nvPr/>
          </p:nvSpPr>
          <p:spPr>
            <a:xfrm flipH="false" flipV="false" rot="0">
              <a:off x="0" y="0"/>
              <a:ext cx="5154422" cy="180088"/>
            </a:xfrm>
            <a:custGeom>
              <a:avLst/>
              <a:gdLst/>
              <a:ahLst/>
              <a:cxnLst/>
              <a:rect r="r" b="b" t="t" l="l"/>
              <a:pathLst>
                <a:path h="180088" w="5154422">
                  <a:moveTo>
                    <a:pt x="16891" y="0"/>
                  </a:moveTo>
                  <a:lnTo>
                    <a:pt x="5137531" y="0"/>
                  </a:lnTo>
                  <a:cubicBezTo>
                    <a:pt x="5146929" y="0"/>
                    <a:pt x="5154422" y="7620"/>
                    <a:pt x="5154422" y="16891"/>
                  </a:cubicBezTo>
                  <a:lnTo>
                    <a:pt x="5154422" y="163195"/>
                  </a:lnTo>
                  <a:cubicBezTo>
                    <a:pt x="5154422" y="172593"/>
                    <a:pt x="5146802" y="180086"/>
                    <a:pt x="513753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5137531" y="146304"/>
                  </a:lnTo>
                  <a:lnTo>
                    <a:pt x="5137531" y="163195"/>
                  </a:lnTo>
                  <a:lnTo>
                    <a:pt x="5120640" y="163195"/>
                  </a:lnTo>
                  <a:lnTo>
                    <a:pt x="5120640" y="16891"/>
                  </a:lnTo>
                  <a:lnTo>
                    <a:pt x="5137531" y="16891"/>
                  </a:lnTo>
                  <a:lnTo>
                    <a:pt x="5137531" y="33909"/>
                  </a:lnTo>
                  <a:lnTo>
                    <a:pt x="16891" y="33909"/>
                  </a:lnTo>
                  <a:close/>
                </a:path>
              </a:pathLst>
            </a:custGeom>
            <a:solidFill>
              <a:srgbClr val="00E5A0"/>
            </a:solidFill>
          </p:spPr>
        </p:sp>
      </p:grpSp>
      <p:grpSp>
        <p:nvGrpSpPr>
          <p:cNvPr name="Group 32" id="32"/>
          <p:cNvGrpSpPr/>
          <p:nvPr/>
        </p:nvGrpSpPr>
        <p:grpSpPr>
          <a:xfrm rot="0">
            <a:off x="4980689" y="3965173"/>
            <a:ext cx="3840480" cy="1097280"/>
            <a:chOff x="0" y="0"/>
            <a:chExt cx="5120640" cy="1463040"/>
          </a:xfrm>
        </p:grpSpPr>
        <p:sp>
          <p:nvSpPr>
            <p:cNvPr name="Freeform 33" id="33"/>
            <p:cNvSpPr/>
            <p:nvPr/>
          </p:nvSpPr>
          <p:spPr>
            <a:xfrm flipH="false" flipV="false" rot="0">
              <a:off x="0" y="0"/>
              <a:ext cx="5120640" cy="1463040"/>
            </a:xfrm>
            <a:custGeom>
              <a:avLst/>
              <a:gdLst/>
              <a:ahLst/>
              <a:cxnLst/>
              <a:rect r="r" b="b" t="t" l="l"/>
              <a:pathLst>
                <a:path h="1463040" w="5120640">
                  <a:moveTo>
                    <a:pt x="0" y="0"/>
                  </a:moveTo>
                  <a:lnTo>
                    <a:pt x="5120640" y="0"/>
                  </a:lnTo>
                  <a:lnTo>
                    <a:pt x="5120640" y="1463040"/>
                  </a:lnTo>
                  <a:lnTo>
                    <a:pt x="0" y="1463040"/>
                  </a:lnTo>
                  <a:close/>
                </a:path>
              </a:pathLst>
            </a:custGeom>
            <a:blipFill>
              <a:blip r:embed="rId3">
                <a:alphaModFix amt="0"/>
              </a:blip>
              <a:stretch>
                <a:fillRect l="0" t="-18197" r="0" b="-18197"/>
              </a:stretch>
            </a:blipFill>
          </p:spPr>
        </p:sp>
        <p:sp>
          <p:nvSpPr>
            <p:cNvPr name="TextBox 34" id="34"/>
            <p:cNvSpPr txBox="true"/>
            <p:nvPr/>
          </p:nvSpPr>
          <p:spPr>
            <a:xfrm>
              <a:off x="0" y="-123825"/>
              <a:ext cx="5120640" cy="1586865"/>
            </a:xfrm>
            <a:prstGeom prst="rect">
              <a:avLst/>
            </a:prstGeom>
          </p:spPr>
          <p:txBody>
            <a:bodyPr anchor="ctr" rtlCol="false" tIns="0" lIns="0" bIns="0" rIns="0"/>
            <a:lstStyle/>
            <a:p>
              <a:pPr algn="ctr">
                <a:lnSpc>
                  <a:spcPts val="7200"/>
                </a:lnSpc>
              </a:pPr>
              <a:r>
                <a:rPr lang="en-US" sz="6000" b="true">
                  <a:solidFill>
                    <a:srgbClr val="00E5A0"/>
                  </a:solidFill>
                  <a:latin typeface="Calibri (MS) Bold"/>
                  <a:ea typeface="Calibri (MS) Bold"/>
                  <a:cs typeface="Calibri (MS) Bold"/>
                  <a:sym typeface="Calibri (MS) Bold"/>
                </a:rPr>
                <a:t>34</a:t>
              </a:r>
            </a:p>
          </p:txBody>
        </p:sp>
      </p:grpSp>
      <p:grpSp>
        <p:nvGrpSpPr>
          <p:cNvPr name="Group 35" id="35"/>
          <p:cNvGrpSpPr/>
          <p:nvPr/>
        </p:nvGrpSpPr>
        <p:grpSpPr>
          <a:xfrm rot="0">
            <a:off x="4980689" y="5117317"/>
            <a:ext cx="3840480" cy="731520"/>
            <a:chOff x="0" y="0"/>
            <a:chExt cx="5120640" cy="975360"/>
          </a:xfrm>
        </p:grpSpPr>
        <p:sp>
          <p:nvSpPr>
            <p:cNvPr name="Freeform 36" id="36"/>
            <p:cNvSpPr/>
            <p:nvPr/>
          </p:nvSpPr>
          <p:spPr>
            <a:xfrm flipH="false" flipV="false" rot="0">
              <a:off x="0" y="0"/>
              <a:ext cx="5120640" cy="975360"/>
            </a:xfrm>
            <a:custGeom>
              <a:avLst/>
              <a:gdLst/>
              <a:ahLst/>
              <a:cxnLst/>
              <a:rect r="r" b="b" t="t" l="l"/>
              <a:pathLst>
                <a:path h="975360" w="5120640">
                  <a:moveTo>
                    <a:pt x="0" y="0"/>
                  </a:moveTo>
                  <a:lnTo>
                    <a:pt x="5120640" y="0"/>
                  </a:lnTo>
                  <a:lnTo>
                    <a:pt x="5120640" y="975360"/>
                  </a:lnTo>
                  <a:lnTo>
                    <a:pt x="0" y="975360"/>
                  </a:lnTo>
                  <a:close/>
                </a:path>
              </a:pathLst>
            </a:custGeom>
            <a:blipFill>
              <a:blip r:embed="rId3">
                <a:alphaModFix amt="0"/>
              </a:blip>
              <a:stretch>
                <a:fillRect l="0" t="-52296" r="0" b="-52296"/>
              </a:stretch>
            </a:blipFill>
          </p:spPr>
        </p:sp>
        <p:sp>
          <p:nvSpPr>
            <p:cNvPr name="TextBox 37" id="37"/>
            <p:cNvSpPr txBox="true"/>
            <p:nvPr/>
          </p:nvSpPr>
          <p:spPr>
            <a:xfrm>
              <a:off x="0" y="-38100"/>
              <a:ext cx="5120640" cy="1013460"/>
            </a:xfrm>
            <a:prstGeom prst="rect">
              <a:avLst/>
            </a:prstGeom>
          </p:spPr>
          <p:txBody>
            <a:bodyPr anchor="ctr" rtlCol="false" tIns="0" lIns="0" bIns="0" rIns="0"/>
            <a:lstStyle/>
            <a:p>
              <a:pPr algn="ctr">
                <a:lnSpc>
                  <a:spcPts val="2400"/>
                </a:lnSpc>
              </a:pPr>
              <a:r>
                <a:rPr lang="en-US" sz="2000">
                  <a:solidFill>
                    <a:srgbClr val="6B8BAA"/>
                  </a:solidFill>
                  <a:latin typeface="Calibri (MS)"/>
                  <a:ea typeface="Calibri (MS)"/>
                  <a:cs typeface="Calibri (MS)"/>
                  <a:sym typeface="Calibri (MS)"/>
                </a:rPr>
                <a:t>Variables disponibles</a:t>
              </a:r>
            </a:p>
          </p:txBody>
        </p:sp>
      </p:grpSp>
      <p:grpSp>
        <p:nvGrpSpPr>
          <p:cNvPr name="Group 38" id="38"/>
          <p:cNvGrpSpPr/>
          <p:nvPr/>
        </p:nvGrpSpPr>
        <p:grpSpPr>
          <a:xfrm rot="0">
            <a:off x="9034272" y="3867380"/>
            <a:ext cx="3853177" cy="2115817"/>
            <a:chOff x="0" y="0"/>
            <a:chExt cx="5137569" cy="2821089"/>
          </a:xfrm>
        </p:grpSpPr>
        <p:sp>
          <p:nvSpPr>
            <p:cNvPr name="Freeform 39" id="39"/>
            <p:cNvSpPr/>
            <p:nvPr/>
          </p:nvSpPr>
          <p:spPr>
            <a:xfrm flipH="false" flipV="false" rot="0">
              <a:off x="8509" y="8509"/>
              <a:ext cx="5120640" cy="2804160"/>
            </a:xfrm>
            <a:custGeom>
              <a:avLst/>
              <a:gdLst/>
              <a:ahLst/>
              <a:cxnLst/>
              <a:rect r="r" b="b" t="t" l="l"/>
              <a:pathLst>
                <a:path h="2804160" w="5120640">
                  <a:moveTo>
                    <a:pt x="0" y="0"/>
                  </a:moveTo>
                  <a:lnTo>
                    <a:pt x="5120640" y="0"/>
                  </a:lnTo>
                  <a:lnTo>
                    <a:pt x="5120640" y="2804160"/>
                  </a:lnTo>
                  <a:lnTo>
                    <a:pt x="0" y="2804160"/>
                  </a:lnTo>
                  <a:close/>
                </a:path>
              </a:pathLst>
            </a:custGeom>
            <a:solidFill>
              <a:srgbClr val="0D1E35"/>
            </a:solidFill>
          </p:spPr>
        </p:sp>
        <p:sp>
          <p:nvSpPr>
            <p:cNvPr name="Freeform 40" id="40"/>
            <p:cNvSpPr/>
            <p:nvPr/>
          </p:nvSpPr>
          <p:spPr>
            <a:xfrm flipH="false" flipV="false" rot="0">
              <a:off x="0" y="0"/>
              <a:ext cx="5137658" cy="2821178"/>
            </a:xfrm>
            <a:custGeom>
              <a:avLst/>
              <a:gdLst/>
              <a:ahLst/>
              <a:cxnLst/>
              <a:rect r="r" b="b" t="t" l="l"/>
              <a:pathLst>
                <a:path h="2821178" w="5137658">
                  <a:moveTo>
                    <a:pt x="8509" y="0"/>
                  </a:moveTo>
                  <a:lnTo>
                    <a:pt x="5129149" y="0"/>
                  </a:lnTo>
                  <a:cubicBezTo>
                    <a:pt x="5133848" y="0"/>
                    <a:pt x="5137658" y="3810"/>
                    <a:pt x="5137658" y="8509"/>
                  </a:cubicBezTo>
                  <a:lnTo>
                    <a:pt x="5137658" y="2812669"/>
                  </a:lnTo>
                  <a:cubicBezTo>
                    <a:pt x="5137658" y="2817368"/>
                    <a:pt x="5133848" y="2821178"/>
                    <a:pt x="512914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5129149" y="2804160"/>
                  </a:lnTo>
                  <a:lnTo>
                    <a:pt x="5129149" y="2812669"/>
                  </a:lnTo>
                  <a:lnTo>
                    <a:pt x="5120640" y="2812669"/>
                  </a:lnTo>
                  <a:lnTo>
                    <a:pt x="5120640" y="8509"/>
                  </a:lnTo>
                  <a:lnTo>
                    <a:pt x="5129149" y="8509"/>
                  </a:lnTo>
                  <a:lnTo>
                    <a:pt x="5129149" y="17018"/>
                  </a:lnTo>
                  <a:lnTo>
                    <a:pt x="8509" y="17018"/>
                  </a:lnTo>
                  <a:close/>
                </a:path>
              </a:pathLst>
            </a:custGeom>
            <a:solidFill>
              <a:srgbClr val="1E3352"/>
            </a:solidFill>
          </p:spPr>
        </p:sp>
      </p:grpSp>
      <p:grpSp>
        <p:nvGrpSpPr>
          <p:cNvPr name="Group 41" id="41"/>
          <p:cNvGrpSpPr/>
          <p:nvPr/>
        </p:nvGrpSpPr>
        <p:grpSpPr>
          <a:xfrm rot="0">
            <a:off x="9027928" y="5854428"/>
            <a:ext cx="3865883" cy="135131"/>
            <a:chOff x="0" y="0"/>
            <a:chExt cx="5154511" cy="180175"/>
          </a:xfrm>
        </p:grpSpPr>
        <p:sp>
          <p:nvSpPr>
            <p:cNvPr name="Freeform 42" id="42"/>
            <p:cNvSpPr/>
            <p:nvPr/>
          </p:nvSpPr>
          <p:spPr>
            <a:xfrm flipH="false" flipV="false" rot="0">
              <a:off x="16891" y="16891"/>
              <a:ext cx="5120640" cy="146304"/>
            </a:xfrm>
            <a:custGeom>
              <a:avLst/>
              <a:gdLst/>
              <a:ahLst/>
              <a:cxnLst/>
              <a:rect r="r" b="b" t="t" l="l"/>
              <a:pathLst>
                <a:path h="146304" w="5120640">
                  <a:moveTo>
                    <a:pt x="0" y="0"/>
                  </a:moveTo>
                  <a:lnTo>
                    <a:pt x="5120640" y="0"/>
                  </a:lnTo>
                  <a:lnTo>
                    <a:pt x="5120640" y="146304"/>
                  </a:lnTo>
                  <a:lnTo>
                    <a:pt x="0" y="146304"/>
                  </a:lnTo>
                  <a:close/>
                </a:path>
              </a:pathLst>
            </a:custGeom>
            <a:solidFill>
              <a:srgbClr val="FF4D6A"/>
            </a:solidFill>
          </p:spPr>
        </p:sp>
        <p:sp>
          <p:nvSpPr>
            <p:cNvPr name="Freeform 43" id="43"/>
            <p:cNvSpPr/>
            <p:nvPr/>
          </p:nvSpPr>
          <p:spPr>
            <a:xfrm flipH="false" flipV="false" rot="0">
              <a:off x="0" y="0"/>
              <a:ext cx="5154422" cy="180088"/>
            </a:xfrm>
            <a:custGeom>
              <a:avLst/>
              <a:gdLst/>
              <a:ahLst/>
              <a:cxnLst/>
              <a:rect r="r" b="b" t="t" l="l"/>
              <a:pathLst>
                <a:path h="180088" w="5154422">
                  <a:moveTo>
                    <a:pt x="16891" y="0"/>
                  </a:moveTo>
                  <a:lnTo>
                    <a:pt x="5137531" y="0"/>
                  </a:lnTo>
                  <a:cubicBezTo>
                    <a:pt x="5146929" y="0"/>
                    <a:pt x="5154422" y="7620"/>
                    <a:pt x="5154422" y="16891"/>
                  </a:cubicBezTo>
                  <a:lnTo>
                    <a:pt x="5154422" y="163195"/>
                  </a:lnTo>
                  <a:cubicBezTo>
                    <a:pt x="5154422" y="172593"/>
                    <a:pt x="5146802" y="180086"/>
                    <a:pt x="513753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5137531" y="146304"/>
                  </a:lnTo>
                  <a:lnTo>
                    <a:pt x="5137531" y="163195"/>
                  </a:lnTo>
                  <a:lnTo>
                    <a:pt x="5120640" y="163195"/>
                  </a:lnTo>
                  <a:lnTo>
                    <a:pt x="5120640" y="16891"/>
                  </a:lnTo>
                  <a:lnTo>
                    <a:pt x="5137531" y="16891"/>
                  </a:lnTo>
                  <a:lnTo>
                    <a:pt x="5137531" y="33909"/>
                  </a:lnTo>
                  <a:lnTo>
                    <a:pt x="16891" y="33909"/>
                  </a:lnTo>
                  <a:close/>
                </a:path>
              </a:pathLst>
            </a:custGeom>
            <a:solidFill>
              <a:srgbClr val="FF4D6A"/>
            </a:solidFill>
          </p:spPr>
        </p:sp>
      </p:grpSp>
      <p:grpSp>
        <p:nvGrpSpPr>
          <p:cNvPr name="Group 44" id="44"/>
          <p:cNvGrpSpPr/>
          <p:nvPr/>
        </p:nvGrpSpPr>
        <p:grpSpPr>
          <a:xfrm rot="0">
            <a:off x="9040625" y="3965173"/>
            <a:ext cx="3840480" cy="1097280"/>
            <a:chOff x="0" y="0"/>
            <a:chExt cx="5120640" cy="1463040"/>
          </a:xfrm>
        </p:grpSpPr>
        <p:sp>
          <p:nvSpPr>
            <p:cNvPr name="Freeform 45" id="45"/>
            <p:cNvSpPr/>
            <p:nvPr/>
          </p:nvSpPr>
          <p:spPr>
            <a:xfrm flipH="false" flipV="false" rot="0">
              <a:off x="0" y="0"/>
              <a:ext cx="5120640" cy="1463040"/>
            </a:xfrm>
            <a:custGeom>
              <a:avLst/>
              <a:gdLst/>
              <a:ahLst/>
              <a:cxnLst/>
              <a:rect r="r" b="b" t="t" l="l"/>
              <a:pathLst>
                <a:path h="1463040" w="5120640">
                  <a:moveTo>
                    <a:pt x="0" y="0"/>
                  </a:moveTo>
                  <a:lnTo>
                    <a:pt x="5120640" y="0"/>
                  </a:lnTo>
                  <a:lnTo>
                    <a:pt x="5120640" y="1463040"/>
                  </a:lnTo>
                  <a:lnTo>
                    <a:pt x="0" y="1463040"/>
                  </a:lnTo>
                  <a:close/>
                </a:path>
              </a:pathLst>
            </a:custGeom>
            <a:blipFill>
              <a:blip r:embed="rId3">
                <a:alphaModFix amt="0"/>
              </a:blip>
              <a:stretch>
                <a:fillRect l="0" t="-18197" r="0" b="-18197"/>
              </a:stretch>
            </a:blipFill>
          </p:spPr>
        </p:sp>
        <p:sp>
          <p:nvSpPr>
            <p:cNvPr name="TextBox 46" id="46"/>
            <p:cNvSpPr txBox="true"/>
            <p:nvPr/>
          </p:nvSpPr>
          <p:spPr>
            <a:xfrm>
              <a:off x="0" y="-123825"/>
              <a:ext cx="5120640" cy="1586865"/>
            </a:xfrm>
            <a:prstGeom prst="rect">
              <a:avLst/>
            </a:prstGeom>
          </p:spPr>
          <p:txBody>
            <a:bodyPr anchor="ctr" rtlCol="false" tIns="0" lIns="0" bIns="0" rIns="0"/>
            <a:lstStyle/>
            <a:p>
              <a:pPr algn="ctr">
                <a:lnSpc>
                  <a:spcPts val="7200"/>
                </a:lnSpc>
              </a:pPr>
              <a:r>
                <a:rPr lang="en-US" sz="6000" b="true">
                  <a:solidFill>
                    <a:srgbClr val="FF4D6A"/>
                  </a:solidFill>
                  <a:latin typeface="Calibri (MS) Bold"/>
                  <a:ea typeface="Calibri (MS) Bold"/>
                  <a:cs typeface="Calibri (MS) Bold"/>
                  <a:sym typeface="Calibri (MS) Bold"/>
                </a:rPr>
                <a:t>~35%</a:t>
              </a:r>
            </a:p>
          </p:txBody>
        </p:sp>
      </p:grpSp>
      <p:grpSp>
        <p:nvGrpSpPr>
          <p:cNvPr name="Group 47" id="47"/>
          <p:cNvGrpSpPr/>
          <p:nvPr/>
        </p:nvGrpSpPr>
        <p:grpSpPr>
          <a:xfrm rot="0">
            <a:off x="9040625" y="5117317"/>
            <a:ext cx="3840480" cy="731520"/>
            <a:chOff x="0" y="0"/>
            <a:chExt cx="5120640" cy="975360"/>
          </a:xfrm>
        </p:grpSpPr>
        <p:sp>
          <p:nvSpPr>
            <p:cNvPr name="Freeform 48" id="48"/>
            <p:cNvSpPr/>
            <p:nvPr/>
          </p:nvSpPr>
          <p:spPr>
            <a:xfrm flipH="false" flipV="false" rot="0">
              <a:off x="0" y="0"/>
              <a:ext cx="5120640" cy="975360"/>
            </a:xfrm>
            <a:custGeom>
              <a:avLst/>
              <a:gdLst/>
              <a:ahLst/>
              <a:cxnLst/>
              <a:rect r="r" b="b" t="t" l="l"/>
              <a:pathLst>
                <a:path h="975360" w="5120640">
                  <a:moveTo>
                    <a:pt x="0" y="0"/>
                  </a:moveTo>
                  <a:lnTo>
                    <a:pt x="5120640" y="0"/>
                  </a:lnTo>
                  <a:lnTo>
                    <a:pt x="5120640" y="975360"/>
                  </a:lnTo>
                  <a:lnTo>
                    <a:pt x="0" y="975360"/>
                  </a:lnTo>
                  <a:close/>
                </a:path>
              </a:pathLst>
            </a:custGeom>
            <a:blipFill>
              <a:blip r:embed="rId3">
                <a:alphaModFix amt="0"/>
              </a:blip>
              <a:stretch>
                <a:fillRect l="0" t="-52296" r="0" b="-52296"/>
              </a:stretch>
            </a:blipFill>
          </p:spPr>
        </p:sp>
        <p:sp>
          <p:nvSpPr>
            <p:cNvPr name="TextBox 49" id="49"/>
            <p:cNvSpPr txBox="true"/>
            <p:nvPr/>
          </p:nvSpPr>
          <p:spPr>
            <a:xfrm>
              <a:off x="0" y="-38100"/>
              <a:ext cx="5120640" cy="1013460"/>
            </a:xfrm>
            <a:prstGeom prst="rect">
              <a:avLst/>
            </a:prstGeom>
          </p:spPr>
          <p:txBody>
            <a:bodyPr anchor="ctr" rtlCol="false" tIns="0" lIns="0" bIns="0" rIns="0"/>
            <a:lstStyle/>
            <a:p>
              <a:pPr algn="ctr">
                <a:lnSpc>
                  <a:spcPts val="2400"/>
                </a:lnSpc>
              </a:pPr>
              <a:r>
                <a:rPr lang="en-US" sz="2000">
                  <a:solidFill>
                    <a:srgbClr val="6B8BAA"/>
                  </a:solidFill>
                  <a:latin typeface="Calibri (MS)"/>
                  <a:ea typeface="Calibri (MS)"/>
                  <a:cs typeface="Calibri (MS)"/>
                  <a:sym typeface="Calibri (MS)"/>
                </a:rPr>
                <a:t>Taux de churn réel</a:t>
              </a:r>
            </a:p>
          </p:txBody>
        </p:sp>
      </p:grpSp>
      <p:grpSp>
        <p:nvGrpSpPr>
          <p:cNvPr name="Group 50" id="50"/>
          <p:cNvGrpSpPr/>
          <p:nvPr/>
        </p:nvGrpSpPr>
        <p:grpSpPr>
          <a:xfrm rot="0">
            <a:off x="13094208" y="3867380"/>
            <a:ext cx="3853177" cy="2115817"/>
            <a:chOff x="0" y="0"/>
            <a:chExt cx="5137569" cy="2821089"/>
          </a:xfrm>
        </p:grpSpPr>
        <p:sp>
          <p:nvSpPr>
            <p:cNvPr name="Freeform 51" id="51"/>
            <p:cNvSpPr/>
            <p:nvPr/>
          </p:nvSpPr>
          <p:spPr>
            <a:xfrm flipH="false" flipV="false" rot="0">
              <a:off x="8509" y="8509"/>
              <a:ext cx="5120640" cy="2804160"/>
            </a:xfrm>
            <a:custGeom>
              <a:avLst/>
              <a:gdLst/>
              <a:ahLst/>
              <a:cxnLst/>
              <a:rect r="r" b="b" t="t" l="l"/>
              <a:pathLst>
                <a:path h="2804160" w="5120640">
                  <a:moveTo>
                    <a:pt x="0" y="0"/>
                  </a:moveTo>
                  <a:lnTo>
                    <a:pt x="5120640" y="0"/>
                  </a:lnTo>
                  <a:lnTo>
                    <a:pt x="5120640" y="2804160"/>
                  </a:lnTo>
                  <a:lnTo>
                    <a:pt x="0" y="2804160"/>
                  </a:lnTo>
                  <a:close/>
                </a:path>
              </a:pathLst>
            </a:custGeom>
            <a:solidFill>
              <a:srgbClr val="0D1E35"/>
            </a:solidFill>
          </p:spPr>
        </p:sp>
        <p:sp>
          <p:nvSpPr>
            <p:cNvPr name="Freeform 52" id="52"/>
            <p:cNvSpPr/>
            <p:nvPr/>
          </p:nvSpPr>
          <p:spPr>
            <a:xfrm flipH="false" flipV="false" rot="0">
              <a:off x="0" y="0"/>
              <a:ext cx="5137658" cy="2821178"/>
            </a:xfrm>
            <a:custGeom>
              <a:avLst/>
              <a:gdLst/>
              <a:ahLst/>
              <a:cxnLst/>
              <a:rect r="r" b="b" t="t" l="l"/>
              <a:pathLst>
                <a:path h="2821178" w="5137658">
                  <a:moveTo>
                    <a:pt x="8509" y="0"/>
                  </a:moveTo>
                  <a:lnTo>
                    <a:pt x="5129149" y="0"/>
                  </a:lnTo>
                  <a:cubicBezTo>
                    <a:pt x="5133848" y="0"/>
                    <a:pt x="5137658" y="3810"/>
                    <a:pt x="5137658" y="8509"/>
                  </a:cubicBezTo>
                  <a:lnTo>
                    <a:pt x="5137658" y="2812669"/>
                  </a:lnTo>
                  <a:cubicBezTo>
                    <a:pt x="5137658" y="2817368"/>
                    <a:pt x="5133848" y="2821178"/>
                    <a:pt x="512914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5129149" y="2804160"/>
                  </a:lnTo>
                  <a:lnTo>
                    <a:pt x="5129149" y="2812669"/>
                  </a:lnTo>
                  <a:lnTo>
                    <a:pt x="5120640" y="2812669"/>
                  </a:lnTo>
                  <a:lnTo>
                    <a:pt x="5120640" y="8509"/>
                  </a:lnTo>
                  <a:lnTo>
                    <a:pt x="5129149" y="8509"/>
                  </a:lnTo>
                  <a:lnTo>
                    <a:pt x="5129149" y="17018"/>
                  </a:lnTo>
                  <a:lnTo>
                    <a:pt x="8509" y="17018"/>
                  </a:lnTo>
                  <a:close/>
                </a:path>
              </a:pathLst>
            </a:custGeom>
            <a:solidFill>
              <a:srgbClr val="1E3352"/>
            </a:solidFill>
          </p:spPr>
        </p:sp>
      </p:grpSp>
      <p:grpSp>
        <p:nvGrpSpPr>
          <p:cNvPr name="Group 53" id="53"/>
          <p:cNvGrpSpPr/>
          <p:nvPr/>
        </p:nvGrpSpPr>
        <p:grpSpPr>
          <a:xfrm rot="0">
            <a:off x="13087864" y="5854428"/>
            <a:ext cx="3865883" cy="135131"/>
            <a:chOff x="0" y="0"/>
            <a:chExt cx="5154511" cy="180175"/>
          </a:xfrm>
        </p:grpSpPr>
        <p:sp>
          <p:nvSpPr>
            <p:cNvPr name="Freeform 54" id="54"/>
            <p:cNvSpPr/>
            <p:nvPr/>
          </p:nvSpPr>
          <p:spPr>
            <a:xfrm flipH="false" flipV="false" rot="0">
              <a:off x="16891" y="16891"/>
              <a:ext cx="5120640" cy="146304"/>
            </a:xfrm>
            <a:custGeom>
              <a:avLst/>
              <a:gdLst/>
              <a:ahLst/>
              <a:cxnLst/>
              <a:rect r="r" b="b" t="t" l="l"/>
              <a:pathLst>
                <a:path h="146304" w="5120640">
                  <a:moveTo>
                    <a:pt x="0" y="0"/>
                  </a:moveTo>
                  <a:lnTo>
                    <a:pt x="5120640" y="0"/>
                  </a:lnTo>
                  <a:lnTo>
                    <a:pt x="5120640" y="146304"/>
                  </a:lnTo>
                  <a:lnTo>
                    <a:pt x="0" y="146304"/>
                  </a:lnTo>
                  <a:close/>
                </a:path>
              </a:pathLst>
            </a:custGeom>
            <a:solidFill>
              <a:srgbClr val="FFB800"/>
            </a:solidFill>
          </p:spPr>
        </p:sp>
        <p:sp>
          <p:nvSpPr>
            <p:cNvPr name="Freeform 55" id="55"/>
            <p:cNvSpPr/>
            <p:nvPr/>
          </p:nvSpPr>
          <p:spPr>
            <a:xfrm flipH="false" flipV="false" rot="0">
              <a:off x="0" y="0"/>
              <a:ext cx="5154422" cy="180088"/>
            </a:xfrm>
            <a:custGeom>
              <a:avLst/>
              <a:gdLst/>
              <a:ahLst/>
              <a:cxnLst/>
              <a:rect r="r" b="b" t="t" l="l"/>
              <a:pathLst>
                <a:path h="180088" w="5154422">
                  <a:moveTo>
                    <a:pt x="16891" y="0"/>
                  </a:moveTo>
                  <a:lnTo>
                    <a:pt x="5137531" y="0"/>
                  </a:lnTo>
                  <a:cubicBezTo>
                    <a:pt x="5146929" y="0"/>
                    <a:pt x="5154422" y="7620"/>
                    <a:pt x="5154422" y="16891"/>
                  </a:cubicBezTo>
                  <a:lnTo>
                    <a:pt x="5154422" y="163195"/>
                  </a:lnTo>
                  <a:cubicBezTo>
                    <a:pt x="5154422" y="172593"/>
                    <a:pt x="5146802" y="180086"/>
                    <a:pt x="513753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5137531" y="146304"/>
                  </a:lnTo>
                  <a:lnTo>
                    <a:pt x="5137531" y="163195"/>
                  </a:lnTo>
                  <a:lnTo>
                    <a:pt x="5120640" y="163195"/>
                  </a:lnTo>
                  <a:lnTo>
                    <a:pt x="5120640" y="16891"/>
                  </a:lnTo>
                  <a:lnTo>
                    <a:pt x="5137531" y="16891"/>
                  </a:lnTo>
                  <a:lnTo>
                    <a:pt x="5137531" y="33909"/>
                  </a:lnTo>
                  <a:lnTo>
                    <a:pt x="16891" y="33909"/>
                  </a:lnTo>
                  <a:close/>
                </a:path>
              </a:pathLst>
            </a:custGeom>
            <a:solidFill>
              <a:srgbClr val="FFB800"/>
            </a:solidFill>
          </p:spPr>
        </p:sp>
      </p:grpSp>
      <p:grpSp>
        <p:nvGrpSpPr>
          <p:cNvPr name="Group 56" id="56"/>
          <p:cNvGrpSpPr/>
          <p:nvPr/>
        </p:nvGrpSpPr>
        <p:grpSpPr>
          <a:xfrm rot="0">
            <a:off x="13100561" y="3965173"/>
            <a:ext cx="3840480" cy="1097280"/>
            <a:chOff x="0" y="0"/>
            <a:chExt cx="5120640" cy="1463040"/>
          </a:xfrm>
        </p:grpSpPr>
        <p:sp>
          <p:nvSpPr>
            <p:cNvPr name="Freeform 57" id="57"/>
            <p:cNvSpPr/>
            <p:nvPr/>
          </p:nvSpPr>
          <p:spPr>
            <a:xfrm flipH="false" flipV="false" rot="0">
              <a:off x="0" y="0"/>
              <a:ext cx="5120640" cy="1463040"/>
            </a:xfrm>
            <a:custGeom>
              <a:avLst/>
              <a:gdLst/>
              <a:ahLst/>
              <a:cxnLst/>
              <a:rect r="r" b="b" t="t" l="l"/>
              <a:pathLst>
                <a:path h="1463040" w="5120640">
                  <a:moveTo>
                    <a:pt x="0" y="0"/>
                  </a:moveTo>
                  <a:lnTo>
                    <a:pt x="5120640" y="0"/>
                  </a:lnTo>
                  <a:lnTo>
                    <a:pt x="5120640" y="1463040"/>
                  </a:lnTo>
                  <a:lnTo>
                    <a:pt x="0" y="1463040"/>
                  </a:lnTo>
                  <a:close/>
                </a:path>
              </a:pathLst>
            </a:custGeom>
            <a:blipFill>
              <a:blip r:embed="rId3">
                <a:alphaModFix amt="0"/>
              </a:blip>
              <a:stretch>
                <a:fillRect l="0" t="-18197" r="0" b="-18197"/>
              </a:stretch>
            </a:blipFill>
          </p:spPr>
        </p:sp>
        <p:sp>
          <p:nvSpPr>
            <p:cNvPr name="TextBox 58" id="58"/>
            <p:cNvSpPr txBox="true"/>
            <p:nvPr/>
          </p:nvSpPr>
          <p:spPr>
            <a:xfrm>
              <a:off x="0" y="-123825"/>
              <a:ext cx="5120640" cy="1586865"/>
            </a:xfrm>
            <a:prstGeom prst="rect">
              <a:avLst/>
            </a:prstGeom>
          </p:spPr>
          <p:txBody>
            <a:bodyPr anchor="ctr" rtlCol="false" tIns="0" lIns="0" bIns="0" rIns="0"/>
            <a:lstStyle/>
            <a:p>
              <a:pPr algn="ctr">
                <a:lnSpc>
                  <a:spcPts val="7200"/>
                </a:lnSpc>
              </a:pPr>
              <a:r>
                <a:rPr lang="en-US" sz="6000" b="true">
                  <a:solidFill>
                    <a:srgbClr val="FFB800"/>
                  </a:solidFill>
                  <a:latin typeface="Calibri (MS) Bold"/>
                  <a:ea typeface="Calibri (MS) Bold"/>
                  <a:cs typeface="Calibri (MS) Bold"/>
                  <a:sym typeface="Calibri (MS) Bold"/>
                </a:rPr>
                <a:t>2 types</a:t>
              </a:r>
            </a:p>
          </p:txBody>
        </p:sp>
      </p:grpSp>
      <p:grpSp>
        <p:nvGrpSpPr>
          <p:cNvPr name="Group 59" id="59"/>
          <p:cNvGrpSpPr/>
          <p:nvPr/>
        </p:nvGrpSpPr>
        <p:grpSpPr>
          <a:xfrm rot="0">
            <a:off x="13100561" y="5117317"/>
            <a:ext cx="3840480" cy="731520"/>
            <a:chOff x="0" y="0"/>
            <a:chExt cx="5120640" cy="975360"/>
          </a:xfrm>
        </p:grpSpPr>
        <p:sp>
          <p:nvSpPr>
            <p:cNvPr name="Freeform 60" id="60"/>
            <p:cNvSpPr/>
            <p:nvPr/>
          </p:nvSpPr>
          <p:spPr>
            <a:xfrm flipH="false" flipV="false" rot="0">
              <a:off x="0" y="0"/>
              <a:ext cx="5120640" cy="975360"/>
            </a:xfrm>
            <a:custGeom>
              <a:avLst/>
              <a:gdLst/>
              <a:ahLst/>
              <a:cxnLst/>
              <a:rect r="r" b="b" t="t" l="l"/>
              <a:pathLst>
                <a:path h="975360" w="5120640">
                  <a:moveTo>
                    <a:pt x="0" y="0"/>
                  </a:moveTo>
                  <a:lnTo>
                    <a:pt x="5120640" y="0"/>
                  </a:lnTo>
                  <a:lnTo>
                    <a:pt x="5120640" y="975360"/>
                  </a:lnTo>
                  <a:lnTo>
                    <a:pt x="0" y="975360"/>
                  </a:lnTo>
                  <a:close/>
                </a:path>
              </a:pathLst>
            </a:custGeom>
            <a:blipFill>
              <a:blip r:embed="rId3">
                <a:alphaModFix amt="0"/>
              </a:blip>
              <a:stretch>
                <a:fillRect l="0" t="-52296" r="0" b="-52296"/>
              </a:stretch>
            </a:blipFill>
          </p:spPr>
        </p:sp>
        <p:sp>
          <p:nvSpPr>
            <p:cNvPr name="TextBox 61" id="61"/>
            <p:cNvSpPr txBox="true"/>
            <p:nvPr/>
          </p:nvSpPr>
          <p:spPr>
            <a:xfrm>
              <a:off x="0" y="-38100"/>
              <a:ext cx="5120640" cy="1013460"/>
            </a:xfrm>
            <a:prstGeom prst="rect">
              <a:avLst/>
            </a:prstGeom>
          </p:spPr>
          <p:txBody>
            <a:bodyPr anchor="ctr" rtlCol="false" tIns="0" lIns="0" bIns="0" rIns="0"/>
            <a:lstStyle/>
            <a:p>
              <a:pPr algn="ctr">
                <a:lnSpc>
                  <a:spcPts val="2400"/>
                </a:lnSpc>
              </a:pPr>
              <a:r>
                <a:rPr lang="en-US" sz="2000">
                  <a:solidFill>
                    <a:srgbClr val="6B8BAA"/>
                  </a:solidFill>
                  <a:latin typeface="Calibri (MS)"/>
                  <a:ea typeface="Calibri (MS)"/>
                  <a:cs typeface="Calibri (MS)"/>
                  <a:sym typeface="Calibri (MS)"/>
                </a:rPr>
                <a:t>Numériques &amp; Catégorielles</a:t>
              </a:r>
            </a:p>
          </p:txBody>
        </p:sp>
      </p:grpSp>
      <p:grpSp>
        <p:nvGrpSpPr>
          <p:cNvPr name="Group 62" id="62"/>
          <p:cNvGrpSpPr/>
          <p:nvPr/>
        </p:nvGrpSpPr>
        <p:grpSpPr>
          <a:xfrm rot="0">
            <a:off x="914400" y="6372836"/>
            <a:ext cx="8059417" cy="4859017"/>
            <a:chOff x="0" y="0"/>
            <a:chExt cx="10745889" cy="6478689"/>
          </a:xfrm>
        </p:grpSpPr>
        <p:sp>
          <p:nvSpPr>
            <p:cNvPr name="Freeform 63" id="63"/>
            <p:cNvSpPr/>
            <p:nvPr/>
          </p:nvSpPr>
          <p:spPr>
            <a:xfrm flipH="false" flipV="false" rot="0">
              <a:off x="8509" y="8509"/>
              <a:ext cx="10728960" cy="6461760"/>
            </a:xfrm>
            <a:custGeom>
              <a:avLst/>
              <a:gdLst/>
              <a:ahLst/>
              <a:cxnLst/>
              <a:rect r="r" b="b" t="t" l="l"/>
              <a:pathLst>
                <a:path h="6461760" w="10728960">
                  <a:moveTo>
                    <a:pt x="0" y="0"/>
                  </a:moveTo>
                  <a:lnTo>
                    <a:pt x="10728960" y="0"/>
                  </a:lnTo>
                  <a:lnTo>
                    <a:pt x="10728960" y="6461760"/>
                  </a:lnTo>
                  <a:lnTo>
                    <a:pt x="0" y="6461760"/>
                  </a:lnTo>
                  <a:close/>
                </a:path>
              </a:pathLst>
            </a:custGeom>
            <a:solidFill>
              <a:srgbClr val="0D1E35"/>
            </a:solidFill>
          </p:spPr>
        </p:sp>
        <p:sp>
          <p:nvSpPr>
            <p:cNvPr name="Freeform 64" id="64"/>
            <p:cNvSpPr/>
            <p:nvPr/>
          </p:nvSpPr>
          <p:spPr>
            <a:xfrm flipH="false" flipV="false" rot="0">
              <a:off x="0" y="0"/>
              <a:ext cx="10745978" cy="6478778"/>
            </a:xfrm>
            <a:custGeom>
              <a:avLst/>
              <a:gdLst/>
              <a:ahLst/>
              <a:cxnLst/>
              <a:rect r="r" b="b" t="t" l="l"/>
              <a:pathLst>
                <a:path h="6478778" w="10745978">
                  <a:moveTo>
                    <a:pt x="8509" y="0"/>
                  </a:moveTo>
                  <a:lnTo>
                    <a:pt x="10737469" y="0"/>
                  </a:lnTo>
                  <a:cubicBezTo>
                    <a:pt x="10742168" y="0"/>
                    <a:pt x="10745978" y="3810"/>
                    <a:pt x="10745978" y="8509"/>
                  </a:cubicBezTo>
                  <a:lnTo>
                    <a:pt x="10745978" y="6470269"/>
                  </a:lnTo>
                  <a:cubicBezTo>
                    <a:pt x="10745978" y="6474968"/>
                    <a:pt x="10742168" y="6478778"/>
                    <a:pt x="10737469" y="6478778"/>
                  </a:cubicBezTo>
                  <a:lnTo>
                    <a:pt x="8509" y="6478778"/>
                  </a:lnTo>
                  <a:cubicBezTo>
                    <a:pt x="3810" y="6478778"/>
                    <a:pt x="0" y="6474968"/>
                    <a:pt x="0" y="6470269"/>
                  </a:cubicBezTo>
                  <a:lnTo>
                    <a:pt x="0" y="8509"/>
                  </a:lnTo>
                  <a:cubicBezTo>
                    <a:pt x="0" y="3810"/>
                    <a:pt x="3810" y="0"/>
                    <a:pt x="8509" y="0"/>
                  </a:cubicBezTo>
                  <a:moveTo>
                    <a:pt x="8509" y="16891"/>
                  </a:moveTo>
                  <a:lnTo>
                    <a:pt x="8509" y="8509"/>
                  </a:lnTo>
                  <a:lnTo>
                    <a:pt x="17018" y="8509"/>
                  </a:lnTo>
                  <a:lnTo>
                    <a:pt x="17018" y="6470269"/>
                  </a:lnTo>
                  <a:lnTo>
                    <a:pt x="8509" y="6470269"/>
                  </a:lnTo>
                  <a:lnTo>
                    <a:pt x="8509" y="6461760"/>
                  </a:lnTo>
                  <a:lnTo>
                    <a:pt x="10737469" y="6461760"/>
                  </a:lnTo>
                  <a:lnTo>
                    <a:pt x="10737469" y="6470269"/>
                  </a:lnTo>
                  <a:lnTo>
                    <a:pt x="10728960" y="6470269"/>
                  </a:lnTo>
                  <a:lnTo>
                    <a:pt x="10728960" y="8509"/>
                  </a:lnTo>
                  <a:lnTo>
                    <a:pt x="10737469" y="8509"/>
                  </a:lnTo>
                  <a:lnTo>
                    <a:pt x="10737469" y="17018"/>
                  </a:lnTo>
                  <a:lnTo>
                    <a:pt x="8509" y="17018"/>
                  </a:lnTo>
                  <a:close/>
                </a:path>
              </a:pathLst>
            </a:custGeom>
            <a:solidFill>
              <a:srgbClr val="1E3352"/>
            </a:solidFill>
          </p:spPr>
        </p:sp>
      </p:grpSp>
      <p:grpSp>
        <p:nvGrpSpPr>
          <p:cNvPr name="Group 65" id="65"/>
          <p:cNvGrpSpPr/>
          <p:nvPr/>
        </p:nvGrpSpPr>
        <p:grpSpPr>
          <a:xfrm rot="0">
            <a:off x="1286513" y="6616933"/>
            <a:ext cx="7315200" cy="640080"/>
            <a:chOff x="0" y="0"/>
            <a:chExt cx="9753600" cy="853440"/>
          </a:xfrm>
        </p:grpSpPr>
        <p:sp>
          <p:nvSpPr>
            <p:cNvPr name="Freeform 66" id="66"/>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67" id="67"/>
            <p:cNvSpPr txBox="true"/>
            <p:nvPr/>
          </p:nvSpPr>
          <p:spPr>
            <a:xfrm>
              <a:off x="0" y="-57150"/>
              <a:ext cx="9753600" cy="910590"/>
            </a:xfrm>
            <a:prstGeom prst="rect">
              <a:avLst/>
            </a:prstGeom>
          </p:spPr>
          <p:txBody>
            <a:bodyPr anchor="ctr" rtlCol="false" tIns="0" lIns="0" bIns="0" rIns="0"/>
            <a:lstStyle/>
            <a:p>
              <a:pPr algn="l">
                <a:lnSpc>
                  <a:spcPts val="3120"/>
                </a:lnSpc>
              </a:pPr>
              <a:r>
                <a:rPr lang="en-US" sz="2600" b="true">
                  <a:solidFill>
                    <a:srgbClr val="1A8FFF"/>
                  </a:solidFill>
                  <a:latin typeface="Calibri (MS) Bold"/>
                  <a:ea typeface="Calibri (MS) Bold"/>
                  <a:cs typeface="Calibri (MS) Bold"/>
                  <a:sym typeface="Calibri (MS) Bold"/>
                </a:rPr>
                <a:t>Variables Numériques</a:t>
              </a:r>
            </a:p>
          </p:txBody>
        </p:sp>
      </p:grpSp>
      <p:sp>
        <p:nvSpPr>
          <p:cNvPr name="TextBox 68" id="68"/>
          <p:cNvSpPr txBox="true"/>
          <p:nvPr/>
        </p:nvSpPr>
        <p:spPr>
          <a:xfrm rot="0">
            <a:off x="1377953" y="7196434"/>
            <a:ext cx="7132320" cy="1755569"/>
          </a:xfrm>
          <a:prstGeom prst="rect">
            <a:avLst/>
          </a:prstGeom>
        </p:spPr>
        <p:txBody>
          <a:bodyPr anchor="t" rtlCol="false" tIns="0" lIns="0" bIns="0" rIns="0">
            <a:spAutoFit/>
          </a:bodyPr>
          <a:lstStyle/>
          <a:p>
            <a:pPr algn="l" marL="482600" indent="-241300" lvl="1">
              <a:lnSpc>
                <a:spcPts val="3500"/>
              </a:lnSpc>
              <a:buFont typeface="Arial"/>
              <a:buChar char="•"/>
            </a:pPr>
            <a:r>
              <a:rPr lang="en-US" sz="2000">
                <a:solidFill>
                  <a:srgbClr val="E2EDF5"/>
                </a:solidFill>
                <a:latin typeface="Calibri (MS)"/>
                <a:ea typeface="Calibri (MS)"/>
                <a:cs typeface="Calibri (MS)"/>
                <a:sym typeface="Calibri (MS)"/>
              </a:rPr>
              <a:t>Recency, Frequency, MonetaryTotal</a:t>
            </a:r>
          </a:p>
          <a:p>
            <a:pPr algn="l" marL="482600" indent="-241300" lvl="1">
              <a:lnSpc>
                <a:spcPts val="3500"/>
              </a:lnSpc>
              <a:buFont typeface="Arial"/>
              <a:buChar char="•"/>
            </a:pPr>
            <a:r>
              <a:rPr lang="en-US" sz="2000">
                <a:solidFill>
                  <a:srgbClr val="E2EDF5"/>
                </a:solidFill>
                <a:latin typeface="Calibri (MS)"/>
                <a:ea typeface="Calibri (MS)"/>
                <a:cs typeface="Calibri (MS)"/>
                <a:sym typeface="Calibri (MS)"/>
              </a:rPr>
              <a:t>Age, CustomerTenureDays, SatisfactionScore</a:t>
            </a:r>
          </a:p>
          <a:p>
            <a:pPr algn="l" marL="482600" indent="-241300" lvl="1">
              <a:lnSpc>
                <a:spcPts val="3500"/>
              </a:lnSpc>
              <a:buFont typeface="Arial"/>
              <a:buChar char="•"/>
            </a:pPr>
            <a:r>
              <a:rPr lang="en-US" sz="2000">
                <a:solidFill>
                  <a:srgbClr val="E2EDF5"/>
                </a:solidFill>
                <a:latin typeface="Calibri (MS)"/>
                <a:ea typeface="Calibri (MS)"/>
                <a:cs typeface="Calibri (MS)"/>
                <a:sym typeface="Calibri (MS)"/>
              </a:rPr>
              <a:t>ReturnRatio, WeekendPurchaseRatio</a:t>
            </a:r>
          </a:p>
          <a:p>
            <a:pPr algn="l" marL="482600" indent="-241300" lvl="1">
              <a:lnSpc>
                <a:spcPts val="3500"/>
              </a:lnSpc>
              <a:buFont typeface="Arial"/>
              <a:buChar char="•"/>
            </a:pPr>
            <a:r>
              <a:rPr lang="en-US" sz="2000">
                <a:solidFill>
                  <a:srgbClr val="E2EDF5"/>
                </a:solidFill>
                <a:latin typeface="Calibri (MS)"/>
                <a:ea typeface="Calibri (MS)"/>
                <a:cs typeface="Calibri (MS)"/>
                <a:sym typeface="Calibri (MS)"/>
              </a:rPr>
              <a:t>UniqueProducts, CancelledTransactions</a:t>
            </a:r>
          </a:p>
        </p:txBody>
      </p:sp>
      <p:grpSp>
        <p:nvGrpSpPr>
          <p:cNvPr name="Group 69" id="69"/>
          <p:cNvGrpSpPr/>
          <p:nvPr/>
        </p:nvGrpSpPr>
        <p:grpSpPr>
          <a:xfrm rot="0">
            <a:off x="9326880" y="6372836"/>
            <a:ext cx="8059417" cy="4859017"/>
            <a:chOff x="0" y="0"/>
            <a:chExt cx="10745889" cy="6478689"/>
          </a:xfrm>
        </p:grpSpPr>
        <p:sp>
          <p:nvSpPr>
            <p:cNvPr name="Freeform 70" id="70"/>
            <p:cNvSpPr/>
            <p:nvPr/>
          </p:nvSpPr>
          <p:spPr>
            <a:xfrm flipH="false" flipV="false" rot="0">
              <a:off x="8509" y="8509"/>
              <a:ext cx="10728960" cy="6461760"/>
            </a:xfrm>
            <a:custGeom>
              <a:avLst/>
              <a:gdLst/>
              <a:ahLst/>
              <a:cxnLst/>
              <a:rect r="r" b="b" t="t" l="l"/>
              <a:pathLst>
                <a:path h="6461760" w="10728960">
                  <a:moveTo>
                    <a:pt x="0" y="0"/>
                  </a:moveTo>
                  <a:lnTo>
                    <a:pt x="10728960" y="0"/>
                  </a:lnTo>
                  <a:lnTo>
                    <a:pt x="10728960" y="6461760"/>
                  </a:lnTo>
                  <a:lnTo>
                    <a:pt x="0" y="6461760"/>
                  </a:lnTo>
                  <a:close/>
                </a:path>
              </a:pathLst>
            </a:custGeom>
            <a:solidFill>
              <a:srgbClr val="0D1E35"/>
            </a:solidFill>
          </p:spPr>
        </p:sp>
        <p:sp>
          <p:nvSpPr>
            <p:cNvPr name="Freeform 71" id="71"/>
            <p:cNvSpPr/>
            <p:nvPr/>
          </p:nvSpPr>
          <p:spPr>
            <a:xfrm flipH="false" flipV="false" rot="0">
              <a:off x="0" y="0"/>
              <a:ext cx="10745978" cy="6478778"/>
            </a:xfrm>
            <a:custGeom>
              <a:avLst/>
              <a:gdLst/>
              <a:ahLst/>
              <a:cxnLst/>
              <a:rect r="r" b="b" t="t" l="l"/>
              <a:pathLst>
                <a:path h="6478778" w="10745978">
                  <a:moveTo>
                    <a:pt x="8509" y="0"/>
                  </a:moveTo>
                  <a:lnTo>
                    <a:pt x="10737469" y="0"/>
                  </a:lnTo>
                  <a:cubicBezTo>
                    <a:pt x="10742168" y="0"/>
                    <a:pt x="10745978" y="3810"/>
                    <a:pt x="10745978" y="8509"/>
                  </a:cubicBezTo>
                  <a:lnTo>
                    <a:pt x="10745978" y="6470269"/>
                  </a:lnTo>
                  <a:cubicBezTo>
                    <a:pt x="10745978" y="6474968"/>
                    <a:pt x="10742168" y="6478778"/>
                    <a:pt x="10737469" y="6478778"/>
                  </a:cubicBezTo>
                  <a:lnTo>
                    <a:pt x="8509" y="6478778"/>
                  </a:lnTo>
                  <a:cubicBezTo>
                    <a:pt x="3810" y="6478778"/>
                    <a:pt x="0" y="6474968"/>
                    <a:pt x="0" y="6470269"/>
                  </a:cubicBezTo>
                  <a:lnTo>
                    <a:pt x="0" y="8509"/>
                  </a:lnTo>
                  <a:cubicBezTo>
                    <a:pt x="0" y="3810"/>
                    <a:pt x="3810" y="0"/>
                    <a:pt x="8509" y="0"/>
                  </a:cubicBezTo>
                  <a:moveTo>
                    <a:pt x="8509" y="16891"/>
                  </a:moveTo>
                  <a:lnTo>
                    <a:pt x="8509" y="8509"/>
                  </a:lnTo>
                  <a:lnTo>
                    <a:pt x="17018" y="8509"/>
                  </a:lnTo>
                  <a:lnTo>
                    <a:pt x="17018" y="6470269"/>
                  </a:lnTo>
                  <a:lnTo>
                    <a:pt x="8509" y="6470269"/>
                  </a:lnTo>
                  <a:lnTo>
                    <a:pt x="8509" y="6461760"/>
                  </a:lnTo>
                  <a:lnTo>
                    <a:pt x="10737469" y="6461760"/>
                  </a:lnTo>
                  <a:lnTo>
                    <a:pt x="10737469" y="6470269"/>
                  </a:lnTo>
                  <a:lnTo>
                    <a:pt x="10728960" y="6470269"/>
                  </a:lnTo>
                  <a:lnTo>
                    <a:pt x="10728960" y="8509"/>
                  </a:lnTo>
                  <a:lnTo>
                    <a:pt x="10737469" y="8509"/>
                  </a:lnTo>
                  <a:lnTo>
                    <a:pt x="10737469" y="17018"/>
                  </a:lnTo>
                  <a:lnTo>
                    <a:pt x="8509" y="17018"/>
                  </a:lnTo>
                  <a:close/>
                </a:path>
              </a:pathLst>
            </a:custGeom>
            <a:solidFill>
              <a:srgbClr val="1E3352"/>
            </a:solidFill>
          </p:spPr>
        </p:sp>
      </p:grpSp>
      <p:grpSp>
        <p:nvGrpSpPr>
          <p:cNvPr name="Group 72" id="72"/>
          <p:cNvGrpSpPr/>
          <p:nvPr/>
        </p:nvGrpSpPr>
        <p:grpSpPr>
          <a:xfrm rot="0">
            <a:off x="9698993" y="6616933"/>
            <a:ext cx="7315200" cy="640080"/>
            <a:chOff x="0" y="0"/>
            <a:chExt cx="9753600" cy="853440"/>
          </a:xfrm>
        </p:grpSpPr>
        <p:sp>
          <p:nvSpPr>
            <p:cNvPr name="Freeform 73" id="73"/>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74" id="74"/>
            <p:cNvSpPr txBox="true"/>
            <p:nvPr/>
          </p:nvSpPr>
          <p:spPr>
            <a:xfrm>
              <a:off x="0" y="-57150"/>
              <a:ext cx="9753600" cy="910590"/>
            </a:xfrm>
            <a:prstGeom prst="rect">
              <a:avLst/>
            </a:prstGeom>
          </p:spPr>
          <p:txBody>
            <a:bodyPr anchor="ctr" rtlCol="false" tIns="0" lIns="0" bIns="0" rIns="0"/>
            <a:lstStyle/>
            <a:p>
              <a:pPr algn="l">
                <a:lnSpc>
                  <a:spcPts val="3120"/>
                </a:lnSpc>
              </a:pPr>
              <a:r>
                <a:rPr lang="en-US" sz="2600" b="true">
                  <a:solidFill>
                    <a:srgbClr val="FFB800"/>
                  </a:solidFill>
                  <a:latin typeface="Calibri (MS) Bold"/>
                  <a:ea typeface="Calibri (MS) Bold"/>
                  <a:cs typeface="Calibri (MS) Bold"/>
                  <a:sym typeface="Calibri (MS) Bold"/>
                </a:rPr>
                <a:t>Variables Catégorielles</a:t>
              </a:r>
            </a:p>
          </p:txBody>
        </p:sp>
      </p:grpSp>
      <p:sp>
        <p:nvSpPr>
          <p:cNvPr name="TextBox 75" id="75"/>
          <p:cNvSpPr txBox="true"/>
          <p:nvPr/>
        </p:nvSpPr>
        <p:spPr>
          <a:xfrm rot="0">
            <a:off x="9790433" y="7196434"/>
            <a:ext cx="7132320" cy="1755569"/>
          </a:xfrm>
          <a:prstGeom prst="rect">
            <a:avLst/>
          </a:prstGeom>
        </p:spPr>
        <p:txBody>
          <a:bodyPr anchor="t" rtlCol="false" tIns="0" lIns="0" bIns="0" rIns="0">
            <a:spAutoFit/>
          </a:bodyPr>
          <a:lstStyle/>
          <a:p>
            <a:pPr algn="l" marL="482600" indent="-241300" lvl="1">
              <a:lnSpc>
                <a:spcPts val="3500"/>
              </a:lnSpc>
              <a:buFont typeface="Arial"/>
              <a:buChar char="•"/>
            </a:pPr>
            <a:r>
              <a:rPr lang="en-US" sz="2000">
                <a:solidFill>
                  <a:srgbClr val="E2EDF5"/>
                </a:solidFill>
                <a:latin typeface="Calibri (MS)"/>
                <a:ea typeface="Calibri (MS)"/>
                <a:cs typeface="Calibri (MS)"/>
                <a:sym typeface="Calibri (MS)"/>
              </a:rPr>
              <a:t>RFMSegment, LoyaltyLevel, AgeCategory</a:t>
            </a:r>
          </a:p>
          <a:p>
            <a:pPr algn="l" marL="482600" indent="-241300" lvl="1">
              <a:lnSpc>
                <a:spcPts val="3500"/>
              </a:lnSpc>
              <a:buFont typeface="Arial"/>
              <a:buChar char="•"/>
            </a:pPr>
            <a:r>
              <a:rPr lang="en-US" sz="2000">
                <a:solidFill>
                  <a:srgbClr val="E2EDF5"/>
                </a:solidFill>
                <a:latin typeface="Calibri (MS)"/>
                <a:ea typeface="Calibri (MS)"/>
                <a:cs typeface="Calibri (MS)"/>
                <a:sym typeface="Calibri (MS)"/>
              </a:rPr>
              <a:t>SpendingCategory, CustomerType, Region</a:t>
            </a:r>
          </a:p>
          <a:p>
            <a:pPr algn="l" marL="482600" indent="-241300" lvl="1">
              <a:lnSpc>
                <a:spcPts val="3500"/>
              </a:lnSpc>
              <a:buFont typeface="Arial"/>
              <a:buChar char="•"/>
            </a:pPr>
            <a:r>
              <a:rPr lang="en-US" sz="2000">
                <a:solidFill>
                  <a:srgbClr val="E2EDF5"/>
                </a:solidFill>
                <a:latin typeface="Calibri (MS)"/>
                <a:ea typeface="Calibri (MS)"/>
                <a:cs typeface="Calibri (MS)"/>
                <a:sym typeface="Calibri (MS)"/>
              </a:rPr>
              <a:t>Gender, FavoriteSeason, ProductDiversity</a:t>
            </a:r>
          </a:p>
          <a:p>
            <a:pPr algn="l" marL="482600" indent="-241300" lvl="1">
              <a:lnSpc>
                <a:spcPts val="3500"/>
              </a:lnSpc>
              <a:buFont typeface="Arial"/>
              <a:buChar char="•"/>
            </a:pPr>
            <a:r>
              <a:rPr lang="en-US" sz="2000">
                <a:solidFill>
                  <a:srgbClr val="E2EDF5"/>
                </a:solidFill>
                <a:latin typeface="Calibri (MS)"/>
                <a:ea typeface="Calibri (MS)"/>
                <a:cs typeface="Calibri (MS)"/>
                <a:sym typeface="Calibri (MS)"/>
              </a:rPr>
              <a:t>Cible : Churn (0/1)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sp>
        <p:nvSpPr>
          <p:cNvPr name="Freeform 2" id="2"/>
          <p:cNvSpPr/>
          <p:nvPr/>
        </p:nvSpPr>
        <p:spPr>
          <a:xfrm flipH="false" flipV="false" rot="0">
            <a:off x="11694881" y="1967854"/>
            <a:ext cx="6012906" cy="4546508"/>
          </a:xfrm>
          <a:custGeom>
            <a:avLst/>
            <a:gdLst/>
            <a:ahLst/>
            <a:cxnLst/>
            <a:rect r="r" b="b" t="t" l="l"/>
            <a:pathLst>
              <a:path h="4546508" w="6012906">
                <a:moveTo>
                  <a:pt x="0" y="0"/>
                </a:moveTo>
                <a:lnTo>
                  <a:pt x="6012906" y="0"/>
                </a:lnTo>
                <a:lnTo>
                  <a:pt x="6012906" y="4546508"/>
                </a:lnTo>
                <a:lnTo>
                  <a:pt x="0" y="4546508"/>
                </a:lnTo>
                <a:lnTo>
                  <a:pt x="0" y="0"/>
                </a:lnTo>
                <a:close/>
              </a:path>
            </a:pathLst>
          </a:custGeom>
          <a:blipFill>
            <a:blip r:embed="rId2"/>
            <a:stretch>
              <a:fillRect l="-439" t="0" r="-36306" b="0"/>
            </a:stretch>
          </a:blipFill>
        </p:spPr>
      </p:sp>
      <p:sp>
        <p:nvSpPr>
          <p:cNvPr name="Freeform 3" id="3"/>
          <p:cNvSpPr/>
          <p:nvPr/>
        </p:nvSpPr>
        <p:spPr>
          <a:xfrm flipH="false" flipV="false" rot="0">
            <a:off x="719893" y="598440"/>
            <a:ext cx="10275816" cy="8297721"/>
          </a:xfrm>
          <a:custGeom>
            <a:avLst/>
            <a:gdLst/>
            <a:ahLst/>
            <a:cxnLst/>
            <a:rect r="r" b="b" t="t" l="l"/>
            <a:pathLst>
              <a:path h="8297721" w="10275816">
                <a:moveTo>
                  <a:pt x="0" y="0"/>
                </a:moveTo>
                <a:lnTo>
                  <a:pt x="10275816" y="0"/>
                </a:lnTo>
                <a:lnTo>
                  <a:pt x="10275816" y="8297721"/>
                </a:lnTo>
                <a:lnTo>
                  <a:pt x="0" y="8297721"/>
                </a:lnTo>
                <a:lnTo>
                  <a:pt x="0" y="0"/>
                </a:lnTo>
                <a:close/>
              </a:path>
            </a:pathLst>
          </a:custGeom>
          <a:blipFill>
            <a:blip r:embed="rId3"/>
            <a:stretch>
              <a:fillRect l="0" t="0" r="0" b="0"/>
            </a:stretch>
          </a:blipFill>
        </p:spPr>
      </p:sp>
      <p:sp>
        <p:nvSpPr>
          <p:cNvPr name="TextBox 4" id="4"/>
          <p:cNvSpPr txBox="true"/>
          <p:nvPr/>
        </p:nvSpPr>
        <p:spPr>
          <a:xfrm rot="0">
            <a:off x="2496774" y="9191625"/>
            <a:ext cx="12434690" cy="581076"/>
          </a:xfrm>
          <a:prstGeom prst="rect">
            <a:avLst/>
          </a:prstGeom>
        </p:spPr>
        <p:txBody>
          <a:bodyPr anchor="t" rtlCol="false" tIns="0" lIns="0" bIns="0" rIns="0">
            <a:spAutoFit/>
          </a:bodyPr>
          <a:lstStyle/>
          <a:p>
            <a:pPr algn="l" marL="0" indent="0" lvl="0">
              <a:lnSpc>
                <a:spcPts val="4079"/>
              </a:lnSpc>
              <a:spcBef>
                <a:spcPct val="0"/>
              </a:spcBef>
            </a:pPr>
            <a:r>
              <a:rPr lang="en-US" b="true" sz="3399" strike="noStrike" u="none">
                <a:solidFill>
                  <a:srgbClr val="FFFFFF"/>
                </a:solidFill>
                <a:latin typeface="Calibri (MS) Bold"/>
                <a:ea typeface="Calibri (MS) Bold"/>
                <a:cs typeface="Calibri (MS) Bold"/>
                <a:sym typeface="Calibri (MS) Bold"/>
              </a:rPr>
              <a:t> Statistiques descriptives des principales variables du jeu de données.</a:t>
            </a:r>
          </a:p>
        </p:txBody>
      </p:sp>
      <p:grpSp>
        <p:nvGrpSpPr>
          <p:cNvPr name="Group 5" id="5"/>
          <p:cNvGrpSpPr/>
          <p:nvPr/>
        </p:nvGrpSpPr>
        <p:grpSpPr>
          <a:xfrm rot="0">
            <a:off x="1343762" y="9079637"/>
            <a:ext cx="871728" cy="871728"/>
            <a:chOff x="0" y="0"/>
            <a:chExt cx="1162304" cy="1162304"/>
          </a:xfrm>
        </p:grpSpPr>
        <p:sp>
          <p:nvSpPr>
            <p:cNvPr name="Freeform 6" id="6"/>
            <p:cNvSpPr/>
            <p:nvPr/>
          </p:nvSpPr>
          <p:spPr>
            <a:xfrm flipH="false" flipV="false" rot="0">
              <a:off x="20320" y="20320"/>
              <a:ext cx="1121664" cy="1121664"/>
            </a:xfrm>
            <a:custGeom>
              <a:avLst/>
              <a:gdLst/>
              <a:ahLst/>
              <a:cxnLst/>
              <a:rect r="r" b="b" t="t" l="l"/>
              <a:pathLst>
                <a:path h="1121664" w="1121664">
                  <a:moveTo>
                    <a:pt x="0" y="560832"/>
                  </a:moveTo>
                  <a:cubicBezTo>
                    <a:pt x="0" y="251079"/>
                    <a:pt x="251079" y="0"/>
                    <a:pt x="560832" y="0"/>
                  </a:cubicBezTo>
                  <a:cubicBezTo>
                    <a:pt x="870585" y="0"/>
                    <a:pt x="1121664" y="251079"/>
                    <a:pt x="1121664" y="560832"/>
                  </a:cubicBezTo>
                  <a:cubicBezTo>
                    <a:pt x="1121664" y="870585"/>
                    <a:pt x="870585" y="1121664"/>
                    <a:pt x="560832" y="1121664"/>
                  </a:cubicBezTo>
                  <a:cubicBezTo>
                    <a:pt x="251079" y="1121664"/>
                    <a:pt x="0" y="870585"/>
                    <a:pt x="0" y="560832"/>
                  </a:cubicBezTo>
                  <a:close/>
                </a:path>
              </a:pathLst>
            </a:custGeom>
            <a:solidFill>
              <a:srgbClr val="FF4D6A">
                <a:alpha val="3922"/>
              </a:srgbClr>
            </a:solidFill>
          </p:spPr>
        </p:sp>
        <p:sp>
          <p:nvSpPr>
            <p:cNvPr name="Freeform 7" id="7"/>
            <p:cNvSpPr/>
            <p:nvPr/>
          </p:nvSpPr>
          <p:spPr>
            <a:xfrm flipH="false" flipV="false" rot="0">
              <a:off x="0" y="0"/>
              <a:ext cx="1162304" cy="1162304"/>
            </a:xfrm>
            <a:custGeom>
              <a:avLst/>
              <a:gdLst/>
              <a:ahLst/>
              <a:cxnLst/>
              <a:rect r="r" b="b" t="t" l="l"/>
              <a:pathLst>
                <a:path h="1162304" w="1162304">
                  <a:moveTo>
                    <a:pt x="0" y="581152"/>
                  </a:moveTo>
                  <a:cubicBezTo>
                    <a:pt x="0" y="260223"/>
                    <a:pt x="260223" y="0"/>
                    <a:pt x="581152" y="0"/>
                  </a:cubicBezTo>
                  <a:lnTo>
                    <a:pt x="581152" y="20320"/>
                  </a:lnTo>
                  <a:lnTo>
                    <a:pt x="581152" y="0"/>
                  </a:lnTo>
                  <a:cubicBezTo>
                    <a:pt x="902081" y="0"/>
                    <a:pt x="1162304" y="260223"/>
                    <a:pt x="1162304" y="581152"/>
                  </a:cubicBezTo>
                  <a:lnTo>
                    <a:pt x="1141984" y="581152"/>
                  </a:lnTo>
                  <a:lnTo>
                    <a:pt x="1162304" y="581152"/>
                  </a:lnTo>
                  <a:cubicBezTo>
                    <a:pt x="1162304" y="902081"/>
                    <a:pt x="902081" y="1162304"/>
                    <a:pt x="581152" y="1162304"/>
                  </a:cubicBezTo>
                  <a:lnTo>
                    <a:pt x="581152" y="1141984"/>
                  </a:lnTo>
                  <a:lnTo>
                    <a:pt x="581152" y="1162304"/>
                  </a:lnTo>
                  <a:cubicBezTo>
                    <a:pt x="260223" y="1162304"/>
                    <a:pt x="0" y="902081"/>
                    <a:pt x="0" y="581152"/>
                  </a:cubicBezTo>
                  <a:lnTo>
                    <a:pt x="20320" y="581152"/>
                  </a:lnTo>
                  <a:lnTo>
                    <a:pt x="40640" y="581152"/>
                  </a:lnTo>
                  <a:lnTo>
                    <a:pt x="20320" y="581152"/>
                  </a:lnTo>
                  <a:lnTo>
                    <a:pt x="0" y="581152"/>
                  </a:lnTo>
                  <a:moveTo>
                    <a:pt x="40640" y="581152"/>
                  </a:moveTo>
                  <a:cubicBezTo>
                    <a:pt x="40640" y="592328"/>
                    <a:pt x="31496" y="601472"/>
                    <a:pt x="20320" y="601472"/>
                  </a:cubicBezTo>
                  <a:cubicBezTo>
                    <a:pt x="9144" y="601472"/>
                    <a:pt x="0" y="592328"/>
                    <a:pt x="0" y="581152"/>
                  </a:cubicBezTo>
                  <a:cubicBezTo>
                    <a:pt x="0" y="569976"/>
                    <a:pt x="9144" y="560832"/>
                    <a:pt x="20320" y="560832"/>
                  </a:cubicBezTo>
                  <a:cubicBezTo>
                    <a:pt x="31496" y="560832"/>
                    <a:pt x="40640" y="569976"/>
                    <a:pt x="40640" y="581152"/>
                  </a:cubicBezTo>
                  <a:cubicBezTo>
                    <a:pt x="40640" y="879729"/>
                    <a:pt x="282575" y="1121664"/>
                    <a:pt x="581152" y="1121664"/>
                  </a:cubicBezTo>
                  <a:cubicBezTo>
                    <a:pt x="879729" y="1121664"/>
                    <a:pt x="1121664" y="879729"/>
                    <a:pt x="1121664" y="581152"/>
                  </a:cubicBezTo>
                  <a:cubicBezTo>
                    <a:pt x="1121664" y="282575"/>
                    <a:pt x="879729" y="40640"/>
                    <a:pt x="581152" y="40640"/>
                  </a:cubicBezTo>
                  <a:lnTo>
                    <a:pt x="581152" y="20320"/>
                  </a:lnTo>
                  <a:lnTo>
                    <a:pt x="581152" y="40640"/>
                  </a:lnTo>
                  <a:cubicBezTo>
                    <a:pt x="282575" y="40640"/>
                    <a:pt x="40640" y="282575"/>
                    <a:pt x="40640" y="581152"/>
                  </a:cubicBezTo>
                  <a:close/>
                </a:path>
              </a:pathLst>
            </a:custGeom>
            <a:solidFill>
              <a:srgbClr val="FF4D6A"/>
            </a:solidFill>
          </p:spPr>
        </p:sp>
      </p:grpSp>
      <p:grpSp>
        <p:nvGrpSpPr>
          <p:cNvPr name="Group 8" id="8"/>
          <p:cNvGrpSpPr/>
          <p:nvPr/>
        </p:nvGrpSpPr>
        <p:grpSpPr>
          <a:xfrm rot="0">
            <a:off x="13172901" y="6811233"/>
            <a:ext cx="871728" cy="871728"/>
            <a:chOff x="0" y="0"/>
            <a:chExt cx="1162304" cy="1162304"/>
          </a:xfrm>
        </p:grpSpPr>
        <p:sp>
          <p:nvSpPr>
            <p:cNvPr name="Freeform 9" id="9"/>
            <p:cNvSpPr/>
            <p:nvPr/>
          </p:nvSpPr>
          <p:spPr>
            <a:xfrm flipH="false" flipV="false" rot="0">
              <a:off x="20320" y="20320"/>
              <a:ext cx="1121664" cy="1121664"/>
            </a:xfrm>
            <a:custGeom>
              <a:avLst/>
              <a:gdLst/>
              <a:ahLst/>
              <a:cxnLst/>
              <a:rect r="r" b="b" t="t" l="l"/>
              <a:pathLst>
                <a:path h="1121664" w="1121664">
                  <a:moveTo>
                    <a:pt x="0" y="560832"/>
                  </a:moveTo>
                  <a:cubicBezTo>
                    <a:pt x="0" y="251079"/>
                    <a:pt x="251079" y="0"/>
                    <a:pt x="560832" y="0"/>
                  </a:cubicBezTo>
                  <a:cubicBezTo>
                    <a:pt x="870585" y="0"/>
                    <a:pt x="1121664" y="251079"/>
                    <a:pt x="1121664" y="560832"/>
                  </a:cubicBezTo>
                  <a:cubicBezTo>
                    <a:pt x="1121664" y="870585"/>
                    <a:pt x="870585" y="1121664"/>
                    <a:pt x="560832" y="1121664"/>
                  </a:cubicBezTo>
                  <a:cubicBezTo>
                    <a:pt x="251079" y="1121664"/>
                    <a:pt x="0" y="870585"/>
                    <a:pt x="0" y="560832"/>
                  </a:cubicBezTo>
                  <a:close/>
                </a:path>
              </a:pathLst>
            </a:custGeom>
            <a:solidFill>
              <a:srgbClr val="FFB800">
                <a:alpha val="3922"/>
              </a:srgbClr>
            </a:solidFill>
          </p:spPr>
        </p:sp>
        <p:sp>
          <p:nvSpPr>
            <p:cNvPr name="Freeform 10" id="10"/>
            <p:cNvSpPr/>
            <p:nvPr/>
          </p:nvSpPr>
          <p:spPr>
            <a:xfrm flipH="false" flipV="false" rot="0">
              <a:off x="0" y="0"/>
              <a:ext cx="1162304" cy="1162304"/>
            </a:xfrm>
            <a:custGeom>
              <a:avLst/>
              <a:gdLst/>
              <a:ahLst/>
              <a:cxnLst/>
              <a:rect r="r" b="b" t="t" l="l"/>
              <a:pathLst>
                <a:path h="1162304" w="1162304">
                  <a:moveTo>
                    <a:pt x="0" y="581152"/>
                  </a:moveTo>
                  <a:cubicBezTo>
                    <a:pt x="0" y="260223"/>
                    <a:pt x="260223" y="0"/>
                    <a:pt x="581152" y="0"/>
                  </a:cubicBezTo>
                  <a:lnTo>
                    <a:pt x="581152" y="20320"/>
                  </a:lnTo>
                  <a:lnTo>
                    <a:pt x="581152" y="0"/>
                  </a:lnTo>
                  <a:cubicBezTo>
                    <a:pt x="902081" y="0"/>
                    <a:pt x="1162304" y="260223"/>
                    <a:pt x="1162304" y="581152"/>
                  </a:cubicBezTo>
                  <a:lnTo>
                    <a:pt x="1141984" y="581152"/>
                  </a:lnTo>
                  <a:lnTo>
                    <a:pt x="1162304" y="581152"/>
                  </a:lnTo>
                  <a:cubicBezTo>
                    <a:pt x="1162304" y="902081"/>
                    <a:pt x="902081" y="1162304"/>
                    <a:pt x="581152" y="1162304"/>
                  </a:cubicBezTo>
                  <a:lnTo>
                    <a:pt x="581152" y="1141984"/>
                  </a:lnTo>
                  <a:lnTo>
                    <a:pt x="581152" y="1162304"/>
                  </a:lnTo>
                  <a:cubicBezTo>
                    <a:pt x="260223" y="1162304"/>
                    <a:pt x="0" y="902081"/>
                    <a:pt x="0" y="581152"/>
                  </a:cubicBezTo>
                  <a:lnTo>
                    <a:pt x="20320" y="581152"/>
                  </a:lnTo>
                  <a:lnTo>
                    <a:pt x="40640" y="581152"/>
                  </a:lnTo>
                  <a:lnTo>
                    <a:pt x="20320" y="581152"/>
                  </a:lnTo>
                  <a:lnTo>
                    <a:pt x="0" y="581152"/>
                  </a:lnTo>
                  <a:moveTo>
                    <a:pt x="40640" y="581152"/>
                  </a:moveTo>
                  <a:cubicBezTo>
                    <a:pt x="40640" y="592328"/>
                    <a:pt x="31496" y="601472"/>
                    <a:pt x="20320" y="601472"/>
                  </a:cubicBezTo>
                  <a:cubicBezTo>
                    <a:pt x="9144" y="601472"/>
                    <a:pt x="0" y="592328"/>
                    <a:pt x="0" y="581152"/>
                  </a:cubicBezTo>
                  <a:cubicBezTo>
                    <a:pt x="0" y="569976"/>
                    <a:pt x="9144" y="560832"/>
                    <a:pt x="20320" y="560832"/>
                  </a:cubicBezTo>
                  <a:cubicBezTo>
                    <a:pt x="31496" y="560832"/>
                    <a:pt x="40640" y="569976"/>
                    <a:pt x="40640" y="581152"/>
                  </a:cubicBezTo>
                  <a:cubicBezTo>
                    <a:pt x="40640" y="879729"/>
                    <a:pt x="282575" y="1121664"/>
                    <a:pt x="581152" y="1121664"/>
                  </a:cubicBezTo>
                  <a:cubicBezTo>
                    <a:pt x="879729" y="1121664"/>
                    <a:pt x="1121664" y="879729"/>
                    <a:pt x="1121664" y="581152"/>
                  </a:cubicBezTo>
                  <a:cubicBezTo>
                    <a:pt x="1121664" y="282575"/>
                    <a:pt x="879729" y="40640"/>
                    <a:pt x="581152" y="40640"/>
                  </a:cubicBezTo>
                  <a:lnTo>
                    <a:pt x="581152" y="20320"/>
                  </a:lnTo>
                  <a:lnTo>
                    <a:pt x="581152" y="40640"/>
                  </a:lnTo>
                  <a:cubicBezTo>
                    <a:pt x="282575" y="40640"/>
                    <a:pt x="40640" y="282575"/>
                    <a:pt x="40640" y="581152"/>
                  </a:cubicBezTo>
                  <a:close/>
                </a:path>
              </a:pathLst>
            </a:custGeom>
            <a:solidFill>
              <a:srgbClr val="FFB800"/>
            </a:solidFill>
          </p:spPr>
        </p:sp>
      </p:grpSp>
      <p:sp>
        <p:nvSpPr>
          <p:cNvPr name="TextBox 11" id="11"/>
          <p:cNvSpPr txBox="true"/>
          <p:nvPr/>
        </p:nvSpPr>
        <p:spPr>
          <a:xfrm rot="0">
            <a:off x="14244499" y="6923221"/>
            <a:ext cx="1985268" cy="581076"/>
          </a:xfrm>
          <a:prstGeom prst="rect">
            <a:avLst/>
          </a:prstGeom>
        </p:spPr>
        <p:txBody>
          <a:bodyPr anchor="t" rtlCol="false" tIns="0" lIns="0" bIns="0" rIns="0">
            <a:spAutoFit/>
          </a:bodyPr>
          <a:lstStyle/>
          <a:p>
            <a:pPr algn="l" marL="0" indent="0" lvl="0">
              <a:lnSpc>
                <a:spcPts val="4079"/>
              </a:lnSpc>
              <a:spcBef>
                <a:spcPct val="0"/>
              </a:spcBef>
            </a:pPr>
            <a:r>
              <a:rPr lang="en-US" b="true" sz="3399">
                <a:solidFill>
                  <a:srgbClr val="FFFFFF"/>
                </a:solidFill>
                <a:latin typeface="Calibri (MS) Bold"/>
                <a:ea typeface="Calibri (MS) Bold"/>
                <a:cs typeface="Calibri (MS) Bold"/>
                <a:sym typeface="Calibri (MS) Bold"/>
              </a:rPr>
              <a:t>Data Types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729105" y="395859"/>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716409" y="395859"/>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03 — PREPROCESSING</a:t>
              </a:r>
            </a:p>
          </p:txBody>
        </p:sp>
      </p:grpSp>
      <p:grpSp>
        <p:nvGrpSpPr>
          <p:cNvPr name="Group 8" id="8"/>
          <p:cNvGrpSpPr/>
          <p:nvPr/>
        </p:nvGrpSpPr>
        <p:grpSpPr>
          <a:xfrm rot="0">
            <a:off x="735449" y="876943"/>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Pipeline de Prétraitement</a:t>
              </a:r>
            </a:p>
          </p:txBody>
        </p:sp>
      </p:grpSp>
      <p:grpSp>
        <p:nvGrpSpPr>
          <p:cNvPr name="Group 11" id="11"/>
          <p:cNvGrpSpPr/>
          <p:nvPr/>
        </p:nvGrpSpPr>
        <p:grpSpPr>
          <a:xfrm rot="0">
            <a:off x="716409" y="1835282"/>
            <a:ext cx="16459200" cy="640080"/>
            <a:chOff x="0" y="0"/>
            <a:chExt cx="21945600" cy="853440"/>
          </a:xfrm>
        </p:grpSpPr>
        <p:sp>
          <p:nvSpPr>
            <p:cNvPr name="Freeform 12" id="12"/>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13" id="13"/>
            <p:cNvSpPr txBox="true"/>
            <p:nvPr/>
          </p:nvSpPr>
          <p:spPr>
            <a:xfrm>
              <a:off x="0" y="-38100"/>
              <a:ext cx="21945600" cy="891540"/>
            </a:xfrm>
            <a:prstGeom prst="rect">
              <a:avLst/>
            </a:prstGeom>
          </p:spPr>
          <p:txBody>
            <a:bodyPr anchor="ctr" rtlCol="false" tIns="0" lIns="0" bIns="0" rIns="0"/>
            <a:lstStyle/>
            <a:p>
              <a:pPr algn="l">
                <a:lnSpc>
                  <a:spcPts val="2879"/>
                </a:lnSpc>
              </a:pPr>
              <a:r>
                <a:rPr lang="en-US" sz="2400">
                  <a:solidFill>
                    <a:srgbClr val="6B8BAA"/>
                  </a:solidFill>
                  <a:latin typeface="Calibri (MS)"/>
                  <a:ea typeface="Calibri (MS)"/>
                  <a:cs typeface="Calibri (MS)"/>
                  <a:sym typeface="Calibri (MS)"/>
                </a:rPr>
                <a:t>Nettoyage · Encodage · Réduction de dimension</a:t>
              </a:r>
            </a:p>
          </p:txBody>
        </p:sp>
      </p:grpSp>
      <p:grpSp>
        <p:nvGrpSpPr>
          <p:cNvPr name="Group 14" id="14"/>
          <p:cNvGrpSpPr/>
          <p:nvPr/>
        </p:nvGrpSpPr>
        <p:grpSpPr>
          <a:xfrm rot="0">
            <a:off x="710055" y="2487297"/>
            <a:ext cx="5279641" cy="1932937"/>
            <a:chOff x="0" y="0"/>
            <a:chExt cx="7039521" cy="2577249"/>
          </a:xfrm>
        </p:grpSpPr>
        <p:sp>
          <p:nvSpPr>
            <p:cNvPr name="Freeform 15" id="15"/>
            <p:cNvSpPr/>
            <p:nvPr/>
          </p:nvSpPr>
          <p:spPr>
            <a:xfrm flipH="false" flipV="false" rot="0">
              <a:off x="8509" y="8509"/>
              <a:ext cx="7022592" cy="2560320"/>
            </a:xfrm>
            <a:custGeom>
              <a:avLst/>
              <a:gdLst/>
              <a:ahLst/>
              <a:cxnLst/>
              <a:rect r="r" b="b" t="t" l="l"/>
              <a:pathLst>
                <a:path h="2560320" w="7022592">
                  <a:moveTo>
                    <a:pt x="0" y="0"/>
                  </a:moveTo>
                  <a:lnTo>
                    <a:pt x="7022592" y="0"/>
                  </a:lnTo>
                  <a:lnTo>
                    <a:pt x="7022592" y="2560320"/>
                  </a:lnTo>
                  <a:lnTo>
                    <a:pt x="0" y="2560320"/>
                  </a:lnTo>
                  <a:close/>
                </a:path>
              </a:pathLst>
            </a:custGeom>
            <a:solidFill>
              <a:srgbClr val="122540"/>
            </a:solidFill>
          </p:spPr>
        </p:sp>
        <p:sp>
          <p:nvSpPr>
            <p:cNvPr name="Freeform 16" id="16"/>
            <p:cNvSpPr/>
            <p:nvPr/>
          </p:nvSpPr>
          <p:spPr>
            <a:xfrm flipH="false" flipV="false" rot="0">
              <a:off x="0" y="0"/>
              <a:ext cx="7039610" cy="2577338"/>
            </a:xfrm>
            <a:custGeom>
              <a:avLst/>
              <a:gdLst/>
              <a:ahLst/>
              <a:cxnLst/>
              <a:rect r="r" b="b" t="t" l="l"/>
              <a:pathLst>
                <a:path h="2577338" w="7039610">
                  <a:moveTo>
                    <a:pt x="8509" y="0"/>
                  </a:moveTo>
                  <a:lnTo>
                    <a:pt x="7031101" y="0"/>
                  </a:lnTo>
                  <a:cubicBezTo>
                    <a:pt x="7035800" y="0"/>
                    <a:pt x="7039610" y="3810"/>
                    <a:pt x="7039610" y="8509"/>
                  </a:cubicBezTo>
                  <a:lnTo>
                    <a:pt x="7039610" y="2568829"/>
                  </a:lnTo>
                  <a:cubicBezTo>
                    <a:pt x="7039610" y="2573528"/>
                    <a:pt x="7035800" y="2577338"/>
                    <a:pt x="7031101" y="2577338"/>
                  </a:cubicBezTo>
                  <a:lnTo>
                    <a:pt x="8509" y="2577338"/>
                  </a:lnTo>
                  <a:cubicBezTo>
                    <a:pt x="3810" y="2577338"/>
                    <a:pt x="0" y="2573528"/>
                    <a:pt x="0" y="2568829"/>
                  </a:cubicBezTo>
                  <a:lnTo>
                    <a:pt x="0" y="8509"/>
                  </a:lnTo>
                  <a:cubicBezTo>
                    <a:pt x="0" y="3810"/>
                    <a:pt x="3810" y="0"/>
                    <a:pt x="8509" y="0"/>
                  </a:cubicBezTo>
                  <a:moveTo>
                    <a:pt x="8509" y="16891"/>
                  </a:moveTo>
                  <a:lnTo>
                    <a:pt x="8509" y="8509"/>
                  </a:lnTo>
                  <a:lnTo>
                    <a:pt x="17018" y="8509"/>
                  </a:lnTo>
                  <a:lnTo>
                    <a:pt x="17018" y="2568829"/>
                  </a:lnTo>
                  <a:lnTo>
                    <a:pt x="8509" y="2568829"/>
                  </a:lnTo>
                  <a:lnTo>
                    <a:pt x="8509" y="2560320"/>
                  </a:lnTo>
                  <a:lnTo>
                    <a:pt x="7031101" y="2560320"/>
                  </a:lnTo>
                  <a:lnTo>
                    <a:pt x="7031101" y="2568829"/>
                  </a:lnTo>
                  <a:lnTo>
                    <a:pt x="7022592" y="2568829"/>
                  </a:lnTo>
                  <a:lnTo>
                    <a:pt x="7022592" y="8509"/>
                  </a:lnTo>
                  <a:lnTo>
                    <a:pt x="7031101" y="8509"/>
                  </a:lnTo>
                  <a:lnTo>
                    <a:pt x="7031101" y="17018"/>
                  </a:lnTo>
                  <a:lnTo>
                    <a:pt x="8509" y="17018"/>
                  </a:lnTo>
                  <a:close/>
                </a:path>
              </a:pathLst>
            </a:custGeom>
            <a:solidFill>
              <a:srgbClr val="1E3352"/>
            </a:solidFill>
          </p:spPr>
        </p:sp>
      </p:grpSp>
      <p:grpSp>
        <p:nvGrpSpPr>
          <p:cNvPr name="Group 17" id="17"/>
          <p:cNvGrpSpPr/>
          <p:nvPr/>
        </p:nvGrpSpPr>
        <p:grpSpPr>
          <a:xfrm rot="0">
            <a:off x="703712" y="2480953"/>
            <a:ext cx="135131" cy="1945643"/>
            <a:chOff x="0" y="0"/>
            <a:chExt cx="180175" cy="2594191"/>
          </a:xfrm>
        </p:grpSpPr>
        <p:sp>
          <p:nvSpPr>
            <p:cNvPr name="Freeform 18" id="18"/>
            <p:cNvSpPr/>
            <p:nvPr/>
          </p:nvSpPr>
          <p:spPr>
            <a:xfrm flipH="false" flipV="false" rot="0">
              <a:off x="16891" y="16891"/>
              <a:ext cx="146304" cy="2560320"/>
            </a:xfrm>
            <a:custGeom>
              <a:avLst/>
              <a:gdLst/>
              <a:ahLst/>
              <a:cxnLst/>
              <a:rect r="r" b="b" t="t" l="l"/>
              <a:pathLst>
                <a:path h="2560320" w="146304">
                  <a:moveTo>
                    <a:pt x="0" y="0"/>
                  </a:moveTo>
                  <a:lnTo>
                    <a:pt x="146304" y="0"/>
                  </a:lnTo>
                  <a:lnTo>
                    <a:pt x="146304" y="2560320"/>
                  </a:lnTo>
                  <a:lnTo>
                    <a:pt x="0" y="2560320"/>
                  </a:lnTo>
                  <a:close/>
                </a:path>
              </a:pathLst>
            </a:custGeom>
            <a:solidFill>
              <a:srgbClr val="FF4D6A"/>
            </a:solidFill>
          </p:spPr>
        </p:sp>
        <p:sp>
          <p:nvSpPr>
            <p:cNvPr name="Freeform 19" id="19"/>
            <p:cNvSpPr/>
            <p:nvPr/>
          </p:nvSpPr>
          <p:spPr>
            <a:xfrm flipH="false" flipV="false" rot="0">
              <a:off x="0" y="0"/>
              <a:ext cx="180086" cy="2594102"/>
            </a:xfrm>
            <a:custGeom>
              <a:avLst/>
              <a:gdLst/>
              <a:ahLst/>
              <a:cxnLst/>
              <a:rect r="r" b="b" t="t" l="l"/>
              <a:pathLst>
                <a:path h="2594102" w="180086">
                  <a:moveTo>
                    <a:pt x="16891" y="0"/>
                  </a:moveTo>
                  <a:lnTo>
                    <a:pt x="163195" y="0"/>
                  </a:lnTo>
                  <a:cubicBezTo>
                    <a:pt x="172593" y="0"/>
                    <a:pt x="180086" y="7620"/>
                    <a:pt x="180086" y="16891"/>
                  </a:cubicBezTo>
                  <a:lnTo>
                    <a:pt x="180086" y="2577211"/>
                  </a:lnTo>
                  <a:cubicBezTo>
                    <a:pt x="180086" y="2586609"/>
                    <a:pt x="172466" y="2594102"/>
                    <a:pt x="163195"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163195" y="2560320"/>
                  </a:lnTo>
                  <a:lnTo>
                    <a:pt x="163195" y="2577211"/>
                  </a:lnTo>
                  <a:lnTo>
                    <a:pt x="146304" y="2577211"/>
                  </a:lnTo>
                  <a:lnTo>
                    <a:pt x="146304" y="16891"/>
                  </a:lnTo>
                  <a:lnTo>
                    <a:pt x="163195" y="16891"/>
                  </a:lnTo>
                  <a:lnTo>
                    <a:pt x="163195" y="33909"/>
                  </a:lnTo>
                  <a:lnTo>
                    <a:pt x="16891" y="33909"/>
                  </a:lnTo>
                  <a:close/>
                </a:path>
              </a:pathLst>
            </a:custGeom>
            <a:solidFill>
              <a:srgbClr val="FF4D6A"/>
            </a:solidFill>
          </p:spPr>
        </p:sp>
      </p:grpSp>
      <p:grpSp>
        <p:nvGrpSpPr>
          <p:cNvPr name="Group 20" id="20"/>
          <p:cNvGrpSpPr/>
          <p:nvPr/>
        </p:nvGrpSpPr>
        <p:grpSpPr>
          <a:xfrm rot="0">
            <a:off x="1045593" y="2585090"/>
            <a:ext cx="731520" cy="640080"/>
            <a:chOff x="0" y="0"/>
            <a:chExt cx="975360" cy="853440"/>
          </a:xfrm>
        </p:grpSpPr>
        <p:sp>
          <p:nvSpPr>
            <p:cNvPr name="Freeform 21" id="21"/>
            <p:cNvSpPr/>
            <p:nvPr/>
          </p:nvSpPr>
          <p:spPr>
            <a:xfrm flipH="false" flipV="false" rot="0">
              <a:off x="0" y="0"/>
              <a:ext cx="975360" cy="853440"/>
            </a:xfrm>
            <a:custGeom>
              <a:avLst/>
              <a:gdLst/>
              <a:ahLst/>
              <a:cxnLst/>
              <a:rect r="r" b="b" t="t" l="l"/>
              <a:pathLst>
                <a:path h="853440" w="975360">
                  <a:moveTo>
                    <a:pt x="0" y="0"/>
                  </a:moveTo>
                  <a:lnTo>
                    <a:pt x="975360" y="0"/>
                  </a:lnTo>
                  <a:lnTo>
                    <a:pt x="975360" y="853440"/>
                  </a:lnTo>
                  <a:lnTo>
                    <a:pt x="0" y="853440"/>
                  </a:lnTo>
                  <a:close/>
                </a:path>
              </a:pathLst>
            </a:custGeom>
            <a:blipFill>
              <a:blip r:embed="rId3">
                <a:alphaModFix amt="0"/>
              </a:blip>
              <a:stretch>
                <a:fillRect l="-62265" t="0" r="-62265" b="0"/>
              </a:stretch>
            </a:blipFill>
          </p:spPr>
        </p:sp>
        <p:sp>
          <p:nvSpPr>
            <p:cNvPr name="TextBox 22" id="22"/>
            <p:cNvSpPr txBox="true"/>
            <p:nvPr/>
          </p:nvSpPr>
          <p:spPr>
            <a:xfrm>
              <a:off x="0" y="-66675"/>
              <a:ext cx="975360" cy="920115"/>
            </a:xfrm>
            <a:prstGeom prst="rect">
              <a:avLst/>
            </a:prstGeom>
          </p:spPr>
          <p:txBody>
            <a:bodyPr anchor="ctr" rtlCol="false" tIns="0" lIns="0" bIns="0" rIns="0"/>
            <a:lstStyle/>
            <a:p>
              <a:pPr algn="l">
                <a:lnSpc>
                  <a:spcPts val="4320"/>
                </a:lnSpc>
              </a:pPr>
              <a:r>
                <a:rPr lang="en-US" sz="3600" b="true">
                  <a:solidFill>
                    <a:srgbClr val="FF4D6A"/>
                  </a:solidFill>
                  <a:latin typeface="Calibri (MS) Bold"/>
                  <a:ea typeface="Calibri (MS) Bold"/>
                  <a:cs typeface="Calibri (MS) Bold"/>
                  <a:sym typeface="Calibri (MS) Bold"/>
                </a:rPr>
                <a:t>1</a:t>
              </a:r>
            </a:p>
          </p:txBody>
        </p:sp>
      </p:grpSp>
      <p:grpSp>
        <p:nvGrpSpPr>
          <p:cNvPr name="Group 23" id="23"/>
          <p:cNvGrpSpPr/>
          <p:nvPr/>
        </p:nvGrpSpPr>
        <p:grpSpPr>
          <a:xfrm rot="0">
            <a:off x="1045593" y="3188594"/>
            <a:ext cx="4718304" cy="512064"/>
            <a:chOff x="0" y="0"/>
            <a:chExt cx="6291072" cy="682752"/>
          </a:xfrm>
        </p:grpSpPr>
        <p:sp>
          <p:nvSpPr>
            <p:cNvPr name="Freeform 24" id="24"/>
            <p:cNvSpPr/>
            <p:nvPr/>
          </p:nvSpPr>
          <p:spPr>
            <a:xfrm flipH="false" flipV="false" rot="0">
              <a:off x="0" y="0"/>
              <a:ext cx="6291072" cy="682752"/>
            </a:xfrm>
            <a:custGeom>
              <a:avLst/>
              <a:gdLst/>
              <a:ahLst/>
              <a:cxnLst/>
              <a:rect r="r" b="b" t="t" l="l"/>
              <a:pathLst>
                <a:path h="682752" w="6291072">
                  <a:moveTo>
                    <a:pt x="0" y="0"/>
                  </a:moveTo>
                  <a:lnTo>
                    <a:pt x="6291072" y="0"/>
                  </a:lnTo>
                  <a:lnTo>
                    <a:pt x="6291072" y="682752"/>
                  </a:lnTo>
                  <a:lnTo>
                    <a:pt x="0" y="682752"/>
                  </a:lnTo>
                  <a:close/>
                </a:path>
              </a:pathLst>
            </a:custGeom>
            <a:blipFill>
              <a:blip r:embed="rId3">
                <a:alphaModFix amt="0"/>
              </a:blip>
              <a:stretch>
                <a:fillRect l="0" t="-129540" r="0" b="-129540"/>
              </a:stretch>
            </a:blipFill>
          </p:spPr>
        </p:sp>
        <p:sp>
          <p:nvSpPr>
            <p:cNvPr name="TextBox 25" id="25"/>
            <p:cNvSpPr txBox="true"/>
            <p:nvPr/>
          </p:nvSpPr>
          <p:spPr>
            <a:xfrm>
              <a:off x="0" y="-47625"/>
              <a:ext cx="6291072" cy="730377"/>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Détection Outliers</a:t>
              </a:r>
            </a:p>
          </p:txBody>
        </p:sp>
      </p:grpSp>
      <p:grpSp>
        <p:nvGrpSpPr>
          <p:cNvPr name="Group 26" id="26"/>
          <p:cNvGrpSpPr/>
          <p:nvPr/>
        </p:nvGrpSpPr>
        <p:grpSpPr>
          <a:xfrm rot="0">
            <a:off x="1045593" y="3682370"/>
            <a:ext cx="4718304" cy="640080"/>
            <a:chOff x="0" y="0"/>
            <a:chExt cx="6291072" cy="853440"/>
          </a:xfrm>
        </p:grpSpPr>
        <p:sp>
          <p:nvSpPr>
            <p:cNvPr name="Freeform 27" id="27"/>
            <p:cNvSpPr/>
            <p:nvPr/>
          </p:nvSpPr>
          <p:spPr>
            <a:xfrm flipH="false" flipV="false" rot="0">
              <a:off x="0" y="0"/>
              <a:ext cx="6291072" cy="853440"/>
            </a:xfrm>
            <a:custGeom>
              <a:avLst/>
              <a:gdLst/>
              <a:ahLst/>
              <a:cxnLst/>
              <a:rect r="r" b="b" t="t" l="l"/>
              <a:pathLst>
                <a:path h="853440" w="6291072">
                  <a:moveTo>
                    <a:pt x="0" y="0"/>
                  </a:moveTo>
                  <a:lnTo>
                    <a:pt x="6291072" y="0"/>
                  </a:lnTo>
                  <a:lnTo>
                    <a:pt x="6291072" y="853440"/>
                  </a:lnTo>
                  <a:lnTo>
                    <a:pt x="0" y="853440"/>
                  </a:lnTo>
                  <a:close/>
                </a:path>
              </a:pathLst>
            </a:custGeom>
            <a:blipFill>
              <a:blip r:embed="rId3">
                <a:alphaModFix amt="0"/>
              </a:blip>
              <a:stretch>
                <a:fillRect l="0" t="-93632" r="0" b="-93632"/>
              </a:stretch>
            </a:blipFill>
          </p:spPr>
        </p:sp>
        <p:sp>
          <p:nvSpPr>
            <p:cNvPr name="TextBox 28" id="28"/>
            <p:cNvSpPr txBox="true"/>
            <p:nvPr/>
          </p:nvSpPr>
          <p:spPr>
            <a:xfrm>
              <a:off x="0" y="-38100"/>
              <a:ext cx="6291072" cy="89154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IsolationForest (6% contamination)</a:t>
              </a:r>
            </a:p>
          </p:txBody>
        </p:sp>
      </p:grpSp>
      <p:grpSp>
        <p:nvGrpSpPr>
          <p:cNvPr name="Group 29" id="29"/>
          <p:cNvGrpSpPr/>
          <p:nvPr/>
        </p:nvGrpSpPr>
        <p:grpSpPr>
          <a:xfrm rot="0">
            <a:off x="6196455" y="2487297"/>
            <a:ext cx="5279641" cy="1932937"/>
            <a:chOff x="0" y="0"/>
            <a:chExt cx="7039521" cy="2577249"/>
          </a:xfrm>
        </p:grpSpPr>
        <p:sp>
          <p:nvSpPr>
            <p:cNvPr name="Freeform 30" id="30"/>
            <p:cNvSpPr/>
            <p:nvPr/>
          </p:nvSpPr>
          <p:spPr>
            <a:xfrm flipH="false" flipV="false" rot="0">
              <a:off x="8509" y="8509"/>
              <a:ext cx="7022592" cy="2560320"/>
            </a:xfrm>
            <a:custGeom>
              <a:avLst/>
              <a:gdLst/>
              <a:ahLst/>
              <a:cxnLst/>
              <a:rect r="r" b="b" t="t" l="l"/>
              <a:pathLst>
                <a:path h="2560320" w="7022592">
                  <a:moveTo>
                    <a:pt x="0" y="0"/>
                  </a:moveTo>
                  <a:lnTo>
                    <a:pt x="7022592" y="0"/>
                  </a:lnTo>
                  <a:lnTo>
                    <a:pt x="7022592" y="2560320"/>
                  </a:lnTo>
                  <a:lnTo>
                    <a:pt x="0" y="2560320"/>
                  </a:lnTo>
                  <a:close/>
                </a:path>
              </a:pathLst>
            </a:custGeom>
            <a:solidFill>
              <a:srgbClr val="122540"/>
            </a:solidFill>
          </p:spPr>
        </p:sp>
        <p:sp>
          <p:nvSpPr>
            <p:cNvPr name="Freeform 31" id="31"/>
            <p:cNvSpPr/>
            <p:nvPr/>
          </p:nvSpPr>
          <p:spPr>
            <a:xfrm flipH="false" flipV="false" rot="0">
              <a:off x="0" y="0"/>
              <a:ext cx="7039610" cy="2577338"/>
            </a:xfrm>
            <a:custGeom>
              <a:avLst/>
              <a:gdLst/>
              <a:ahLst/>
              <a:cxnLst/>
              <a:rect r="r" b="b" t="t" l="l"/>
              <a:pathLst>
                <a:path h="2577338" w="7039610">
                  <a:moveTo>
                    <a:pt x="8509" y="0"/>
                  </a:moveTo>
                  <a:lnTo>
                    <a:pt x="7031101" y="0"/>
                  </a:lnTo>
                  <a:cubicBezTo>
                    <a:pt x="7035800" y="0"/>
                    <a:pt x="7039610" y="3810"/>
                    <a:pt x="7039610" y="8509"/>
                  </a:cubicBezTo>
                  <a:lnTo>
                    <a:pt x="7039610" y="2568829"/>
                  </a:lnTo>
                  <a:cubicBezTo>
                    <a:pt x="7039610" y="2573528"/>
                    <a:pt x="7035800" y="2577338"/>
                    <a:pt x="7031101" y="2577338"/>
                  </a:cubicBezTo>
                  <a:lnTo>
                    <a:pt x="8509" y="2577338"/>
                  </a:lnTo>
                  <a:cubicBezTo>
                    <a:pt x="3810" y="2577338"/>
                    <a:pt x="0" y="2573528"/>
                    <a:pt x="0" y="2568829"/>
                  </a:cubicBezTo>
                  <a:lnTo>
                    <a:pt x="0" y="8509"/>
                  </a:lnTo>
                  <a:cubicBezTo>
                    <a:pt x="0" y="3810"/>
                    <a:pt x="3810" y="0"/>
                    <a:pt x="8509" y="0"/>
                  </a:cubicBezTo>
                  <a:moveTo>
                    <a:pt x="8509" y="16891"/>
                  </a:moveTo>
                  <a:lnTo>
                    <a:pt x="8509" y="8509"/>
                  </a:lnTo>
                  <a:lnTo>
                    <a:pt x="17018" y="8509"/>
                  </a:lnTo>
                  <a:lnTo>
                    <a:pt x="17018" y="2568829"/>
                  </a:lnTo>
                  <a:lnTo>
                    <a:pt x="8509" y="2568829"/>
                  </a:lnTo>
                  <a:lnTo>
                    <a:pt x="8509" y="2560320"/>
                  </a:lnTo>
                  <a:lnTo>
                    <a:pt x="7031101" y="2560320"/>
                  </a:lnTo>
                  <a:lnTo>
                    <a:pt x="7031101" y="2568829"/>
                  </a:lnTo>
                  <a:lnTo>
                    <a:pt x="7022592" y="2568829"/>
                  </a:lnTo>
                  <a:lnTo>
                    <a:pt x="7022592" y="8509"/>
                  </a:lnTo>
                  <a:lnTo>
                    <a:pt x="7031101" y="8509"/>
                  </a:lnTo>
                  <a:lnTo>
                    <a:pt x="7031101" y="17018"/>
                  </a:lnTo>
                  <a:lnTo>
                    <a:pt x="8509" y="17018"/>
                  </a:lnTo>
                  <a:close/>
                </a:path>
              </a:pathLst>
            </a:custGeom>
            <a:solidFill>
              <a:srgbClr val="1E3352"/>
            </a:solidFill>
          </p:spPr>
        </p:sp>
      </p:grpSp>
      <p:grpSp>
        <p:nvGrpSpPr>
          <p:cNvPr name="Group 32" id="32"/>
          <p:cNvGrpSpPr/>
          <p:nvPr/>
        </p:nvGrpSpPr>
        <p:grpSpPr>
          <a:xfrm rot="0">
            <a:off x="6190112" y="2480953"/>
            <a:ext cx="135131" cy="1945643"/>
            <a:chOff x="0" y="0"/>
            <a:chExt cx="180175" cy="2594191"/>
          </a:xfrm>
        </p:grpSpPr>
        <p:sp>
          <p:nvSpPr>
            <p:cNvPr name="Freeform 33" id="33"/>
            <p:cNvSpPr/>
            <p:nvPr/>
          </p:nvSpPr>
          <p:spPr>
            <a:xfrm flipH="false" flipV="false" rot="0">
              <a:off x="16891" y="16891"/>
              <a:ext cx="146304" cy="2560320"/>
            </a:xfrm>
            <a:custGeom>
              <a:avLst/>
              <a:gdLst/>
              <a:ahLst/>
              <a:cxnLst/>
              <a:rect r="r" b="b" t="t" l="l"/>
              <a:pathLst>
                <a:path h="2560320" w="146304">
                  <a:moveTo>
                    <a:pt x="0" y="0"/>
                  </a:moveTo>
                  <a:lnTo>
                    <a:pt x="146304" y="0"/>
                  </a:lnTo>
                  <a:lnTo>
                    <a:pt x="146304" y="2560320"/>
                  </a:lnTo>
                  <a:lnTo>
                    <a:pt x="0" y="2560320"/>
                  </a:lnTo>
                  <a:close/>
                </a:path>
              </a:pathLst>
            </a:custGeom>
            <a:solidFill>
              <a:srgbClr val="FFB800"/>
            </a:solidFill>
          </p:spPr>
        </p:sp>
        <p:sp>
          <p:nvSpPr>
            <p:cNvPr name="Freeform 34" id="34"/>
            <p:cNvSpPr/>
            <p:nvPr/>
          </p:nvSpPr>
          <p:spPr>
            <a:xfrm flipH="false" flipV="false" rot="0">
              <a:off x="0" y="0"/>
              <a:ext cx="180086" cy="2594102"/>
            </a:xfrm>
            <a:custGeom>
              <a:avLst/>
              <a:gdLst/>
              <a:ahLst/>
              <a:cxnLst/>
              <a:rect r="r" b="b" t="t" l="l"/>
              <a:pathLst>
                <a:path h="2594102" w="180086">
                  <a:moveTo>
                    <a:pt x="16891" y="0"/>
                  </a:moveTo>
                  <a:lnTo>
                    <a:pt x="163195" y="0"/>
                  </a:lnTo>
                  <a:cubicBezTo>
                    <a:pt x="172593" y="0"/>
                    <a:pt x="180086" y="7620"/>
                    <a:pt x="180086" y="16891"/>
                  </a:cubicBezTo>
                  <a:lnTo>
                    <a:pt x="180086" y="2577211"/>
                  </a:lnTo>
                  <a:cubicBezTo>
                    <a:pt x="180086" y="2586609"/>
                    <a:pt x="172466" y="2594102"/>
                    <a:pt x="163195"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163195" y="2560320"/>
                  </a:lnTo>
                  <a:lnTo>
                    <a:pt x="163195" y="2577211"/>
                  </a:lnTo>
                  <a:lnTo>
                    <a:pt x="146304" y="2577211"/>
                  </a:lnTo>
                  <a:lnTo>
                    <a:pt x="146304" y="16891"/>
                  </a:lnTo>
                  <a:lnTo>
                    <a:pt x="163195" y="16891"/>
                  </a:lnTo>
                  <a:lnTo>
                    <a:pt x="163195" y="33909"/>
                  </a:lnTo>
                  <a:lnTo>
                    <a:pt x="16891" y="33909"/>
                  </a:lnTo>
                  <a:close/>
                </a:path>
              </a:pathLst>
            </a:custGeom>
            <a:solidFill>
              <a:srgbClr val="FFB800"/>
            </a:solidFill>
          </p:spPr>
        </p:sp>
      </p:grpSp>
      <p:grpSp>
        <p:nvGrpSpPr>
          <p:cNvPr name="Group 35" id="35"/>
          <p:cNvGrpSpPr/>
          <p:nvPr/>
        </p:nvGrpSpPr>
        <p:grpSpPr>
          <a:xfrm rot="0">
            <a:off x="6531993" y="2585090"/>
            <a:ext cx="731520" cy="640080"/>
            <a:chOff x="0" y="0"/>
            <a:chExt cx="975360" cy="853440"/>
          </a:xfrm>
        </p:grpSpPr>
        <p:sp>
          <p:nvSpPr>
            <p:cNvPr name="Freeform 36" id="36"/>
            <p:cNvSpPr/>
            <p:nvPr/>
          </p:nvSpPr>
          <p:spPr>
            <a:xfrm flipH="false" flipV="false" rot="0">
              <a:off x="0" y="0"/>
              <a:ext cx="975360" cy="853440"/>
            </a:xfrm>
            <a:custGeom>
              <a:avLst/>
              <a:gdLst/>
              <a:ahLst/>
              <a:cxnLst/>
              <a:rect r="r" b="b" t="t" l="l"/>
              <a:pathLst>
                <a:path h="853440" w="975360">
                  <a:moveTo>
                    <a:pt x="0" y="0"/>
                  </a:moveTo>
                  <a:lnTo>
                    <a:pt x="975360" y="0"/>
                  </a:lnTo>
                  <a:lnTo>
                    <a:pt x="975360" y="853440"/>
                  </a:lnTo>
                  <a:lnTo>
                    <a:pt x="0" y="853440"/>
                  </a:lnTo>
                  <a:close/>
                </a:path>
              </a:pathLst>
            </a:custGeom>
            <a:blipFill>
              <a:blip r:embed="rId3">
                <a:alphaModFix amt="0"/>
              </a:blip>
              <a:stretch>
                <a:fillRect l="-62265" t="0" r="-62265" b="0"/>
              </a:stretch>
            </a:blipFill>
          </p:spPr>
        </p:sp>
        <p:sp>
          <p:nvSpPr>
            <p:cNvPr name="TextBox 37" id="37"/>
            <p:cNvSpPr txBox="true"/>
            <p:nvPr/>
          </p:nvSpPr>
          <p:spPr>
            <a:xfrm>
              <a:off x="0" y="-66675"/>
              <a:ext cx="975360" cy="920115"/>
            </a:xfrm>
            <a:prstGeom prst="rect">
              <a:avLst/>
            </a:prstGeom>
          </p:spPr>
          <p:txBody>
            <a:bodyPr anchor="ctr" rtlCol="false" tIns="0" lIns="0" bIns="0" rIns="0"/>
            <a:lstStyle/>
            <a:p>
              <a:pPr algn="l">
                <a:lnSpc>
                  <a:spcPts val="4320"/>
                </a:lnSpc>
              </a:pPr>
              <a:r>
                <a:rPr lang="en-US" sz="3600" b="true">
                  <a:solidFill>
                    <a:srgbClr val="FFB800"/>
                  </a:solidFill>
                  <a:latin typeface="Calibri (MS) Bold"/>
                  <a:ea typeface="Calibri (MS) Bold"/>
                  <a:cs typeface="Calibri (MS) Bold"/>
                  <a:sym typeface="Calibri (MS) Bold"/>
                </a:rPr>
                <a:t>2</a:t>
              </a:r>
            </a:p>
          </p:txBody>
        </p:sp>
      </p:grpSp>
      <p:grpSp>
        <p:nvGrpSpPr>
          <p:cNvPr name="Group 38" id="38"/>
          <p:cNvGrpSpPr/>
          <p:nvPr/>
        </p:nvGrpSpPr>
        <p:grpSpPr>
          <a:xfrm rot="0">
            <a:off x="6531993" y="3188594"/>
            <a:ext cx="4718304" cy="512064"/>
            <a:chOff x="0" y="0"/>
            <a:chExt cx="6291072" cy="682752"/>
          </a:xfrm>
        </p:grpSpPr>
        <p:sp>
          <p:nvSpPr>
            <p:cNvPr name="Freeform 39" id="39"/>
            <p:cNvSpPr/>
            <p:nvPr/>
          </p:nvSpPr>
          <p:spPr>
            <a:xfrm flipH="false" flipV="false" rot="0">
              <a:off x="0" y="0"/>
              <a:ext cx="6291072" cy="682752"/>
            </a:xfrm>
            <a:custGeom>
              <a:avLst/>
              <a:gdLst/>
              <a:ahLst/>
              <a:cxnLst/>
              <a:rect r="r" b="b" t="t" l="l"/>
              <a:pathLst>
                <a:path h="682752" w="6291072">
                  <a:moveTo>
                    <a:pt x="0" y="0"/>
                  </a:moveTo>
                  <a:lnTo>
                    <a:pt x="6291072" y="0"/>
                  </a:lnTo>
                  <a:lnTo>
                    <a:pt x="6291072" y="682752"/>
                  </a:lnTo>
                  <a:lnTo>
                    <a:pt x="0" y="682752"/>
                  </a:lnTo>
                  <a:close/>
                </a:path>
              </a:pathLst>
            </a:custGeom>
            <a:blipFill>
              <a:blip r:embed="rId3">
                <a:alphaModFix amt="0"/>
              </a:blip>
              <a:stretch>
                <a:fillRect l="0" t="-129540" r="0" b="-129540"/>
              </a:stretch>
            </a:blipFill>
          </p:spPr>
        </p:sp>
        <p:sp>
          <p:nvSpPr>
            <p:cNvPr name="TextBox 40" id="40"/>
            <p:cNvSpPr txBox="true"/>
            <p:nvPr/>
          </p:nvSpPr>
          <p:spPr>
            <a:xfrm>
              <a:off x="0" y="-47625"/>
              <a:ext cx="6291072" cy="730377"/>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Feature Engineering</a:t>
              </a:r>
            </a:p>
          </p:txBody>
        </p:sp>
      </p:grpSp>
      <p:grpSp>
        <p:nvGrpSpPr>
          <p:cNvPr name="Group 41" id="41"/>
          <p:cNvGrpSpPr/>
          <p:nvPr/>
        </p:nvGrpSpPr>
        <p:grpSpPr>
          <a:xfrm rot="0">
            <a:off x="6531993" y="3682370"/>
            <a:ext cx="4718304" cy="640080"/>
            <a:chOff x="0" y="0"/>
            <a:chExt cx="6291072" cy="853440"/>
          </a:xfrm>
        </p:grpSpPr>
        <p:sp>
          <p:nvSpPr>
            <p:cNvPr name="Freeform 42" id="42"/>
            <p:cNvSpPr/>
            <p:nvPr/>
          </p:nvSpPr>
          <p:spPr>
            <a:xfrm flipH="false" flipV="false" rot="0">
              <a:off x="0" y="0"/>
              <a:ext cx="6291072" cy="853440"/>
            </a:xfrm>
            <a:custGeom>
              <a:avLst/>
              <a:gdLst/>
              <a:ahLst/>
              <a:cxnLst/>
              <a:rect r="r" b="b" t="t" l="l"/>
              <a:pathLst>
                <a:path h="853440" w="6291072">
                  <a:moveTo>
                    <a:pt x="0" y="0"/>
                  </a:moveTo>
                  <a:lnTo>
                    <a:pt x="6291072" y="0"/>
                  </a:lnTo>
                  <a:lnTo>
                    <a:pt x="6291072" y="853440"/>
                  </a:lnTo>
                  <a:lnTo>
                    <a:pt x="0" y="853440"/>
                  </a:lnTo>
                  <a:close/>
                </a:path>
              </a:pathLst>
            </a:custGeom>
            <a:blipFill>
              <a:blip r:embed="rId3">
                <a:alphaModFix amt="0"/>
              </a:blip>
              <a:stretch>
                <a:fillRect l="0" t="-93632" r="0" b="-93632"/>
              </a:stretch>
            </a:blipFill>
          </p:spPr>
        </p:sp>
        <p:sp>
          <p:nvSpPr>
            <p:cNvPr name="TextBox 43" id="43"/>
            <p:cNvSpPr txBox="true"/>
            <p:nvPr/>
          </p:nvSpPr>
          <p:spPr>
            <a:xfrm>
              <a:off x="0" y="-38100"/>
              <a:ext cx="6291072" cy="89154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RegYear, RegMonth depuis RegistrationDate</a:t>
              </a:r>
            </a:p>
          </p:txBody>
        </p:sp>
      </p:grpSp>
      <p:grpSp>
        <p:nvGrpSpPr>
          <p:cNvPr name="Group 44" id="44"/>
          <p:cNvGrpSpPr/>
          <p:nvPr/>
        </p:nvGrpSpPr>
        <p:grpSpPr>
          <a:xfrm rot="0">
            <a:off x="11682855" y="2487297"/>
            <a:ext cx="5279641" cy="1932937"/>
            <a:chOff x="0" y="0"/>
            <a:chExt cx="7039521" cy="2577249"/>
          </a:xfrm>
        </p:grpSpPr>
        <p:sp>
          <p:nvSpPr>
            <p:cNvPr name="Freeform 45" id="45"/>
            <p:cNvSpPr/>
            <p:nvPr/>
          </p:nvSpPr>
          <p:spPr>
            <a:xfrm flipH="false" flipV="false" rot="0">
              <a:off x="8509" y="8509"/>
              <a:ext cx="7022592" cy="2560320"/>
            </a:xfrm>
            <a:custGeom>
              <a:avLst/>
              <a:gdLst/>
              <a:ahLst/>
              <a:cxnLst/>
              <a:rect r="r" b="b" t="t" l="l"/>
              <a:pathLst>
                <a:path h="2560320" w="7022592">
                  <a:moveTo>
                    <a:pt x="0" y="0"/>
                  </a:moveTo>
                  <a:lnTo>
                    <a:pt x="7022592" y="0"/>
                  </a:lnTo>
                  <a:lnTo>
                    <a:pt x="7022592" y="2560320"/>
                  </a:lnTo>
                  <a:lnTo>
                    <a:pt x="0" y="2560320"/>
                  </a:lnTo>
                  <a:close/>
                </a:path>
              </a:pathLst>
            </a:custGeom>
            <a:solidFill>
              <a:srgbClr val="122540"/>
            </a:solidFill>
          </p:spPr>
        </p:sp>
        <p:sp>
          <p:nvSpPr>
            <p:cNvPr name="Freeform 46" id="46"/>
            <p:cNvSpPr/>
            <p:nvPr/>
          </p:nvSpPr>
          <p:spPr>
            <a:xfrm flipH="false" flipV="false" rot="0">
              <a:off x="0" y="0"/>
              <a:ext cx="7039610" cy="2577338"/>
            </a:xfrm>
            <a:custGeom>
              <a:avLst/>
              <a:gdLst/>
              <a:ahLst/>
              <a:cxnLst/>
              <a:rect r="r" b="b" t="t" l="l"/>
              <a:pathLst>
                <a:path h="2577338" w="7039610">
                  <a:moveTo>
                    <a:pt x="8509" y="0"/>
                  </a:moveTo>
                  <a:lnTo>
                    <a:pt x="7031101" y="0"/>
                  </a:lnTo>
                  <a:cubicBezTo>
                    <a:pt x="7035800" y="0"/>
                    <a:pt x="7039610" y="3810"/>
                    <a:pt x="7039610" y="8509"/>
                  </a:cubicBezTo>
                  <a:lnTo>
                    <a:pt x="7039610" y="2568829"/>
                  </a:lnTo>
                  <a:cubicBezTo>
                    <a:pt x="7039610" y="2573528"/>
                    <a:pt x="7035800" y="2577338"/>
                    <a:pt x="7031101" y="2577338"/>
                  </a:cubicBezTo>
                  <a:lnTo>
                    <a:pt x="8509" y="2577338"/>
                  </a:lnTo>
                  <a:cubicBezTo>
                    <a:pt x="3810" y="2577338"/>
                    <a:pt x="0" y="2573528"/>
                    <a:pt x="0" y="2568829"/>
                  </a:cubicBezTo>
                  <a:lnTo>
                    <a:pt x="0" y="8509"/>
                  </a:lnTo>
                  <a:cubicBezTo>
                    <a:pt x="0" y="3810"/>
                    <a:pt x="3810" y="0"/>
                    <a:pt x="8509" y="0"/>
                  </a:cubicBezTo>
                  <a:moveTo>
                    <a:pt x="8509" y="16891"/>
                  </a:moveTo>
                  <a:lnTo>
                    <a:pt x="8509" y="8509"/>
                  </a:lnTo>
                  <a:lnTo>
                    <a:pt x="17018" y="8509"/>
                  </a:lnTo>
                  <a:lnTo>
                    <a:pt x="17018" y="2568829"/>
                  </a:lnTo>
                  <a:lnTo>
                    <a:pt x="8509" y="2568829"/>
                  </a:lnTo>
                  <a:lnTo>
                    <a:pt x="8509" y="2560320"/>
                  </a:lnTo>
                  <a:lnTo>
                    <a:pt x="7031101" y="2560320"/>
                  </a:lnTo>
                  <a:lnTo>
                    <a:pt x="7031101" y="2568829"/>
                  </a:lnTo>
                  <a:lnTo>
                    <a:pt x="7022592" y="2568829"/>
                  </a:lnTo>
                  <a:lnTo>
                    <a:pt x="7022592" y="8509"/>
                  </a:lnTo>
                  <a:lnTo>
                    <a:pt x="7031101" y="8509"/>
                  </a:lnTo>
                  <a:lnTo>
                    <a:pt x="7031101" y="17018"/>
                  </a:lnTo>
                  <a:lnTo>
                    <a:pt x="8509" y="17018"/>
                  </a:lnTo>
                  <a:close/>
                </a:path>
              </a:pathLst>
            </a:custGeom>
            <a:solidFill>
              <a:srgbClr val="1E3352"/>
            </a:solidFill>
          </p:spPr>
        </p:sp>
      </p:grpSp>
      <p:grpSp>
        <p:nvGrpSpPr>
          <p:cNvPr name="Group 47" id="47"/>
          <p:cNvGrpSpPr/>
          <p:nvPr/>
        </p:nvGrpSpPr>
        <p:grpSpPr>
          <a:xfrm rot="0">
            <a:off x="11676512" y="2480953"/>
            <a:ext cx="135131" cy="1945643"/>
            <a:chOff x="0" y="0"/>
            <a:chExt cx="180175" cy="2594191"/>
          </a:xfrm>
        </p:grpSpPr>
        <p:sp>
          <p:nvSpPr>
            <p:cNvPr name="Freeform 48" id="48"/>
            <p:cNvSpPr/>
            <p:nvPr/>
          </p:nvSpPr>
          <p:spPr>
            <a:xfrm flipH="false" flipV="false" rot="0">
              <a:off x="16891" y="16891"/>
              <a:ext cx="146304" cy="2560320"/>
            </a:xfrm>
            <a:custGeom>
              <a:avLst/>
              <a:gdLst/>
              <a:ahLst/>
              <a:cxnLst/>
              <a:rect r="r" b="b" t="t" l="l"/>
              <a:pathLst>
                <a:path h="2560320" w="146304">
                  <a:moveTo>
                    <a:pt x="0" y="0"/>
                  </a:moveTo>
                  <a:lnTo>
                    <a:pt x="146304" y="0"/>
                  </a:lnTo>
                  <a:lnTo>
                    <a:pt x="146304" y="2560320"/>
                  </a:lnTo>
                  <a:lnTo>
                    <a:pt x="0" y="2560320"/>
                  </a:lnTo>
                  <a:close/>
                </a:path>
              </a:pathLst>
            </a:custGeom>
            <a:solidFill>
              <a:srgbClr val="1A8FFF"/>
            </a:solidFill>
          </p:spPr>
        </p:sp>
        <p:sp>
          <p:nvSpPr>
            <p:cNvPr name="Freeform 49" id="49"/>
            <p:cNvSpPr/>
            <p:nvPr/>
          </p:nvSpPr>
          <p:spPr>
            <a:xfrm flipH="false" flipV="false" rot="0">
              <a:off x="0" y="0"/>
              <a:ext cx="180086" cy="2594102"/>
            </a:xfrm>
            <a:custGeom>
              <a:avLst/>
              <a:gdLst/>
              <a:ahLst/>
              <a:cxnLst/>
              <a:rect r="r" b="b" t="t" l="l"/>
              <a:pathLst>
                <a:path h="2594102" w="180086">
                  <a:moveTo>
                    <a:pt x="16891" y="0"/>
                  </a:moveTo>
                  <a:lnTo>
                    <a:pt x="163195" y="0"/>
                  </a:lnTo>
                  <a:cubicBezTo>
                    <a:pt x="172593" y="0"/>
                    <a:pt x="180086" y="7620"/>
                    <a:pt x="180086" y="16891"/>
                  </a:cubicBezTo>
                  <a:lnTo>
                    <a:pt x="180086" y="2577211"/>
                  </a:lnTo>
                  <a:cubicBezTo>
                    <a:pt x="180086" y="2586609"/>
                    <a:pt x="172466" y="2594102"/>
                    <a:pt x="163195"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163195" y="2560320"/>
                  </a:lnTo>
                  <a:lnTo>
                    <a:pt x="163195" y="2577211"/>
                  </a:lnTo>
                  <a:lnTo>
                    <a:pt x="146304" y="2577211"/>
                  </a:lnTo>
                  <a:lnTo>
                    <a:pt x="146304" y="16891"/>
                  </a:lnTo>
                  <a:lnTo>
                    <a:pt x="163195" y="16891"/>
                  </a:lnTo>
                  <a:lnTo>
                    <a:pt x="163195" y="33909"/>
                  </a:lnTo>
                  <a:lnTo>
                    <a:pt x="16891" y="33909"/>
                  </a:lnTo>
                  <a:close/>
                </a:path>
              </a:pathLst>
            </a:custGeom>
            <a:solidFill>
              <a:srgbClr val="1A8FFF"/>
            </a:solidFill>
          </p:spPr>
        </p:sp>
      </p:grpSp>
      <p:grpSp>
        <p:nvGrpSpPr>
          <p:cNvPr name="Group 50" id="50"/>
          <p:cNvGrpSpPr/>
          <p:nvPr/>
        </p:nvGrpSpPr>
        <p:grpSpPr>
          <a:xfrm rot="0">
            <a:off x="12018393" y="2585090"/>
            <a:ext cx="731520" cy="640080"/>
            <a:chOff x="0" y="0"/>
            <a:chExt cx="975360" cy="853440"/>
          </a:xfrm>
        </p:grpSpPr>
        <p:sp>
          <p:nvSpPr>
            <p:cNvPr name="Freeform 51" id="51"/>
            <p:cNvSpPr/>
            <p:nvPr/>
          </p:nvSpPr>
          <p:spPr>
            <a:xfrm flipH="false" flipV="false" rot="0">
              <a:off x="0" y="0"/>
              <a:ext cx="975360" cy="853440"/>
            </a:xfrm>
            <a:custGeom>
              <a:avLst/>
              <a:gdLst/>
              <a:ahLst/>
              <a:cxnLst/>
              <a:rect r="r" b="b" t="t" l="l"/>
              <a:pathLst>
                <a:path h="853440" w="975360">
                  <a:moveTo>
                    <a:pt x="0" y="0"/>
                  </a:moveTo>
                  <a:lnTo>
                    <a:pt x="975360" y="0"/>
                  </a:lnTo>
                  <a:lnTo>
                    <a:pt x="975360" y="853440"/>
                  </a:lnTo>
                  <a:lnTo>
                    <a:pt x="0" y="853440"/>
                  </a:lnTo>
                  <a:close/>
                </a:path>
              </a:pathLst>
            </a:custGeom>
            <a:blipFill>
              <a:blip r:embed="rId3">
                <a:alphaModFix amt="0"/>
              </a:blip>
              <a:stretch>
                <a:fillRect l="-62265" t="0" r="-62265" b="0"/>
              </a:stretch>
            </a:blipFill>
          </p:spPr>
        </p:sp>
        <p:sp>
          <p:nvSpPr>
            <p:cNvPr name="TextBox 52" id="52"/>
            <p:cNvSpPr txBox="true"/>
            <p:nvPr/>
          </p:nvSpPr>
          <p:spPr>
            <a:xfrm>
              <a:off x="0" y="-66675"/>
              <a:ext cx="975360" cy="920115"/>
            </a:xfrm>
            <a:prstGeom prst="rect">
              <a:avLst/>
            </a:prstGeom>
          </p:spPr>
          <p:txBody>
            <a:bodyPr anchor="ctr" rtlCol="false" tIns="0" lIns="0" bIns="0" rIns="0"/>
            <a:lstStyle/>
            <a:p>
              <a:pPr algn="l">
                <a:lnSpc>
                  <a:spcPts val="4320"/>
                </a:lnSpc>
              </a:pPr>
              <a:r>
                <a:rPr lang="en-US" sz="3600" b="true">
                  <a:solidFill>
                    <a:srgbClr val="1A8FFF"/>
                  </a:solidFill>
                  <a:latin typeface="Calibri (MS) Bold"/>
                  <a:ea typeface="Calibri (MS) Bold"/>
                  <a:cs typeface="Calibri (MS) Bold"/>
                  <a:sym typeface="Calibri (MS) Bold"/>
                </a:rPr>
                <a:t>3</a:t>
              </a:r>
            </a:p>
          </p:txBody>
        </p:sp>
      </p:grpSp>
      <p:grpSp>
        <p:nvGrpSpPr>
          <p:cNvPr name="Group 53" id="53"/>
          <p:cNvGrpSpPr/>
          <p:nvPr/>
        </p:nvGrpSpPr>
        <p:grpSpPr>
          <a:xfrm rot="0">
            <a:off x="12018393" y="3188594"/>
            <a:ext cx="4718304" cy="512064"/>
            <a:chOff x="0" y="0"/>
            <a:chExt cx="6291072" cy="682752"/>
          </a:xfrm>
        </p:grpSpPr>
        <p:sp>
          <p:nvSpPr>
            <p:cNvPr name="Freeform 54" id="54"/>
            <p:cNvSpPr/>
            <p:nvPr/>
          </p:nvSpPr>
          <p:spPr>
            <a:xfrm flipH="false" flipV="false" rot="0">
              <a:off x="0" y="0"/>
              <a:ext cx="6291072" cy="682752"/>
            </a:xfrm>
            <a:custGeom>
              <a:avLst/>
              <a:gdLst/>
              <a:ahLst/>
              <a:cxnLst/>
              <a:rect r="r" b="b" t="t" l="l"/>
              <a:pathLst>
                <a:path h="682752" w="6291072">
                  <a:moveTo>
                    <a:pt x="0" y="0"/>
                  </a:moveTo>
                  <a:lnTo>
                    <a:pt x="6291072" y="0"/>
                  </a:lnTo>
                  <a:lnTo>
                    <a:pt x="6291072" y="682752"/>
                  </a:lnTo>
                  <a:lnTo>
                    <a:pt x="0" y="682752"/>
                  </a:lnTo>
                  <a:close/>
                </a:path>
              </a:pathLst>
            </a:custGeom>
            <a:blipFill>
              <a:blip r:embed="rId3">
                <a:alphaModFix amt="0"/>
              </a:blip>
              <a:stretch>
                <a:fillRect l="0" t="-129540" r="0" b="-129540"/>
              </a:stretch>
            </a:blipFill>
          </p:spPr>
        </p:sp>
        <p:sp>
          <p:nvSpPr>
            <p:cNvPr name="TextBox 55" id="55"/>
            <p:cNvSpPr txBox="true"/>
            <p:nvPr/>
          </p:nvSpPr>
          <p:spPr>
            <a:xfrm>
              <a:off x="0" y="-47625"/>
              <a:ext cx="6291072" cy="730377"/>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Nettoyage</a:t>
              </a:r>
            </a:p>
          </p:txBody>
        </p:sp>
      </p:grpSp>
      <p:grpSp>
        <p:nvGrpSpPr>
          <p:cNvPr name="Group 56" id="56"/>
          <p:cNvGrpSpPr/>
          <p:nvPr/>
        </p:nvGrpSpPr>
        <p:grpSpPr>
          <a:xfrm rot="0">
            <a:off x="12018393" y="3682370"/>
            <a:ext cx="4718304" cy="640080"/>
            <a:chOff x="0" y="0"/>
            <a:chExt cx="6291072" cy="853440"/>
          </a:xfrm>
        </p:grpSpPr>
        <p:sp>
          <p:nvSpPr>
            <p:cNvPr name="Freeform 57" id="57"/>
            <p:cNvSpPr/>
            <p:nvPr/>
          </p:nvSpPr>
          <p:spPr>
            <a:xfrm flipH="false" flipV="false" rot="0">
              <a:off x="0" y="0"/>
              <a:ext cx="6291072" cy="853440"/>
            </a:xfrm>
            <a:custGeom>
              <a:avLst/>
              <a:gdLst/>
              <a:ahLst/>
              <a:cxnLst/>
              <a:rect r="r" b="b" t="t" l="l"/>
              <a:pathLst>
                <a:path h="853440" w="6291072">
                  <a:moveTo>
                    <a:pt x="0" y="0"/>
                  </a:moveTo>
                  <a:lnTo>
                    <a:pt x="6291072" y="0"/>
                  </a:lnTo>
                  <a:lnTo>
                    <a:pt x="6291072" y="853440"/>
                  </a:lnTo>
                  <a:lnTo>
                    <a:pt x="0" y="853440"/>
                  </a:lnTo>
                  <a:close/>
                </a:path>
              </a:pathLst>
            </a:custGeom>
            <a:blipFill>
              <a:blip r:embed="rId3">
                <a:alphaModFix amt="0"/>
              </a:blip>
              <a:stretch>
                <a:fillRect l="0" t="-93632" r="0" b="-93632"/>
              </a:stretch>
            </a:blipFill>
          </p:spPr>
        </p:sp>
        <p:sp>
          <p:nvSpPr>
            <p:cNvPr name="TextBox 58" id="58"/>
            <p:cNvSpPr txBox="true"/>
            <p:nvPr/>
          </p:nvSpPr>
          <p:spPr>
            <a:xfrm>
              <a:off x="0" y="-38100"/>
              <a:ext cx="6291072" cy="89154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Suppression colonnes redondantes / haute cardinalité</a:t>
              </a:r>
            </a:p>
          </p:txBody>
        </p:sp>
      </p:grpSp>
      <p:grpSp>
        <p:nvGrpSpPr>
          <p:cNvPr name="Group 59" id="59"/>
          <p:cNvGrpSpPr/>
          <p:nvPr/>
        </p:nvGrpSpPr>
        <p:grpSpPr>
          <a:xfrm rot="0">
            <a:off x="710055" y="4755009"/>
            <a:ext cx="5279641" cy="1932937"/>
            <a:chOff x="0" y="0"/>
            <a:chExt cx="7039521" cy="2577249"/>
          </a:xfrm>
        </p:grpSpPr>
        <p:sp>
          <p:nvSpPr>
            <p:cNvPr name="Freeform 60" id="60"/>
            <p:cNvSpPr/>
            <p:nvPr/>
          </p:nvSpPr>
          <p:spPr>
            <a:xfrm flipH="false" flipV="false" rot="0">
              <a:off x="8509" y="8509"/>
              <a:ext cx="7022592" cy="2560320"/>
            </a:xfrm>
            <a:custGeom>
              <a:avLst/>
              <a:gdLst/>
              <a:ahLst/>
              <a:cxnLst/>
              <a:rect r="r" b="b" t="t" l="l"/>
              <a:pathLst>
                <a:path h="2560320" w="7022592">
                  <a:moveTo>
                    <a:pt x="0" y="0"/>
                  </a:moveTo>
                  <a:lnTo>
                    <a:pt x="7022592" y="0"/>
                  </a:lnTo>
                  <a:lnTo>
                    <a:pt x="7022592" y="2560320"/>
                  </a:lnTo>
                  <a:lnTo>
                    <a:pt x="0" y="2560320"/>
                  </a:lnTo>
                  <a:close/>
                </a:path>
              </a:pathLst>
            </a:custGeom>
            <a:solidFill>
              <a:srgbClr val="122540"/>
            </a:solidFill>
          </p:spPr>
        </p:sp>
        <p:sp>
          <p:nvSpPr>
            <p:cNvPr name="Freeform 61" id="61"/>
            <p:cNvSpPr/>
            <p:nvPr/>
          </p:nvSpPr>
          <p:spPr>
            <a:xfrm flipH="false" flipV="false" rot="0">
              <a:off x="0" y="0"/>
              <a:ext cx="7039610" cy="2577338"/>
            </a:xfrm>
            <a:custGeom>
              <a:avLst/>
              <a:gdLst/>
              <a:ahLst/>
              <a:cxnLst/>
              <a:rect r="r" b="b" t="t" l="l"/>
              <a:pathLst>
                <a:path h="2577338" w="7039610">
                  <a:moveTo>
                    <a:pt x="8509" y="0"/>
                  </a:moveTo>
                  <a:lnTo>
                    <a:pt x="7031101" y="0"/>
                  </a:lnTo>
                  <a:cubicBezTo>
                    <a:pt x="7035800" y="0"/>
                    <a:pt x="7039610" y="3810"/>
                    <a:pt x="7039610" y="8509"/>
                  </a:cubicBezTo>
                  <a:lnTo>
                    <a:pt x="7039610" y="2568829"/>
                  </a:lnTo>
                  <a:cubicBezTo>
                    <a:pt x="7039610" y="2573528"/>
                    <a:pt x="7035800" y="2577338"/>
                    <a:pt x="7031101" y="2577338"/>
                  </a:cubicBezTo>
                  <a:lnTo>
                    <a:pt x="8509" y="2577338"/>
                  </a:lnTo>
                  <a:cubicBezTo>
                    <a:pt x="3810" y="2577338"/>
                    <a:pt x="0" y="2573528"/>
                    <a:pt x="0" y="2568829"/>
                  </a:cubicBezTo>
                  <a:lnTo>
                    <a:pt x="0" y="8509"/>
                  </a:lnTo>
                  <a:cubicBezTo>
                    <a:pt x="0" y="3810"/>
                    <a:pt x="3810" y="0"/>
                    <a:pt x="8509" y="0"/>
                  </a:cubicBezTo>
                  <a:moveTo>
                    <a:pt x="8509" y="16891"/>
                  </a:moveTo>
                  <a:lnTo>
                    <a:pt x="8509" y="8509"/>
                  </a:lnTo>
                  <a:lnTo>
                    <a:pt x="17018" y="8509"/>
                  </a:lnTo>
                  <a:lnTo>
                    <a:pt x="17018" y="2568829"/>
                  </a:lnTo>
                  <a:lnTo>
                    <a:pt x="8509" y="2568829"/>
                  </a:lnTo>
                  <a:lnTo>
                    <a:pt x="8509" y="2560320"/>
                  </a:lnTo>
                  <a:lnTo>
                    <a:pt x="7031101" y="2560320"/>
                  </a:lnTo>
                  <a:lnTo>
                    <a:pt x="7031101" y="2568829"/>
                  </a:lnTo>
                  <a:lnTo>
                    <a:pt x="7022592" y="2568829"/>
                  </a:lnTo>
                  <a:lnTo>
                    <a:pt x="7022592" y="8509"/>
                  </a:lnTo>
                  <a:lnTo>
                    <a:pt x="7031101" y="8509"/>
                  </a:lnTo>
                  <a:lnTo>
                    <a:pt x="7031101" y="17018"/>
                  </a:lnTo>
                  <a:lnTo>
                    <a:pt x="8509" y="17018"/>
                  </a:lnTo>
                  <a:close/>
                </a:path>
              </a:pathLst>
            </a:custGeom>
            <a:solidFill>
              <a:srgbClr val="1E3352"/>
            </a:solidFill>
          </p:spPr>
        </p:sp>
      </p:grpSp>
      <p:grpSp>
        <p:nvGrpSpPr>
          <p:cNvPr name="Group 62" id="62"/>
          <p:cNvGrpSpPr/>
          <p:nvPr/>
        </p:nvGrpSpPr>
        <p:grpSpPr>
          <a:xfrm rot="0">
            <a:off x="703712" y="4748665"/>
            <a:ext cx="135131" cy="1945643"/>
            <a:chOff x="0" y="0"/>
            <a:chExt cx="180175" cy="2594191"/>
          </a:xfrm>
        </p:grpSpPr>
        <p:sp>
          <p:nvSpPr>
            <p:cNvPr name="Freeform 63" id="63"/>
            <p:cNvSpPr/>
            <p:nvPr/>
          </p:nvSpPr>
          <p:spPr>
            <a:xfrm flipH="false" flipV="false" rot="0">
              <a:off x="16891" y="16891"/>
              <a:ext cx="146304" cy="2560320"/>
            </a:xfrm>
            <a:custGeom>
              <a:avLst/>
              <a:gdLst/>
              <a:ahLst/>
              <a:cxnLst/>
              <a:rect r="r" b="b" t="t" l="l"/>
              <a:pathLst>
                <a:path h="2560320" w="146304">
                  <a:moveTo>
                    <a:pt x="0" y="0"/>
                  </a:moveTo>
                  <a:lnTo>
                    <a:pt x="146304" y="0"/>
                  </a:lnTo>
                  <a:lnTo>
                    <a:pt x="146304" y="2560320"/>
                  </a:lnTo>
                  <a:lnTo>
                    <a:pt x="0" y="2560320"/>
                  </a:lnTo>
                  <a:close/>
                </a:path>
              </a:pathLst>
            </a:custGeom>
            <a:solidFill>
              <a:srgbClr val="00E5A0"/>
            </a:solidFill>
          </p:spPr>
        </p:sp>
        <p:sp>
          <p:nvSpPr>
            <p:cNvPr name="Freeform 64" id="64"/>
            <p:cNvSpPr/>
            <p:nvPr/>
          </p:nvSpPr>
          <p:spPr>
            <a:xfrm flipH="false" flipV="false" rot="0">
              <a:off x="0" y="0"/>
              <a:ext cx="180086" cy="2594102"/>
            </a:xfrm>
            <a:custGeom>
              <a:avLst/>
              <a:gdLst/>
              <a:ahLst/>
              <a:cxnLst/>
              <a:rect r="r" b="b" t="t" l="l"/>
              <a:pathLst>
                <a:path h="2594102" w="180086">
                  <a:moveTo>
                    <a:pt x="16891" y="0"/>
                  </a:moveTo>
                  <a:lnTo>
                    <a:pt x="163195" y="0"/>
                  </a:lnTo>
                  <a:cubicBezTo>
                    <a:pt x="172593" y="0"/>
                    <a:pt x="180086" y="7620"/>
                    <a:pt x="180086" y="16891"/>
                  </a:cubicBezTo>
                  <a:lnTo>
                    <a:pt x="180086" y="2577211"/>
                  </a:lnTo>
                  <a:cubicBezTo>
                    <a:pt x="180086" y="2586609"/>
                    <a:pt x="172466" y="2594102"/>
                    <a:pt x="163195"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163195" y="2560320"/>
                  </a:lnTo>
                  <a:lnTo>
                    <a:pt x="163195" y="2577211"/>
                  </a:lnTo>
                  <a:lnTo>
                    <a:pt x="146304" y="2577211"/>
                  </a:lnTo>
                  <a:lnTo>
                    <a:pt x="146304" y="16891"/>
                  </a:lnTo>
                  <a:lnTo>
                    <a:pt x="163195" y="16891"/>
                  </a:lnTo>
                  <a:lnTo>
                    <a:pt x="163195" y="33909"/>
                  </a:lnTo>
                  <a:lnTo>
                    <a:pt x="16891" y="33909"/>
                  </a:lnTo>
                  <a:close/>
                </a:path>
              </a:pathLst>
            </a:custGeom>
            <a:solidFill>
              <a:srgbClr val="00E5A0"/>
            </a:solidFill>
          </p:spPr>
        </p:sp>
      </p:grpSp>
      <p:grpSp>
        <p:nvGrpSpPr>
          <p:cNvPr name="Group 65" id="65"/>
          <p:cNvGrpSpPr/>
          <p:nvPr/>
        </p:nvGrpSpPr>
        <p:grpSpPr>
          <a:xfrm rot="0">
            <a:off x="1045593" y="4852802"/>
            <a:ext cx="731520" cy="720385"/>
            <a:chOff x="0" y="0"/>
            <a:chExt cx="975360" cy="960514"/>
          </a:xfrm>
        </p:grpSpPr>
        <p:sp>
          <p:nvSpPr>
            <p:cNvPr name="Freeform 66" id="66"/>
            <p:cNvSpPr/>
            <p:nvPr/>
          </p:nvSpPr>
          <p:spPr>
            <a:xfrm flipH="false" flipV="false" rot="0">
              <a:off x="0" y="0"/>
              <a:ext cx="975360" cy="960514"/>
            </a:xfrm>
            <a:custGeom>
              <a:avLst/>
              <a:gdLst/>
              <a:ahLst/>
              <a:cxnLst/>
              <a:rect r="r" b="b" t="t" l="l"/>
              <a:pathLst>
                <a:path h="960514" w="975360">
                  <a:moveTo>
                    <a:pt x="0" y="0"/>
                  </a:moveTo>
                  <a:lnTo>
                    <a:pt x="975360" y="0"/>
                  </a:lnTo>
                  <a:lnTo>
                    <a:pt x="975360" y="960514"/>
                  </a:lnTo>
                  <a:lnTo>
                    <a:pt x="0" y="960514"/>
                  </a:lnTo>
                  <a:close/>
                </a:path>
              </a:pathLst>
            </a:custGeom>
            <a:blipFill>
              <a:blip r:embed="rId3">
                <a:alphaModFix amt="0"/>
              </a:blip>
              <a:stretch>
                <a:fillRect l="-62265" t="0" r="-62265" b="11147"/>
              </a:stretch>
            </a:blipFill>
          </p:spPr>
        </p:sp>
        <p:sp>
          <p:nvSpPr>
            <p:cNvPr name="TextBox 67" id="67"/>
            <p:cNvSpPr txBox="true"/>
            <p:nvPr/>
          </p:nvSpPr>
          <p:spPr>
            <a:xfrm>
              <a:off x="0" y="-66675"/>
              <a:ext cx="975360" cy="1027189"/>
            </a:xfrm>
            <a:prstGeom prst="rect">
              <a:avLst/>
            </a:prstGeom>
          </p:spPr>
          <p:txBody>
            <a:bodyPr anchor="ctr" rtlCol="false" tIns="0" lIns="0" bIns="0" rIns="0"/>
            <a:lstStyle/>
            <a:p>
              <a:pPr algn="l">
                <a:lnSpc>
                  <a:spcPts val="4320"/>
                </a:lnSpc>
              </a:pPr>
              <a:r>
                <a:rPr lang="en-US" sz="3600" b="true">
                  <a:solidFill>
                    <a:srgbClr val="00E5A0"/>
                  </a:solidFill>
                  <a:latin typeface="Calibri (MS) Bold"/>
                  <a:ea typeface="Calibri (MS) Bold"/>
                  <a:cs typeface="Calibri (MS) Bold"/>
                  <a:sym typeface="Calibri (MS) Bold"/>
                </a:rPr>
                <a:t>4</a:t>
              </a:r>
            </a:p>
          </p:txBody>
        </p:sp>
      </p:grpSp>
      <p:grpSp>
        <p:nvGrpSpPr>
          <p:cNvPr name="Group 68" id="68"/>
          <p:cNvGrpSpPr/>
          <p:nvPr/>
        </p:nvGrpSpPr>
        <p:grpSpPr>
          <a:xfrm rot="0">
            <a:off x="1045593" y="5456306"/>
            <a:ext cx="4718304" cy="512064"/>
            <a:chOff x="0" y="0"/>
            <a:chExt cx="6291072" cy="682752"/>
          </a:xfrm>
        </p:grpSpPr>
        <p:sp>
          <p:nvSpPr>
            <p:cNvPr name="Freeform 69" id="69"/>
            <p:cNvSpPr/>
            <p:nvPr/>
          </p:nvSpPr>
          <p:spPr>
            <a:xfrm flipH="false" flipV="false" rot="0">
              <a:off x="0" y="0"/>
              <a:ext cx="6291072" cy="682752"/>
            </a:xfrm>
            <a:custGeom>
              <a:avLst/>
              <a:gdLst/>
              <a:ahLst/>
              <a:cxnLst/>
              <a:rect r="r" b="b" t="t" l="l"/>
              <a:pathLst>
                <a:path h="682752" w="6291072">
                  <a:moveTo>
                    <a:pt x="0" y="0"/>
                  </a:moveTo>
                  <a:lnTo>
                    <a:pt x="6291072" y="0"/>
                  </a:lnTo>
                  <a:lnTo>
                    <a:pt x="6291072" y="682752"/>
                  </a:lnTo>
                  <a:lnTo>
                    <a:pt x="0" y="682752"/>
                  </a:lnTo>
                  <a:close/>
                </a:path>
              </a:pathLst>
            </a:custGeom>
            <a:blipFill>
              <a:blip r:embed="rId3">
                <a:alphaModFix amt="0"/>
              </a:blip>
              <a:stretch>
                <a:fillRect l="0" t="-129540" r="0" b="-129540"/>
              </a:stretch>
            </a:blipFill>
          </p:spPr>
        </p:sp>
        <p:sp>
          <p:nvSpPr>
            <p:cNvPr name="TextBox 70" id="70"/>
            <p:cNvSpPr txBox="true"/>
            <p:nvPr/>
          </p:nvSpPr>
          <p:spPr>
            <a:xfrm>
              <a:off x="0" y="-47625"/>
              <a:ext cx="6291072" cy="730377"/>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Encodage</a:t>
              </a:r>
            </a:p>
          </p:txBody>
        </p:sp>
      </p:grpSp>
      <p:grpSp>
        <p:nvGrpSpPr>
          <p:cNvPr name="Group 71" id="71"/>
          <p:cNvGrpSpPr/>
          <p:nvPr/>
        </p:nvGrpSpPr>
        <p:grpSpPr>
          <a:xfrm rot="0">
            <a:off x="1045593" y="5950082"/>
            <a:ext cx="4718304" cy="640080"/>
            <a:chOff x="0" y="0"/>
            <a:chExt cx="6291072" cy="853440"/>
          </a:xfrm>
        </p:grpSpPr>
        <p:sp>
          <p:nvSpPr>
            <p:cNvPr name="Freeform 72" id="72"/>
            <p:cNvSpPr/>
            <p:nvPr/>
          </p:nvSpPr>
          <p:spPr>
            <a:xfrm flipH="false" flipV="false" rot="0">
              <a:off x="0" y="0"/>
              <a:ext cx="6291072" cy="853440"/>
            </a:xfrm>
            <a:custGeom>
              <a:avLst/>
              <a:gdLst/>
              <a:ahLst/>
              <a:cxnLst/>
              <a:rect r="r" b="b" t="t" l="l"/>
              <a:pathLst>
                <a:path h="853440" w="6291072">
                  <a:moveTo>
                    <a:pt x="0" y="0"/>
                  </a:moveTo>
                  <a:lnTo>
                    <a:pt x="6291072" y="0"/>
                  </a:lnTo>
                  <a:lnTo>
                    <a:pt x="6291072" y="853440"/>
                  </a:lnTo>
                  <a:lnTo>
                    <a:pt x="0" y="853440"/>
                  </a:lnTo>
                  <a:close/>
                </a:path>
              </a:pathLst>
            </a:custGeom>
            <a:blipFill>
              <a:blip r:embed="rId3">
                <a:alphaModFix amt="0"/>
              </a:blip>
              <a:stretch>
                <a:fillRect l="0" t="-93632" r="0" b="-93632"/>
              </a:stretch>
            </a:blipFill>
          </p:spPr>
        </p:sp>
        <p:sp>
          <p:nvSpPr>
            <p:cNvPr name="TextBox 73" id="73"/>
            <p:cNvSpPr txBox="true"/>
            <p:nvPr/>
          </p:nvSpPr>
          <p:spPr>
            <a:xfrm>
              <a:off x="0" y="-38100"/>
              <a:ext cx="6291072" cy="89154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LabelEncoder sur variables catégorielles</a:t>
              </a:r>
            </a:p>
          </p:txBody>
        </p:sp>
      </p:grpSp>
      <p:grpSp>
        <p:nvGrpSpPr>
          <p:cNvPr name="Group 74" id="74"/>
          <p:cNvGrpSpPr/>
          <p:nvPr/>
        </p:nvGrpSpPr>
        <p:grpSpPr>
          <a:xfrm rot="0">
            <a:off x="6196455" y="4755009"/>
            <a:ext cx="5279641" cy="1932937"/>
            <a:chOff x="0" y="0"/>
            <a:chExt cx="7039521" cy="2577249"/>
          </a:xfrm>
        </p:grpSpPr>
        <p:sp>
          <p:nvSpPr>
            <p:cNvPr name="Freeform 75" id="75"/>
            <p:cNvSpPr/>
            <p:nvPr/>
          </p:nvSpPr>
          <p:spPr>
            <a:xfrm flipH="false" flipV="false" rot="0">
              <a:off x="8509" y="8509"/>
              <a:ext cx="7022592" cy="2560320"/>
            </a:xfrm>
            <a:custGeom>
              <a:avLst/>
              <a:gdLst/>
              <a:ahLst/>
              <a:cxnLst/>
              <a:rect r="r" b="b" t="t" l="l"/>
              <a:pathLst>
                <a:path h="2560320" w="7022592">
                  <a:moveTo>
                    <a:pt x="0" y="0"/>
                  </a:moveTo>
                  <a:lnTo>
                    <a:pt x="7022592" y="0"/>
                  </a:lnTo>
                  <a:lnTo>
                    <a:pt x="7022592" y="2560320"/>
                  </a:lnTo>
                  <a:lnTo>
                    <a:pt x="0" y="2560320"/>
                  </a:lnTo>
                  <a:close/>
                </a:path>
              </a:pathLst>
            </a:custGeom>
            <a:solidFill>
              <a:srgbClr val="122540"/>
            </a:solidFill>
          </p:spPr>
        </p:sp>
        <p:sp>
          <p:nvSpPr>
            <p:cNvPr name="Freeform 76" id="76"/>
            <p:cNvSpPr/>
            <p:nvPr/>
          </p:nvSpPr>
          <p:spPr>
            <a:xfrm flipH="false" flipV="false" rot="0">
              <a:off x="0" y="0"/>
              <a:ext cx="7039610" cy="2577338"/>
            </a:xfrm>
            <a:custGeom>
              <a:avLst/>
              <a:gdLst/>
              <a:ahLst/>
              <a:cxnLst/>
              <a:rect r="r" b="b" t="t" l="l"/>
              <a:pathLst>
                <a:path h="2577338" w="7039610">
                  <a:moveTo>
                    <a:pt x="8509" y="0"/>
                  </a:moveTo>
                  <a:lnTo>
                    <a:pt x="7031101" y="0"/>
                  </a:lnTo>
                  <a:cubicBezTo>
                    <a:pt x="7035800" y="0"/>
                    <a:pt x="7039610" y="3810"/>
                    <a:pt x="7039610" y="8509"/>
                  </a:cubicBezTo>
                  <a:lnTo>
                    <a:pt x="7039610" y="2568829"/>
                  </a:lnTo>
                  <a:cubicBezTo>
                    <a:pt x="7039610" y="2573528"/>
                    <a:pt x="7035800" y="2577338"/>
                    <a:pt x="7031101" y="2577338"/>
                  </a:cubicBezTo>
                  <a:lnTo>
                    <a:pt x="8509" y="2577338"/>
                  </a:lnTo>
                  <a:cubicBezTo>
                    <a:pt x="3810" y="2577338"/>
                    <a:pt x="0" y="2573528"/>
                    <a:pt x="0" y="2568829"/>
                  </a:cubicBezTo>
                  <a:lnTo>
                    <a:pt x="0" y="8509"/>
                  </a:lnTo>
                  <a:cubicBezTo>
                    <a:pt x="0" y="3810"/>
                    <a:pt x="3810" y="0"/>
                    <a:pt x="8509" y="0"/>
                  </a:cubicBezTo>
                  <a:moveTo>
                    <a:pt x="8509" y="16891"/>
                  </a:moveTo>
                  <a:lnTo>
                    <a:pt x="8509" y="8509"/>
                  </a:lnTo>
                  <a:lnTo>
                    <a:pt x="17018" y="8509"/>
                  </a:lnTo>
                  <a:lnTo>
                    <a:pt x="17018" y="2568829"/>
                  </a:lnTo>
                  <a:lnTo>
                    <a:pt x="8509" y="2568829"/>
                  </a:lnTo>
                  <a:lnTo>
                    <a:pt x="8509" y="2560320"/>
                  </a:lnTo>
                  <a:lnTo>
                    <a:pt x="7031101" y="2560320"/>
                  </a:lnTo>
                  <a:lnTo>
                    <a:pt x="7031101" y="2568829"/>
                  </a:lnTo>
                  <a:lnTo>
                    <a:pt x="7022592" y="2568829"/>
                  </a:lnTo>
                  <a:lnTo>
                    <a:pt x="7022592" y="8509"/>
                  </a:lnTo>
                  <a:lnTo>
                    <a:pt x="7031101" y="8509"/>
                  </a:lnTo>
                  <a:lnTo>
                    <a:pt x="7031101" y="17018"/>
                  </a:lnTo>
                  <a:lnTo>
                    <a:pt x="8509" y="17018"/>
                  </a:lnTo>
                  <a:close/>
                </a:path>
              </a:pathLst>
            </a:custGeom>
            <a:solidFill>
              <a:srgbClr val="1E3352"/>
            </a:solidFill>
          </p:spPr>
        </p:sp>
      </p:grpSp>
      <p:grpSp>
        <p:nvGrpSpPr>
          <p:cNvPr name="Group 77" id="77"/>
          <p:cNvGrpSpPr/>
          <p:nvPr/>
        </p:nvGrpSpPr>
        <p:grpSpPr>
          <a:xfrm rot="0">
            <a:off x="6190112" y="4748665"/>
            <a:ext cx="135131" cy="1945643"/>
            <a:chOff x="0" y="0"/>
            <a:chExt cx="180175" cy="2594191"/>
          </a:xfrm>
        </p:grpSpPr>
        <p:sp>
          <p:nvSpPr>
            <p:cNvPr name="Freeform 78" id="78"/>
            <p:cNvSpPr/>
            <p:nvPr/>
          </p:nvSpPr>
          <p:spPr>
            <a:xfrm flipH="false" flipV="false" rot="0">
              <a:off x="16891" y="16891"/>
              <a:ext cx="146304" cy="2560320"/>
            </a:xfrm>
            <a:custGeom>
              <a:avLst/>
              <a:gdLst/>
              <a:ahLst/>
              <a:cxnLst/>
              <a:rect r="r" b="b" t="t" l="l"/>
              <a:pathLst>
                <a:path h="2560320" w="146304">
                  <a:moveTo>
                    <a:pt x="0" y="0"/>
                  </a:moveTo>
                  <a:lnTo>
                    <a:pt x="146304" y="0"/>
                  </a:lnTo>
                  <a:lnTo>
                    <a:pt x="146304" y="2560320"/>
                  </a:lnTo>
                  <a:lnTo>
                    <a:pt x="0" y="2560320"/>
                  </a:lnTo>
                  <a:close/>
                </a:path>
              </a:pathLst>
            </a:custGeom>
            <a:solidFill>
              <a:srgbClr val="A855F7"/>
            </a:solidFill>
          </p:spPr>
        </p:sp>
        <p:sp>
          <p:nvSpPr>
            <p:cNvPr name="Freeform 79" id="79"/>
            <p:cNvSpPr/>
            <p:nvPr/>
          </p:nvSpPr>
          <p:spPr>
            <a:xfrm flipH="false" flipV="false" rot="0">
              <a:off x="0" y="0"/>
              <a:ext cx="180086" cy="2594102"/>
            </a:xfrm>
            <a:custGeom>
              <a:avLst/>
              <a:gdLst/>
              <a:ahLst/>
              <a:cxnLst/>
              <a:rect r="r" b="b" t="t" l="l"/>
              <a:pathLst>
                <a:path h="2594102" w="180086">
                  <a:moveTo>
                    <a:pt x="16891" y="0"/>
                  </a:moveTo>
                  <a:lnTo>
                    <a:pt x="163195" y="0"/>
                  </a:lnTo>
                  <a:cubicBezTo>
                    <a:pt x="172593" y="0"/>
                    <a:pt x="180086" y="7620"/>
                    <a:pt x="180086" y="16891"/>
                  </a:cubicBezTo>
                  <a:lnTo>
                    <a:pt x="180086" y="2577211"/>
                  </a:lnTo>
                  <a:cubicBezTo>
                    <a:pt x="180086" y="2586609"/>
                    <a:pt x="172466" y="2594102"/>
                    <a:pt x="163195"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163195" y="2560320"/>
                  </a:lnTo>
                  <a:lnTo>
                    <a:pt x="163195" y="2577211"/>
                  </a:lnTo>
                  <a:lnTo>
                    <a:pt x="146304" y="2577211"/>
                  </a:lnTo>
                  <a:lnTo>
                    <a:pt x="146304" y="16891"/>
                  </a:lnTo>
                  <a:lnTo>
                    <a:pt x="163195" y="16891"/>
                  </a:lnTo>
                  <a:lnTo>
                    <a:pt x="163195" y="33909"/>
                  </a:lnTo>
                  <a:lnTo>
                    <a:pt x="16891" y="33909"/>
                  </a:lnTo>
                  <a:close/>
                </a:path>
              </a:pathLst>
            </a:custGeom>
            <a:solidFill>
              <a:srgbClr val="A855F7"/>
            </a:solidFill>
          </p:spPr>
        </p:sp>
      </p:grpSp>
      <p:grpSp>
        <p:nvGrpSpPr>
          <p:cNvPr name="Group 80" id="80"/>
          <p:cNvGrpSpPr/>
          <p:nvPr/>
        </p:nvGrpSpPr>
        <p:grpSpPr>
          <a:xfrm rot="0">
            <a:off x="6531993" y="4852802"/>
            <a:ext cx="731520" cy="720385"/>
            <a:chOff x="0" y="0"/>
            <a:chExt cx="975360" cy="960514"/>
          </a:xfrm>
        </p:grpSpPr>
        <p:sp>
          <p:nvSpPr>
            <p:cNvPr name="Freeform 81" id="81"/>
            <p:cNvSpPr/>
            <p:nvPr/>
          </p:nvSpPr>
          <p:spPr>
            <a:xfrm flipH="false" flipV="false" rot="0">
              <a:off x="0" y="0"/>
              <a:ext cx="975360" cy="960514"/>
            </a:xfrm>
            <a:custGeom>
              <a:avLst/>
              <a:gdLst/>
              <a:ahLst/>
              <a:cxnLst/>
              <a:rect r="r" b="b" t="t" l="l"/>
              <a:pathLst>
                <a:path h="960514" w="975360">
                  <a:moveTo>
                    <a:pt x="0" y="0"/>
                  </a:moveTo>
                  <a:lnTo>
                    <a:pt x="975360" y="0"/>
                  </a:lnTo>
                  <a:lnTo>
                    <a:pt x="975360" y="960514"/>
                  </a:lnTo>
                  <a:lnTo>
                    <a:pt x="0" y="960514"/>
                  </a:lnTo>
                  <a:close/>
                </a:path>
              </a:pathLst>
            </a:custGeom>
            <a:blipFill>
              <a:blip r:embed="rId3">
                <a:alphaModFix amt="0"/>
              </a:blip>
              <a:stretch>
                <a:fillRect l="-62265" t="0" r="-62265" b="11147"/>
              </a:stretch>
            </a:blipFill>
          </p:spPr>
        </p:sp>
        <p:sp>
          <p:nvSpPr>
            <p:cNvPr name="TextBox 82" id="82"/>
            <p:cNvSpPr txBox="true"/>
            <p:nvPr/>
          </p:nvSpPr>
          <p:spPr>
            <a:xfrm>
              <a:off x="0" y="-66675"/>
              <a:ext cx="975360" cy="1027189"/>
            </a:xfrm>
            <a:prstGeom prst="rect">
              <a:avLst/>
            </a:prstGeom>
          </p:spPr>
          <p:txBody>
            <a:bodyPr anchor="ctr" rtlCol="false" tIns="0" lIns="0" bIns="0" rIns="0"/>
            <a:lstStyle/>
            <a:p>
              <a:pPr algn="l">
                <a:lnSpc>
                  <a:spcPts val="4320"/>
                </a:lnSpc>
              </a:pPr>
              <a:r>
                <a:rPr lang="en-US" sz="3600" b="true">
                  <a:solidFill>
                    <a:srgbClr val="A855F7"/>
                  </a:solidFill>
                  <a:latin typeface="Calibri (MS) Bold"/>
                  <a:ea typeface="Calibri (MS) Bold"/>
                  <a:cs typeface="Calibri (MS) Bold"/>
                  <a:sym typeface="Calibri (MS) Bold"/>
                </a:rPr>
                <a:t>5</a:t>
              </a:r>
            </a:p>
          </p:txBody>
        </p:sp>
      </p:grpSp>
      <p:grpSp>
        <p:nvGrpSpPr>
          <p:cNvPr name="Group 83" id="83"/>
          <p:cNvGrpSpPr/>
          <p:nvPr/>
        </p:nvGrpSpPr>
        <p:grpSpPr>
          <a:xfrm rot="0">
            <a:off x="6531993" y="5456306"/>
            <a:ext cx="4718304" cy="512064"/>
            <a:chOff x="0" y="0"/>
            <a:chExt cx="6291072" cy="682752"/>
          </a:xfrm>
        </p:grpSpPr>
        <p:sp>
          <p:nvSpPr>
            <p:cNvPr name="Freeform 84" id="84"/>
            <p:cNvSpPr/>
            <p:nvPr/>
          </p:nvSpPr>
          <p:spPr>
            <a:xfrm flipH="false" flipV="false" rot="0">
              <a:off x="0" y="0"/>
              <a:ext cx="6291072" cy="682752"/>
            </a:xfrm>
            <a:custGeom>
              <a:avLst/>
              <a:gdLst/>
              <a:ahLst/>
              <a:cxnLst/>
              <a:rect r="r" b="b" t="t" l="l"/>
              <a:pathLst>
                <a:path h="682752" w="6291072">
                  <a:moveTo>
                    <a:pt x="0" y="0"/>
                  </a:moveTo>
                  <a:lnTo>
                    <a:pt x="6291072" y="0"/>
                  </a:lnTo>
                  <a:lnTo>
                    <a:pt x="6291072" y="682752"/>
                  </a:lnTo>
                  <a:lnTo>
                    <a:pt x="0" y="682752"/>
                  </a:lnTo>
                  <a:close/>
                </a:path>
              </a:pathLst>
            </a:custGeom>
            <a:blipFill>
              <a:blip r:embed="rId3">
                <a:alphaModFix amt="0"/>
              </a:blip>
              <a:stretch>
                <a:fillRect l="0" t="-129540" r="0" b="-129540"/>
              </a:stretch>
            </a:blipFill>
          </p:spPr>
        </p:sp>
        <p:sp>
          <p:nvSpPr>
            <p:cNvPr name="TextBox 85" id="85"/>
            <p:cNvSpPr txBox="true"/>
            <p:nvPr/>
          </p:nvSpPr>
          <p:spPr>
            <a:xfrm>
              <a:off x="0" y="-47625"/>
              <a:ext cx="6291072" cy="730377"/>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Standardisation</a:t>
              </a:r>
            </a:p>
          </p:txBody>
        </p:sp>
      </p:grpSp>
      <p:grpSp>
        <p:nvGrpSpPr>
          <p:cNvPr name="Group 86" id="86"/>
          <p:cNvGrpSpPr/>
          <p:nvPr/>
        </p:nvGrpSpPr>
        <p:grpSpPr>
          <a:xfrm rot="0">
            <a:off x="6531993" y="5950082"/>
            <a:ext cx="4718304" cy="640080"/>
            <a:chOff x="0" y="0"/>
            <a:chExt cx="6291072" cy="853440"/>
          </a:xfrm>
        </p:grpSpPr>
        <p:sp>
          <p:nvSpPr>
            <p:cNvPr name="Freeform 87" id="87"/>
            <p:cNvSpPr/>
            <p:nvPr/>
          </p:nvSpPr>
          <p:spPr>
            <a:xfrm flipH="false" flipV="false" rot="0">
              <a:off x="0" y="0"/>
              <a:ext cx="6291072" cy="853440"/>
            </a:xfrm>
            <a:custGeom>
              <a:avLst/>
              <a:gdLst/>
              <a:ahLst/>
              <a:cxnLst/>
              <a:rect r="r" b="b" t="t" l="l"/>
              <a:pathLst>
                <a:path h="853440" w="6291072">
                  <a:moveTo>
                    <a:pt x="0" y="0"/>
                  </a:moveTo>
                  <a:lnTo>
                    <a:pt x="6291072" y="0"/>
                  </a:lnTo>
                  <a:lnTo>
                    <a:pt x="6291072" y="853440"/>
                  </a:lnTo>
                  <a:lnTo>
                    <a:pt x="0" y="853440"/>
                  </a:lnTo>
                  <a:close/>
                </a:path>
              </a:pathLst>
            </a:custGeom>
            <a:blipFill>
              <a:blip r:embed="rId3">
                <a:alphaModFix amt="0"/>
              </a:blip>
              <a:stretch>
                <a:fillRect l="0" t="-93632" r="0" b="-93632"/>
              </a:stretch>
            </a:blipFill>
          </p:spPr>
        </p:sp>
        <p:sp>
          <p:nvSpPr>
            <p:cNvPr name="TextBox 88" id="88"/>
            <p:cNvSpPr txBox="true"/>
            <p:nvPr/>
          </p:nvSpPr>
          <p:spPr>
            <a:xfrm>
              <a:off x="0" y="-38100"/>
              <a:ext cx="6291072" cy="89154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StandardScaler avant PCA</a:t>
              </a:r>
            </a:p>
          </p:txBody>
        </p:sp>
      </p:grpSp>
      <p:grpSp>
        <p:nvGrpSpPr>
          <p:cNvPr name="Group 89" id="89"/>
          <p:cNvGrpSpPr/>
          <p:nvPr/>
        </p:nvGrpSpPr>
        <p:grpSpPr>
          <a:xfrm rot="0">
            <a:off x="11682855" y="4755009"/>
            <a:ext cx="5279641" cy="1932937"/>
            <a:chOff x="0" y="0"/>
            <a:chExt cx="7039521" cy="2577249"/>
          </a:xfrm>
        </p:grpSpPr>
        <p:sp>
          <p:nvSpPr>
            <p:cNvPr name="Freeform 90" id="90"/>
            <p:cNvSpPr/>
            <p:nvPr/>
          </p:nvSpPr>
          <p:spPr>
            <a:xfrm flipH="false" flipV="false" rot="0">
              <a:off x="8509" y="8509"/>
              <a:ext cx="7022592" cy="2560320"/>
            </a:xfrm>
            <a:custGeom>
              <a:avLst/>
              <a:gdLst/>
              <a:ahLst/>
              <a:cxnLst/>
              <a:rect r="r" b="b" t="t" l="l"/>
              <a:pathLst>
                <a:path h="2560320" w="7022592">
                  <a:moveTo>
                    <a:pt x="0" y="0"/>
                  </a:moveTo>
                  <a:lnTo>
                    <a:pt x="7022592" y="0"/>
                  </a:lnTo>
                  <a:lnTo>
                    <a:pt x="7022592" y="2560320"/>
                  </a:lnTo>
                  <a:lnTo>
                    <a:pt x="0" y="2560320"/>
                  </a:lnTo>
                  <a:close/>
                </a:path>
              </a:pathLst>
            </a:custGeom>
            <a:solidFill>
              <a:srgbClr val="122540"/>
            </a:solidFill>
          </p:spPr>
        </p:sp>
        <p:sp>
          <p:nvSpPr>
            <p:cNvPr name="Freeform 91" id="91"/>
            <p:cNvSpPr/>
            <p:nvPr/>
          </p:nvSpPr>
          <p:spPr>
            <a:xfrm flipH="false" flipV="false" rot="0">
              <a:off x="0" y="0"/>
              <a:ext cx="7039610" cy="2577338"/>
            </a:xfrm>
            <a:custGeom>
              <a:avLst/>
              <a:gdLst/>
              <a:ahLst/>
              <a:cxnLst/>
              <a:rect r="r" b="b" t="t" l="l"/>
              <a:pathLst>
                <a:path h="2577338" w="7039610">
                  <a:moveTo>
                    <a:pt x="8509" y="0"/>
                  </a:moveTo>
                  <a:lnTo>
                    <a:pt x="7031101" y="0"/>
                  </a:lnTo>
                  <a:cubicBezTo>
                    <a:pt x="7035800" y="0"/>
                    <a:pt x="7039610" y="3810"/>
                    <a:pt x="7039610" y="8509"/>
                  </a:cubicBezTo>
                  <a:lnTo>
                    <a:pt x="7039610" y="2568829"/>
                  </a:lnTo>
                  <a:cubicBezTo>
                    <a:pt x="7039610" y="2573528"/>
                    <a:pt x="7035800" y="2577338"/>
                    <a:pt x="7031101" y="2577338"/>
                  </a:cubicBezTo>
                  <a:lnTo>
                    <a:pt x="8509" y="2577338"/>
                  </a:lnTo>
                  <a:cubicBezTo>
                    <a:pt x="3810" y="2577338"/>
                    <a:pt x="0" y="2573528"/>
                    <a:pt x="0" y="2568829"/>
                  </a:cubicBezTo>
                  <a:lnTo>
                    <a:pt x="0" y="8509"/>
                  </a:lnTo>
                  <a:cubicBezTo>
                    <a:pt x="0" y="3810"/>
                    <a:pt x="3810" y="0"/>
                    <a:pt x="8509" y="0"/>
                  </a:cubicBezTo>
                  <a:moveTo>
                    <a:pt x="8509" y="16891"/>
                  </a:moveTo>
                  <a:lnTo>
                    <a:pt x="8509" y="8509"/>
                  </a:lnTo>
                  <a:lnTo>
                    <a:pt x="17018" y="8509"/>
                  </a:lnTo>
                  <a:lnTo>
                    <a:pt x="17018" y="2568829"/>
                  </a:lnTo>
                  <a:lnTo>
                    <a:pt x="8509" y="2568829"/>
                  </a:lnTo>
                  <a:lnTo>
                    <a:pt x="8509" y="2560320"/>
                  </a:lnTo>
                  <a:lnTo>
                    <a:pt x="7031101" y="2560320"/>
                  </a:lnTo>
                  <a:lnTo>
                    <a:pt x="7031101" y="2568829"/>
                  </a:lnTo>
                  <a:lnTo>
                    <a:pt x="7022592" y="2568829"/>
                  </a:lnTo>
                  <a:lnTo>
                    <a:pt x="7022592" y="8509"/>
                  </a:lnTo>
                  <a:lnTo>
                    <a:pt x="7031101" y="8509"/>
                  </a:lnTo>
                  <a:lnTo>
                    <a:pt x="7031101" y="17018"/>
                  </a:lnTo>
                  <a:lnTo>
                    <a:pt x="8509" y="17018"/>
                  </a:lnTo>
                  <a:close/>
                </a:path>
              </a:pathLst>
            </a:custGeom>
            <a:solidFill>
              <a:srgbClr val="1E3352"/>
            </a:solidFill>
          </p:spPr>
        </p:sp>
      </p:grpSp>
      <p:grpSp>
        <p:nvGrpSpPr>
          <p:cNvPr name="Group 92" id="92"/>
          <p:cNvGrpSpPr/>
          <p:nvPr/>
        </p:nvGrpSpPr>
        <p:grpSpPr>
          <a:xfrm rot="0">
            <a:off x="11676512" y="4748665"/>
            <a:ext cx="135131" cy="1945643"/>
            <a:chOff x="0" y="0"/>
            <a:chExt cx="180175" cy="2594191"/>
          </a:xfrm>
        </p:grpSpPr>
        <p:sp>
          <p:nvSpPr>
            <p:cNvPr name="Freeform 93" id="93"/>
            <p:cNvSpPr/>
            <p:nvPr/>
          </p:nvSpPr>
          <p:spPr>
            <a:xfrm flipH="false" flipV="false" rot="0">
              <a:off x="16891" y="16891"/>
              <a:ext cx="146304" cy="2560320"/>
            </a:xfrm>
            <a:custGeom>
              <a:avLst/>
              <a:gdLst/>
              <a:ahLst/>
              <a:cxnLst/>
              <a:rect r="r" b="b" t="t" l="l"/>
              <a:pathLst>
                <a:path h="2560320" w="146304">
                  <a:moveTo>
                    <a:pt x="0" y="0"/>
                  </a:moveTo>
                  <a:lnTo>
                    <a:pt x="146304" y="0"/>
                  </a:lnTo>
                  <a:lnTo>
                    <a:pt x="146304" y="2560320"/>
                  </a:lnTo>
                  <a:lnTo>
                    <a:pt x="0" y="2560320"/>
                  </a:lnTo>
                  <a:close/>
                </a:path>
              </a:pathLst>
            </a:custGeom>
            <a:solidFill>
              <a:srgbClr val="00E5A0"/>
            </a:solidFill>
          </p:spPr>
        </p:sp>
        <p:sp>
          <p:nvSpPr>
            <p:cNvPr name="Freeform 94" id="94"/>
            <p:cNvSpPr/>
            <p:nvPr/>
          </p:nvSpPr>
          <p:spPr>
            <a:xfrm flipH="false" flipV="false" rot="0">
              <a:off x="0" y="0"/>
              <a:ext cx="180086" cy="2594102"/>
            </a:xfrm>
            <a:custGeom>
              <a:avLst/>
              <a:gdLst/>
              <a:ahLst/>
              <a:cxnLst/>
              <a:rect r="r" b="b" t="t" l="l"/>
              <a:pathLst>
                <a:path h="2594102" w="180086">
                  <a:moveTo>
                    <a:pt x="16891" y="0"/>
                  </a:moveTo>
                  <a:lnTo>
                    <a:pt x="163195" y="0"/>
                  </a:lnTo>
                  <a:cubicBezTo>
                    <a:pt x="172593" y="0"/>
                    <a:pt x="180086" y="7620"/>
                    <a:pt x="180086" y="16891"/>
                  </a:cubicBezTo>
                  <a:lnTo>
                    <a:pt x="180086" y="2577211"/>
                  </a:lnTo>
                  <a:cubicBezTo>
                    <a:pt x="180086" y="2586609"/>
                    <a:pt x="172466" y="2594102"/>
                    <a:pt x="163195"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163195" y="2560320"/>
                  </a:lnTo>
                  <a:lnTo>
                    <a:pt x="163195" y="2577211"/>
                  </a:lnTo>
                  <a:lnTo>
                    <a:pt x="146304" y="2577211"/>
                  </a:lnTo>
                  <a:lnTo>
                    <a:pt x="146304" y="16891"/>
                  </a:lnTo>
                  <a:lnTo>
                    <a:pt x="163195" y="16891"/>
                  </a:lnTo>
                  <a:lnTo>
                    <a:pt x="163195" y="33909"/>
                  </a:lnTo>
                  <a:lnTo>
                    <a:pt x="16891" y="33909"/>
                  </a:lnTo>
                  <a:close/>
                </a:path>
              </a:pathLst>
            </a:custGeom>
            <a:solidFill>
              <a:srgbClr val="00E5A0"/>
            </a:solidFill>
          </p:spPr>
        </p:sp>
      </p:grpSp>
      <p:grpSp>
        <p:nvGrpSpPr>
          <p:cNvPr name="Group 95" id="95"/>
          <p:cNvGrpSpPr/>
          <p:nvPr/>
        </p:nvGrpSpPr>
        <p:grpSpPr>
          <a:xfrm rot="0">
            <a:off x="12018393" y="4852802"/>
            <a:ext cx="731520" cy="720385"/>
            <a:chOff x="0" y="0"/>
            <a:chExt cx="975360" cy="960514"/>
          </a:xfrm>
        </p:grpSpPr>
        <p:sp>
          <p:nvSpPr>
            <p:cNvPr name="Freeform 96" id="96"/>
            <p:cNvSpPr/>
            <p:nvPr/>
          </p:nvSpPr>
          <p:spPr>
            <a:xfrm flipH="false" flipV="false" rot="0">
              <a:off x="0" y="0"/>
              <a:ext cx="975360" cy="960514"/>
            </a:xfrm>
            <a:custGeom>
              <a:avLst/>
              <a:gdLst/>
              <a:ahLst/>
              <a:cxnLst/>
              <a:rect r="r" b="b" t="t" l="l"/>
              <a:pathLst>
                <a:path h="960514" w="975360">
                  <a:moveTo>
                    <a:pt x="0" y="0"/>
                  </a:moveTo>
                  <a:lnTo>
                    <a:pt x="975360" y="0"/>
                  </a:lnTo>
                  <a:lnTo>
                    <a:pt x="975360" y="960514"/>
                  </a:lnTo>
                  <a:lnTo>
                    <a:pt x="0" y="960514"/>
                  </a:lnTo>
                  <a:close/>
                </a:path>
              </a:pathLst>
            </a:custGeom>
            <a:blipFill>
              <a:blip r:embed="rId3">
                <a:alphaModFix amt="0"/>
              </a:blip>
              <a:stretch>
                <a:fillRect l="-62265" t="0" r="-62265" b="11147"/>
              </a:stretch>
            </a:blipFill>
          </p:spPr>
        </p:sp>
        <p:sp>
          <p:nvSpPr>
            <p:cNvPr name="TextBox 97" id="97"/>
            <p:cNvSpPr txBox="true"/>
            <p:nvPr/>
          </p:nvSpPr>
          <p:spPr>
            <a:xfrm>
              <a:off x="0" y="-66675"/>
              <a:ext cx="975360" cy="1027189"/>
            </a:xfrm>
            <a:prstGeom prst="rect">
              <a:avLst/>
            </a:prstGeom>
          </p:spPr>
          <p:txBody>
            <a:bodyPr anchor="ctr" rtlCol="false" tIns="0" lIns="0" bIns="0" rIns="0"/>
            <a:lstStyle/>
            <a:p>
              <a:pPr algn="l">
                <a:lnSpc>
                  <a:spcPts val="4320"/>
                </a:lnSpc>
              </a:pPr>
              <a:r>
                <a:rPr lang="en-US" sz="3600" b="true">
                  <a:solidFill>
                    <a:srgbClr val="00E5A0"/>
                  </a:solidFill>
                  <a:latin typeface="Calibri (MS) Bold"/>
                  <a:ea typeface="Calibri (MS) Bold"/>
                  <a:cs typeface="Calibri (MS) Bold"/>
                  <a:sym typeface="Calibri (MS) Bold"/>
                </a:rPr>
                <a:t>6</a:t>
              </a:r>
            </a:p>
          </p:txBody>
        </p:sp>
      </p:grpSp>
      <p:grpSp>
        <p:nvGrpSpPr>
          <p:cNvPr name="Group 98" id="98"/>
          <p:cNvGrpSpPr/>
          <p:nvPr/>
        </p:nvGrpSpPr>
        <p:grpSpPr>
          <a:xfrm rot="0">
            <a:off x="12018393" y="5456306"/>
            <a:ext cx="4718304" cy="512064"/>
            <a:chOff x="0" y="0"/>
            <a:chExt cx="6291072" cy="682752"/>
          </a:xfrm>
        </p:grpSpPr>
        <p:sp>
          <p:nvSpPr>
            <p:cNvPr name="Freeform 99" id="99"/>
            <p:cNvSpPr/>
            <p:nvPr/>
          </p:nvSpPr>
          <p:spPr>
            <a:xfrm flipH="false" flipV="false" rot="0">
              <a:off x="0" y="0"/>
              <a:ext cx="6291072" cy="682752"/>
            </a:xfrm>
            <a:custGeom>
              <a:avLst/>
              <a:gdLst/>
              <a:ahLst/>
              <a:cxnLst/>
              <a:rect r="r" b="b" t="t" l="l"/>
              <a:pathLst>
                <a:path h="682752" w="6291072">
                  <a:moveTo>
                    <a:pt x="0" y="0"/>
                  </a:moveTo>
                  <a:lnTo>
                    <a:pt x="6291072" y="0"/>
                  </a:lnTo>
                  <a:lnTo>
                    <a:pt x="6291072" y="682752"/>
                  </a:lnTo>
                  <a:lnTo>
                    <a:pt x="0" y="682752"/>
                  </a:lnTo>
                  <a:close/>
                </a:path>
              </a:pathLst>
            </a:custGeom>
            <a:blipFill>
              <a:blip r:embed="rId3">
                <a:alphaModFix amt="0"/>
              </a:blip>
              <a:stretch>
                <a:fillRect l="0" t="-129540" r="0" b="-129540"/>
              </a:stretch>
            </a:blipFill>
          </p:spPr>
        </p:sp>
        <p:sp>
          <p:nvSpPr>
            <p:cNvPr name="TextBox 100" id="100"/>
            <p:cNvSpPr txBox="true"/>
            <p:nvPr/>
          </p:nvSpPr>
          <p:spPr>
            <a:xfrm>
              <a:off x="0" y="-47625"/>
              <a:ext cx="6291072" cy="730377"/>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PCA + KMeans</a:t>
              </a:r>
            </a:p>
          </p:txBody>
        </p:sp>
      </p:grpSp>
      <p:grpSp>
        <p:nvGrpSpPr>
          <p:cNvPr name="Group 101" id="101"/>
          <p:cNvGrpSpPr/>
          <p:nvPr/>
        </p:nvGrpSpPr>
        <p:grpSpPr>
          <a:xfrm rot="0">
            <a:off x="12018393" y="5950082"/>
            <a:ext cx="4718304" cy="640080"/>
            <a:chOff x="0" y="0"/>
            <a:chExt cx="6291072" cy="853440"/>
          </a:xfrm>
        </p:grpSpPr>
        <p:sp>
          <p:nvSpPr>
            <p:cNvPr name="Freeform 102" id="102"/>
            <p:cNvSpPr/>
            <p:nvPr/>
          </p:nvSpPr>
          <p:spPr>
            <a:xfrm flipH="false" flipV="false" rot="0">
              <a:off x="0" y="0"/>
              <a:ext cx="6291072" cy="853440"/>
            </a:xfrm>
            <a:custGeom>
              <a:avLst/>
              <a:gdLst/>
              <a:ahLst/>
              <a:cxnLst/>
              <a:rect r="r" b="b" t="t" l="l"/>
              <a:pathLst>
                <a:path h="853440" w="6291072">
                  <a:moveTo>
                    <a:pt x="0" y="0"/>
                  </a:moveTo>
                  <a:lnTo>
                    <a:pt x="6291072" y="0"/>
                  </a:lnTo>
                  <a:lnTo>
                    <a:pt x="6291072" y="853440"/>
                  </a:lnTo>
                  <a:lnTo>
                    <a:pt x="0" y="853440"/>
                  </a:lnTo>
                  <a:close/>
                </a:path>
              </a:pathLst>
            </a:custGeom>
            <a:blipFill>
              <a:blip r:embed="rId3">
                <a:alphaModFix amt="0"/>
              </a:blip>
              <a:stretch>
                <a:fillRect l="0" t="-93632" r="0" b="-93632"/>
              </a:stretch>
            </a:blipFill>
          </p:spPr>
        </p:sp>
        <p:sp>
          <p:nvSpPr>
            <p:cNvPr name="TextBox 103" id="103"/>
            <p:cNvSpPr txBox="true"/>
            <p:nvPr/>
          </p:nvSpPr>
          <p:spPr>
            <a:xfrm>
              <a:off x="0" y="-38100"/>
              <a:ext cx="6291072" cy="89154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10 composantes · 4 clusters · n_init=10</a:t>
              </a:r>
            </a:p>
          </p:txBody>
        </p:sp>
      </p:grpSp>
      <p:grpSp>
        <p:nvGrpSpPr>
          <p:cNvPr name="Group 104" id="104"/>
          <p:cNvGrpSpPr/>
          <p:nvPr/>
        </p:nvGrpSpPr>
        <p:grpSpPr>
          <a:xfrm rot="0">
            <a:off x="710055" y="7132449"/>
            <a:ext cx="16471897" cy="2609593"/>
            <a:chOff x="0" y="0"/>
            <a:chExt cx="21962529" cy="3479457"/>
          </a:xfrm>
        </p:grpSpPr>
        <p:sp>
          <p:nvSpPr>
            <p:cNvPr name="Freeform 105" id="105"/>
            <p:cNvSpPr/>
            <p:nvPr/>
          </p:nvSpPr>
          <p:spPr>
            <a:xfrm flipH="false" flipV="false" rot="0">
              <a:off x="8509" y="8509"/>
              <a:ext cx="21945601" cy="3462528"/>
            </a:xfrm>
            <a:custGeom>
              <a:avLst/>
              <a:gdLst/>
              <a:ahLst/>
              <a:cxnLst/>
              <a:rect r="r" b="b" t="t" l="l"/>
              <a:pathLst>
                <a:path h="3462528" w="21945601">
                  <a:moveTo>
                    <a:pt x="0" y="0"/>
                  </a:moveTo>
                  <a:lnTo>
                    <a:pt x="21945601" y="0"/>
                  </a:lnTo>
                  <a:lnTo>
                    <a:pt x="21945601" y="3462528"/>
                  </a:lnTo>
                  <a:lnTo>
                    <a:pt x="0" y="3462528"/>
                  </a:lnTo>
                  <a:close/>
                </a:path>
              </a:pathLst>
            </a:custGeom>
            <a:solidFill>
              <a:srgbClr val="0D1E35"/>
            </a:solidFill>
          </p:spPr>
        </p:sp>
        <p:sp>
          <p:nvSpPr>
            <p:cNvPr name="Freeform 106" id="106"/>
            <p:cNvSpPr/>
            <p:nvPr/>
          </p:nvSpPr>
          <p:spPr>
            <a:xfrm flipH="false" flipV="false" rot="0">
              <a:off x="0" y="0"/>
              <a:ext cx="21962618" cy="3479546"/>
            </a:xfrm>
            <a:custGeom>
              <a:avLst/>
              <a:gdLst/>
              <a:ahLst/>
              <a:cxnLst/>
              <a:rect r="r" b="b" t="t" l="l"/>
              <a:pathLst>
                <a:path h="3479546" w="21962618">
                  <a:moveTo>
                    <a:pt x="8509" y="0"/>
                  </a:moveTo>
                  <a:lnTo>
                    <a:pt x="21954110" y="0"/>
                  </a:lnTo>
                  <a:cubicBezTo>
                    <a:pt x="21958808" y="0"/>
                    <a:pt x="21962618" y="3810"/>
                    <a:pt x="21962618" y="8509"/>
                  </a:cubicBezTo>
                  <a:lnTo>
                    <a:pt x="21962618" y="3471037"/>
                  </a:lnTo>
                  <a:cubicBezTo>
                    <a:pt x="21962618" y="3475736"/>
                    <a:pt x="21958808" y="3479546"/>
                    <a:pt x="21954110" y="3479546"/>
                  </a:cubicBezTo>
                  <a:lnTo>
                    <a:pt x="8509" y="3479546"/>
                  </a:lnTo>
                  <a:cubicBezTo>
                    <a:pt x="3810" y="3479546"/>
                    <a:pt x="0" y="3475736"/>
                    <a:pt x="0" y="3471037"/>
                  </a:cubicBezTo>
                  <a:lnTo>
                    <a:pt x="0" y="8509"/>
                  </a:lnTo>
                  <a:cubicBezTo>
                    <a:pt x="0" y="3810"/>
                    <a:pt x="3810" y="0"/>
                    <a:pt x="8509" y="0"/>
                  </a:cubicBezTo>
                  <a:moveTo>
                    <a:pt x="8509" y="16891"/>
                  </a:moveTo>
                  <a:lnTo>
                    <a:pt x="8509" y="8509"/>
                  </a:lnTo>
                  <a:lnTo>
                    <a:pt x="17018" y="8509"/>
                  </a:lnTo>
                  <a:lnTo>
                    <a:pt x="17018" y="3471037"/>
                  </a:lnTo>
                  <a:lnTo>
                    <a:pt x="8509" y="3471037"/>
                  </a:lnTo>
                  <a:lnTo>
                    <a:pt x="8509" y="3462528"/>
                  </a:lnTo>
                  <a:lnTo>
                    <a:pt x="21954110" y="3462528"/>
                  </a:lnTo>
                  <a:lnTo>
                    <a:pt x="21954110" y="3471037"/>
                  </a:lnTo>
                  <a:lnTo>
                    <a:pt x="21945600" y="3471037"/>
                  </a:lnTo>
                  <a:lnTo>
                    <a:pt x="21945600" y="8509"/>
                  </a:lnTo>
                  <a:lnTo>
                    <a:pt x="21954110" y="8509"/>
                  </a:lnTo>
                  <a:lnTo>
                    <a:pt x="21954110" y="17018"/>
                  </a:lnTo>
                  <a:lnTo>
                    <a:pt x="8509" y="17018"/>
                  </a:lnTo>
                  <a:close/>
                </a:path>
              </a:pathLst>
            </a:custGeom>
            <a:solidFill>
              <a:srgbClr val="1E3352"/>
            </a:solidFill>
          </p:spPr>
        </p:sp>
      </p:grpSp>
      <p:grpSp>
        <p:nvGrpSpPr>
          <p:cNvPr name="Group 107" id="107"/>
          <p:cNvGrpSpPr/>
          <p:nvPr/>
        </p:nvGrpSpPr>
        <p:grpSpPr>
          <a:xfrm rot="0">
            <a:off x="1118745" y="7321682"/>
            <a:ext cx="15544800" cy="548640"/>
            <a:chOff x="0" y="0"/>
            <a:chExt cx="20726400" cy="731520"/>
          </a:xfrm>
        </p:grpSpPr>
        <p:sp>
          <p:nvSpPr>
            <p:cNvPr name="Freeform 108" id="108"/>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3">
                <a:alphaModFix amt="0"/>
              </a:blip>
              <a:stretch>
                <a:fillRect l="0" t="-502076" r="0" b="-502076"/>
              </a:stretch>
            </a:blipFill>
          </p:spPr>
        </p:sp>
        <p:sp>
          <p:nvSpPr>
            <p:cNvPr name="TextBox 109" id="109"/>
            <p:cNvSpPr txBox="true"/>
            <p:nvPr/>
          </p:nvSpPr>
          <p:spPr>
            <a:xfrm>
              <a:off x="0" y="-47625"/>
              <a:ext cx="20726400" cy="779145"/>
            </a:xfrm>
            <a:prstGeom prst="rect">
              <a:avLst/>
            </a:prstGeom>
          </p:spPr>
          <p:txBody>
            <a:bodyPr anchor="ctr" rtlCol="false" tIns="0" lIns="0" bIns="0" rIns="0"/>
            <a:lstStyle/>
            <a:p>
              <a:pPr algn="l">
                <a:lnSpc>
                  <a:spcPts val="2640"/>
                </a:lnSpc>
              </a:pPr>
              <a:r>
                <a:rPr lang="en-US" sz="2200" b="true">
                  <a:solidFill>
                    <a:srgbClr val="00E5A0"/>
                  </a:solidFill>
                  <a:latin typeface="Calibri (MS) Bold"/>
                  <a:ea typeface="Calibri (MS) Bold"/>
                  <a:cs typeface="Calibri (MS) Bold"/>
                  <a:sym typeface="Calibri (MS) Bold"/>
                </a:rPr>
                <a:t>Artefacts exportés</a:t>
              </a:r>
            </a:p>
          </p:txBody>
        </p:sp>
      </p:grpSp>
      <p:grpSp>
        <p:nvGrpSpPr>
          <p:cNvPr name="Group 110" id="110"/>
          <p:cNvGrpSpPr/>
          <p:nvPr/>
        </p:nvGrpSpPr>
        <p:grpSpPr>
          <a:xfrm rot="0">
            <a:off x="1112391" y="7973697"/>
            <a:ext cx="2573017" cy="1475737"/>
            <a:chOff x="0" y="0"/>
            <a:chExt cx="3430689" cy="1967649"/>
          </a:xfrm>
        </p:grpSpPr>
        <p:sp>
          <p:nvSpPr>
            <p:cNvPr name="Freeform 111" id="111"/>
            <p:cNvSpPr/>
            <p:nvPr/>
          </p:nvSpPr>
          <p:spPr>
            <a:xfrm flipH="false" flipV="false" rot="0">
              <a:off x="8509" y="8509"/>
              <a:ext cx="3413633" cy="1950720"/>
            </a:xfrm>
            <a:custGeom>
              <a:avLst/>
              <a:gdLst/>
              <a:ahLst/>
              <a:cxnLst/>
              <a:rect r="r" b="b" t="t" l="l"/>
              <a:pathLst>
                <a:path h="1950720" w="3413633">
                  <a:moveTo>
                    <a:pt x="0" y="146304"/>
                  </a:moveTo>
                  <a:cubicBezTo>
                    <a:pt x="0" y="65405"/>
                    <a:pt x="65659" y="0"/>
                    <a:pt x="146812" y="0"/>
                  </a:cubicBezTo>
                  <a:lnTo>
                    <a:pt x="3266821" y="0"/>
                  </a:lnTo>
                  <a:cubicBezTo>
                    <a:pt x="3347974" y="0"/>
                    <a:pt x="3413633" y="65532"/>
                    <a:pt x="3413633" y="146304"/>
                  </a:cubicBezTo>
                  <a:lnTo>
                    <a:pt x="3413633" y="1804416"/>
                  </a:lnTo>
                  <a:cubicBezTo>
                    <a:pt x="3413633" y="1885188"/>
                    <a:pt x="3347847" y="1950720"/>
                    <a:pt x="3266821" y="1950720"/>
                  </a:cubicBezTo>
                  <a:lnTo>
                    <a:pt x="146812" y="1950720"/>
                  </a:lnTo>
                  <a:cubicBezTo>
                    <a:pt x="65659" y="1950720"/>
                    <a:pt x="0" y="1885188"/>
                    <a:pt x="0" y="1804416"/>
                  </a:cubicBezTo>
                  <a:close/>
                </a:path>
              </a:pathLst>
            </a:custGeom>
            <a:solidFill>
              <a:srgbClr val="122540"/>
            </a:solidFill>
          </p:spPr>
        </p:sp>
        <p:sp>
          <p:nvSpPr>
            <p:cNvPr name="Freeform 112" id="112"/>
            <p:cNvSpPr/>
            <p:nvPr/>
          </p:nvSpPr>
          <p:spPr>
            <a:xfrm flipH="false" flipV="false" rot="0">
              <a:off x="0" y="0"/>
              <a:ext cx="3430651" cy="1967738"/>
            </a:xfrm>
            <a:custGeom>
              <a:avLst/>
              <a:gdLst/>
              <a:ahLst/>
              <a:cxnLst/>
              <a:rect r="r" b="b" t="t" l="l"/>
              <a:pathLst>
                <a:path h="1967738" w="3430651">
                  <a:moveTo>
                    <a:pt x="0" y="154813"/>
                  </a:moveTo>
                  <a:cubicBezTo>
                    <a:pt x="0" y="69215"/>
                    <a:pt x="69596" y="0"/>
                    <a:pt x="155321" y="0"/>
                  </a:cubicBezTo>
                  <a:lnTo>
                    <a:pt x="3275330" y="0"/>
                  </a:lnTo>
                  <a:lnTo>
                    <a:pt x="3275330" y="8509"/>
                  </a:lnTo>
                  <a:lnTo>
                    <a:pt x="3275330" y="0"/>
                  </a:lnTo>
                  <a:cubicBezTo>
                    <a:pt x="3361055" y="0"/>
                    <a:pt x="3430651" y="69215"/>
                    <a:pt x="3430651" y="154813"/>
                  </a:cubicBezTo>
                  <a:lnTo>
                    <a:pt x="3422142" y="154813"/>
                  </a:lnTo>
                  <a:lnTo>
                    <a:pt x="3430651" y="154813"/>
                  </a:lnTo>
                  <a:lnTo>
                    <a:pt x="3430651" y="1812925"/>
                  </a:lnTo>
                  <a:lnTo>
                    <a:pt x="3422142" y="1812925"/>
                  </a:lnTo>
                  <a:lnTo>
                    <a:pt x="3430651" y="1812925"/>
                  </a:lnTo>
                  <a:cubicBezTo>
                    <a:pt x="3430651" y="1898396"/>
                    <a:pt x="3361055" y="1967738"/>
                    <a:pt x="3275330" y="1967738"/>
                  </a:cubicBezTo>
                  <a:lnTo>
                    <a:pt x="3275330" y="1959229"/>
                  </a:lnTo>
                  <a:lnTo>
                    <a:pt x="3275330" y="1967738"/>
                  </a:lnTo>
                  <a:lnTo>
                    <a:pt x="155321" y="1967738"/>
                  </a:lnTo>
                  <a:lnTo>
                    <a:pt x="155321" y="1959229"/>
                  </a:lnTo>
                  <a:lnTo>
                    <a:pt x="155321" y="1967738"/>
                  </a:lnTo>
                  <a:cubicBezTo>
                    <a:pt x="69596" y="1967611"/>
                    <a:pt x="0" y="1898396"/>
                    <a:pt x="0" y="1812925"/>
                  </a:cubicBezTo>
                  <a:lnTo>
                    <a:pt x="0" y="154813"/>
                  </a:lnTo>
                  <a:lnTo>
                    <a:pt x="8509" y="154813"/>
                  </a:lnTo>
                  <a:lnTo>
                    <a:pt x="0" y="154813"/>
                  </a:lnTo>
                  <a:moveTo>
                    <a:pt x="16891" y="154813"/>
                  </a:moveTo>
                  <a:lnTo>
                    <a:pt x="16891" y="1812925"/>
                  </a:lnTo>
                  <a:lnTo>
                    <a:pt x="8509" y="1812925"/>
                  </a:lnTo>
                  <a:lnTo>
                    <a:pt x="17018" y="1812925"/>
                  </a:lnTo>
                  <a:cubicBezTo>
                    <a:pt x="17018" y="1888998"/>
                    <a:pt x="78994" y="1950720"/>
                    <a:pt x="155448" y="1950720"/>
                  </a:cubicBezTo>
                  <a:lnTo>
                    <a:pt x="3275330" y="1950720"/>
                  </a:lnTo>
                  <a:cubicBezTo>
                    <a:pt x="3351784" y="1950720"/>
                    <a:pt x="3413760" y="1888998"/>
                    <a:pt x="3413760" y="1812925"/>
                  </a:cubicBezTo>
                  <a:lnTo>
                    <a:pt x="3413760" y="154813"/>
                  </a:lnTo>
                  <a:cubicBezTo>
                    <a:pt x="3413760" y="78740"/>
                    <a:pt x="3351784" y="17018"/>
                    <a:pt x="3275330" y="17018"/>
                  </a:cubicBezTo>
                  <a:lnTo>
                    <a:pt x="155321" y="17018"/>
                  </a:lnTo>
                  <a:lnTo>
                    <a:pt x="155321" y="8509"/>
                  </a:lnTo>
                  <a:lnTo>
                    <a:pt x="155321" y="17018"/>
                  </a:lnTo>
                  <a:cubicBezTo>
                    <a:pt x="78867" y="17018"/>
                    <a:pt x="16891" y="78740"/>
                    <a:pt x="16891" y="154813"/>
                  </a:cubicBezTo>
                  <a:close/>
                </a:path>
              </a:pathLst>
            </a:custGeom>
            <a:solidFill>
              <a:srgbClr val="1E3352"/>
            </a:solidFill>
          </p:spPr>
        </p:sp>
      </p:grpSp>
      <p:grpSp>
        <p:nvGrpSpPr>
          <p:cNvPr name="Group 113" id="113"/>
          <p:cNvGrpSpPr/>
          <p:nvPr/>
        </p:nvGrpSpPr>
        <p:grpSpPr>
          <a:xfrm rot="0">
            <a:off x="1118745" y="7980050"/>
            <a:ext cx="2560320" cy="1463040"/>
            <a:chOff x="0" y="0"/>
            <a:chExt cx="3413760" cy="1950720"/>
          </a:xfrm>
        </p:grpSpPr>
        <p:sp>
          <p:nvSpPr>
            <p:cNvPr name="Freeform 114" id="114"/>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3">
                <a:alphaModFix amt="0"/>
              </a:blip>
              <a:stretch>
                <a:fillRect l="-23316" t="0" r="-23316" b="0"/>
              </a:stretch>
            </a:blipFill>
          </p:spPr>
        </p:sp>
        <p:sp>
          <p:nvSpPr>
            <p:cNvPr name="TextBox 115" id="115"/>
            <p:cNvSpPr txBox="true"/>
            <p:nvPr/>
          </p:nvSpPr>
          <p:spPr>
            <a:xfrm>
              <a:off x="0" y="-38100"/>
              <a:ext cx="3413760" cy="1988820"/>
            </a:xfrm>
            <a:prstGeom prst="rect">
              <a:avLst/>
            </a:prstGeom>
          </p:spPr>
          <p:txBody>
            <a:bodyPr anchor="ctr" rtlCol="false" tIns="0" lIns="0" bIns="0" rIns="0"/>
            <a:lstStyle/>
            <a:p>
              <a:pPr algn="ctr">
                <a:lnSpc>
                  <a:spcPts val="2160"/>
                </a:lnSpc>
              </a:pPr>
              <a:r>
                <a:rPr lang="en-US" sz="1800" b="true">
                  <a:solidFill>
                    <a:srgbClr val="00E5A0"/>
                  </a:solidFill>
                  <a:latin typeface="Calibri (MS) Bold"/>
                  <a:ea typeface="Calibri (MS) Bold"/>
                  <a:cs typeface="Calibri (MS) Bold"/>
                  <a:sym typeface="Calibri (MS) Bold"/>
                </a:rPr>
                <a:t>scaler.pkl</a:t>
              </a:r>
            </a:p>
          </p:txBody>
        </p:sp>
      </p:grpSp>
      <p:grpSp>
        <p:nvGrpSpPr>
          <p:cNvPr name="Group 116" id="116"/>
          <p:cNvGrpSpPr/>
          <p:nvPr/>
        </p:nvGrpSpPr>
        <p:grpSpPr>
          <a:xfrm rot="0">
            <a:off x="3892167" y="7973697"/>
            <a:ext cx="2573017" cy="1475737"/>
            <a:chOff x="0" y="0"/>
            <a:chExt cx="3430689" cy="1967649"/>
          </a:xfrm>
        </p:grpSpPr>
        <p:sp>
          <p:nvSpPr>
            <p:cNvPr name="Freeform 117" id="117"/>
            <p:cNvSpPr/>
            <p:nvPr/>
          </p:nvSpPr>
          <p:spPr>
            <a:xfrm flipH="false" flipV="false" rot="0">
              <a:off x="8509" y="8509"/>
              <a:ext cx="3413633" cy="1950720"/>
            </a:xfrm>
            <a:custGeom>
              <a:avLst/>
              <a:gdLst/>
              <a:ahLst/>
              <a:cxnLst/>
              <a:rect r="r" b="b" t="t" l="l"/>
              <a:pathLst>
                <a:path h="1950720" w="3413633">
                  <a:moveTo>
                    <a:pt x="0" y="146304"/>
                  </a:moveTo>
                  <a:cubicBezTo>
                    <a:pt x="0" y="65405"/>
                    <a:pt x="65659" y="0"/>
                    <a:pt x="146812" y="0"/>
                  </a:cubicBezTo>
                  <a:lnTo>
                    <a:pt x="3266821" y="0"/>
                  </a:lnTo>
                  <a:cubicBezTo>
                    <a:pt x="3347974" y="0"/>
                    <a:pt x="3413633" y="65532"/>
                    <a:pt x="3413633" y="146304"/>
                  </a:cubicBezTo>
                  <a:lnTo>
                    <a:pt x="3413633" y="1804416"/>
                  </a:lnTo>
                  <a:cubicBezTo>
                    <a:pt x="3413633" y="1885188"/>
                    <a:pt x="3347847" y="1950720"/>
                    <a:pt x="3266821" y="1950720"/>
                  </a:cubicBezTo>
                  <a:lnTo>
                    <a:pt x="146812" y="1950720"/>
                  </a:lnTo>
                  <a:cubicBezTo>
                    <a:pt x="65659" y="1950720"/>
                    <a:pt x="0" y="1885188"/>
                    <a:pt x="0" y="1804416"/>
                  </a:cubicBezTo>
                  <a:close/>
                </a:path>
              </a:pathLst>
            </a:custGeom>
            <a:solidFill>
              <a:srgbClr val="122540"/>
            </a:solidFill>
          </p:spPr>
        </p:sp>
        <p:sp>
          <p:nvSpPr>
            <p:cNvPr name="Freeform 118" id="118"/>
            <p:cNvSpPr/>
            <p:nvPr/>
          </p:nvSpPr>
          <p:spPr>
            <a:xfrm flipH="false" flipV="false" rot="0">
              <a:off x="0" y="0"/>
              <a:ext cx="3430651" cy="1967738"/>
            </a:xfrm>
            <a:custGeom>
              <a:avLst/>
              <a:gdLst/>
              <a:ahLst/>
              <a:cxnLst/>
              <a:rect r="r" b="b" t="t" l="l"/>
              <a:pathLst>
                <a:path h="1967738" w="3430651">
                  <a:moveTo>
                    <a:pt x="0" y="154813"/>
                  </a:moveTo>
                  <a:cubicBezTo>
                    <a:pt x="0" y="69215"/>
                    <a:pt x="69596" y="0"/>
                    <a:pt x="155321" y="0"/>
                  </a:cubicBezTo>
                  <a:lnTo>
                    <a:pt x="3275330" y="0"/>
                  </a:lnTo>
                  <a:lnTo>
                    <a:pt x="3275330" y="8509"/>
                  </a:lnTo>
                  <a:lnTo>
                    <a:pt x="3275330" y="0"/>
                  </a:lnTo>
                  <a:cubicBezTo>
                    <a:pt x="3361055" y="0"/>
                    <a:pt x="3430651" y="69215"/>
                    <a:pt x="3430651" y="154813"/>
                  </a:cubicBezTo>
                  <a:lnTo>
                    <a:pt x="3422142" y="154813"/>
                  </a:lnTo>
                  <a:lnTo>
                    <a:pt x="3430651" y="154813"/>
                  </a:lnTo>
                  <a:lnTo>
                    <a:pt x="3430651" y="1812925"/>
                  </a:lnTo>
                  <a:lnTo>
                    <a:pt x="3422142" y="1812925"/>
                  </a:lnTo>
                  <a:lnTo>
                    <a:pt x="3430651" y="1812925"/>
                  </a:lnTo>
                  <a:cubicBezTo>
                    <a:pt x="3430651" y="1898396"/>
                    <a:pt x="3361055" y="1967738"/>
                    <a:pt x="3275330" y="1967738"/>
                  </a:cubicBezTo>
                  <a:lnTo>
                    <a:pt x="3275330" y="1959229"/>
                  </a:lnTo>
                  <a:lnTo>
                    <a:pt x="3275330" y="1967738"/>
                  </a:lnTo>
                  <a:lnTo>
                    <a:pt x="155321" y="1967738"/>
                  </a:lnTo>
                  <a:lnTo>
                    <a:pt x="155321" y="1959229"/>
                  </a:lnTo>
                  <a:lnTo>
                    <a:pt x="155321" y="1967738"/>
                  </a:lnTo>
                  <a:cubicBezTo>
                    <a:pt x="69596" y="1967611"/>
                    <a:pt x="0" y="1898396"/>
                    <a:pt x="0" y="1812925"/>
                  </a:cubicBezTo>
                  <a:lnTo>
                    <a:pt x="0" y="154813"/>
                  </a:lnTo>
                  <a:lnTo>
                    <a:pt x="8509" y="154813"/>
                  </a:lnTo>
                  <a:lnTo>
                    <a:pt x="0" y="154813"/>
                  </a:lnTo>
                  <a:moveTo>
                    <a:pt x="16891" y="154813"/>
                  </a:moveTo>
                  <a:lnTo>
                    <a:pt x="16891" y="1812925"/>
                  </a:lnTo>
                  <a:lnTo>
                    <a:pt x="8509" y="1812925"/>
                  </a:lnTo>
                  <a:lnTo>
                    <a:pt x="17018" y="1812925"/>
                  </a:lnTo>
                  <a:cubicBezTo>
                    <a:pt x="17018" y="1888998"/>
                    <a:pt x="78994" y="1950720"/>
                    <a:pt x="155448" y="1950720"/>
                  </a:cubicBezTo>
                  <a:lnTo>
                    <a:pt x="3275330" y="1950720"/>
                  </a:lnTo>
                  <a:cubicBezTo>
                    <a:pt x="3351784" y="1950720"/>
                    <a:pt x="3413760" y="1888998"/>
                    <a:pt x="3413760" y="1812925"/>
                  </a:cubicBezTo>
                  <a:lnTo>
                    <a:pt x="3413760" y="154813"/>
                  </a:lnTo>
                  <a:cubicBezTo>
                    <a:pt x="3413760" y="78740"/>
                    <a:pt x="3351784" y="17018"/>
                    <a:pt x="3275330" y="17018"/>
                  </a:cubicBezTo>
                  <a:lnTo>
                    <a:pt x="155321" y="17018"/>
                  </a:lnTo>
                  <a:lnTo>
                    <a:pt x="155321" y="8509"/>
                  </a:lnTo>
                  <a:lnTo>
                    <a:pt x="155321" y="17018"/>
                  </a:lnTo>
                  <a:cubicBezTo>
                    <a:pt x="78867" y="17018"/>
                    <a:pt x="16891" y="78740"/>
                    <a:pt x="16891" y="154813"/>
                  </a:cubicBezTo>
                  <a:close/>
                </a:path>
              </a:pathLst>
            </a:custGeom>
            <a:solidFill>
              <a:srgbClr val="1E3352"/>
            </a:solidFill>
          </p:spPr>
        </p:sp>
      </p:grpSp>
      <p:grpSp>
        <p:nvGrpSpPr>
          <p:cNvPr name="Group 119" id="119"/>
          <p:cNvGrpSpPr/>
          <p:nvPr/>
        </p:nvGrpSpPr>
        <p:grpSpPr>
          <a:xfrm rot="0">
            <a:off x="3898521" y="7980050"/>
            <a:ext cx="2560320" cy="1463040"/>
            <a:chOff x="0" y="0"/>
            <a:chExt cx="3413760" cy="1950720"/>
          </a:xfrm>
        </p:grpSpPr>
        <p:sp>
          <p:nvSpPr>
            <p:cNvPr name="Freeform 120" id="120"/>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3">
                <a:alphaModFix amt="0"/>
              </a:blip>
              <a:stretch>
                <a:fillRect l="-23316" t="0" r="-23316" b="0"/>
              </a:stretch>
            </a:blipFill>
          </p:spPr>
        </p:sp>
        <p:sp>
          <p:nvSpPr>
            <p:cNvPr name="TextBox 121" id="121"/>
            <p:cNvSpPr txBox="true"/>
            <p:nvPr/>
          </p:nvSpPr>
          <p:spPr>
            <a:xfrm>
              <a:off x="0" y="-38100"/>
              <a:ext cx="3413760" cy="1988820"/>
            </a:xfrm>
            <a:prstGeom prst="rect">
              <a:avLst/>
            </a:prstGeom>
          </p:spPr>
          <p:txBody>
            <a:bodyPr anchor="ctr" rtlCol="false" tIns="0" lIns="0" bIns="0" rIns="0"/>
            <a:lstStyle/>
            <a:p>
              <a:pPr algn="ctr">
                <a:lnSpc>
                  <a:spcPts val="2160"/>
                </a:lnSpc>
              </a:pPr>
              <a:r>
                <a:rPr lang="en-US" sz="1800" b="true">
                  <a:solidFill>
                    <a:srgbClr val="00E5A0"/>
                  </a:solidFill>
                  <a:latin typeface="Calibri (MS) Bold"/>
                  <a:ea typeface="Calibri (MS) Bold"/>
                  <a:cs typeface="Calibri (MS) Bold"/>
                  <a:sym typeface="Calibri (MS) Bold"/>
                </a:rPr>
                <a:t>pca_model.pkl</a:t>
              </a:r>
            </a:p>
          </p:txBody>
        </p:sp>
      </p:grpSp>
      <p:grpSp>
        <p:nvGrpSpPr>
          <p:cNvPr name="Group 122" id="122"/>
          <p:cNvGrpSpPr/>
          <p:nvPr/>
        </p:nvGrpSpPr>
        <p:grpSpPr>
          <a:xfrm rot="0">
            <a:off x="6671943" y="7973697"/>
            <a:ext cx="2573017" cy="1475737"/>
            <a:chOff x="0" y="0"/>
            <a:chExt cx="3430689" cy="1967649"/>
          </a:xfrm>
        </p:grpSpPr>
        <p:sp>
          <p:nvSpPr>
            <p:cNvPr name="Freeform 123" id="123"/>
            <p:cNvSpPr/>
            <p:nvPr/>
          </p:nvSpPr>
          <p:spPr>
            <a:xfrm flipH="false" flipV="false" rot="0">
              <a:off x="8509" y="8509"/>
              <a:ext cx="3413633" cy="1950720"/>
            </a:xfrm>
            <a:custGeom>
              <a:avLst/>
              <a:gdLst/>
              <a:ahLst/>
              <a:cxnLst/>
              <a:rect r="r" b="b" t="t" l="l"/>
              <a:pathLst>
                <a:path h="1950720" w="3413633">
                  <a:moveTo>
                    <a:pt x="0" y="146304"/>
                  </a:moveTo>
                  <a:cubicBezTo>
                    <a:pt x="0" y="65405"/>
                    <a:pt x="65659" y="0"/>
                    <a:pt x="146812" y="0"/>
                  </a:cubicBezTo>
                  <a:lnTo>
                    <a:pt x="3266821" y="0"/>
                  </a:lnTo>
                  <a:cubicBezTo>
                    <a:pt x="3347974" y="0"/>
                    <a:pt x="3413633" y="65532"/>
                    <a:pt x="3413633" y="146304"/>
                  </a:cubicBezTo>
                  <a:lnTo>
                    <a:pt x="3413633" y="1804416"/>
                  </a:lnTo>
                  <a:cubicBezTo>
                    <a:pt x="3413633" y="1885188"/>
                    <a:pt x="3347847" y="1950720"/>
                    <a:pt x="3266821" y="1950720"/>
                  </a:cubicBezTo>
                  <a:lnTo>
                    <a:pt x="146812" y="1950720"/>
                  </a:lnTo>
                  <a:cubicBezTo>
                    <a:pt x="65659" y="1950720"/>
                    <a:pt x="0" y="1885188"/>
                    <a:pt x="0" y="1804416"/>
                  </a:cubicBezTo>
                  <a:close/>
                </a:path>
              </a:pathLst>
            </a:custGeom>
            <a:solidFill>
              <a:srgbClr val="122540"/>
            </a:solidFill>
          </p:spPr>
        </p:sp>
        <p:sp>
          <p:nvSpPr>
            <p:cNvPr name="Freeform 124" id="124"/>
            <p:cNvSpPr/>
            <p:nvPr/>
          </p:nvSpPr>
          <p:spPr>
            <a:xfrm flipH="false" flipV="false" rot="0">
              <a:off x="0" y="0"/>
              <a:ext cx="3430651" cy="1967738"/>
            </a:xfrm>
            <a:custGeom>
              <a:avLst/>
              <a:gdLst/>
              <a:ahLst/>
              <a:cxnLst/>
              <a:rect r="r" b="b" t="t" l="l"/>
              <a:pathLst>
                <a:path h="1967738" w="3430651">
                  <a:moveTo>
                    <a:pt x="0" y="154813"/>
                  </a:moveTo>
                  <a:cubicBezTo>
                    <a:pt x="0" y="69215"/>
                    <a:pt x="69596" y="0"/>
                    <a:pt x="155321" y="0"/>
                  </a:cubicBezTo>
                  <a:lnTo>
                    <a:pt x="3275330" y="0"/>
                  </a:lnTo>
                  <a:lnTo>
                    <a:pt x="3275330" y="8509"/>
                  </a:lnTo>
                  <a:lnTo>
                    <a:pt x="3275330" y="0"/>
                  </a:lnTo>
                  <a:cubicBezTo>
                    <a:pt x="3361055" y="0"/>
                    <a:pt x="3430651" y="69215"/>
                    <a:pt x="3430651" y="154813"/>
                  </a:cubicBezTo>
                  <a:lnTo>
                    <a:pt x="3422142" y="154813"/>
                  </a:lnTo>
                  <a:lnTo>
                    <a:pt x="3430651" y="154813"/>
                  </a:lnTo>
                  <a:lnTo>
                    <a:pt x="3430651" y="1812925"/>
                  </a:lnTo>
                  <a:lnTo>
                    <a:pt x="3422142" y="1812925"/>
                  </a:lnTo>
                  <a:lnTo>
                    <a:pt x="3430651" y="1812925"/>
                  </a:lnTo>
                  <a:cubicBezTo>
                    <a:pt x="3430651" y="1898396"/>
                    <a:pt x="3361055" y="1967738"/>
                    <a:pt x="3275330" y="1967738"/>
                  </a:cubicBezTo>
                  <a:lnTo>
                    <a:pt x="3275330" y="1959229"/>
                  </a:lnTo>
                  <a:lnTo>
                    <a:pt x="3275330" y="1967738"/>
                  </a:lnTo>
                  <a:lnTo>
                    <a:pt x="155321" y="1967738"/>
                  </a:lnTo>
                  <a:lnTo>
                    <a:pt x="155321" y="1959229"/>
                  </a:lnTo>
                  <a:lnTo>
                    <a:pt x="155321" y="1967738"/>
                  </a:lnTo>
                  <a:cubicBezTo>
                    <a:pt x="69596" y="1967611"/>
                    <a:pt x="0" y="1898396"/>
                    <a:pt x="0" y="1812925"/>
                  </a:cubicBezTo>
                  <a:lnTo>
                    <a:pt x="0" y="154813"/>
                  </a:lnTo>
                  <a:lnTo>
                    <a:pt x="8509" y="154813"/>
                  </a:lnTo>
                  <a:lnTo>
                    <a:pt x="0" y="154813"/>
                  </a:lnTo>
                  <a:moveTo>
                    <a:pt x="16891" y="154813"/>
                  </a:moveTo>
                  <a:lnTo>
                    <a:pt x="16891" y="1812925"/>
                  </a:lnTo>
                  <a:lnTo>
                    <a:pt x="8509" y="1812925"/>
                  </a:lnTo>
                  <a:lnTo>
                    <a:pt x="17018" y="1812925"/>
                  </a:lnTo>
                  <a:cubicBezTo>
                    <a:pt x="17018" y="1888998"/>
                    <a:pt x="78994" y="1950720"/>
                    <a:pt x="155448" y="1950720"/>
                  </a:cubicBezTo>
                  <a:lnTo>
                    <a:pt x="3275330" y="1950720"/>
                  </a:lnTo>
                  <a:cubicBezTo>
                    <a:pt x="3351784" y="1950720"/>
                    <a:pt x="3413760" y="1888998"/>
                    <a:pt x="3413760" y="1812925"/>
                  </a:cubicBezTo>
                  <a:lnTo>
                    <a:pt x="3413760" y="154813"/>
                  </a:lnTo>
                  <a:cubicBezTo>
                    <a:pt x="3413760" y="78740"/>
                    <a:pt x="3351784" y="17018"/>
                    <a:pt x="3275330" y="17018"/>
                  </a:cubicBezTo>
                  <a:lnTo>
                    <a:pt x="155321" y="17018"/>
                  </a:lnTo>
                  <a:lnTo>
                    <a:pt x="155321" y="8509"/>
                  </a:lnTo>
                  <a:lnTo>
                    <a:pt x="155321" y="17018"/>
                  </a:lnTo>
                  <a:cubicBezTo>
                    <a:pt x="78867" y="17018"/>
                    <a:pt x="16891" y="78740"/>
                    <a:pt x="16891" y="154813"/>
                  </a:cubicBezTo>
                  <a:close/>
                </a:path>
              </a:pathLst>
            </a:custGeom>
            <a:solidFill>
              <a:srgbClr val="1E3352"/>
            </a:solidFill>
          </p:spPr>
        </p:sp>
      </p:grpSp>
      <p:grpSp>
        <p:nvGrpSpPr>
          <p:cNvPr name="Group 125" id="125"/>
          <p:cNvGrpSpPr/>
          <p:nvPr/>
        </p:nvGrpSpPr>
        <p:grpSpPr>
          <a:xfrm rot="0">
            <a:off x="6678297" y="7980050"/>
            <a:ext cx="2560320" cy="1463040"/>
            <a:chOff x="0" y="0"/>
            <a:chExt cx="3413760" cy="1950720"/>
          </a:xfrm>
        </p:grpSpPr>
        <p:sp>
          <p:nvSpPr>
            <p:cNvPr name="Freeform 126" id="126"/>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3">
                <a:alphaModFix amt="0"/>
              </a:blip>
              <a:stretch>
                <a:fillRect l="-23316" t="0" r="-23316" b="0"/>
              </a:stretch>
            </a:blipFill>
          </p:spPr>
        </p:sp>
        <p:sp>
          <p:nvSpPr>
            <p:cNvPr name="TextBox 127" id="127"/>
            <p:cNvSpPr txBox="true"/>
            <p:nvPr/>
          </p:nvSpPr>
          <p:spPr>
            <a:xfrm>
              <a:off x="0" y="-38100"/>
              <a:ext cx="3413760" cy="1988820"/>
            </a:xfrm>
            <a:prstGeom prst="rect">
              <a:avLst/>
            </a:prstGeom>
          </p:spPr>
          <p:txBody>
            <a:bodyPr anchor="ctr" rtlCol="false" tIns="0" lIns="0" bIns="0" rIns="0"/>
            <a:lstStyle/>
            <a:p>
              <a:pPr algn="ctr">
                <a:lnSpc>
                  <a:spcPts val="2160"/>
                </a:lnSpc>
              </a:pPr>
              <a:r>
                <a:rPr lang="en-US" sz="1800" b="true">
                  <a:solidFill>
                    <a:srgbClr val="00E5A0"/>
                  </a:solidFill>
                  <a:latin typeface="Calibri (MS) Bold"/>
                  <a:ea typeface="Calibri (MS) Bold"/>
                  <a:cs typeface="Calibri (MS) Bold"/>
                  <a:sym typeface="Calibri (MS) Bold"/>
                </a:rPr>
                <a:t>kmeans_model.pkl</a:t>
              </a:r>
            </a:p>
          </p:txBody>
        </p:sp>
      </p:grpSp>
      <p:grpSp>
        <p:nvGrpSpPr>
          <p:cNvPr name="Group 128" id="128"/>
          <p:cNvGrpSpPr/>
          <p:nvPr/>
        </p:nvGrpSpPr>
        <p:grpSpPr>
          <a:xfrm rot="0">
            <a:off x="9451719" y="7973697"/>
            <a:ext cx="2573017" cy="1475737"/>
            <a:chOff x="0" y="0"/>
            <a:chExt cx="3430689" cy="1967649"/>
          </a:xfrm>
        </p:grpSpPr>
        <p:sp>
          <p:nvSpPr>
            <p:cNvPr name="Freeform 129" id="129"/>
            <p:cNvSpPr/>
            <p:nvPr/>
          </p:nvSpPr>
          <p:spPr>
            <a:xfrm flipH="false" flipV="false" rot="0">
              <a:off x="8509" y="8509"/>
              <a:ext cx="3413633" cy="1950720"/>
            </a:xfrm>
            <a:custGeom>
              <a:avLst/>
              <a:gdLst/>
              <a:ahLst/>
              <a:cxnLst/>
              <a:rect r="r" b="b" t="t" l="l"/>
              <a:pathLst>
                <a:path h="1950720" w="3413633">
                  <a:moveTo>
                    <a:pt x="0" y="146304"/>
                  </a:moveTo>
                  <a:cubicBezTo>
                    <a:pt x="0" y="65405"/>
                    <a:pt x="65659" y="0"/>
                    <a:pt x="146812" y="0"/>
                  </a:cubicBezTo>
                  <a:lnTo>
                    <a:pt x="3266821" y="0"/>
                  </a:lnTo>
                  <a:cubicBezTo>
                    <a:pt x="3347974" y="0"/>
                    <a:pt x="3413633" y="65532"/>
                    <a:pt x="3413633" y="146304"/>
                  </a:cubicBezTo>
                  <a:lnTo>
                    <a:pt x="3413633" y="1804416"/>
                  </a:lnTo>
                  <a:cubicBezTo>
                    <a:pt x="3413633" y="1885188"/>
                    <a:pt x="3347847" y="1950720"/>
                    <a:pt x="3266821" y="1950720"/>
                  </a:cubicBezTo>
                  <a:lnTo>
                    <a:pt x="146812" y="1950720"/>
                  </a:lnTo>
                  <a:cubicBezTo>
                    <a:pt x="65659" y="1950720"/>
                    <a:pt x="0" y="1885188"/>
                    <a:pt x="0" y="1804416"/>
                  </a:cubicBezTo>
                  <a:close/>
                </a:path>
              </a:pathLst>
            </a:custGeom>
            <a:solidFill>
              <a:srgbClr val="122540"/>
            </a:solidFill>
          </p:spPr>
        </p:sp>
        <p:sp>
          <p:nvSpPr>
            <p:cNvPr name="Freeform 130" id="130"/>
            <p:cNvSpPr/>
            <p:nvPr/>
          </p:nvSpPr>
          <p:spPr>
            <a:xfrm flipH="false" flipV="false" rot="0">
              <a:off x="0" y="0"/>
              <a:ext cx="3430651" cy="1967738"/>
            </a:xfrm>
            <a:custGeom>
              <a:avLst/>
              <a:gdLst/>
              <a:ahLst/>
              <a:cxnLst/>
              <a:rect r="r" b="b" t="t" l="l"/>
              <a:pathLst>
                <a:path h="1967738" w="3430651">
                  <a:moveTo>
                    <a:pt x="0" y="154813"/>
                  </a:moveTo>
                  <a:cubicBezTo>
                    <a:pt x="0" y="69215"/>
                    <a:pt x="69596" y="0"/>
                    <a:pt x="155321" y="0"/>
                  </a:cubicBezTo>
                  <a:lnTo>
                    <a:pt x="3275330" y="0"/>
                  </a:lnTo>
                  <a:lnTo>
                    <a:pt x="3275330" y="8509"/>
                  </a:lnTo>
                  <a:lnTo>
                    <a:pt x="3275330" y="0"/>
                  </a:lnTo>
                  <a:cubicBezTo>
                    <a:pt x="3361055" y="0"/>
                    <a:pt x="3430651" y="69215"/>
                    <a:pt x="3430651" y="154813"/>
                  </a:cubicBezTo>
                  <a:lnTo>
                    <a:pt x="3422142" y="154813"/>
                  </a:lnTo>
                  <a:lnTo>
                    <a:pt x="3430651" y="154813"/>
                  </a:lnTo>
                  <a:lnTo>
                    <a:pt x="3430651" y="1812925"/>
                  </a:lnTo>
                  <a:lnTo>
                    <a:pt x="3422142" y="1812925"/>
                  </a:lnTo>
                  <a:lnTo>
                    <a:pt x="3430651" y="1812925"/>
                  </a:lnTo>
                  <a:cubicBezTo>
                    <a:pt x="3430651" y="1898396"/>
                    <a:pt x="3361055" y="1967738"/>
                    <a:pt x="3275330" y="1967738"/>
                  </a:cubicBezTo>
                  <a:lnTo>
                    <a:pt x="3275330" y="1959229"/>
                  </a:lnTo>
                  <a:lnTo>
                    <a:pt x="3275330" y="1967738"/>
                  </a:lnTo>
                  <a:lnTo>
                    <a:pt x="155321" y="1967738"/>
                  </a:lnTo>
                  <a:lnTo>
                    <a:pt x="155321" y="1959229"/>
                  </a:lnTo>
                  <a:lnTo>
                    <a:pt x="155321" y="1967738"/>
                  </a:lnTo>
                  <a:cubicBezTo>
                    <a:pt x="69596" y="1967611"/>
                    <a:pt x="0" y="1898396"/>
                    <a:pt x="0" y="1812925"/>
                  </a:cubicBezTo>
                  <a:lnTo>
                    <a:pt x="0" y="154813"/>
                  </a:lnTo>
                  <a:lnTo>
                    <a:pt x="8509" y="154813"/>
                  </a:lnTo>
                  <a:lnTo>
                    <a:pt x="0" y="154813"/>
                  </a:lnTo>
                  <a:moveTo>
                    <a:pt x="16891" y="154813"/>
                  </a:moveTo>
                  <a:lnTo>
                    <a:pt x="16891" y="1812925"/>
                  </a:lnTo>
                  <a:lnTo>
                    <a:pt x="8509" y="1812925"/>
                  </a:lnTo>
                  <a:lnTo>
                    <a:pt x="17018" y="1812925"/>
                  </a:lnTo>
                  <a:cubicBezTo>
                    <a:pt x="17018" y="1888998"/>
                    <a:pt x="78994" y="1950720"/>
                    <a:pt x="155448" y="1950720"/>
                  </a:cubicBezTo>
                  <a:lnTo>
                    <a:pt x="3275330" y="1950720"/>
                  </a:lnTo>
                  <a:cubicBezTo>
                    <a:pt x="3351784" y="1950720"/>
                    <a:pt x="3413760" y="1888998"/>
                    <a:pt x="3413760" y="1812925"/>
                  </a:cubicBezTo>
                  <a:lnTo>
                    <a:pt x="3413760" y="154813"/>
                  </a:lnTo>
                  <a:cubicBezTo>
                    <a:pt x="3413760" y="78740"/>
                    <a:pt x="3351784" y="17018"/>
                    <a:pt x="3275330" y="17018"/>
                  </a:cubicBezTo>
                  <a:lnTo>
                    <a:pt x="155321" y="17018"/>
                  </a:lnTo>
                  <a:lnTo>
                    <a:pt x="155321" y="8509"/>
                  </a:lnTo>
                  <a:lnTo>
                    <a:pt x="155321" y="17018"/>
                  </a:lnTo>
                  <a:cubicBezTo>
                    <a:pt x="78867" y="17018"/>
                    <a:pt x="16891" y="78740"/>
                    <a:pt x="16891" y="154813"/>
                  </a:cubicBezTo>
                  <a:close/>
                </a:path>
              </a:pathLst>
            </a:custGeom>
            <a:solidFill>
              <a:srgbClr val="1E3352"/>
            </a:solidFill>
          </p:spPr>
        </p:sp>
      </p:grpSp>
      <p:grpSp>
        <p:nvGrpSpPr>
          <p:cNvPr name="Group 131" id="131"/>
          <p:cNvGrpSpPr/>
          <p:nvPr/>
        </p:nvGrpSpPr>
        <p:grpSpPr>
          <a:xfrm rot="0">
            <a:off x="9458073" y="7980050"/>
            <a:ext cx="2560320" cy="1463040"/>
            <a:chOff x="0" y="0"/>
            <a:chExt cx="3413760" cy="1950720"/>
          </a:xfrm>
        </p:grpSpPr>
        <p:sp>
          <p:nvSpPr>
            <p:cNvPr name="Freeform 132" id="132"/>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3">
                <a:alphaModFix amt="0"/>
              </a:blip>
              <a:stretch>
                <a:fillRect l="-23316" t="0" r="-23316" b="0"/>
              </a:stretch>
            </a:blipFill>
          </p:spPr>
        </p:sp>
        <p:sp>
          <p:nvSpPr>
            <p:cNvPr name="TextBox 133" id="133"/>
            <p:cNvSpPr txBox="true"/>
            <p:nvPr/>
          </p:nvSpPr>
          <p:spPr>
            <a:xfrm>
              <a:off x="0" y="-38100"/>
              <a:ext cx="3413760" cy="1988820"/>
            </a:xfrm>
            <a:prstGeom prst="rect">
              <a:avLst/>
            </a:prstGeom>
          </p:spPr>
          <p:txBody>
            <a:bodyPr anchor="ctr" rtlCol="false" tIns="0" lIns="0" bIns="0" rIns="0"/>
            <a:lstStyle/>
            <a:p>
              <a:pPr algn="ctr">
                <a:lnSpc>
                  <a:spcPts val="2160"/>
                </a:lnSpc>
              </a:pPr>
              <a:r>
                <a:rPr lang="en-US" sz="1800" b="true">
                  <a:solidFill>
                    <a:srgbClr val="00E5A0"/>
                  </a:solidFill>
                  <a:latin typeface="Calibri (MS) Bold"/>
                  <a:ea typeface="Calibri (MS) Bold"/>
                  <a:cs typeface="Calibri (MS) Bold"/>
                  <a:sym typeface="Calibri (MS) Bold"/>
                </a:rPr>
                <a:t>X_train/test.csv</a:t>
              </a:r>
            </a:p>
          </p:txBody>
        </p:sp>
      </p:grpSp>
      <p:grpSp>
        <p:nvGrpSpPr>
          <p:cNvPr name="Group 134" id="134"/>
          <p:cNvGrpSpPr/>
          <p:nvPr/>
        </p:nvGrpSpPr>
        <p:grpSpPr>
          <a:xfrm rot="0">
            <a:off x="12231495" y="7973697"/>
            <a:ext cx="2573017" cy="1475737"/>
            <a:chOff x="0" y="0"/>
            <a:chExt cx="3430689" cy="1967649"/>
          </a:xfrm>
        </p:grpSpPr>
        <p:sp>
          <p:nvSpPr>
            <p:cNvPr name="Freeform 135" id="135"/>
            <p:cNvSpPr/>
            <p:nvPr/>
          </p:nvSpPr>
          <p:spPr>
            <a:xfrm flipH="false" flipV="false" rot="0">
              <a:off x="8509" y="8509"/>
              <a:ext cx="3413633" cy="1950720"/>
            </a:xfrm>
            <a:custGeom>
              <a:avLst/>
              <a:gdLst/>
              <a:ahLst/>
              <a:cxnLst/>
              <a:rect r="r" b="b" t="t" l="l"/>
              <a:pathLst>
                <a:path h="1950720" w="3413633">
                  <a:moveTo>
                    <a:pt x="0" y="146304"/>
                  </a:moveTo>
                  <a:cubicBezTo>
                    <a:pt x="0" y="65405"/>
                    <a:pt x="65659" y="0"/>
                    <a:pt x="146812" y="0"/>
                  </a:cubicBezTo>
                  <a:lnTo>
                    <a:pt x="3266821" y="0"/>
                  </a:lnTo>
                  <a:cubicBezTo>
                    <a:pt x="3347974" y="0"/>
                    <a:pt x="3413633" y="65532"/>
                    <a:pt x="3413633" y="146304"/>
                  </a:cubicBezTo>
                  <a:lnTo>
                    <a:pt x="3413633" y="1804416"/>
                  </a:lnTo>
                  <a:cubicBezTo>
                    <a:pt x="3413633" y="1885188"/>
                    <a:pt x="3347847" y="1950720"/>
                    <a:pt x="3266821" y="1950720"/>
                  </a:cubicBezTo>
                  <a:lnTo>
                    <a:pt x="146812" y="1950720"/>
                  </a:lnTo>
                  <a:cubicBezTo>
                    <a:pt x="65659" y="1950720"/>
                    <a:pt x="0" y="1885188"/>
                    <a:pt x="0" y="1804416"/>
                  </a:cubicBezTo>
                  <a:close/>
                </a:path>
              </a:pathLst>
            </a:custGeom>
            <a:solidFill>
              <a:srgbClr val="122540"/>
            </a:solidFill>
          </p:spPr>
        </p:sp>
        <p:sp>
          <p:nvSpPr>
            <p:cNvPr name="Freeform 136" id="136"/>
            <p:cNvSpPr/>
            <p:nvPr/>
          </p:nvSpPr>
          <p:spPr>
            <a:xfrm flipH="false" flipV="false" rot="0">
              <a:off x="0" y="0"/>
              <a:ext cx="3430651" cy="1967738"/>
            </a:xfrm>
            <a:custGeom>
              <a:avLst/>
              <a:gdLst/>
              <a:ahLst/>
              <a:cxnLst/>
              <a:rect r="r" b="b" t="t" l="l"/>
              <a:pathLst>
                <a:path h="1967738" w="3430651">
                  <a:moveTo>
                    <a:pt x="0" y="154813"/>
                  </a:moveTo>
                  <a:cubicBezTo>
                    <a:pt x="0" y="69215"/>
                    <a:pt x="69596" y="0"/>
                    <a:pt x="155321" y="0"/>
                  </a:cubicBezTo>
                  <a:lnTo>
                    <a:pt x="3275330" y="0"/>
                  </a:lnTo>
                  <a:lnTo>
                    <a:pt x="3275330" y="8509"/>
                  </a:lnTo>
                  <a:lnTo>
                    <a:pt x="3275330" y="0"/>
                  </a:lnTo>
                  <a:cubicBezTo>
                    <a:pt x="3361055" y="0"/>
                    <a:pt x="3430651" y="69215"/>
                    <a:pt x="3430651" y="154813"/>
                  </a:cubicBezTo>
                  <a:lnTo>
                    <a:pt x="3422142" y="154813"/>
                  </a:lnTo>
                  <a:lnTo>
                    <a:pt x="3430651" y="154813"/>
                  </a:lnTo>
                  <a:lnTo>
                    <a:pt x="3430651" y="1812925"/>
                  </a:lnTo>
                  <a:lnTo>
                    <a:pt x="3422142" y="1812925"/>
                  </a:lnTo>
                  <a:lnTo>
                    <a:pt x="3430651" y="1812925"/>
                  </a:lnTo>
                  <a:cubicBezTo>
                    <a:pt x="3430651" y="1898396"/>
                    <a:pt x="3361055" y="1967738"/>
                    <a:pt x="3275330" y="1967738"/>
                  </a:cubicBezTo>
                  <a:lnTo>
                    <a:pt x="3275330" y="1959229"/>
                  </a:lnTo>
                  <a:lnTo>
                    <a:pt x="3275330" y="1967738"/>
                  </a:lnTo>
                  <a:lnTo>
                    <a:pt x="155321" y="1967738"/>
                  </a:lnTo>
                  <a:lnTo>
                    <a:pt x="155321" y="1959229"/>
                  </a:lnTo>
                  <a:lnTo>
                    <a:pt x="155321" y="1967738"/>
                  </a:lnTo>
                  <a:cubicBezTo>
                    <a:pt x="69596" y="1967611"/>
                    <a:pt x="0" y="1898396"/>
                    <a:pt x="0" y="1812925"/>
                  </a:cubicBezTo>
                  <a:lnTo>
                    <a:pt x="0" y="154813"/>
                  </a:lnTo>
                  <a:lnTo>
                    <a:pt x="8509" y="154813"/>
                  </a:lnTo>
                  <a:lnTo>
                    <a:pt x="0" y="154813"/>
                  </a:lnTo>
                  <a:moveTo>
                    <a:pt x="16891" y="154813"/>
                  </a:moveTo>
                  <a:lnTo>
                    <a:pt x="16891" y="1812925"/>
                  </a:lnTo>
                  <a:lnTo>
                    <a:pt x="8509" y="1812925"/>
                  </a:lnTo>
                  <a:lnTo>
                    <a:pt x="17018" y="1812925"/>
                  </a:lnTo>
                  <a:cubicBezTo>
                    <a:pt x="17018" y="1888998"/>
                    <a:pt x="78994" y="1950720"/>
                    <a:pt x="155448" y="1950720"/>
                  </a:cubicBezTo>
                  <a:lnTo>
                    <a:pt x="3275330" y="1950720"/>
                  </a:lnTo>
                  <a:cubicBezTo>
                    <a:pt x="3351784" y="1950720"/>
                    <a:pt x="3413760" y="1888998"/>
                    <a:pt x="3413760" y="1812925"/>
                  </a:cubicBezTo>
                  <a:lnTo>
                    <a:pt x="3413760" y="154813"/>
                  </a:lnTo>
                  <a:cubicBezTo>
                    <a:pt x="3413760" y="78740"/>
                    <a:pt x="3351784" y="17018"/>
                    <a:pt x="3275330" y="17018"/>
                  </a:cubicBezTo>
                  <a:lnTo>
                    <a:pt x="155321" y="17018"/>
                  </a:lnTo>
                  <a:lnTo>
                    <a:pt x="155321" y="8509"/>
                  </a:lnTo>
                  <a:lnTo>
                    <a:pt x="155321" y="17018"/>
                  </a:lnTo>
                  <a:cubicBezTo>
                    <a:pt x="78867" y="17018"/>
                    <a:pt x="16891" y="78740"/>
                    <a:pt x="16891" y="154813"/>
                  </a:cubicBezTo>
                  <a:close/>
                </a:path>
              </a:pathLst>
            </a:custGeom>
            <a:solidFill>
              <a:srgbClr val="1E3352"/>
            </a:solidFill>
          </p:spPr>
        </p:sp>
      </p:grpSp>
      <p:grpSp>
        <p:nvGrpSpPr>
          <p:cNvPr name="Group 137" id="137"/>
          <p:cNvGrpSpPr/>
          <p:nvPr/>
        </p:nvGrpSpPr>
        <p:grpSpPr>
          <a:xfrm rot="0">
            <a:off x="12237849" y="7980050"/>
            <a:ext cx="2560320" cy="1463040"/>
            <a:chOff x="0" y="0"/>
            <a:chExt cx="3413760" cy="1950720"/>
          </a:xfrm>
        </p:grpSpPr>
        <p:sp>
          <p:nvSpPr>
            <p:cNvPr name="Freeform 138" id="138"/>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3">
                <a:alphaModFix amt="0"/>
              </a:blip>
              <a:stretch>
                <a:fillRect l="-23316" t="0" r="-23316" b="0"/>
              </a:stretch>
            </a:blipFill>
          </p:spPr>
        </p:sp>
        <p:sp>
          <p:nvSpPr>
            <p:cNvPr name="TextBox 139" id="139"/>
            <p:cNvSpPr txBox="true"/>
            <p:nvPr/>
          </p:nvSpPr>
          <p:spPr>
            <a:xfrm>
              <a:off x="0" y="-38100"/>
              <a:ext cx="3413760" cy="1988820"/>
            </a:xfrm>
            <a:prstGeom prst="rect">
              <a:avLst/>
            </a:prstGeom>
          </p:spPr>
          <p:txBody>
            <a:bodyPr anchor="ctr" rtlCol="false" tIns="0" lIns="0" bIns="0" rIns="0"/>
            <a:lstStyle/>
            <a:p>
              <a:pPr algn="ctr">
                <a:lnSpc>
                  <a:spcPts val="2160"/>
                </a:lnSpc>
              </a:pPr>
              <a:r>
                <a:rPr lang="en-US" sz="1800" b="true">
                  <a:solidFill>
                    <a:srgbClr val="00E5A0"/>
                  </a:solidFill>
                  <a:latin typeface="Calibri (MS) Bold"/>
                  <a:ea typeface="Calibri (MS) Bold"/>
                  <a:cs typeface="Calibri (MS) Bold"/>
                  <a:sym typeface="Calibri (MS) Bold"/>
                </a:rPr>
                <a:t>y_train/test.csv</a:t>
              </a:r>
            </a:p>
          </p:txBody>
        </p:sp>
      </p:grpSp>
      <p:grpSp>
        <p:nvGrpSpPr>
          <p:cNvPr name="Group 140" id="140"/>
          <p:cNvGrpSpPr/>
          <p:nvPr/>
        </p:nvGrpSpPr>
        <p:grpSpPr>
          <a:xfrm rot="0">
            <a:off x="15011271" y="7973697"/>
            <a:ext cx="2573017" cy="1475737"/>
            <a:chOff x="0" y="0"/>
            <a:chExt cx="3430689" cy="1967649"/>
          </a:xfrm>
        </p:grpSpPr>
        <p:sp>
          <p:nvSpPr>
            <p:cNvPr name="Freeform 141" id="141"/>
            <p:cNvSpPr/>
            <p:nvPr/>
          </p:nvSpPr>
          <p:spPr>
            <a:xfrm flipH="false" flipV="false" rot="0">
              <a:off x="8509" y="8509"/>
              <a:ext cx="3413633" cy="1950720"/>
            </a:xfrm>
            <a:custGeom>
              <a:avLst/>
              <a:gdLst/>
              <a:ahLst/>
              <a:cxnLst/>
              <a:rect r="r" b="b" t="t" l="l"/>
              <a:pathLst>
                <a:path h="1950720" w="3413633">
                  <a:moveTo>
                    <a:pt x="0" y="146304"/>
                  </a:moveTo>
                  <a:cubicBezTo>
                    <a:pt x="0" y="65405"/>
                    <a:pt x="65659" y="0"/>
                    <a:pt x="146812" y="0"/>
                  </a:cubicBezTo>
                  <a:lnTo>
                    <a:pt x="3266821" y="0"/>
                  </a:lnTo>
                  <a:cubicBezTo>
                    <a:pt x="3347974" y="0"/>
                    <a:pt x="3413633" y="65532"/>
                    <a:pt x="3413633" y="146304"/>
                  </a:cubicBezTo>
                  <a:lnTo>
                    <a:pt x="3413633" y="1804416"/>
                  </a:lnTo>
                  <a:cubicBezTo>
                    <a:pt x="3413633" y="1885188"/>
                    <a:pt x="3347847" y="1950720"/>
                    <a:pt x="3266821" y="1950720"/>
                  </a:cubicBezTo>
                  <a:lnTo>
                    <a:pt x="146812" y="1950720"/>
                  </a:lnTo>
                  <a:cubicBezTo>
                    <a:pt x="65659" y="1950720"/>
                    <a:pt x="0" y="1885188"/>
                    <a:pt x="0" y="1804416"/>
                  </a:cubicBezTo>
                  <a:close/>
                </a:path>
              </a:pathLst>
            </a:custGeom>
            <a:solidFill>
              <a:srgbClr val="122540"/>
            </a:solidFill>
          </p:spPr>
        </p:sp>
        <p:sp>
          <p:nvSpPr>
            <p:cNvPr name="Freeform 142" id="142"/>
            <p:cNvSpPr/>
            <p:nvPr/>
          </p:nvSpPr>
          <p:spPr>
            <a:xfrm flipH="false" flipV="false" rot="0">
              <a:off x="0" y="0"/>
              <a:ext cx="3430651" cy="1967738"/>
            </a:xfrm>
            <a:custGeom>
              <a:avLst/>
              <a:gdLst/>
              <a:ahLst/>
              <a:cxnLst/>
              <a:rect r="r" b="b" t="t" l="l"/>
              <a:pathLst>
                <a:path h="1967738" w="3430651">
                  <a:moveTo>
                    <a:pt x="0" y="154813"/>
                  </a:moveTo>
                  <a:cubicBezTo>
                    <a:pt x="0" y="69215"/>
                    <a:pt x="69596" y="0"/>
                    <a:pt x="155321" y="0"/>
                  </a:cubicBezTo>
                  <a:lnTo>
                    <a:pt x="3275330" y="0"/>
                  </a:lnTo>
                  <a:lnTo>
                    <a:pt x="3275330" y="8509"/>
                  </a:lnTo>
                  <a:lnTo>
                    <a:pt x="3275330" y="0"/>
                  </a:lnTo>
                  <a:cubicBezTo>
                    <a:pt x="3361055" y="0"/>
                    <a:pt x="3430651" y="69215"/>
                    <a:pt x="3430651" y="154813"/>
                  </a:cubicBezTo>
                  <a:lnTo>
                    <a:pt x="3422142" y="154813"/>
                  </a:lnTo>
                  <a:lnTo>
                    <a:pt x="3430651" y="154813"/>
                  </a:lnTo>
                  <a:lnTo>
                    <a:pt x="3430651" y="1812925"/>
                  </a:lnTo>
                  <a:lnTo>
                    <a:pt x="3422142" y="1812925"/>
                  </a:lnTo>
                  <a:lnTo>
                    <a:pt x="3430651" y="1812925"/>
                  </a:lnTo>
                  <a:cubicBezTo>
                    <a:pt x="3430651" y="1898396"/>
                    <a:pt x="3361055" y="1967738"/>
                    <a:pt x="3275330" y="1967738"/>
                  </a:cubicBezTo>
                  <a:lnTo>
                    <a:pt x="3275330" y="1959229"/>
                  </a:lnTo>
                  <a:lnTo>
                    <a:pt x="3275330" y="1967738"/>
                  </a:lnTo>
                  <a:lnTo>
                    <a:pt x="155321" y="1967738"/>
                  </a:lnTo>
                  <a:lnTo>
                    <a:pt x="155321" y="1959229"/>
                  </a:lnTo>
                  <a:lnTo>
                    <a:pt x="155321" y="1967738"/>
                  </a:lnTo>
                  <a:cubicBezTo>
                    <a:pt x="69596" y="1967611"/>
                    <a:pt x="0" y="1898396"/>
                    <a:pt x="0" y="1812925"/>
                  </a:cubicBezTo>
                  <a:lnTo>
                    <a:pt x="0" y="154813"/>
                  </a:lnTo>
                  <a:lnTo>
                    <a:pt x="8509" y="154813"/>
                  </a:lnTo>
                  <a:lnTo>
                    <a:pt x="0" y="154813"/>
                  </a:lnTo>
                  <a:moveTo>
                    <a:pt x="16891" y="154813"/>
                  </a:moveTo>
                  <a:lnTo>
                    <a:pt x="16891" y="1812925"/>
                  </a:lnTo>
                  <a:lnTo>
                    <a:pt x="8509" y="1812925"/>
                  </a:lnTo>
                  <a:lnTo>
                    <a:pt x="17018" y="1812925"/>
                  </a:lnTo>
                  <a:cubicBezTo>
                    <a:pt x="17018" y="1888998"/>
                    <a:pt x="78994" y="1950720"/>
                    <a:pt x="155448" y="1950720"/>
                  </a:cubicBezTo>
                  <a:lnTo>
                    <a:pt x="3275330" y="1950720"/>
                  </a:lnTo>
                  <a:cubicBezTo>
                    <a:pt x="3351784" y="1950720"/>
                    <a:pt x="3413760" y="1888998"/>
                    <a:pt x="3413760" y="1812925"/>
                  </a:cubicBezTo>
                  <a:lnTo>
                    <a:pt x="3413760" y="154813"/>
                  </a:lnTo>
                  <a:cubicBezTo>
                    <a:pt x="3413760" y="78740"/>
                    <a:pt x="3351784" y="17018"/>
                    <a:pt x="3275330" y="17018"/>
                  </a:cubicBezTo>
                  <a:lnTo>
                    <a:pt x="155321" y="17018"/>
                  </a:lnTo>
                  <a:lnTo>
                    <a:pt x="155321" y="8509"/>
                  </a:lnTo>
                  <a:lnTo>
                    <a:pt x="155321" y="17018"/>
                  </a:lnTo>
                  <a:cubicBezTo>
                    <a:pt x="78867" y="17018"/>
                    <a:pt x="16891" y="78740"/>
                    <a:pt x="16891" y="154813"/>
                  </a:cubicBezTo>
                  <a:close/>
                </a:path>
              </a:pathLst>
            </a:custGeom>
            <a:solidFill>
              <a:srgbClr val="1E3352"/>
            </a:solidFill>
          </p:spPr>
        </p:sp>
      </p:grpSp>
      <p:grpSp>
        <p:nvGrpSpPr>
          <p:cNvPr name="Group 143" id="143"/>
          <p:cNvGrpSpPr/>
          <p:nvPr/>
        </p:nvGrpSpPr>
        <p:grpSpPr>
          <a:xfrm rot="0">
            <a:off x="15017625" y="7980050"/>
            <a:ext cx="2560320" cy="1463040"/>
            <a:chOff x="0" y="0"/>
            <a:chExt cx="3413760" cy="1950720"/>
          </a:xfrm>
        </p:grpSpPr>
        <p:sp>
          <p:nvSpPr>
            <p:cNvPr name="Freeform 144" id="144"/>
            <p:cNvSpPr/>
            <p:nvPr/>
          </p:nvSpPr>
          <p:spPr>
            <a:xfrm flipH="false" flipV="false" rot="0">
              <a:off x="0" y="0"/>
              <a:ext cx="3413760" cy="1950720"/>
            </a:xfrm>
            <a:custGeom>
              <a:avLst/>
              <a:gdLst/>
              <a:ahLst/>
              <a:cxnLst/>
              <a:rect r="r" b="b" t="t" l="l"/>
              <a:pathLst>
                <a:path h="1950720" w="3413760">
                  <a:moveTo>
                    <a:pt x="0" y="0"/>
                  </a:moveTo>
                  <a:lnTo>
                    <a:pt x="3413760" y="0"/>
                  </a:lnTo>
                  <a:lnTo>
                    <a:pt x="3413760" y="1950720"/>
                  </a:lnTo>
                  <a:lnTo>
                    <a:pt x="0" y="1950720"/>
                  </a:lnTo>
                  <a:close/>
                </a:path>
              </a:pathLst>
            </a:custGeom>
            <a:blipFill>
              <a:blip r:embed="rId3">
                <a:alphaModFix amt="0"/>
              </a:blip>
              <a:stretch>
                <a:fillRect l="-23316" t="0" r="-23316" b="0"/>
              </a:stretch>
            </a:blipFill>
          </p:spPr>
        </p:sp>
        <p:sp>
          <p:nvSpPr>
            <p:cNvPr name="TextBox 145" id="145"/>
            <p:cNvSpPr txBox="true"/>
            <p:nvPr/>
          </p:nvSpPr>
          <p:spPr>
            <a:xfrm>
              <a:off x="0" y="-38100"/>
              <a:ext cx="3413760" cy="1988820"/>
            </a:xfrm>
            <a:prstGeom prst="rect">
              <a:avLst/>
            </a:prstGeom>
          </p:spPr>
          <p:txBody>
            <a:bodyPr anchor="ctr" rtlCol="false" tIns="0" lIns="0" bIns="0" rIns="0"/>
            <a:lstStyle/>
            <a:p>
              <a:pPr algn="ctr">
                <a:lnSpc>
                  <a:spcPts val="2160"/>
                </a:lnSpc>
              </a:pPr>
              <a:r>
                <a:rPr lang="en-US" sz="1800" b="true">
                  <a:solidFill>
                    <a:srgbClr val="00E5A0"/>
                  </a:solidFill>
                  <a:latin typeface="Calibri (MS) Bold"/>
                  <a:ea typeface="Calibri (MS) Bold"/>
                  <a:cs typeface="Calibri (MS) Bold"/>
                  <a:sym typeface="Calibri (MS) Bold"/>
                </a:rPr>
                <a:t>X_test_brut_40.csv</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04237" y="392173"/>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914400" y="402336"/>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04 — CLASSIFICATION</a:t>
              </a:r>
            </a:p>
          </p:txBody>
        </p:sp>
      </p:grpSp>
      <p:grpSp>
        <p:nvGrpSpPr>
          <p:cNvPr name="Group 8" id="8"/>
          <p:cNvGrpSpPr/>
          <p:nvPr/>
        </p:nvGrpSpPr>
        <p:grpSpPr>
          <a:xfrm rot="0">
            <a:off x="916934" y="987552"/>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Modélisation — Prédiction du Churn</a:t>
              </a:r>
            </a:p>
          </p:txBody>
        </p:sp>
      </p:grpSp>
      <p:grpSp>
        <p:nvGrpSpPr>
          <p:cNvPr name="Group 11" id="11"/>
          <p:cNvGrpSpPr/>
          <p:nvPr/>
        </p:nvGrpSpPr>
        <p:grpSpPr>
          <a:xfrm rot="0">
            <a:off x="910580" y="2700271"/>
            <a:ext cx="16471897" cy="1841497"/>
            <a:chOff x="0" y="0"/>
            <a:chExt cx="21962529" cy="2455329"/>
          </a:xfrm>
        </p:grpSpPr>
        <p:sp>
          <p:nvSpPr>
            <p:cNvPr name="Freeform 12" id="12"/>
            <p:cNvSpPr/>
            <p:nvPr/>
          </p:nvSpPr>
          <p:spPr>
            <a:xfrm flipH="false" flipV="false" rot="0">
              <a:off x="8509" y="8509"/>
              <a:ext cx="21945601" cy="2438400"/>
            </a:xfrm>
            <a:custGeom>
              <a:avLst/>
              <a:gdLst/>
              <a:ahLst/>
              <a:cxnLst/>
              <a:rect r="r" b="b" t="t" l="l"/>
              <a:pathLst>
                <a:path h="2438400" w="21945601">
                  <a:moveTo>
                    <a:pt x="0" y="0"/>
                  </a:moveTo>
                  <a:lnTo>
                    <a:pt x="21945601" y="0"/>
                  </a:lnTo>
                  <a:lnTo>
                    <a:pt x="21945601" y="2438400"/>
                  </a:lnTo>
                  <a:lnTo>
                    <a:pt x="0" y="2438400"/>
                  </a:lnTo>
                  <a:close/>
                </a:path>
              </a:pathLst>
            </a:custGeom>
            <a:solidFill>
              <a:srgbClr val="0D1E35"/>
            </a:solidFill>
          </p:spPr>
        </p:sp>
        <p:sp>
          <p:nvSpPr>
            <p:cNvPr name="Freeform 13" id="13"/>
            <p:cNvSpPr/>
            <p:nvPr/>
          </p:nvSpPr>
          <p:spPr>
            <a:xfrm flipH="false" flipV="false" rot="0">
              <a:off x="0" y="0"/>
              <a:ext cx="21962618" cy="2455418"/>
            </a:xfrm>
            <a:custGeom>
              <a:avLst/>
              <a:gdLst/>
              <a:ahLst/>
              <a:cxnLst/>
              <a:rect r="r" b="b" t="t" l="l"/>
              <a:pathLst>
                <a:path h="2455418" w="21962618">
                  <a:moveTo>
                    <a:pt x="8509" y="0"/>
                  </a:moveTo>
                  <a:lnTo>
                    <a:pt x="21954110" y="0"/>
                  </a:lnTo>
                  <a:cubicBezTo>
                    <a:pt x="21958808" y="0"/>
                    <a:pt x="21962618" y="3810"/>
                    <a:pt x="21962618" y="8509"/>
                  </a:cubicBezTo>
                  <a:lnTo>
                    <a:pt x="21962618" y="2446909"/>
                  </a:lnTo>
                  <a:cubicBezTo>
                    <a:pt x="21962618" y="2451608"/>
                    <a:pt x="21958808" y="2455418"/>
                    <a:pt x="21954110"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21954110" y="2438400"/>
                  </a:lnTo>
                  <a:lnTo>
                    <a:pt x="21954110" y="2446909"/>
                  </a:lnTo>
                  <a:lnTo>
                    <a:pt x="21945600" y="2446909"/>
                  </a:lnTo>
                  <a:lnTo>
                    <a:pt x="21945600" y="8509"/>
                  </a:lnTo>
                  <a:lnTo>
                    <a:pt x="21954110" y="8509"/>
                  </a:lnTo>
                  <a:lnTo>
                    <a:pt x="21954110" y="17018"/>
                  </a:lnTo>
                  <a:lnTo>
                    <a:pt x="8509" y="17018"/>
                  </a:lnTo>
                  <a:close/>
                </a:path>
              </a:pathLst>
            </a:custGeom>
            <a:solidFill>
              <a:srgbClr val="1E3352"/>
            </a:solidFill>
          </p:spPr>
        </p:sp>
      </p:grpSp>
      <p:grpSp>
        <p:nvGrpSpPr>
          <p:cNvPr name="Group 14" id="14"/>
          <p:cNvGrpSpPr/>
          <p:nvPr/>
        </p:nvGrpSpPr>
        <p:grpSpPr>
          <a:xfrm rot="0">
            <a:off x="904237" y="2693927"/>
            <a:ext cx="135131" cy="1854203"/>
            <a:chOff x="0" y="0"/>
            <a:chExt cx="180175" cy="2472271"/>
          </a:xfrm>
        </p:grpSpPr>
        <p:sp>
          <p:nvSpPr>
            <p:cNvPr name="Freeform 15" id="15"/>
            <p:cNvSpPr/>
            <p:nvPr/>
          </p:nvSpPr>
          <p:spPr>
            <a:xfrm flipH="false" flipV="false" rot="0">
              <a:off x="16891" y="16891"/>
              <a:ext cx="146304" cy="2438400"/>
            </a:xfrm>
            <a:custGeom>
              <a:avLst/>
              <a:gdLst/>
              <a:ahLst/>
              <a:cxnLst/>
              <a:rect r="r" b="b" t="t" l="l"/>
              <a:pathLst>
                <a:path h="2438400" w="146304">
                  <a:moveTo>
                    <a:pt x="0" y="0"/>
                  </a:moveTo>
                  <a:lnTo>
                    <a:pt x="146304" y="0"/>
                  </a:lnTo>
                  <a:lnTo>
                    <a:pt x="146304" y="2438400"/>
                  </a:lnTo>
                  <a:lnTo>
                    <a:pt x="0" y="2438400"/>
                  </a:lnTo>
                  <a:close/>
                </a:path>
              </a:pathLst>
            </a:custGeom>
            <a:solidFill>
              <a:srgbClr val="FFB800"/>
            </a:solidFill>
          </p:spPr>
        </p:sp>
        <p:sp>
          <p:nvSpPr>
            <p:cNvPr name="Freeform 16" id="16"/>
            <p:cNvSpPr/>
            <p:nvPr/>
          </p:nvSpPr>
          <p:spPr>
            <a:xfrm flipH="false" flipV="false" rot="0">
              <a:off x="0" y="0"/>
              <a:ext cx="180086" cy="2472182"/>
            </a:xfrm>
            <a:custGeom>
              <a:avLst/>
              <a:gdLst/>
              <a:ahLst/>
              <a:cxnLst/>
              <a:rect r="r" b="b" t="t" l="l"/>
              <a:pathLst>
                <a:path h="2472182" w="180086">
                  <a:moveTo>
                    <a:pt x="16891" y="0"/>
                  </a:moveTo>
                  <a:lnTo>
                    <a:pt x="163195" y="0"/>
                  </a:lnTo>
                  <a:cubicBezTo>
                    <a:pt x="172593" y="0"/>
                    <a:pt x="180086" y="7620"/>
                    <a:pt x="180086" y="16891"/>
                  </a:cubicBezTo>
                  <a:lnTo>
                    <a:pt x="180086" y="2455291"/>
                  </a:lnTo>
                  <a:cubicBezTo>
                    <a:pt x="180086" y="2464689"/>
                    <a:pt x="172466" y="2472182"/>
                    <a:pt x="163195"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163195" y="2438400"/>
                  </a:lnTo>
                  <a:lnTo>
                    <a:pt x="163195" y="2455291"/>
                  </a:lnTo>
                  <a:lnTo>
                    <a:pt x="146304" y="2455291"/>
                  </a:lnTo>
                  <a:lnTo>
                    <a:pt x="146304" y="16891"/>
                  </a:lnTo>
                  <a:lnTo>
                    <a:pt x="163195" y="16891"/>
                  </a:lnTo>
                  <a:lnTo>
                    <a:pt x="163195" y="33909"/>
                  </a:lnTo>
                  <a:lnTo>
                    <a:pt x="16891" y="33909"/>
                  </a:lnTo>
                  <a:close/>
                </a:path>
              </a:pathLst>
            </a:custGeom>
            <a:solidFill>
              <a:srgbClr val="FFB800"/>
            </a:solidFill>
          </p:spPr>
        </p:sp>
      </p:grpSp>
      <p:grpSp>
        <p:nvGrpSpPr>
          <p:cNvPr name="Group 17" id="17"/>
          <p:cNvGrpSpPr/>
          <p:nvPr/>
        </p:nvGrpSpPr>
        <p:grpSpPr>
          <a:xfrm rot="0">
            <a:off x="1374134" y="2852928"/>
            <a:ext cx="9144000" cy="640080"/>
            <a:chOff x="0" y="0"/>
            <a:chExt cx="12192000" cy="853440"/>
          </a:xfrm>
        </p:grpSpPr>
        <p:sp>
          <p:nvSpPr>
            <p:cNvPr name="Freeform 18" id="18"/>
            <p:cNvSpPr/>
            <p:nvPr/>
          </p:nvSpPr>
          <p:spPr>
            <a:xfrm flipH="false" flipV="false" rot="0">
              <a:off x="0" y="0"/>
              <a:ext cx="12192000" cy="853440"/>
            </a:xfrm>
            <a:custGeom>
              <a:avLst/>
              <a:gdLst/>
              <a:ahLst/>
              <a:cxnLst/>
              <a:rect r="r" b="b" t="t" l="l"/>
              <a:pathLst>
                <a:path h="853440" w="12192000">
                  <a:moveTo>
                    <a:pt x="0" y="0"/>
                  </a:moveTo>
                  <a:lnTo>
                    <a:pt x="12192000" y="0"/>
                  </a:lnTo>
                  <a:lnTo>
                    <a:pt x="12192000" y="853440"/>
                  </a:lnTo>
                  <a:lnTo>
                    <a:pt x="0" y="853440"/>
                  </a:lnTo>
                  <a:close/>
                </a:path>
              </a:pathLst>
            </a:custGeom>
            <a:blipFill>
              <a:blip r:embed="rId3">
                <a:alphaModFix amt="0"/>
              </a:blip>
              <a:stretch>
                <a:fillRect l="0" t="-228357" r="0" b="-228357"/>
              </a:stretch>
            </a:blipFill>
          </p:spPr>
        </p:sp>
        <p:sp>
          <p:nvSpPr>
            <p:cNvPr name="TextBox 19" id="19"/>
            <p:cNvSpPr txBox="true"/>
            <p:nvPr/>
          </p:nvSpPr>
          <p:spPr>
            <a:xfrm>
              <a:off x="0" y="-57150"/>
              <a:ext cx="12192000" cy="910590"/>
            </a:xfrm>
            <a:prstGeom prst="rect">
              <a:avLst/>
            </a:prstGeom>
          </p:spPr>
          <p:txBody>
            <a:bodyPr anchor="ctr" rtlCol="false" tIns="0" lIns="0" bIns="0" rIns="0"/>
            <a:lstStyle/>
            <a:p>
              <a:pPr algn="l">
                <a:lnSpc>
                  <a:spcPts val="3120"/>
                </a:lnSpc>
              </a:pPr>
              <a:r>
                <a:rPr lang="en-US" sz="2600" b="true">
                  <a:solidFill>
                    <a:srgbClr val="FFB800"/>
                  </a:solidFill>
                  <a:latin typeface="Calibri (MS) Bold"/>
                  <a:ea typeface="Calibri (MS) Bold"/>
                  <a:cs typeface="Calibri (MS) Bold"/>
                  <a:sym typeface="Calibri (MS) Bold"/>
                </a:rPr>
                <a:t>Gestion du déséquilibre — SMOTE</a:t>
              </a:r>
            </a:p>
          </p:txBody>
        </p:sp>
      </p:grpSp>
      <p:grpSp>
        <p:nvGrpSpPr>
          <p:cNvPr name="Group 20" id="20"/>
          <p:cNvGrpSpPr/>
          <p:nvPr/>
        </p:nvGrpSpPr>
        <p:grpSpPr>
          <a:xfrm rot="0">
            <a:off x="1374134" y="3493008"/>
            <a:ext cx="15544800" cy="731520"/>
            <a:chOff x="0" y="0"/>
            <a:chExt cx="20726400" cy="975360"/>
          </a:xfrm>
        </p:grpSpPr>
        <p:sp>
          <p:nvSpPr>
            <p:cNvPr name="Freeform 21" id="21"/>
            <p:cNvSpPr/>
            <p:nvPr/>
          </p:nvSpPr>
          <p:spPr>
            <a:xfrm flipH="false" flipV="false" rot="0">
              <a:off x="0" y="0"/>
              <a:ext cx="20726400" cy="975360"/>
            </a:xfrm>
            <a:custGeom>
              <a:avLst/>
              <a:gdLst/>
              <a:ahLst/>
              <a:cxnLst/>
              <a:rect r="r" b="b" t="t" l="l"/>
              <a:pathLst>
                <a:path h="975360" w="20726400">
                  <a:moveTo>
                    <a:pt x="0" y="0"/>
                  </a:moveTo>
                  <a:lnTo>
                    <a:pt x="20726400" y="0"/>
                  </a:lnTo>
                  <a:lnTo>
                    <a:pt x="20726400" y="975360"/>
                  </a:lnTo>
                  <a:lnTo>
                    <a:pt x="0" y="975360"/>
                  </a:lnTo>
                  <a:close/>
                </a:path>
              </a:pathLst>
            </a:custGeom>
            <a:blipFill>
              <a:blip r:embed="rId3">
                <a:alphaModFix amt="0"/>
              </a:blip>
              <a:stretch>
                <a:fillRect l="0" t="-364057" r="0" b="-364057"/>
              </a:stretch>
            </a:blipFill>
          </p:spPr>
        </p:sp>
        <p:sp>
          <p:nvSpPr>
            <p:cNvPr name="TextBox 22" id="22"/>
            <p:cNvSpPr txBox="true"/>
            <p:nvPr/>
          </p:nvSpPr>
          <p:spPr>
            <a:xfrm>
              <a:off x="0" y="-47625"/>
              <a:ext cx="20726400" cy="1022985"/>
            </a:xfrm>
            <a:prstGeom prst="rect">
              <a:avLst/>
            </a:prstGeom>
          </p:spPr>
          <p:txBody>
            <a:bodyPr anchor="ctr" rtlCol="false" tIns="0" lIns="0" bIns="0" rIns="0"/>
            <a:lstStyle/>
            <a:p>
              <a:pPr algn="l">
                <a:lnSpc>
                  <a:spcPts val="2640"/>
                </a:lnSpc>
              </a:pPr>
              <a:r>
                <a:rPr lang="en-US" sz="2200">
                  <a:solidFill>
                    <a:srgbClr val="E2EDF5"/>
                  </a:solidFill>
                  <a:latin typeface="Calibri (MS)"/>
                  <a:ea typeface="Calibri (MS)"/>
                  <a:cs typeface="Calibri (MS)"/>
                  <a:sym typeface="Calibri (MS)"/>
                </a:rPr>
                <a:t>Avant : ~35% Churn  →  Après SMOTE : 50% / 50%  |  random_state=42</a:t>
              </a:r>
            </a:p>
          </p:txBody>
        </p:sp>
      </p:grpSp>
      <p:grpSp>
        <p:nvGrpSpPr>
          <p:cNvPr name="Group 23" id="23"/>
          <p:cNvGrpSpPr/>
          <p:nvPr/>
        </p:nvGrpSpPr>
        <p:grpSpPr>
          <a:xfrm rot="0">
            <a:off x="910580" y="4894831"/>
            <a:ext cx="3853177" cy="2390137"/>
            <a:chOff x="0" y="0"/>
            <a:chExt cx="5137569" cy="3186849"/>
          </a:xfrm>
        </p:grpSpPr>
        <p:sp>
          <p:nvSpPr>
            <p:cNvPr name="Freeform 24" id="24"/>
            <p:cNvSpPr/>
            <p:nvPr/>
          </p:nvSpPr>
          <p:spPr>
            <a:xfrm flipH="false" flipV="false" rot="0">
              <a:off x="8509" y="8509"/>
              <a:ext cx="5120640" cy="3169920"/>
            </a:xfrm>
            <a:custGeom>
              <a:avLst/>
              <a:gdLst/>
              <a:ahLst/>
              <a:cxnLst/>
              <a:rect r="r" b="b" t="t" l="l"/>
              <a:pathLst>
                <a:path h="3169920" w="5120640">
                  <a:moveTo>
                    <a:pt x="0" y="0"/>
                  </a:moveTo>
                  <a:lnTo>
                    <a:pt x="5120640" y="0"/>
                  </a:lnTo>
                  <a:lnTo>
                    <a:pt x="5120640" y="3169920"/>
                  </a:lnTo>
                  <a:lnTo>
                    <a:pt x="0" y="3169920"/>
                  </a:lnTo>
                  <a:close/>
                </a:path>
              </a:pathLst>
            </a:custGeom>
            <a:solidFill>
              <a:srgbClr val="122540"/>
            </a:solidFill>
          </p:spPr>
        </p:sp>
        <p:sp>
          <p:nvSpPr>
            <p:cNvPr name="Freeform 25" id="25"/>
            <p:cNvSpPr/>
            <p:nvPr/>
          </p:nvSpPr>
          <p:spPr>
            <a:xfrm flipH="false" flipV="false" rot="0">
              <a:off x="0" y="0"/>
              <a:ext cx="5137658" cy="3186938"/>
            </a:xfrm>
            <a:custGeom>
              <a:avLst/>
              <a:gdLst/>
              <a:ahLst/>
              <a:cxnLst/>
              <a:rect r="r" b="b" t="t" l="l"/>
              <a:pathLst>
                <a:path h="3186938" w="5137658">
                  <a:moveTo>
                    <a:pt x="8509" y="0"/>
                  </a:moveTo>
                  <a:lnTo>
                    <a:pt x="5129149" y="0"/>
                  </a:lnTo>
                  <a:cubicBezTo>
                    <a:pt x="5133848" y="0"/>
                    <a:pt x="5137658" y="3810"/>
                    <a:pt x="5137658" y="8509"/>
                  </a:cubicBezTo>
                  <a:lnTo>
                    <a:pt x="5137658" y="3178429"/>
                  </a:lnTo>
                  <a:cubicBezTo>
                    <a:pt x="5137658" y="3183128"/>
                    <a:pt x="5133848" y="3186938"/>
                    <a:pt x="5129149" y="3186938"/>
                  </a:cubicBezTo>
                  <a:lnTo>
                    <a:pt x="8509" y="3186938"/>
                  </a:lnTo>
                  <a:cubicBezTo>
                    <a:pt x="3810" y="3186938"/>
                    <a:pt x="0" y="3183128"/>
                    <a:pt x="0" y="3178429"/>
                  </a:cubicBezTo>
                  <a:lnTo>
                    <a:pt x="0" y="8509"/>
                  </a:lnTo>
                  <a:cubicBezTo>
                    <a:pt x="0" y="3810"/>
                    <a:pt x="3810" y="0"/>
                    <a:pt x="8509" y="0"/>
                  </a:cubicBezTo>
                  <a:moveTo>
                    <a:pt x="8509" y="16891"/>
                  </a:moveTo>
                  <a:lnTo>
                    <a:pt x="8509" y="8509"/>
                  </a:lnTo>
                  <a:lnTo>
                    <a:pt x="17018" y="8509"/>
                  </a:lnTo>
                  <a:lnTo>
                    <a:pt x="17018" y="3178429"/>
                  </a:lnTo>
                  <a:lnTo>
                    <a:pt x="8509" y="3178429"/>
                  </a:lnTo>
                  <a:lnTo>
                    <a:pt x="8509" y="3169920"/>
                  </a:lnTo>
                  <a:lnTo>
                    <a:pt x="5129149" y="3169920"/>
                  </a:lnTo>
                  <a:lnTo>
                    <a:pt x="5129149" y="3178429"/>
                  </a:lnTo>
                  <a:lnTo>
                    <a:pt x="5120640" y="3178429"/>
                  </a:lnTo>
                  <a:lnTo>
                    <a:pt x="5120640" y="8509"/>
                  </a:lnTo>
                  <a:lnTo>
                    <a:pt x="5129149" y="8509"/>
                  </a:lnTo>
                  <a:lnTo>
                    <a:pt x="5129149" y="17018"/>
                  </a:lnTo>
                  <a:lnTo>
                    <a:pt x="8509" y="17018"/>
                  </a:lnTo>
                  <a:close/>
                </a:path>
              </a:pathLst>
            </a:custGeom>
            <a:solidFill>
              <a:srgbClr val="1E3352"/>
            </a:solidFill>
          </p:spPr>
        </p:sp>
      </p:grpSp>
      <p:grpSp>
        <p:nvGrpSpPr>
          <p:cNvPr name="Group 26" id="26"/>
          <p:cNvGrpSpPr/>
          <p:nvPr/>
        </p:nvGrpSpPr>
        <p:grpSpPr>
          <a:xfrm rot="0">
            <a:off x="2401310" y="5068824"/>
            <a:ext cx="871728" cy="871728"/>
            <a:chOff x="0" y="0"/>
            <a:chExt cx="1162304" cy="1162304"/>
          </a:xfrm>
        </p:grpSpPr>
        <p:sp>
          <p:nvSpPr>
            <p:cNvPr name="Freeform 27" id="27"/>
            <p:cNvSpPr/>
            <p:nvPr/>
          </p:nvSpPr>
          <p:spPr>
            <a:xfrm flipH="false" flipV="false" rot="0">
              <a:off x="20320" y="20320"/>
              <a:ext cx="1121664" cy="1121664"/>
            </a:xfrm>
            <a:custGeom>
              <a:avLst/>
              <a:gdLst/>
              <a:ahLst/>
              <a:cxnLst/>
              <a:rect r="r" b="b" t="t" l="l"/>
              <a:pathLst>
                <a:path h="1121664" w="1121664">
                  <a:moveTo>
                    <a:pt x="0" y="560832"/>
                  </a:moveTo>
                  <a:cubicBezTo>
                    <a:pt x="0" y="251079"/>
                    <a:pt x="251079" y="0"/>
                    <a:pt x="560832" y="0"/>
                  </a:cubicBezTo>
                  <a:cubicBezTo>
                    <a:pt x="870585" y="0"/>
                    <a:pt x="1121664" y="251079"/>
                    <a:pt x="1121664" y="560832"/>
                  </a:cubicBezTo>
                  <a:cubicBezTo>
                    <a:pt x="1121664" y="870585"/>
                    <a:pt x="870585" y="1121664"/>
                    <a:pt x="560832" y="1121664"/>
                  </a:cubicBezTo>
                  <a:cubicBezTo>
                    <a:pt x="251079" y="1121664"/>
                    <a:pt x="0" y="870585"/>
                    <a:pt x="0" y="560832"/>
                  </a:cubicBezTo>
                  <a:close/>
                </a:path>
              </a:pathLst>
            </a:custGeom>
            <a:solidFill>
              <a:srgbClr val="1A8FFF">
                <a:alpha val="3922"/>
              </a:srgbClr>
            </a:solidFill>
          </p:spPr>
        </p:sp>
        <p:sp>
          <p:nvSpPr>
            <p:cNvPr name="Freeform 28" id="28"/>
            <p:cNvSpPr/>
            <p:nvPr/>
          </p:nvSpPr>
          <p:spPr>
            <a:xfrm flipH="false" flipV="false" rot="0">
              <a:off x="0" y="0"/>
              <a:ext cx="1162304" cy="1162304"/>
            </a:xfrm>
            <a:custGeom>
              <a:avLst/>
              <a:gdLst/>
              <a:ahLst/>
              <a:cxnLst/>
              <a:rect r="r" b="b" t="t" l="l"/>
              <a:pathLst>
                <a:path h="1162304" w="1162304">
                  <a:moveTo>
                    <a:pt x="0" y="581152"/>
                  </a:moveTo>
                  <a:cubicBezTo>
                    <a:pt x="0" y="260223"/>
                    <a:pt x="260223" y="0"/>
                    <a:pt x="581152" y="0"/>
                  </a:cubicBezTo>
                  <a:lnTo>
                    <a:pt x="581152" y="20320"/>
                  </a:lnTo>
                  <a:lnTo>
                    <a:pt x="581152" y="0"/>
                  </a:lnTo>
                  <a:cubicBezTo>
                    <a:pt x="902081" y="0"/>
                    <a:pt x="1162304" y="260223"/>
                    <a:pt x="1162304" y="581152"/>
                  </a:cubicBezTo>
                  <a:lnTo>
                    <a:pt x="1141984" y="581152"/>
                  </a:lnTo>
                  <a:lnTo>
                    <a:pt x="1162304" y="581152"/>
                  </a:lnTo>
                  <a:cubicBezTo>
                    <a:pt x="1162304" y="902081"/>
                    <a:pt x="902081" y="1162304"/>
                    <a:pt x="581152" y="1162304"/>
                  </a:cubicBezTo>
                  <a:lnTo>
                    <a:pt x="581152" y="1141984"/>
                  </a:lnTo>
                  <a:lnTo>
                    <a:pt x="581152" y="1162304"/>
                  </a:lnTo>
                  <a:cubicBezTo>
                    <a:pt x="260223" y="1162304"/>
                    <a:pt x="0" y="902081"/>
                    <a:pt x="0" y="581152"/>
                  </a:cubicBezTo>
                  <a:lnTo>
                    <a:pt x="20320" y="581152"/>
                  </a:lnTo>
                  <a:lnTo>
                    <a:pt x="40640" y="581152"/>
                  </a:lnTo>
                  <a:lnTo>
                    <a:pt x="20320" y="581152"/>
                  </a:lnTo>
                  <a:lnTo>
                    <a:pt x="0" y="581152"/>
                  </a:lnTo>
                  <a:moveTo>
                    <a:pt x="40640" y="581152"/>
                  </a:moveTo>
                  <a:cubicBezTo>
                    <a:pt x="40640" y="592328"/>
                    <a:pt x="31496" y="601472"/>
                    <a:pt x="20320" y="601472"/>
                  </a:cubicBezTo>
                  <a:cubicBezTo>
                    <a:pt x="9144" y="601472"/>
                    <a:pt x="0" y="592328"/>
                    <a:pt x="0" y="581152"/>
                  </a:cubicBezTo>
                  <a:cubicBezTo>
                    <a:pt x="0" y="569976"/>
                    <a:pt x="9144" y="560832"/>
                    <a:pt x="20320" y="560832"/>
                  </a:cubicBezTo>
                  <a:cubicBezTo>
                    <a:pt x="31496" y="560832"/>
                    <a:pt x="40640" y="569976"/>
                    <a:pt x="40640" y="581152"/>
                  </a:cubicBezTo>
                  <a:cubicBezTo>
                    <a:pt x="40640" y="879729"/>
                    <a:pt x="282575" y="1121664"/>
                    <a:pt x="581152" y="1121664"/>
                  </a:cubicBezTo>
                  <a:cubicBezTo>
                    <a:pt x="879729" y="1121664"/>
                    <a:pt x="1121664" y="879729"/>
                    <a:pt x="1121664" y="581152"/>
                  </a:cubicBezTo>
                  <a:cubicBezTo>
                    <a:pt x="1121664" y="282575"/>
                    <a:pt x="879729" y="40640"/>
                    <a:pt x="581152" y="40640"/>
                  </a:cubicBezTo>
                  <a:lnTo>
                    <a:pt x="581152" y="20320"/>
                  </a:lnTo>
                  <a:lnTo>
                    <a:pt x="581152" y="40640"/>
                  </a:lnTo>
                  <a:cubicBezTo>
                    <a:pt x="282575" y="40640"/>
                    <a:pt x="40640" y="282575"/>
                    <a:pt x="40640" y="581152"/>
                  </a:cubicBezTo>
                  <a:close/>
                </a:path>
              </a:pathLst>
            </a:custGeom>
            <a:solidFill>
              <a:srgbClr val="1A8FFF"/>
            </a:solidFill>
          </p:spPr>
        </p:sp>
      </p:grpSp>
      <p:grpSp>
        <p:nvGrpSpPr>
          <p:cNvPr name="Group 29" id="29"/>
          <p:cNvGrpSpPr/>
          <p:nvPr/>
        </p:nvGrpSpPr>
        <p:grpSpPr>
          <a:xfrm rot="0">
            <a:off x="916934" y="6071616"/>
            <a:ext cx="3840480" cy="603504"/>
            <a:chOff x="0" y="0"/>
            <a:chExt cx="5120640" cy="804672"/>
          </a:xfrm>
        </p:grpSpPr>
        <p:sp>
          <p:nvSpPr>
            <p:cNvPr name="Freeform 30" id="30"/>
            <p:cNvSpPr/>
            <p:nvPr/>
          </p:nvSpPr>
          <p:spPr>
            <a:xfrm flipH="false" flipV="false" rot="0">
              <a:off x="0" y="0"/>
              <a:ext cx="5120640" cy="804672"/>
            </a:xfrm>
            <a:custGeom>
              <a:avLst/>
              <a:gdLst/>
              <a:ahLst/>
              <a:cxnLst/>
              <a:rect r="r" b="b" t="t" l="l"/>
              <a:pathLst>
                <a:path h="804672" w="5120640">
                  <a:moveTo>
                    <a:pt x="0" y="0"/>
                  </a:moveTo>
                  <a:lnTo>
                    <a:pt x="5120640" y="0"/>
                  </a:lnTo>
                  <a:lnTo>
                    <a:pt x="5120640" y="804672"/>
                  </a:lnTo>
                  <a:lnTo>
                    <a:pt x="0" y="804672"/>
                  </a:lnTo>
                  <a:close/>
                </a:path>
              </a:pathLst>
            </a:custGeom>
            <a:blipFill>
              <a:blip r:embed="rId3">
                <a:alphaModFix amt="0"/>
              </a:blip>
              <a:stretch>
                <a:fillRect l="0" t="-73995" r="0" b="-73995"/>
              </a:stretch>
            </a:blipFill>
          </p:spPr>
        </p:sp>
        <p:sp>
          <p:nvSpPr>
            <p:cNvPr name="TextBox 31" id="31"/>
            <p:cNvSpPr txBox="true"/>
            <p:nvPr/>
          </p:nvSpPr>
          <p:spPr>
            <a:xfrm>
              <a:off x="0" y="-38100"/>
              <a:ext cx="5120640" cy="84277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KNN</a:t>
              </a:r>
            </a:p>
          </p:txBody>
        </p:sp>
      </p:grpSp>
      <p:grpSp>
        <p:nvGrpSpPr>
          <p:cNvPr name="Group 32" id="32"/>
          <p:cNvGrpSpPr/>
          <p:nvPr/>
        </p:nvGrpSpPr>
        <p:grpSpPr>
          <a:xfrm rot="0">
            <a:off x="916934" y="6656832"/>
            <a:ext cx="3840480" cy="475488"/>
            <a:chOff x="0" y="0"/>
            <a:chExt cx="5120640" cy="633984"/>
          </a:xfrm>
        </p:grpSpPr>
        <p:sp>
          <p:nvSpPr>
            <p:cNvPr name="Freeform 33" id="33"/>
            <p:cNvSpPr/>
            <p:nvPr/>
          </p:nvSpPr>
          <p:spPr>
            <a:xfrm flipH="false" flipV="false" rot="0">
              <a:off x="0" y="0"/>
              <a:ext cx="5120640" cy="633984"/>
            </a:xfrm>
            <a:custGeom>
              <a:avLst/>
              <a:gdLst/>
              <a:ahLst/>
              <a:cxnLst/>
              <a:rect r="r" b="b" t="t" l="l"/>
              <a:pathLst>
                <a:path h="633984" w="5120640">
                  <a:moveTo>
                    <a:pt x="0" y="0"/>
                  </a:moveTo>
                  <a:lnTo>
                    <a:pt x="5120640" y="0"/>
                  </a:lnTo>
                  <a:lnTo>
                    <a:pt x="5120640" y="633984"/>
                  </a:lnTo>
                  <a:lnTo>
                    <a:pt x="0" y="633984"/>
                  </a:lnTo>
                  <a:close/>
                </a:path>
              </a:pathLst>
            </a:custGeom>
            <a:blipFill>
              <a:blip r:embed="rId3">
                <a:alphaModFix amt="0"/>
              </a:blip>
              <a:stretch>
                <a:fillRect l="0" t="-107379" r="0" b="-107379"/>
              </a:stretch>
            </a:blipFill>
          </p:spPr>
        </p:sp>
        <p:sp>
          <p:nvSpPr>
            <p:cNvPr name="TextBox 34" id="34"/>
            <p:cNvSpPr txBox="true"/>
            <p:nvPr/>
          </p:nvSpPr>
          <p:spPr>
            <a:xfrm>
              <a:off x="0" y="-38100"/>
              <a:ext cx="5120640" cy="672084"/>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k=5 voisins</a:t>
              </a:r>
            </a:p>
          </p:txBody>
        </p:sp>
      </p:grpSp>
      <p:grpSp>
        <p:nvGrpSpPr>
          <p:cNvPr name="Group 35" id="35"/>
          <p:cNvGrpSpPr/>
          <p:nvPr/>
        </p:nvGrpSpPr>
        <p:grpSpPr>
          <a:xfrm rot="0">
            <a:off x="5116820" y="4894831"/>
            <a:ext cx="3853177" cy="2390137"/>
            <a:chOff x="0" y="0"/>
            <a:chExt cx="5137569" cy="3186849"/>
          </a:xfrm>
        </p:grpSpPr>
        <p:sp>
          <p:nvSpPr>
            <p:cNvPr name="Freeform 36" id="36"/>
            <p:cNvSpPr/>
            <p:nvPr/>
          </p:nvSpPr>
          <p:spPr>
            <a:xfrm flipH="false" flipV="false" rot="0">
              <a:off x="8509" y="8509"/>
              <a:ext cx="5120640" cy="3169920"/>
            </a:xfrm>
            <a:custGeom>
              <a:avLst/>
              <a:gdLst/>
              <a:ahLst/>
              <a:cxnLst/>
              <a:rect r="r" b="b" t="t" l="l"/>
              <a:pathLst>
                <a:path h="3169920" w="5120640">
                  <a:moveTo>
                    <a:pt x="0" y="0"/>
                  </a:moveTo>
                  <a:lnTo>
                    <a:pt x="5120640" y="0"/>
                  </a:lnTo>
                  <a:lnTo>
                    <a:pt x="5120640" y="3169920"/>
                  </a:lnTo>
                  <a:lnTo>
                    <a:pt x="0" y="3169920"/>
                  </a:lnTo>
                  <a:close/>
                </a:path>
              </a:pathLst>
            </a:custGeom>
            <a:solidFill>
              <a:srgbClr val="122540"/>
            </a:solidFill>
          </p:spPr>
        </p:sp>
        <p:sp>
          <p:nvSpPr>
            <p:cNvPr name="Freeform 37" id="37"/>
            <p:cNvSpPr/>
            <p:nvPr/>
          </p:nvSpPr>
          <p:spPr>
            <a:xfrm flipH="false" flipV="false" rot="0">
              <a:off x="0" y="0"/>
              <a:ext cx="5137658" cy="3186938"/>
            </a:xfrm>
            <a:custGeom>
              <a:avLst/>
              <a:gdLst/>
              <a:ahLst/>
              <a:cxnLst/>
              <a:rect r="r" b="b" t="t" l="l"/>
              <a:pathLst>
                <a:path h="3186938" w="5137658">
                  <a:moveTo>
                    <a:pt x="8509" y="0"/>
                  </a:moveTo>
                  <a:lnTo>
                    <a:pt x="5129149" y="0"/>
                  </a:lnTo>
                  <a:cubicBezTo>
                    <a:pt x="5133848" y="0"/>
                    <a:pt x="5137658" y="3810"/>
                    <a:pt x="5137658" y="8509"/>
                  </a:cubicBezTo>
                  <a:lnTo>
                    <a:pt x="5137658" y="3178429"/>
                  </a:lnTo>
                  <a:cubicBezTo>
                    <a:pt x="5137658" y="3183128"/>
                    <a:pt x="5133848" y="3186938"/>
                    <a:pt x="5129149" y="3186938"/>
                  </a:cubicBezTo>
                  <a:lnTo>
                    <a:pt x="8509" y="3186938"/>
                  </a:lnTo>
                  <a:cubicBezTo>
                    <a:pt x="3810" y="3186938"/>
                    <a:pt x="0" y="3183128"/>
                    <a:pt x="0" y="3178429"/>
                  </a:cubicBezTo>
                  <a:lnTo>
                    <a:pt x="0" y="8509"/>
                  </a:lnTo>
                  <a:cubicBezTo>
                    <a:pt x="0" y="3810"/>
                    <a:pt x="3810" y="0"/>
                    <a:pt x="8509" y="0"/>
                  </a:cubicBezTo>
                  <a:moveTo>
                    <a:pt x="8509" y="16891"/>
                  </a:moveTo>
                  <a:lnTo>
                    <a:pt x="8509" y="8509"/>
                  </a:lnTo>
                  <a:lnTo>
                    <a:pt x="17018" y="8509"/>
                  </a:lnTo>
                  <a:lnTo>
                    <a:pt x="17018" y="3178429"/>
                  </a:lnTo>
                  <a:lnTo>
                    <a:pt x="8509" y="3178429"/>
                  </a:lnTo>
                  <a:lnTo>
                    <a:pt x="8509" y="3169920"/>
                  </a:lnTo>
                  <a:lnTo>
                    <a:pt x="5129149" y="3169920"/>
                  </a:lnTo>
                  <a:lnTo>
                    <a:pt x="5129149" y="3178429"/>
                  </a:lnTo>
                  <a:lnTo>
                    <a:pt x="5120640" y="3178429"/>
                  </a:lnTo>
                  <a:lnTo>
                    <a:pt x="5120640" y="8509"/>
                  </a:lnTo>
                  <a:lnTo>
                    <a:pt x="5129149" y="8509"/>
                  </a:lnTo>
                  <a:lnTo>
                    <a:pt x="5129149" y="17018"/>
                  </a:lnTo>
                  <a:lnTo>
                    <a:pt x="8509" y="17018"/>
                  </a:lnTo>
                  <a:close/>
                </a:path>
              </a:pathLst>
            </a:custGeom>
            <a:solidFill>
              <a:srgbClr val="1E3352"/>
            </a:solidFill>
          </p:spPr>
        </p:sp>
      </p:grpSp>
      <p:grpSp>
        <p:nvGrpSpPr>
          <p:cNvPr name="Group 38" id="38"/>
          <p:cNvGrpSpPr/>
          <p:nvPr/>
        </p:nvGrpSpPr>
        <p:grpSpPr>
          <a:xfrm rot="0">
            <a:off x="6607550" y="5068824"/>
            <a:ext cx="871728" cy="871728"/>
            <a:chOff x="0" y="0"/>
            <a:chExt cx="1162304" cy="1162304"/>
          </a:xfrm>
        </p:grpSpPr>
        <p:sp>
          <p:nvSpPr>
            <p:cNvPr name="Freeform 39" id="39"/>
            <p:cNvSpPr/>
            <p:nvPr/>
          </p:nvSpPr>
          <p:spPr>
            <a:xfrm flipH="false" flipV="false" rot="0">
              <a:off x="20320" y="20320"/>
              <a:ext cx="1121664" cy="1121664"/>
            </a:xfrm>
            <a:custGeom>
              <a:avLst/>
              <a:gdLst/>
              <a:ahLst/>
              <a:cxnLst/>
              <a:rect r="r" b="b" t="t" l="l"/>
              <a:pathLst>
                <a:path h="1121664" w="1121664">
                  <a:moveTo>
                    <a:pt x="0" y="560832"/>
                  </a:moveTo>
                  <a:cubicBezTo>
                    <a:pt x="0" y="251079"/>
                    <a:pt x="251079" y="0"/>
                    <a:pt x="560832" y="0"/>
                  </a:cubicBezTo>
                  <a:cubicBezTo>
                    <a:pt x="870585" y="0"/>
                    <a:pt x="1121664" y="251079"/>
                    <a:pt x="1121664" y="560832"/>
                  </a:cubicBezTo>
                  <a:cubicBezTo>
                    <a:pt x="1121664" y="870585"/>
                    <a:pt x="870585" y="1121664"/>
                    <a:pt x="560832" y="1121664"/>
                  </a:cubicBezTo>
                  <a:cubicBezTo>
                    <a:pt x="251079" y="1121664"/>
                    <a:pt x="0" y="870585"/>
                    <a:pt x="0" y="560832"/>
                  </a:cubicBezTo>
                  <a:close/>
                </a:path>
              </a:pathLst>
            </a:custGeom>
            <a:solidFill>
              <a:srgbClr val="FFB800">
                <a:alpha val="3922"/>
              </a:srgbClr>
            </a:solidFill>
          </p:spPr>
        </p:sp>
        <p:sp>
          <p:nvSpPr>
            <p:cNvPr name="Freeform 40" id="40"/>
            <p:cNvSpPr/>
            <p:nvPr/>
          </p:nvSpPr>
          <p:spPr>
            <a:xfrm flipH="false" flipV="false" rot="0">
              <a:off x="0" y="0"/>
              <a:ext cx="1162304" cy="1162304"/>
            </a:xfrm>
            <a:custGeom>
              <a:avLst/>
              <a:gdLst/>
              <a:ahLst/>
              <a:cxnLst/>
              <a:rect r="r" b="b" t="t" l="l"/>
              <a:pathLst>
                <a:path h="1162304" w="1162304">
                  <a:moveTo>
                    <a:pt x="0" y="581152"/>
                  </a:moveTo>
                  <a:cubicBezTo>
                    <a:pt x="0" y="260223"/>
                    <a:pt x="260223" y="0"/>
                    <a:pt x="581152" y="0"/>
                  </a:cubicBezTo>
                  <a:lnTo>
                    <a:pt x="581152" y="20320"/>
                  </a:lnTo>
                  <a:lnTo>
                    <a:pt x="581152" y="0"/>
                  </a:lnTo>
                  <a:cubicBezTo>
                    <a:pt x="902081" y="0"/>
                    <a:pt x="1162304" y="260223"/>
                    <a:pt x="1162304" y="581152"/>
                  </a:cubicBezTo>
                  <a:lnTo>
                    <a:pt x="1141984" y="581152"/>
                  </a:lnTo>
                  <a:lnTo>
                    <a:pt x="1162304" y="581152"/>
                  </a:lnTo>
                  <a:cubicBezTo>
                    <a:pt x="1162304" y="902081"/>
                    <a:pt x="902081" y="1162304"/>
                    <a:pt x="581152" y="1162304"/>
                  </a:cubicBezTo>
                  <a:lnTo>
                    <a:pt x="581152" y="1141984"/>
                  </a:lnTo>
                  <a:lnTo>
                    <a:pt x="581152" y="1162304"/>
                  </a:lnTo>
                  <a:cubicBezTo>
                    <a:pt x="260223" y="1162304"/>
                    <a:pt x="0" y="902081"/>
                    <a:pt x="0" y="581152"/>
                  </a:cubicBezTo>
                  <a:lnTo>
                    <a:pt x="20320" y="581152"/>
                  </a:lnTo>
                  <a:lnTo>
                    <a:pt x="40640" y="581152"/>
                  </a:lnTo>
                  <a:lnTo>
                    <a:pt x="20320" y="581152"/>
                  </a:lnTo>
                  <a:lnTo>
                    <a:pt x="0" y="581152"/>
                  </a:lnTo>
                  <a:moveTo>
                    <a:pt x="40640" y="581152"/>
                  </a:moveTo>
                  <a:cubicBezTo>
                    <a:pt x="40640" y="592328"/>
                    <a:pt x="31496" y="601472"/>
                    <a:pt x="20320" y="601472"/>
                  </a:cubicBezTo>
                  <a:cubicBezTo>
                    <a:pt x="9144" y="601472"/>
                    <a:pt x="0" y="592328"/>
                    <a:pt x="0" y="581152"/>
                  </a:cubicBezTo>
                  <a:cubicBezTo>
                    <a:pt x="0" y="569976"/>
                    <a:pt x="9144" y="560832"/>
                    <a:pt x="20320" y="560832"/>
                  </a:cubicBezTo>
                  <a:cubicBezTo>
                    <a:pt x="31496" y="560832"/>
                    <a:pt x="40640" y="569976"/>
                    <a:pt x="40640" y="581152"/>
                  </a:cubicBezTo>
                  <a:cubicBezTo>
                    <a:pt x="40640" y="879729"/>
                    <a:pt x="282575" y="1121664"/>
                    <a:pt x="581152" y="1121664"/>
                  </a:cubicBezTo>
                  <a:cubicBezTo>
                    <a:pt x="879729" y="1121664"/>
                    <a:pt x="1121664" y="879729"/>
                    <a:pt x="1121664" y="581152"/>
                  </a:cubicBezTo>
                  <a:cubicBezTo>
                    <a:pt x="1121664" y="282575"/>
                    <a:pt x="879729" y="40640"/>
                    <a:pt x="581152" y="40640"/>
                  </a:cubicBezTo>
                  <a:lnTo>
                    <a:pt x="581152" y="20320"/>
                  </a:lnTo>
                  <a:lnTo>
                    <a:pt x="581152" y="40640"/>
                  </a:lnTo>
                  <a:cubicBezTo>
                    <a:pt x="282575" y="40640"/>
                    <a:pt x="40640" y="282575"/>
                    <a:pt x="40640" y="581152"/>
                  </a:cubicBezTo>
                  <a:close/>
                </a:path>
              </a:pathLst>
            </a:custGeom>
            <a:solidFill>
              <a:srgbClr val="FFB800"/>
            </a:solidFill>
          </p:spPr>
        </p:sp>
      </p:grpSp>
      <p:grpSp>
        <p:nvGrpSpPr>
          <p:cNvPr name="Group 41" id="41"/>
          <p:cNvGrpSpPr/>
          <p:nvPr/>
        </p:nvGrpSpPr>
        <p:grpSpPr>
          <a:xfrm rot="0">
            <a:off x="5123174" y="6071616"/>
            <a:ext cx="3840480" cy="603504"/>
            <a:chOff x="0" y="0"/>
            <a:chExt cx="5120640" cy="804672"/>
          </a:xfrm>
        </p:grpSpPr>
        <p:sp>
          <p:nvSpPr>
            <p:cNvPr name="Freeform 42" id="42"/>
            <p:cNvSpPr/>
            <p:nvPr/>
          </p:nvSpPr>
          <p:spPr>
            <a:xfrm flipH="false" flipV="false" rot="0">
              <a:off x="0" y="0"/>
              <a:ext cx="5120640" cy="804672"/>
            </a:xfrm>
            <a:custGeom>
              <a:avLst/>
              <a:gdLst/>
              <a:ahLst/>
              <a:cxnLst/>
              <a:rect r="r" b="b" t="t" l="l"/>
              <a:pathLst>
                <a:path h="804672" w="5120640">
                  <a:moveTo>
                    <a:pt x="0" y="0"/>
                  </a:moveTo>
                  <a:lnTo>
                    <a:pt x="5120640" y="0"/>
                  </a:lnTo>
                  <a:lnTo>
                    <a:pt x="5120640" y="804672"/>
                  </a:lnTo>
                  <a:lnTo>
                    <a:pt x="0" y="804672"/>
                  </a:lnTo>
                  <a:close/>
                </a:path>
              </a:pathLst>
            </a:custGeom>
            <a:blipFill>
              <a:blip r:embed="rId3">
                <a:alphaModFix amt="0"/>
              </a:blip>
              <a:stretch>
                <a:fillRect l="0" t="-73995" r="0" b="-73995"/>
              </a:stretch>
            </a:blipFill>
          </p:spPr>
        </p:sp>
        <p:sp>
          <p:nvSpPr>
            <p:cNvPr name="TextBox 43" id="43"/>
            <p:cNvSpPr txBox="true"/>
            <p:nvPr/>
          </p:nvSpPr>
          <p:spPr>
            <a:xfrm>
              <a:off x="0" y="-38100"/>
              <a:ext cx="5120640" cy="84277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Decision Tree</a:t>
              </a:r>
            </a:p>
          </p:txBody>
        </p:sp>
      </p:grpSp>
      <p:grpSp>
        <p:nvGrpSpPr>
          <p:cNvPr name="Group 44" id="44"/>
          <p:cNvGrpSpPr/>
          <p:nvPr/>
        </p:nvGrpSpPr>
        <p:grpSpPr>
          <a:xfrm rot="0">
            <a:off x="5123174" y="6656832"/>
            <a:ext cx="3840480" cy="475488"/>
            <a:chOff x="0" y="0"/>
            <a:chExt cx="5120640" cy="633984"/>
          </a:xfrm>
        </p:grpSpPr>
        <p:sp>
          <p:nvSpPr>
            <p:cNvPr name="Freeform 45" id="45"/>
            <p:cNvSpPr/>
            <p:nvPr/>
          </p:nvSpPr>
          <p:spPr>
            <a:xfrm flipH="false" flipV="false" rot="0">
              <a:off x="0" y="0"/>
              <a:ext cx="5120640" cy="633984"/>
            </a:xfrm>
            <a:custGeom>
              <a:avLst/>
              <a:gdLst/>
              <a:ahLst/>
              <a:cxnLst/>
              <a:rect r="r" b="b" t="t" l="l"/>
              <a:pathLst>
                <a:path h="633984" w="5120640">
                  <a:moveTo>
                    <a:pt x="0" y="0"/>
                  </a:moveTo>
                  <a:lnTo>
                    <a:pt x="5120640" y="0"/>
                  </a:lnTo>
                  <a:lnTo>
                    <a:pt x="5120640" y="633984"/>
                  </a:lnTo>
                  <a:lnTo>
                    <a:pt x="0" y="633984"/>
                  </a:lnTo>
                  <a:close/>
                </a:path>
              </a:pathLst>
            </a:custGeom>
            <a:blipFill>
              <a:blip r:embed="rId3">
                <a:alphaModFix amt="0"/>
              </a:blip>
              <a:stretch>
                <a:fillRect l="0" t="-107379" r="0" b="-107379"/>
              </a:stretch>
            </a:blipFill>
          </p:spPr>
        </p:sp>
        <p:sp>
          <p:nvSpPr>
            <p:cNvPr name="TextBox 46" id="46"/>
            <p:cNvSpPr txBox="true"/>
            <p:nvPr/>
          </p:nvSpPr>
          <p:spPr>
            <a:xfrm>
              <a:off x="0" y="-38100"/>
              <a:ext cx="5120640" cy="672084"/>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criterion=entropy</a:t>
              </a:r>
            </a:p>
          </p:txBody>
        </p:sp>
      </p:grpSp>
      <p:grpSp>
        <p:nvGrpSpPr>
          <p:cNvPr name="Group 47" id="47"/>
          <p:cNvGrpSpPr/>
          <p:nvPr/>
        </p:nvGrpSpPr>
        <p:grpSpPr>
          <a:xfrm rot="0">
            <a:off x="9323060" y="4894831"/>
            <a:ext cx="3853177" cy="2390137"/>
            <a:chOff x="0" y="0"/>
            <a:chExt cx="5137569" cy="3186849"/>
          </a:xfrm>
        </p:grpSpPr>
        <p:sp>
          <p:nvSpPr>
            <p:cNvPr name="Freeform 48" id="48"/>
            <p:cNvSpPr/>
            <p:nvPr/>
          </p:nvSpPr>
          <p:spPr>
            <a:xfrm flipH="false" flipV="false" rot="0">
              <a:off x="8509" y="8509"/>
              <a:ext cx="5120640" cy="3169920"/>
            </a:xfrm>
            <a:custGeom>
              <a:avLst/>
              <a:gdLst/>
              <a:ahLst/>
              <a:cxnLst/>
              <a:rect r="r" b="b" t="t" l="l"/>
              <a:pathLst>
                <a:path h="3169920" w="5120640">
                  <a:moveTo>
                    <a:pt x="0" y="0"/>
                  </a:moveTo>
                  <a:lnTo>
                    <a:pt x="5120640" y="0"/>
                  </a:lnTo>
                  <a:lnTo>
                    <a:pt x="5120640" y="3169920"/>
                  </a:lnTo>
                  <a:lnTo>
                    <a:pt x="0" y="3169920"/>
                  </a:lnTo>
                  <a:close/>
                </a:path>
              </a:pathLst>
            </a:custGeom>
            <a:solidFill>
              <a:srgbClr val="122540"/>
            </a:solidFill>
          </p:spPr>
        </p:sp>
        <p:sp>
          <p:nvSpPr>
            <p:cNvPr name="Freeform 49" id="49"/>
            <p:cNvSpPr/>
            <p:nvPr/>
          </p:nvSpPr>
          <p:spPr>
            <a:xfrm flipH="false" flipV="false" rot="0">
              <a:off x="0" y="0"/>
              <a:ext cx="5137658" cy="3186938"/>
            </a:xfrm>
            <a:custGeom>
              <a:avLst/>
              <a:gdLst/>
              <a:ahLst/>
              <a:cxnLst/>
              <a:rect r="r" b="b" t="t" l="l"/>
              <a:pathLst>
                <a:path h="3186938" w="5137658">
                  <a:moveTo>
                    <a:pt x="8509" y="0"/>
                  </a:moveTo>
                  <a:lnTo>
                    <a:pt x="5129149" y="0"/>
                  </a:lnTo>
                  <a:cubicBezTo>
                    <a:pt x="5133848" y="0"/>
                    <a:pt x="5137658" y="3810"/>
                    <a:pt x="5137658" y="8509"/>
                  </a:cubicBezTo>
                  <a:lnTo>
                    <a:pt x="5137658" y="3178429"/>
                  </a:lnTo>
                  <a:cubicBezTo>
                    <a:pt x="5137658" y="3183128"/>
                    <a:pt x="5133848" y="3186938"/>
                    <a:pt x="5129149" y="3186938"/>
                  </a:cubicBezTo>
                  <a:lnTo>
                    <a:pt x="8509" y="3186938"/>
                  </a:lnTo>
                  <a:cubicBezTo>
                    <a:pt x="3810" y="3186938"/>
                    <a:pt x="0" y="3183128"/>
                    <a:pt x="0" y="3178429"/>
                  </a:cubicBezTo>
                  <a:lnTo>
                    <a:pt x="0" y="8509"/>
                  </a:lnTo>
                  <a:cubicBezTo>
                    <a:pt x="0" y="3810"/>
                    <a:pt x="3810" y="0"/>
                    <a:pt x="8509" y="0"/>
                  </a:cubicBezTo>
                  <a:moveTo>
                    <a:pt x="8509" y="16891"/>
                  </a:moveTo>
                  <a:lnTo>
                    <a:pt x="8509" y="8509"/>
                  </a:lnTo>
                  <a:lnTo>
                    <a:pt x="17018" y="8509"/>
                  </a:lnTo>
                  <a:lnTo>
                    <a:pt x="17018" y="3178429"/>
                  </a:lnTo>
                  <a:lnTo>
                    <a:pt x="8509" y="3178429"/>
                  </a:lnTo>
                  <a:lnTo>
                    <a:pt x="8509" y="3169920"/>
                  </a:lnTo>
                  <a:lnTo>
                    <a:pt x="5129149" y="3169920"/>
                  </a:lnTo>
                  <a:lnTo>
                    <a:pt x="5129149" y="3178429"/>
                  </a:lnTo>
                  <a:lnTo>
                    <a:pt x="5120640" y="3178429"/>
                  </a:lnTo>
                  <a:lnTo>
                    <a:pt x="5120640" y="8509"/>
                  </a:lnTo>
                  <a:lnTo>
                    <a:pt x="5129149" y="8509"/>
                  </a:lnTo>
                  <a:lnTo>
                    <a:pt x="5129149" y="17018"/>
                  </a:lnTo>
                  <a:lnTo>
                    <a:pt x="8509" y="17018"/>
                  </a:lnTo>
                  <a:close/>
                </a:path>
              </a:pathLst>
            </a:custGeom>
            <a:solidFill>
              <a:srgbClr val="1E3352"/>
            </a:solidFill>
          </p:spPr>
        </p:sp>
      </p:grpSp>
      <p:grpSp>
        <p:nvGrpSpPr>
          <p:cNvPr name="Group 50" id="50"/>
          <p:cNvGrpSpPr/>
          <p:nvPr/>
        </p:nvGrpSpPr>
        <p:grpSpPr>
          <a:xfrm rot="0">
            <a:off x="10813790" y="5068824"/>
            <a:ext cx="871728" cy="871728"/>
            <a:chOff x="0" y="0"/>
            <a:chExt cx="1162304" cy="1162304"/>
          </a:xfrm>
        </p:grpSpPr>
        <p:sp>
          <p:nvSpPr>
            <p:cNvPr name="Freeform 51" id="51"/>
            <p:cNvSpPr/>
            <p:nvPr/>
          </p:nvSpPr>
          <p:spPr>
            <a:xfrm flipH="false" flipV="false" rot="0">
              <a:off x="20320" y="20320"/>
              <a:ext cx="1121664" cy="1121664"/>
            </a:xfrm>
            <a:custGeom>
              <a:avLst/>
              <a:gdLst/>
              <a:ahLst/>
              <a:cxnLst/>
              <a:rect r="r" b="b" t="t" l="l"/>
              <a:pathLst>
                <a:path h="1121664" w="1121664">
                  <a:moveTo>
                    <a:pt x="0" y="560832"/>
                  </a:moveTo>
                  <a:cubicBezTo>
                    <a:pt x="0" y="251079"/>
                    <a:pt x="251079" y="0"/>
                    <a:pt x="560832" y="0"/>
                  </a:cubicBezTo>
                  <a:cubicBezTo>
                    <a:pt x="870585" y="0"/>
                    <a:pt x="1121664" y="251079"/>
                    <a:pt x="1121664" y="560832"/>
                  </a:cubicBezTo>
                  <a:cubicBezTo>
                    <a:pt x="1121664" y="870585"/>
                    <a:pt x="870585" y="1121664"/>
                    <a:pt x="560832" y="1121664"/>
                  </a:cubicBezTo>
                  <a:cubicBezTo>
                    <a:pt x="251079" y="1121664"/>
                    <a:pt x="0" y="870585"/>
                    <a:pt x="0" y="560832"/>
                  </a:cubicBezTo>
                  <a:close/>
                </a:path>
              </a:pathLst>
            </a:custGeom>
            <a:solidFill>
              <a:srgbClr val="00E5A0">
                <a:alpha val="3922"/>
              </a:srgbClr>
            </a:solidFill>
          </p:spPr>
        </p:sp>
        <p:sp>
          <p:nvSpPr>
            <p:cNvPr name="Freeform 52" id="52"/>
            <p:cNvSpPr/>
            <p:nvPr/>
          </p:nvSpPr>
          <p:spPr>
            <a:xfrm flipH="false" flipV="false" rot="0">
              <a:off x="0" y="0"/>
              <a:ext cx="1162304" cy="1162304"/>
            </a:xfrm>
            <a:custGeom>
              <a:avLst/>
              <a:gdLst/>
              <a:ahLst/>
              <a:cxnLst/>
              <a:rect r="r" b="b" t="t" l="l"/>
              <a:pathLst>
                <a:path h="1162304" w="1162304">
                  <a:moveTo>
                    <a:pt x="0" y="581152"/>
                  </a:moveTo>
                  <a:cubicBezTo>
                    <a:pt x="0" y="260223"/>
                    <a:pt x="260223" y="0"/>
                    <a:pt x="581152" y="0"/>
                  </a:cubicBezTo>
                  <a:lnTo>
                    <a:pt x="581152" y="20320"/>
                  </a:lnTo>
                  <a:lnTo>
                    <a:pt x="581152" y="0"/>
                  </a:lnTo>
                  <a:cubicBezTo>
                    <a:pt x="902081" y="0"/>
                    <a:pt x="1162304" y="260223"/>
                    <a:pt x="1162304" y="581152"/>
                  </a:cubicBezTo>
                  <a:lnTo>
                    <a:pt x="1141984" y="581152"/>
                  </a:lnTo>
                  <a:lnTo>
                    <a:pt x="1162304" y="581152"/>
                  </a:lnTo>
                  <a:cubicBezTo>
                    <a:pt x="1162304" y="902081"/>
                    <a:pt x="902081" y="1162304"/>
                    <a:pt x="581152" y="1162304"/>
                  </a:cubicBezTo>
                  <a:lnTo>
                    <a:pt x="581152" y="1141984"/>
                  </a:lnTo>
                  <a:lnTo>
                    <a:pt x="581152" y="1162304"/>
                  </a:lnTo>
                  <a:cubicBezTo>
                    <a:pt x="260223" y="1162304"/>
                    <a:pt x="0" y="902081"/>
                    <a:pt x="0" y="581152"/>
                  </a:cubicBezTo>
                  <a:lnTo>
                    <a:pt x="20320" y="581152"/>
                  </a:lnTo>
                  <a:lnTo>
                    <a:pt x="40640" y="581152"/>
                  </a:lnTo>
                  <a:lnTo>
                    <a:pt x="20320" y="581152"/>
                  </a:lnTo>
                  <a:lnTo>
                    <a:pt x="0" y="581152"/>
                  </a:lnTo>
                  <a:moveTo>
                    <a:pt x="40640" y="581152"/>
                  </a:moveTo>
                  <a:cubicBezTo>
                    <a:pt x="40640" y="592328"/>
                    <a:pt x="31496" y="601472"/>
                    <a:pt x="20320" y="601472"/>
                  </a:cubicBezTo>
                  <a:cubicBezTo>
                    <a:pt x="9144" y="601472"/>
                    <a:pt x="0" y="592328"/>
                    <a:pt x="0" y="581152"/>
                  </a:cubicBezTo>
                  <a:cubicBezTo>
                    <a:pt x="0" y="569976"/>
                    <a:pt x="9144" y="560832"/>
                    <a:pt x="20320" y="560832"/>
                  </a:cubicBezTo>
                  <a:cubicBezTo>
                    <a:pt x="31496" y="560832"/>
                    <a:pt x="40640" y="569976"/>
                    <a:pt x="40640" y="581152"/>
                  </a:cubicBezTo>
                  <a:cubicBezTo>
                    <a:pt x="40640" y="879729"/>
                    <a:pt x="282575" y="1121664"/>
                    <a:pt x="581152" y="1121664"/>
                  </a:cubicBezTo>
                  <a:cubicBezTo>
                    <a:pt x="879729" y="1121664"/>
                    <a:pt x="1121664" y="879729"/>
                    <a:pt x="1121664" y="581152"/>
                  </a:cubicBezTo>
                  <a:cubicBezTo>
                    <a:pt x="1121664" y="282575"/>
                    <a:pt x="879729" y="40640"/>
                    <a:pt x="581152" y="40640"/>
                  </a:cubicBezTo>
                  <a:lnTo>
                    <a:pt x="581152" y="20320"/>
                  </a:lnTo>
                  <a:lnTo>
                    <a:pt x="581152" y="40640"/>
                  </a:lnTo>
                  <a:cubicBezTo>
                    <a:pt x="282575" y="40640"/>
                    <a:pt x="40640" y="282575"/>
                    <a:pt x="40640" y="581152"/>
                  </a:cubicBezTo>
                  <a:close/>
                </a:path>
              </a:pathLst>
            </a:custGeom>
            <a:solidFill>
              <a:srgbClr val="00E5A0"/>
            </a:solidFill>
          </p:spPr>
        </p:sp>
      </p:grpSp>
      <p:grpSp>
        <p:nvGrpSpPr>
          <p:cNvPr name="Group 53" id="53"/>
          <p:cNvGrpSpPr/>
          <p:nvPr/>
        </p:nvGrpSpPr>
        <p:grpSpPr>
          <a:xfrm rot="0">
            <a:off x="9329414" y="6071616"/>
            <a:ext cx="3840480" cy="603504"/>
            <a:chOff x="0" y="0"/>
            <a:chExt cx="5120640" cy="804672"/>
          </a:xfrm>
        </p:grpSpPr>
        <p:sp>
          <p:nvSpPr>
            <p:cNvPr name="Freeform 54" id="54"/>
            <p:cNvSpPr/>
            <p:nvPr/>
          </p:nvSpPr>
          <p:spPr>
            <a:xfrm flipH="false" flipV="false" rot="0">
              <a:off x="0" y="0"/>
              <a:ext cx="5120640" cy="804672"/>
            </a:xfrm>
            <a:custGeom>
              <a:avLst/>
              <a:gdLst/>
              <a:ahLst/>
              <a:cxnLst/>
              <a:rect r="r" b="b" t="t" l="l"/>
              <a:pathLst>
                <a:path h="804672" w="5120640">
                  <a:moveTo>
                    <a:pt x="0" y="0"/>
                  </a:moveTo>
                  <a:lnTo>
                    <a:pt x="5120640" y="0"/>
                  </a:lnTo>
                  <a:lnTo>
                    <a:pt x="5120640" y="804672"/>
                  </a:lnTo>
                  <a:lnTo>
                    <a:pt x="0" y="804672"/>
                  </a:lnTo>
                  <a:close/>
                </a:path>
              </a:pathLst>
            </a:custGeom>
            <a:blipFill>
              <a:blip r:embed="rId3">
                <a:alphaModFix amt="0"/>
              </a:blip>
              <a:stretch>
                <a:fillRect l="0" t="-73995" r="0" b="-73995"/>
              </a:stretch>
            </a:blipFill>
          </p:spPr>
        </p:sp>
        <p:sp>
          <p:nvSpPr>
            <p:cNvPr name="TextBox 55" id="55"/>
            <p:cNvSpPr txBox="true"/>
            <p:nvPr/>
          </p:nvSpPr>
          <p:spPr>
            <a:xfrm>
              <a:off x="0" y="-38100"/>
              <a:ext cx="5120640" cy="84277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Random Forest</a:t>
              </a:r>
            </a:p>
          </p:txBody>
        </p:sp>
      </p:grpSp>
      <p:grpSp>
        <p:nvGrpSpPr>
          <p:cNvPr name="Group 56" id="56"/>
          <p:cNvGrpSpPr/>
          <p:nvPr/>
        </p:nvGrpSpPr>
        <p:grpSpPr>
          <a:xfrm rot="0">
            <a:off x="9329414" y="6656832"/>
            <a:ext cx="3840480" cy="475488"/>
            <a:chOff x="0" y="0"/>
            <a:chExt cx="5120640" cy="633984"/>
          </a:xfrm>
        </p:grpSpPr>
        <p:sp>
          <p:nvSpPr>
            <p:cNvPr name="Freeform 57" id="57"/>
            <p:cNvSpPr/>
            <p:nvPr/>
          </p:nvSpPr>
          <p:spPr>
            <a:xfrm flipH="false" flipV="false" rot="0">
              <a:off x="0" y="0"/>
              <a:ext cx="5120640" cy="633984"/>
            </a:xfrm>
            <a:custGeom>
              <a:avLst/>
              <a:gdLst/>
              <a:ahLst/>
              <a:cxnLst/>
              <a:rect r="r" b="b" t="t" l="l"/>
              <a:pathLst>
                <a:path h="633984" w="5120640">
                  <a:moveTo>
                    <a:pt x="0" y="0"/>
                  </a:moveTo>
                  <a:lnTo>
                    <a:pt x="5120640" y="0"/>
                  </a:lnTo>
                  <a:lnTo>
                    <a:pt x="5120640" y="633984"/>
                  </a:lnTo>
                  <a:lnTo>
                    <a:pt x="0" y="633984"/>
                  </a:lnTo>
                  <a:close/>
                </a:path>
              </a:pathLst>
            </a:custGeom>
            <a:blipFill>
              <a:blip r:embed="rId3">
                <a:alphaModFix amt="0"/>
              </a:blip>
              <a:stretch>
                <a:fillRect l="0" t="-107379" r="0" b="-107379"/>
              </a:stretch>
            </a:blipFill>
          </p:spPr>
        </p:sp>
        <p:sp>
          <p:nvSpPr>
            <p:cNvPr name="TextBox 58" id="58"/>
            <p:cNvSpPr txBox="true"/>
            <p:nvPr/>
          </p:nvSpPr>
          <p:spPr>
            <a:xfrm>
              <a:off x="0" y="-38100"/>
              <a:ext cx="5120640" cy="672084"/>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200 estimateurs</a:t>
              </a:r>
            </a:p>
          </p:txBody>
        </p:sp>
      </p:grpSp>
      <p:grpSp>
        <p:nvGrpSpPr>
          <p:cNvPr name="Group 59" id="59"/>
          <p:cNvGrpSpPr/>
          <p:nvPr/>
        </p:nvGrpSpPr>
        <p:grpSpPr>
          <a:xfrm rot="0">
            <a:off x="13529300" y="4894831"/>
            <a:ext cx="3853177" cy="2390137"/>
            <a:chOff x="0" y="0"/>
            <a:chExt cx="5137569" cy="3186849"/>
          </a:xfrm>
        </p:grpSpPr>
        <p:sp>
          <p:nvSpPr>
            <p:cNvPr name="Freeform 60" id="60"/>
            <p:cNvSpPr/>
            <p:nvPr/>
          </p:nvSpPr>
          <p:spPr>
            <a:xfrm flipH="false" flipV="false" rot="0">
              <a:off x="8509" y="8509"/>
              <a:ext cx="5120640" cy="3169920"/>
            </a:xfrm>
            <a:custGeom>
              <a:avLst/>
              <a:gdLst/>
              <a:ahLst/>
              <a:cxnLst/>
              <a:rect r="r" b="b" t="t" l="l"/>
              <a:pathLst>
                <a:path h="3169920" w="5120640">
                  <a:moveTo>
                    <a:pt x="0" y="0"/>
                  </a:moveTo>
                  <a:lnTo>
                    <a:pt x="5120640" y="0"/>
                  </a:lnTo>
                  <a:lnTo>
                    <a:pt x="5120640" y="3169920"/>
                  </a:lnTo>
                  <a:lnTo>
                    <a:pt x="0" y="3169920"/>
                  </a:lnTo>
                  <a:close/>
                </a:path>
              </a:pathLst>
            </a:custGeom>
            <a:solidFill>
              <a:srgbClr val="122540"/>
            </a:solidFill>
          </p:spPr>
        </p:sp>
        <p:sp>
          <p:nvSpPr>
            <p:cNvPr name="Freeform 61" id="61"/>
            <p:cNvSpPr/>
            <p:nvPr/>
          </p:nvSpPr>
          <p:spPr>
            <a:xfrm flipH="false" flipV="false" rot="0">
              <a:off x="0" y="0"/>
              <a:ext cx="5137658" cy="3186938"/>
            </a:xfrm>
            <a:custGeom>
              <a:avLst/>
              <a:gdLst/>
              <a:ahLst/>
              <a:cxnLst/>
              <a:rect r="r" b="b" t="t" l="l"/>
              <a:pathLst>
                <a:path h="3186938" w="5137658">
                  <a:moveTo>
                    <a:pt x="8509" y="0"/>
                  </a:moveTo>
                  <a:lnTo>
                    <a:pt x="5129149" y="0"/>
                  </a:lnTo>
                  <a:cubicBezTo>
                    <a:pt x="5133848" y="0"/>
                    <a:pt x="5137658" y="3810"/>
                    <a:pt x="5137658" y="8509"/>
                  </a:cubicBezTo>
                  <a:lnTo>
                    <a:pt x="5137658" y="3178429"/>
                  </a:lnTo>
                  <a:cubicBezTo>
                    <a:pt x="5137658" y="3183128"/>
                    <a:pt x="5133848" y="3186938"/>
                    <a:pt x="5129149" y="3186938"/>
                  </a:cubicBezTo>
                  <a:lnTo>
                    <a:pt x="8509" y="3186938"/>
                  </a:lnTo>
                  <a:cubicBezTo>
                    <a:pt x="3810" y="3186938"/>
                    <a:pt x="0" y="3183128"/>
                    <a:pt x="0" y="3178429"/>
                  </a:cubicBezTo>
                  <a:lnTo>
                    <a:pt x="0" y="8509"/>
                  </a:lnTo>
                  <a:cubicBezTo>
                    <a:pt x="0" y="3810"/>
                    <a:pt x="3810" y="0"/>
                    <a:pt x="8509" y="0"/>
                  </a:cubicBezTo>
                  <a:moveTo>
                    <a:pt x="8509" y="16891"/>
                  </a:moveTo>
                  <a:lnTo>
                    <a:pt x="8509" y="8509"/>
                  </a:lnTo>
                  <a:lnTo>
                    <a:pt x="17018" y="8509"/>
                  </a:lnTo>
                  <a:lnTo>
                    <a:pt x="17018" y="3178429"/>
                  </a:lnTo>
                  <a:lnTo>
                    <a:pt x="8509" y="3178429"/>
                  </a:lnTo>
                  <a:lnTo>
                    <a:pt x="8509" y="3169920"/>
                  </a:lnTo>
                  <a:lnTo>
                    <a:pt x="5129149" y="3169920"/>
                  </a:lnTo>
                  <a:lnTo>
                    <a:pt x="5129149" y="3178429"/>
                  </a:lnTo>
                  <a:lnTo>
                    <a:pt x="5120640" y="3178429"/>
                  </a:lnTo>
                  <a:lnTo>
                    <a:pt x="5120640" y="8509"/>
                  </a:lnTo>
                  <a:lnTo>
                    <a:pt x="5129149" y="8509"/>
                  </a:lnTo>
                  <a:lnTo>
                    <a:pt x="5129149" y="17018"/>
                  </a:lnTo>
                  <a:lnTo>
                    <a:pt x="8509" y="17018"/>
                  </a:lnTo>
                  <a:close/>
                </a:path>
              </a:pathLst>
            </a:custGeom>
            <a:solidFill>
              <a:srgbClr val="1E3352"/>
            </a:solidFill>
          </p:spPr>
        </p:sp>
      </p:grpSp>
      <p:grpSp>
        <p:nvGrpSpPr>
          <p:cNvPr name="Group 62" id="62"/>
          <p:cNvGrpSpPr/>
          <p:nvPr/>
        </p:nvGrpSpPr>
        <p:grpSpPr>
          <a:xfrm rot="0">
            <a:off x="15020030" y="5068824"/>
            <a:ext cx="871728" cy="871728"/>
            <a:chOff x="0" y="0"/>
            <a:chExt cx="1162304" cy="1162304"/>
          </a:xfrm>
        </p:grpSpPr>
        <p:sp>
          <p:nvSpPr>
            <p:cNvPr name="Freeform 63" id="63"/>
            <p:cNvSpPr/>
            <p:nvPr/>
          </p:nvSpPr>
          <p:spPr>
            <a:xfrm flipH="false" flipV="false" rot="0">
              <a:off x="20320" y="20320"/>
              <a:ext cx="1121664" cy="1121664"/>
            </a:xfrm>
            <a:custGeom>
              <a:avLst/>
              <a:gdLst/>
              <a:ahLst/>
              <a:cxnLst/>
              <a:rect r="r" b="b" t="t" l="l"/>
              <a:pathLst>
                <a:path h="1121664" w="1121664">
                  <a:moveTo>
                    <a:pt x="0" y="560832"/>
                  </a:moveTo>
                  <a:cubicBezTo>
                    <a:pt x="0" y="251079"/>
                    <a:pt x="251079" y="0"/>
                    <a:pt x="560832" y="0"/>
                  </a:cubicBezTo>
                  <a:cubicBezTo>
                    <a:pt x="870585" y="0"/>
                    <a:pt x="1121664" y="251079"/>
                    <a:pt x="1121664" y="560832"/>
                  </a:cubicBezTo>
                  <a:cubicBezTo>
                    <a:pt x="1121664" y="870585"/>
                    <a:pt x="870585" y="1121664"/>
                    <a:pt x="560832" y="1121664"/>
                  </a:cubicBezTo>
                  <a:cubicBezTo>
                    <a:pt x="251079" y="1121664"/>
                    <a:pt x="0" y="870585"/>
                    <a:pt x="0" y="560832"/>
                  </a:cubicBezTo>
                  <a:close/>
                </a:path>
              </a:pathLst>
            </a:custGeom>
            <a:solidFill>
              <a:srgbClr val="FF4D6A">
                <a:alpha val="3922"/>
              </a:srgbClr>
            </a:solidFill>
          </p:spPr>
        </p:sp>
        <p:sp>
          <p:nvSpPr>
            <p:cNvPr name="Freeform 64" id="64"/>
            <p:cNvSpPr/>
            <p:nvPr/>
          </p:nvSpPr>
          <p:spPr>
            <a:xfrm flipH="false" flipV="false" rot="0">
              <a:off x="0" y="0"/>
              <a:ext cx="1162304" cy="1162304"/>
            </a:xfrm>
            <a:custGeom>
              <a:avLst/>
              <a:gdLst/>
              <a:ahLst/>
              <a:cxnLst/>
              <a:rect r="r" b="b" t="t" l="l"/>
              <a:pathLst>
                <a:path h="1162304" w="1162304">
                  <a:moveTo>
                    <a:pt x="0" y="581152"/>
                  </a:moveTo>
                  <a:cubicBezTo>
                    <a:pt x="0" y="260223"/>
                    <a:pt x="260223" y="0"/>
                    <a:pt x="581152" y="0"/>
                  </a:cubicBezTo>
                  <a:lnTo>
                    <a:pt x="581152" y="20320"/>
                  </a:lnTo>
                  <a:lnTo>
                    <a:pt x="581152" y="0"/>
                  </a:lnTo>
                  <a:cubicBezTo>
                    <a:pt x="902081" y="0"/>
                    <a:pt x="1162304" y="260223"/>
                    <a:pt x="1162304" y="581152"/>
                  </a:cubicBezTo>
                  <a:lnTo>
                    <a:pt x="1141984" y="581152"/>
                  </a:lnTo>
                  <a:lnTo>
                    <a:pt x="1162304" y="581152"/>
                  </a:lnTo>
                  <a:cubicBezTo>
                    <a:pt x="1162304" y="902081"/>
                    <a:pt x="902081" y="1162304"/>
                    <a:pt x="581152" y="1162304"/>
                  </a:cubicBezTo>
                  <a:lnTo>
                    <a:pt x="581152" y="1141984"/>
                  </a:lnTo>
                  <a:lnTo>
                    <a:pt x="581152" y="1162304"/>
                  </a:lnTo>
                  <a:cubicBezTo>
                    <a:pt x="260223" y="1162304"/>
                    <a:pt x="0" y="902081"/>
                    <a:pt x="0" y="581152"/>
                  </a:cubicBezTo>
                  <a:lnTo>
                    <a:pt x="20320" y="581152"/>
                  </a:lnTo>
                  <a:lnTo>
                    <a:pt x="40640" y="581152"/>
                  </a:lnTo>
                  <a:lnTo>
                    <a:pt x="20320" y="581152"/>
                  </a:lnTo>
                  <a:lnTo>
                    <a:pt x="0" y="581152"/>
                  </a:lnTo>
                  <a:moveTo>
                    <a:pt x="40640" y="581152"/>
                  </a:moveTo>
                  <a:cubicBezTo>
                    <a:pt x="40640" y="592328"/>
                    <a:pt x="31496" y="601472"/>
                    <a:pt x="20320" y="601472"/>
                  </a:cubicBezTo>
                  <a:cubicBezTo>
                    <a:pt x="9144" y="601472"/>
                    <a:pt x="0" y="592328"/>
                    <a:pt x="0" y="581152"/>
                  </a:cubicBezTo>
                  <a:cubicBezTo>
                    <a:pt x="0" y="569976"/>
                    <a:pt x="9144" y="560832"/>
                    <a:pt x="20320" y="560832"/>
                  </a:cubicBezTo>
                  <a:cubicBezTo>
                    <a:pt x="31496" y="560832"/>
                    <a:pt x="40640" y="569976"/>
                    <a:pt x="40640" y="581152"/>
                  </a:cubicBezTo>
                  <a:cubicBezTo>
                    <a:pt x="40640" y="879729"/>
                    <a:pt x="282575" y="1121664"/>
                    <a:pt x="581152" y="1121664"/>
                  </a:cubicBezTo>
                  <a:cubicBezTo>
                    <a:pt x="879729" y="1121664"/>
                    <a:pt x="1121664" y="879729"/>
                    <a:pt x="1121664" y="581152"/>
                  </a:cubicBezTo>
                  <a:cubicBezTo>
                    <a:pt x="1121664" y="282575"/>
                    <a:pt x="879729" y="40640"/>
                    <a:pt x="581152" y="40640"/>
                  </a:cubicBezTo>
                  <a:lnTo>
                    <a:pt x="581152" y="20320"/>
                  </a:lnTo>
                  <a:lnTo>
                    <a:pt x="581152" y="40640"/>
                  </a:lnTo>
                  <a:cubicBezTo>
                    <a:pt x="282575" y="40640"/>
                    <a:pt x="40640" y="282575"/>
                    <a:pt x="40640" y="581152"/>
                  </a:cubicBezTo>
                  <a:close/>
                </a:path>
              </a:pathLst>
            </a:custGeom>
            <a:solidFill>
              <a:srgbClr val="FF4D6A"/>
            </a:solidFill>
          </p:spPr>
        </p:sp>
      </p:grpSp>
      <p:grpSp>
        <p:nvGrpSpPr>
          <p:cNvPr name="Group 65" id="65"/>
          <p:cNvGrpSpPr/>
          <p:nvPr/>
        </p:nvGrpSpPr>
        <p:grpSpPr>
          <a:xfrm rot="0">
            <a:off x="13535654" y="6071616"/>
            <a:ext cx="3840480" cy="603504"/>
            <a:chOff x="0" y="0"/>
            <a:chExt cx="5120640" cy="804672"/>
          </a:xfrm>
        </p:grpSpPr>
        <p:sp>
          <p:nvSpPr>
            <p:cNvPr name="Freeform 66" id="66"/>
            <p:cNvSpPr/>
            <p:nvPr/>
          </p:nvSpPr>
          <p:spPr>
            <a:xfrm flipH="false" flipV="false" rot="0">
              <a:off x="0" y="0"/>
              <a:ext cx="5120640" cy="804672"/>
            </a:xfrm>
            <a:custGeom>
              <a:avLst/>
              <a:gdLst/>
              <a:ahLst/>
              <a:cxnLst/>
              <a:rect r="r" b="b" t="t" l="l"/>
              <a:pathLst>
                <a:path h="804672" w="5120640">
                  <a:moveTo>
                    <a:pt x="0" y="0"/>
                  </a:moveTo>
                  <a:lnTo>
                    <a:pt x="5120640" y="0"/>
                  </a:lnTo>
                  <a:lnTo>
                    <a:pt x="5120640" y="804672"/>
                  </a:lnTo>
                  <a:lnTo>
                    <a:pt x="0" y="804672"/>
                  </a:lnTo>
                  <a:close/>
                </a:path>
              </a:pathLst>
            </a:custGeom>
            <a:blipFill>
              <a:blip r:embed="rId3">
                <a:alphaModFix amt="0"/>
              </a:blip>
              <a:stretch>
                <a:fillRect l="0" t="-73995" r="0" b="-73995"/>
              </a:stretch>
            </a:blipFill>
          </p:spPr>
        </p:sp>
        <p:sp>
          <p:nvSpPr>
            <p:cNvPr name="TextBox 67" id="67"/>
            <p:cNvSpPr txBox="true"/>
            <p:nvPr/>
          </p:nvSpPr>
          <p:spPr>
            <a:xfrm>
              <a:off x="0" y="-38100"/>
              <a:ext cx="5120640" cy="84277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XGBoost</a:t>
              </a:r>
            </a:p>
          </p:txBody>
        </p:sp>
      </p:grpSp>
      <p:grpSp>
        <p:nvGrpSpPr>
          <p:cNvPr name="Group 68" id="68"/>
          <p:cNvGrpSpPr/>
          <p:nvPr/>
        </p:nvGrpSpPr>
        <p:grpSpPr>
          <a:xfrm rot="0">
            <a:off x="13535654" y="6656832"/>
            <a:ext cx="3840480" cy="475488"/>
            <a:chOff x="0" y="0"/>
            <a:chExt cx="5120640" cy="633984"/>
          </a:xfrm>
        </p:grpSpPr>
        <p:sp>
          <p:nvSpPr>
            <p:cNvPr name="Freeform 69" id="69"/>
            <p:cNvSpPr/>
            <p:nvPr/>
          </p:nvSpPr>
          <p:spPr>
            <a:xfrm flipH="false" flipV="false" rot="0">
              <a:off x="0" y="0"/>
              <a:ext cx="5120640" cy="633984"/>
            </a:xfrm>
            <a:custGeom>
              <a:avLst/>
              <a:gdLst/>
              <a:ahLst/>
              <a:cxnLst/>
              <a:rect r="r" b="b" t="t" l="l"/>
              <a:pathLst>
                <a:path h="633984" w="5120640">
                  <a:moveTo>
                    <a:pt x="0" y="0"/>
                  </a:moveTo>
                  <a:lnTo>
                    <a:pt x="5120640" y="0"/>
                  </a:lnTo>
                  <a:lnTo>
                    <a:pt x="5120640" y="633984"/>
                  </a:lnTo>
                  <a:lnTo>
                    <a:pt x="0" y="633984"/>
                  </a:lnTo>
                  <a:close/>
                </a:path>
              </a:pathLst>
            </a:custGeom>
            <a:blipFill>
              <a:blip r:embed="rId3">
                <a:alphaModFix amt="0"/>
              </a:blip>
              <a:stretch>
                <a:fillRect l="0" t="-107379" r="0" b="-107379"/>
              </a:stretch>
            </a:blipFill>
          </p:spPr>
        </p:sp>
        <p:sp>
          <p:nvSpPr>
            <p:cNvPr name="TextBox 70" id="70"/>
            <p:cNvSpPr txBox="true"/>
            <p:nvPr/>
          </p:nvSpPr>
          <p:spPr>
            <a:xfrm>
              <a:off x="0" y="-38100"/>
              <a:ext cx="5120640" cy="672084"/>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logloss eval metric</a:t>
              </a:r>
            </a:p>
          </p:txBody>
        </p:sp>
      </p:grpSp>
      <p:grpSp>
        <p:nvGrpSpPr>
          <p:cNvPr name="Group 71" id="71"/>
          <p:cNvGrpSpPr/>
          <p:nvPr/>
        </p:nvGrpSpPr>
        <p:grpSpPr>
          <a:xfrm rot="0">
            <a:off x="910580" y="7638031"/>
            <a:ext cx="16471897" cy="2481577"/>
            <a:chOff x="0" y="0"/>
            <a:chExt cx="21962529" cy="3308769"/>
          </a:xfrm>
        </p:grpSpPr>
        <p:sp>
          <p:nvSpPr>
            <p:cNvPr name="Freeform 72" id="72"/>
            <p:cNvSpPr/>
            <p:nvPr/>
          </p:nvSpPr>
          <p:spPr>
            <a:xfrm flipH="false" flipV="false" rot="0">
              <a:off x="8509" y="8509"/>
              <a:ext cx="21945601" cy="3291840"/>
            </a:xfrm>
            <a:custGeom>
              <a:avLst/>
              <a:gdLst/>
              <a:ahLst/>
              <a:cxnLst/>
              <a:rect r="r" b="b" t="t" l="l"/>
              <a:pathLst>
                <a:path h="3291840" w="21945601">
                  <a:moveTo>
                    <a:pt x="0" y="0"/>
                  </a:moveTo>
                  <a:lnTo>
                    <a:pt x="21945601" y="0"/>
                  </a:lnTo>
                  <a:lnTo>
                    <a:pt x="21945601" y="3291840"/>
                  </a:lnTo>
                  <a:lnTo>
                    <a:pt x="0" y="3291840"/>
                  </a:lnTo>
                  <a:close/>
                </a:path>
              </a:pathLst>
            </a:custGeom>
            <a:solidFill>
              <a:srgbClr val="0D1E35"/>
            </a:solidFill>
          </p:spPr>
        </p:sp>
        <p:sp>
          <p:nvSpPr>
            <p:cNvPr name="Freeform 73" id="73"/>
            <p:cNvSpPr/>
            <p:nvPr/>
          </p:nvSpPr>
          <p:spPr>
            <a:xfrm flipH="false" flipV="false" rot="0">
              <a:off x="0" y="0"/>
              <a:ext cx="21962618" cy="3308858"/>
            </a:xfrm>
            <a:custGeom>
              <a:avLst/>
              <a:gdLst/>
              <a:ahLst/>
              <a:cxnLst/>
              <a:rect r="r" b="b" t="t" l="l"/>
              <a:pathLst>
                <a:path h="3308858" w="21962618">
                  <a:moveTo>
                    <a:pt x="8509" y="0"/>
                  </a:moveTo>
                  <a:lnTo>
                    <a:pt x="21954110" y="0"/>
                  </a:lnTo>
                  <a:cubicBezTo>
                    <a:pt x="21958808" y="0"/>
                    <a:pt x="21962618" y="3810"/>
                    <a:pt x="21962618" y="8509"/>
                  </a:cubicBezTo>
                  <a:lnTo>
                    <a:pt x="21962618" y="3300349"/>
                  </a:lnTo>
                  <a:cubicBezTo>
                    <a:pt x="21962618" y="3305048"/>
                    <a:pt x="21958808" y="3308858"/>
                    <a:pt x="21954110" y="3308858"/>
                  </a:cubicBezTo>
                  <a:lnTo>
                    <a:pt x="8509" y="3308858"/>
                  </a:lnTo>
                  <a:cubicBezTo>
                    <a:pt x="3810" y="3308858"/>
                    <a:pt x="0" y="3305048"/>
                    <a:pt x="0" y="3300349"/>
                  </a:cubicBezTo>
                  <a:lnTo>
                    <a:pt x="0" y="8509"/>
                  </a:lnTo>
                  <a:cubicBezTo>
                    <a:pt x="0" y="3810"/>
                    <a:pt x="3810" y="0"/>
                    <a:pt x="8509" y="0"/>
                  </a:cubicBezTo>
                  <a:moveTo>
                    <a:pt x="8509" y="16891"/>
                  </a:moveTo>
                  <a:lnTo>
                    <a:pt x="8509" y="8509"/>
                  </a:lnTo>
                  <a:lnTo>
                    <a:pt x="17018" y="8509"/>
                  </a:lnTo>
                  <a:lnTo>
                    <a:pt x="17018" y="3300349"/>
                  </a:lnTo>
                  <a:lnTo>
                    <a:pt x="8509" y="3300349"/>
                  </a:lnTo>
                  <a:lnTo>
                    <a:pt x="8509" y="3291840"/>
                  </a:lnTo>
                  <a:lnTo>
                    <a:pt x="21954110" y="3291840"/>
                  </a:lnTo>
                  <a:lnTo>
                    <a:pt x="21954110" y="3300349"/>
                  </a:lnTo>
                  <a:lnTo>
                    <a:pt x="21945600" y="3300349"/>
                  </a:lnTo>
                  <a:lnTo>
                    <a:pt x="21945600" y="8509"/>
                  </a:lnTo>
                  <a:lnTo>
                    <a:pt x="21954110" y="8509"/>
                  </a:lnTo>
                  <a:lnTo>
                    <a:pt x="21954110" y="17018"/>
                  </a:lnTo>
                  <a:lnTo>
                    <a:pt x="8509" y="17018"/>
                  </a:lnTo>
                  <a:close/>
                </a:path>
              </a:pathLst>
            </a:custGeom>
            <a:solidFill>
              <a:srgbClr val="1E3352"/>
            </a:solidFill>
          </p:spPr>
        </p:sp>
      </p:grpSp>
      <p:grpSp>
        <p:nvGrpSpPr>
          <p:cNvPr name="Group 74" id="74"/>
          <p:cNvGrpSpPr/>
          <p:nvPr/>
        </p:nvGrpSpPr>
        <p:grpSpPr>
          <a:xfrm rot="0">
            <a:off x="1319270" y="7790688"/>
            <a:ext cx="15544800" cy="585216"/>
            <a:chOff x="0" y="0"/>
            <a:chExt cx="20726400" cy="780288"/>
          </a:xfrm>
        </p:grpSpPr>
        <p:sp>
          <p:nvSpPr>
            <p:cNvPr name="Freeform 75" id="75"/>
            <p:cNvSpPr/>
            <p:nvPr/>
          </p:nvSpPr>
          <p:spPr>
            <a:xfrm flipH="false" flipV="false" rot="0">
              <a:off x="0" y="0"/>
              <a:ext cx="20726400" cy="780288"/>
            </a:xfrm>
            <a:custGeom>
              <a:avLst/>
              <a:gdLst/>
              <a:ahLst/>
              <a:cxnLst/>
              <a:rect r="r" b="b" t="t" l="l"/>
              <a:pathLst>
                <a:path h="780288" w="20726400">
                  <a:moveTo>
                    <a:pt x="0" y="0"/>
                  </a:moveTo>
                  <a:lnTo>
                    <a:pt x="20726400" y="0"/>
                  </a:lnTo>
                  <a:lnTo>
                    <a:pt x="20726400" y="780288"/>
                  </a:lnTo>
                  <a:lnTo>
                    <a:pt x="0" y="780288"/>
                  </a:lnTo>
                  <a:close/>
                </a:path>
              </a:pathLst>
            </a:custGeom>
            <a:blipFill>
              <a:blip r:embed="rId3">
                <a:alphaModFix amt="0"/>
              </a:blip>
              <a:stretch>
                <a:fillRect l="0" t="-467571" r="0" b="-467571"/>
              </a:stretch>
            </a:blipFill>
          </p:spPr>
        </p:sp>
        <p:sp>
          <p:nvSpPr>
            <p:cNvPr name="TextBox 76" id="76"/>
            <p:cNvSpPr txBox="true"/>
            <p:nvPr/>
          </p:nvSpPr>
          <p:spPr>
            <a:xfrm>
              <a:off x="0" y="-47625"/>
              <a:ext cx="20726400" cy="827913"/>
            </a:xfrm>
            <a:prstGeom prst="rect">
              <a:avLst/>
            </a:prstGeom>
          </p:spPr>
          <p:txBody>
            <a:bodyPr anchor="ctr" rtlCol="false" tIns="0" lIns="0" bIns="0" rIns="0"/>
            <a:lstStyle/>
            <a:p>
              <a:pPr algn="l">
                <a:lnSpc>
                  <a:spcPts val="2640"/>
                </a:lnSpc>
              </a:pPr>
              <a:r>
                <a:rPr lang="en-US" sz="2200" b="true">
                  <a:solidFill>
                    <a:srgbClr val="6B8BAA"/>
                  </a:solidFill>
                  <a:latin typeface="Calibri (MS) Bold"/>
                  <a:ea typeface="Calibri (MS) Bold"/>
                  <a:cs typeface="Calibri (MS) Bold"/>
                  <a:sym typeface="Calibri (MS) Bold"/>
                </a:rPr>
                <a:t>Métriques d'évaluation utilisées</a:t>
              </a:r>
            </a:p>
          </p:txBody>
        </p:sp>
      </p:grpSp>
      <p:grpSp>
        <p:nvGrpSpPr>
          <p:cNvPr name="Group 77" id="77"/>
          <p:cNvGrpSpPr/>
          <p:nvPr/>
        </p:nvGrpSpPr>
        <p:grpSpPr>
          <a:xfrm rot="0">
            <a:off x="1312916" y="8479279"/>
            <a:ext cx="2573017" cy="1384297"/>
            <a:chOff x="0" y="0"/>
            <a:chExt cx="3430689" cy="1845729"/>
          </a:xfrm>
        </p:grpSpPr>
        <p:sp>
          <p:nvSpPr>
            <p:cNvPr name="Freeform 78" id="78"/>
            <p:cNvSpPr/>
            <p:nvPr/>
          </p:nvSpPr>
          <p:spPr>
            <a:xfrm flipH="false" flipV="false" rot="0">
              <a:off x="8509" y="8509"/>
              <a:ext cx="3413760" cy="1828800"/>
            </a:xfrm>
            <a:custGeom>
              <a:avLst/>
              <a:gdLst/>
              <a:ahLst/>
              <a:cxnLst/>
              <a:rect r="r" b="b" t="t" l="l"/>
              <a:pathLst>
                <a:path h="1828800" w="3413760">
                  <a:moveTo>
                    <a:pt x="0" y="146304"/>
                  </a:moveTo>
                  <a:cubicBezTo>
                    <a:pt x="0" y="65405"/>
                    <a:pt x="65786" y="0"/>
                    <a:pt x="146939" y="0"/>
                  </a:cubicBezTo>
                  <a:lnTo>
                    <a:pt x="3266821" y="0"/>
                  </a:lnTo>
                  <a:cubicBezTo>
                    <a:pt x="3347974" y="0"/>
                    <a:pt x="3413760" y="65532"/>
                    <a:pt x="3413760" y="146304"/>
                  </a:cubicBezTo>
                  <a:lnTo>
                    <a:pt x="3413760" y="1682496"/>
                  </a:lnTo>
                  <a:cubicBezTo>
                    <a:pt x="3413760" y="1763268"/>
                    <a:pt x="3347974" y="1828800"/>
                    <a:pt x="3266821" y="1828800"/>
                  </a:cubicBezTo>
                  <a:lnTo>
                    <a:pt x="146939" y="1828800"/>
                  </a:lnTo>
                  <a:cubicBezTo>
                    <a:pt x="65786" y="1828800"/>
                    <a:pt x="0" y="1763268"/>
                    <a:pt x="0" y="1682496"/>
                  </a:cubicBezTo>
                  <a:close/>
                </a:path>
              </a:pathLst>
            </a:custGeom>
            <a:solidFill>
              <a:srgbClr val="122540"/>
            </a:solidFill>
          </p:spPr>
        </p:sp>
        <p:sp>
          <p:nvSpPr>
            <p:cNvPr name="Freeform 79" id="79"/>
            <p:cNvSpPr/>
            <p:nvPr/>
          </p:nvSpPr>
          <p:spPr>
            <a:xfrm flipH="false" flipV="false" rot="0">
              <a:off x="0" y="0"/>
              <a:ext cx="3430778" cy="1845818"/>
            </a:xfrm>
            <a:custGeom>
              <a:avLst/>
              <a:gdLst/>
              <a:ahLst/>
              <a:cxnLst/>
              <a:rect r="r" b="b" t="t" l="l"/>
              <a:pathLst>
                <a:path h="1845818" w="3430778">
                  <a:moveTo>
                    <a:pt x="0" y="154813"/>
                  </a:moveTo>
                  <a:cubicBezTo>
                    <a:pt x="0" y="69215"/>
                    <a:pt x="69596" y="0"/>
                    <a:pt x="155448" y="0"/>
                  </a:cubicBezTo>
                  <a:lnTo>
                    <a:pt x="3275330" y="0"/>
                  </a:lnTo>
                  <a:lnTo>
                    <a:pt x="3275330" y="8509"/>
                  </a:lnTo>
                  <a:lnTo>
                    <a:pt x="3275330" y="0"/>
                  </a:lnTo>
                  <a:cubicBezTo>
                    <a:pt x="3361182" y="0"/>
                    <a:pt x="3430778" y="69215"/>
                    <a:pt x="3430778" y="154813"/>
                  </a:cubicBezTo>
                  <a:lnTo>
                    <a:pt x="3422269" y="154813"/>
                  </a:lnTo>
                  <a:lnTo>
                    <a:pt x="3430778" y="154813"/>
                  </a:lnTo>
                  <a:lnTo>
                    <a:pt x="3430778" y="1691005"/>
                  </a:lnTo>
                  <a:lnTo>
                    <a:pt x="3422269" y="1691005"/>
                  </a:lnTo>
                  <a:lnTo>
                    <a:pt x="3430778" y="1691005"/>
                  </a:lnTo>
                  <a:cubicBezTo>
                    <a:pt x="3430778" y="1776476"/>
                    <a:pt x="3361182" y="1845818"/>
                    <a:pt x="3275330" y="1845818"/>
                  </a:cubicBezTo>
                  <a:lnTo>
                    <a:pt x="3275330" y="1837309"/>
                  </a:lnTo>
                  <a:lnTo>
                    <a:pt x="3275330" y="1845818"/>
                  </a:lnTo>
                  <a:lnTo>
                    <a:pt x="155448" y="1845818"/>
                  </a:lnTo>
                  <a:lnTo>
                    <a:pt x="155448" y="1837309"/>
                  </a:lnTo>
                  <a:lnTo>
                    <a:pt x="155448" y="1845818"/>
                  </a:lnTo>
                  <a:cubicBezTo>
                    <a:pt x="69596" y="1845691"/>
                    <a:pt x="0" y="1776476"/>
                    <a:pt x="0" y="1691005"/>
                  </a:cubicBezTo>
                  <a:lnTo>
                    <a:pt x="0" y="154813"/>
                  </a:lnTo>
                  <a:lnTo>
                    <a:pt x="8509" y="154813"/>
                  </a:lnTo>
                  <a:lnTo>
                    <a:pt x="0" y="154813"/>
                  </a:lnTo>
                  <a:moveTo>
                    <a:pt x="16891" y="154813"/>
                  </a:moveTo>
                  <a:lnTo>
                    <a:pt x="16891" y="1691005"/>
                  </a:lnTo>
                  <a:lnTo>
                    <a:pt x="8509" y="1691005"/>
                  </a:lnTo>
                  <a:lnTo>
                    <a:pt x="17018" y="1691005"/>
                  </a:lnTo>
                  <a:cubicBezTo>
                    <a:pt x="17018" y="1767078"/>
                    <a:pt x="78994" y="1828800"/>
                    <a:pt x="155448" y="1828800"/>
                  </a:cubicBezTo>
                  <a:lnTo>
                    <a:pt x="3275330" y="1828800"/>
                  </a:lnTo>
                  <a:cubicBezTo>
                    <a:pt x="3351784" y="1828800"/>
                    <a:pt x="3413760" y="1767078"/>
                    <a:pt x="3413760" y="1691005"/>
                  </a:cubicBezTo>
                  <a:lnTo>
                    <a:pt x="3413760" y="154813"/>
                  </a:lnTo>
                  <a:cubicBezTo>
                    <a:pt x="3413760" y="78740"/>
                    <a:pt x="3351784" y="17018"/>
                    <a:pt x="3275330" y="17018"/>
                  </a:cubicBezTo>
                  <a:lnTo>
                    <a:pt x="155448" y="17018"/>
                  </a:lnTo>
                  <a:lnTo>
                    <a:pt x="155448" y="8509"/>
                  </a:lnTo>
                  <a:lnTo>
                    <a:pt x="155448" y="17018"/>
                  </a:lnTo>
                  <a:cubicBezTo>
                    <a:pt x="78994" y="17018"/>
                    <a:pt x="17018" y="78740"/>
                    <a:pt x="17018" y="154813"/>
                  </a:cubicBezTo>
                  <a:close/>
                </a:path>
              </a:pathLst>
            </a:custGeom>
            <a:solidFill>
              <a:srgbClr val="1E3352"/>
            </a:solidFill>
          </p:spPr>
        </p:sp>
      </p:grpSp>
      <p:grpSp>
        <p:nvGrpSpPr>
          <p:cNvPr name="Group 80" id="80"/>
          <p:cNvGrpSpPr/>
          <p:nvPr/>
        </p:nvGrpSpPr>
        <p:grpSpPr>
          <a:xfrm rot="0">
            <a:off x="1319270" y="8485632"/>
            <a:ext cx="2560320" cy="1371600"/>
            <a:chOff x="0" y="0"/>
            <a:chExt cx="3413760" cy="1828800"/>
          </a:xfrm>
        </p:grpSpPr>
        <p:sp>
          <p:nvSpPr>
            <p:cNvPr name="Freeform 81" id="81"/>
            <p:cNvSpPr/>
            <p:nvPr/>
          </p:nvSpPr>
          <p:spPr>
            <a:xfrm flipH="false" flipV="false" rot="0">
              <a:off x="0" y="0"/>
              <a:ext cx="3413760" cy="1828800"/>
            </a:xfrm>
            <a:custGeom>
              <a:avLst/>
              <a:gdLst/>
              <a:ahLst/>
              <a:cxnLst/>
              <a:rect r="r" b="b" t="t" l="l"/>
              <a:pathLst>
                <a:path h="1828800" w="3413760">
                  <a:moveTo>
                    <a:pt x="0" y="0"/>
                  </a:moveTo>
                  <a:lnTo>
                    <a:pt x="3413760" y="0"/>
                  </a:lnTo>
                  <a:lnTo>
                    <a:pt x="3413760" y="1828800"/>
                  </a:lnTo>
                  <a:lnTo>
                    <a:pt x="0" y="1828800"/>
                  </a:lnTo>
                  <a:close/>
                </a:path>
              </a:pathLst>
            </a:custGeom>
            <a:blipFill>
              <a:blip r:embed="rId3">
                <a:alphaModFix amt="0"/>
              </a:blip>
              <a:stretch>
                <a:fillRect l="-18734" t="0" r="-18734" b="0"/>
              </a:stretch>
            </a:blipFill>
          </p:spPr>
        </p:sp>
        <p:sp>
          <p:nvSpPr>
            <p:cNvPr name="TextBox 82" id="82"/>
            <p:cNvSpPr txBox="true"/>
            <p:nvPr/>
          </p:nvSpPr>
          <p:spPr>
            <a:xfrm>
              <a:off x="0" y="-38100"/>
              <a:ext cx="3413760" cy="1866900"/>
            </a:xfrm>
            <a:prstGeom prst="rect">
              <a:avLst/>
            </a:prstGeom>
          </p:spPr>
          <p:txBody>
            <a:bodyPr anchor="ctr" rtlCol="false" tIns="0" lIns="0" bIns="0" rIns="0"/>
            <a:lstStyle/>
            <a:p>
              <a:pPr algn="ctr">
                <a:lnSpc>
                  <a:spcPts val="2400"/>
                </a:lnSpc>
              </a:pPr>
              <a:r>
                <a:rPr lang="en-US" sz="2000" b="true">
                  <a:solidFill>
                    <a:srgbClr val="1A8FFF"/>
                  </a:solidFill>
                  <a:latin typeface="Calibri (MS) Bold"/>
                  <a:ea typeface="Calibri (MS) Bold"/>
                  <a:cs typeface="Calibri (MS) Bold"/>
                  <a:sym typeface="Calibri (MS) Bold"/>
                </a:rPr>
                <a:t>Accuracy</a:t>
              </a:r>
            </a:p>
          </p:txBody>
        </p:sp>
      </p:grpSp>
      <p:grpSp>
        <p:nvGrpSpPr>
          <p:cNvPr name="Group 83" id="83"/>
          <p:cNvGrpSpPr/>
          <p:nvPr/>
        </p:nvGrpSpPr>
        <p:grpSpPr>
          <a:xfrm rot="0">
            <a:off x="4092692" y="8479279"/>
            <a:ext cx="2573017" cy="1384297"/>
            <a:chOff x="0" y="0"/>
            <a:chExt cx="3430689" cy="1845729"/>
          </a:xfrm>
        </p:grpSpPr>
        <p:sp>
          <p:nvSpPr>
            <p:cNvPr name="Freeform 84" id="84"/>
            <p:cNvSpPr/>
            <p:nvPr/>
          </p:nvSpPr>
          <p:spPr>
            <a:xfrm flipH="false" flipV="false" rot="0">
              <a:off x="8509" y="8509"/>
              <a:ext cx="3413760" cy="1828800"/>
            </a:xfrm>
            <a:custGeom>
              <a:avLst/>
              <a:gdLst/>
              <a:ahLst/>
              <a:cxnLst/>
              <a:rect r="r" b="b" t="t" l="l"/>
              <a:pathLst>
                <a:path h="1828800" w="3413760">
                  <a:moveTo>
                    <a:pt x="0" y="146304"/>
                  </a:moveTo>
                  <a:cubicBezTo>
                    <a:pt x="0" y="65405"/>
                    <a:pt x="65786" y="0"/>
                    <a:pt x="146939" y="0"/>
                  </a:cubicBezTo>
                  <a:lnTo>
                    <a:pt x="3266821" y="0"/>
                  </a:lnTo>
                  <a:cubicBezTo>
                    <a:pt x="3347974" y="0"/>
                    <a:pt x="3413760" y="65532"/>
                    <a:pt x="3413760" y="146304"/>
                  </a:cubicBezTo>
                  <a:lnTo>
                    <a:pt x="3413760" y="1682496"/>
                  </a:lnTo>
                  <a:cubicBezTo>
                    <a:pt x="3413760" y="1763268"/>
                    <a:pt x="3347974" y="1828800"/>
                    <a:pt x="3266821" y="1828800"/>
                  </a:cubicBezTo>
                  <a:lnTo>
                    <a:pt x="146939" y="1828800"/>
                  </a:lnTo>
                  <a:cubicBezTo>
                    <a:pt x="65786" y="1828800"/>
                    <a:pt x="0" y="1763268"/>
                    <a:pt x="0" y="1682496"/>
                  </a:cubicBezTo>
                  <a:close/>
                </a:path>
              </a:pathLst>
            </a:custGeom>
            <a:solidFill>
              <a:srgbClr val="122540"/>
            </a:solidFill>
          </p:spPr>
        </p:sp>
        <p:sp>
          <p:nvSpPr>
            <p:cNvPr name="Freeform 85" id="85"/>
            <p:cNvSpPr/>
            <p:nvPr/>
          </p:nvSpPr>
          <p:spPr>
            <a:xfrm flipH="false" flipV="false" rot="0">
              <a:off x="0" y="0"/>
              <a:ext cx="3430778" cy="1845818"/>
            </a:xfrm>
            <a:custGeom>
              <a:avLst/>
              <a:gdLst/>
              <a:ahLst/>
              <a:cxnLst/>
              <a:rect r="r" b="b" t="t" l="l"/>
              <a:pathLst>
                <a:path h="1845818" w="3430778">
                  <a:moveTo>
                    <a:pt x="0" y="154813"/>
                  </a:moveTo>
                  <a:cubicBezTo>
                    <a:pt x="0" y="69215"/>
                    <a:pt x="69596" y="0"/>
                    <a:pt x="155448" y="0"/>
                  </a:cubicBezTo>
                  <a:lnTo>
                    <a:pt x="3275330" y="0"/>
                  </a:lnTo>
                  <a:lnTo>
                    <a:pt x="3275330" y="8509"/>
                  </a:lnTo>
                  <a:lnTo>
                    <a:pt x="3275330" y="0"/>
                  </a:lnTo>
                  <a:cubicBezTo>
                    <a:pt x="3361182" y="0"/>
                    <a:pt x="3430778" y="69215"/>
                    <a:pt x="3430778" y="154813"/>
                  </a:cubicBezTo>
                  <a:lnTo>
                    <a:pt x="3422269" y="154813"/>
                  </a:lnTo>
                  <a:lnTo>
                    <a:pt x="3430778" y="154813"/>
                  </a:lnTo>
                  <a:lnTo>
                    <a:pt x="3430778" y="1691005"/>
                  </a:lnTo>
                  <a:lnTo>
                    <a:pt x="3422269" y="1691005"/>
                  </a:lnTo>
                  <a:lnTo>
                    <a:pt x="3430778" y="1691005"/>
                  </a:lnTo>
                  <a:cubicBezTo>
                    <a:pt x="3430778" y="1776476"/>
                    <a:pt x="3361182" y="1845818"/>
                    <a:pt x="3275330" y="1845818"/>
                  </a:cubicBezTo>
                  <a:lnTo>
                    <a:pt x="3275330" y="1837309"/>
                  </a:lnTo>
                  <a:lnTo>
                    <a:pt x="3275330" y="1845818"/>
                  </a:lnTo>
                  <a:lnTo>
                    <a:pt x="155448" y="1845818"/>
                  </a:lnTo>
                  <a:lnTo>
                    <a:pt x="155448" y="1837309"/>
                  </a:lnTo>
                  <a:lnTo>
                    <a:pt x="155448" y="1845818"/>
                  </a:lnTo>
                  <a:cubicBezTo>
                    <a:pt x="69596" y="1845691"/>
                    <a:pt x="0" y="1776476"/>
                    <a:pt x="0" y="1691005"/>
                  </a:cubicBezTo>
                  <a:lnTo>
                    <a:pt x="0" y="154813"/>
                  </a:lnTo>
                  <a:lnTo>
                    <a:pt x="8509" y="154813"/>
                  </a:lnTo>
                  <a:lnTo>
                    <a:pt x="0" y="154813"/>
                  </a:lnTo>
                  <a:moveTo>
                    <a:pt x="16891" y="154813"/>
                  </a:moveTo>
                  <a:lnTo>
                    <a:pt x="16891" y="1691005"/>
                  </a:lnTo>
                  <a:lnTo>
                    <a:pt x="8509" y="1691005"/>
                  </a:lnTo>
                  <a:lnTo>
                    <a:pt x="17018" y="1691005"/>
                  </a:lnTo>
                  <a:cubicBezTo>
                    <a:pt x="17018" y="1767078"/>
                    <a:pt x="78994" y="1828800"/>
                    <a:pt x="155448" y="1828800"/>
                  </a:cubicBezTo>
                  <a:lnTo>
                    <a:pt x="3275330" y="1828800"/>
                  </a:lnTo>
                  <a:cubicBezTo>
                    <a:pt x="3351784" y="1828800"/>
                    <a:pt x="3413760" y="1767078"/>
                    <a:pt x="3413760" y="1691005"/>
                  </a:cubicBezTo>
                  <a:lnTo>
                    <a:pt x="3413760" y="154813"/>
                  </a:lnTo>
                  <a:cubicBezTo>
                    <a:pt x="3413760" y="78740"/>
                    <a:pt x="3351784" y="17018"/>
                    <a:pt x="3275330" y="17018"/>
                  </a:cubicBezTo>
                  <a:lnTo>
                    <a:pt x="155448" y="17018"/>
                  </a:lnTo>
                  <a:lnTo>
                    <a:pt x="155448" y="8509"/>
                  </a:lnTo>
                  <a:lnTo>
                    <a:pt x="155448" y="17018"/>
                  </a:lnTo>
                  <a:cubicBezTo>
                    <a:pt x="78994" y="17018"/>
                    <a:pt x="17018" y="78740"/>
                    <a:pt x="17018" y="154813"/>
                  </a:cubicBezTo>
                  <a:close/>
                </a:path>
              </a:pathLst>
            </a:custGeom>
            <a:solidFill>
              <a:srgbClr val="1E3352"/>
            </a:solidFill>
          </p:spPr>
        </p:sp>
      </p:grpSp>
      <p:grpSp>
        <p:nvGrpSpPr>
          <p:cNvPr name="Group 86" id="86"/>
          <p:cNvGrpSpPr/>
          <p:nvPr/>
        </p:nvGrpSpPr>
        <p:grpSpPr>
          <a:xfrm rot="0">
            <a:off x="4099046" y="8485632"/>
            <a:ext cx="2560320" cy="1371600"/>
            <a:chOff x="0" y="0"/>
            <a:chExt cx="3413760" cy="1828800"/>
          </a:xfrm>
        </p:grpSpPr>
        <p:sp>
          <p:nvSpPr>
            <p:cNvPr name="Freeform 87" id="87"/>
            <p:cNvSpPr/>
            <p:nvPr/>
          </p:nvSpPr>
          <p:spPr>
            <a:xfrm flipH="false" flipV="false" rot="0">
              <a:off x="0" y="0"/>
              <a:ext cx="3413760" cy="1828800"/>
            </a:xfrm>
            <a:custGeom>
              <a:avLst/>
              <a:gdLst/>
              <a:ahLst/>
              <a:cxnLst/>
              <a:rect r="r" b="b" t="t" l="l"/>
              <a:pathLst>
                <a:path h="1828800" w="3413760">
                  <a:moveTo>
                    <a:pt x="0" y="0"/>
                  </a:moveTo>
                  <a:lnTo>
                    <a:pt x="3413760" y="0"/>
                  </a:lnTo>
                  <a:lnTo>
                    <a:pt x="3413760" y="1828800"/>
                  </a:lnTo>
                  <a:lnTo>
                    <a:pt x="0" y="1828800"/>
                  </a:lnTo>
                  <a:close/>
                </a:path>
              </a:pathLst>
            </a:custGeom>
            <a:blipFill>
              <a:blip r:embed="rId3">
                <a:alphaModFix amt="0"/>
              </a:blip>
              <a:stretch>
                <a:fillRect l="-18734" t="0" r="-18734" b="0"/>
              </a:stretch>
            </a:blipFill>
          </p:spPr>
        </p:sp>
        <p:sp>
          <p:nvSpPr>
            <p:cNvPr name="TextBox 88" id="88"/>
            <p:cNvSpPr txBox="true"/>
            <p:nvPr/>
          </p:nvSpPr>
          <p:spPr>
            <a:xfrm>
              <a:off x="0" y="-38100"/>
              <a:ext cx="3413760" cy="1866900"/>
            </a:xfrm>
            <a:prstGeom prst="rect">
              <a:avLst/>
            </a:prstGeom>
          </p:spPr>
          <p:txBody>
            <a:bodyPr anchor="ctr" rtlCol="false" tIns="0" lIns="0" bIns="0" rIns="0"/>
            <a:lstStyle/>
            <a:p>
              <a:pPr algn="ctr">
                <a:lnSpc>
                  <a:spcPts val="2400"/>
                </a:lnSpc>
              </a:pPr>
              <a:r>
                <a:rPr lang="en-US" sz="2000" b="true">
                  <a:solidFill>
                    <a:srgbClr val="1A8FFF"/>
                  </a:solidFill>
                  <a:latin typeface="Calibri (MS) Bold"/>
                  <a:ea typeface="Calibri (MS) Bold"/>
                  <a:cs typeface="Calibri (MS) Bold"/>
                  <a:sym typeface="Calibri (MS) Bold"/>
                </a:rPr>
                <a:t>Precision</a:t>
              </a:r>
            </a:p>
          </p:txBody>
        </p:sp>
      </p:grpSp>
      <p:grpSp>
        <p:nvGrpSpPr>
          <p:cNvPr name="Group 89" id="89"/>
          <p:cNvGrpSpPr/>
          <p:nvPr/>
        </p:nvGrpSpPr>
        <p:grpSpPr>
          <a:xfrm rot="0">
            <a:off x="6872468" y="8479279"/>
            <a:ext cx="2573017" cy="1384297"/>
            <a:chOff x="0" y="0"/>
            <a:chExt cx="3430689" cy="1845729"/>
          </a:xfrm>
        </p:grpSpPr>
        <p:sp>
          <p:nvSpPr>
            <p:cNvPr name="Freeform 90" id="90"/>
            <p:cNvSpPr/>
            <p:nvPr/>
          </p:nvSpPr>
          <p:spPr>
            <a:xfrm flipH="false" flipV="false" rot="0">
              <a:off x="8509" y="8509"/>
              <a:ext cx="3413760" cy="1828800"/>
            </a:xfrm>
            <a:custGeom>
              <a:avLst/>
              <a:gdLst/>
              <a:ahLst/>
              <a:cxnLst/>
              <a:rect r="r" b="b" t="t" l="l"/>
              <a:pathLst>
                <a:path h="1828800" w="3413760">
                  <a:moveTo>
                    <a:pt x="0" y="146304"/>
                  </a:moveTo>
                  <a:cubicBezTo>
                    <a:pt x="0" y="65405"/>
                    <a:pt x="65786" y="0"/>
                    <a:pt x="146939" y="0"/>
                  </a:cubicBezTo>
                  <a:lnTo>
                    <a:pt x="3266821" y="0"/>
                  </a:lnTo>
                  <a:cubicBezTo>
                    <a:pt x="3347974" y="0"/>
                    <a:pt x="3413760" y="65532"/>
                    <a:pt x="3413760" y="146304"/>
                  </a:cubicBezTo>
                  <a:lnTo>
                    <a:pt x="3413760" y="1682496"/>
                  </a:lnTo>
                  <a:cubicBezTo>
                    <a:pt x="3413760" y="1763268"/>
                    <a:pt x="3347974" y="1828800"/>
                    <a:pt x="3266821" y="1828800"/>
                  </a:cubicBezTo>
                  <a:lnTo>
                    <a:pt x="146939" y="1828800"/>
                  </a:lnTo>
                  <a:cubicBezTo>
                    <a:pt x="65786" y="1828800"/>
                    <a:pt x="0" y="1763268"/>
                    <a:pt x="0" y="1682496"/>
                  </a:cubicBezTo>
                  <a:close/>
                </a:path>
              </a:pathLst>
            </a:custGeom>
            <a:solidFill>
              <a:srgbClr val="122540"/>
            </a:solidFill>
          </p:spPr>
        </p:sp>
        <p:sp>
          <p:nvSpPr>
            <p:cNvPr name="Freeform 91" id="91"/>
            <p:cNvSpPr/>
            <p:nvPr/>
          </p:nvSpPr>
          <p:spPr>
            <a:xfrm flipH="false" flipV="false" rot="0">
              <a:off x="0" y="0"/>
              <a:ext cx="3430778" cy="1845818"/>
            </a:xfrm>
            <a:custGeom>
              <a:avLst/>
              <a:gdLst/>
              <a:ahLst/>
              <a:cxnLst/>
              <a:rect r="r" b="b" t="t" l="l"/>
              <a:pathLst>
                <a:path h="1845818" w="3430778">
                  <a:moveTo>
                    <a:pt x="0" y="154813"/>
                  </a:moveTo>
                  <a:cubicBezTo>
                    <a:pt x="0" y="69215"/>
                    <a:pt x="69596" y="0"/>
                    <a:pt x="155448" y="0"/>
                  </a:cubicBezTo>
                  <a:lnTo>
                    <a:pt x="3275330" y="0"/>
                  </a:lnTo>
                  <a:lnTo>
                    <a:pt x="3275330" y="8509"/>
                  </a:lnTo>
                  <a:lnTo>
                    <a:pt x="3275330" y="0"/>
                  </a:lnTo>
                  <a:cubicBezTo>
                    <a:pt x="3361182" y="0"/>
                    <a:pt x="3430778" y="69215"/>
                    <a:pt x="3430778" y="154813"/>
                  </a:cubicBezTo>
                  <a:lnTo>
                    <a:pt x="3422269" y="154813"/>
                  </a:lnTo>
                  <a:lnTo>
                    <a:pt x="3430778" y="154813"/>
                  </a:lnTo>
                  <a:lnTo>
                    <a:pt x="3430778" y="1691005"/>
                  </a:lnTo>
                  <a:lnTo>
                    <a:pt x="3422269" y="1691005"/>
                  </a:lnTo>
                  <a:lnTo>
                    <a:pt x="3430778" y="1691005"/>
                  </a:lnTo>
                  <a:cubicBezTo>
                    <a:pt x="3430778" y="1776476"/>
                    <a:pt x="3361182" y="1845818"/>
                    <a:pt x="3275330" y="1845818"/>
                  </a:cubicBezTo>
                  <a:lnTo>
                    <a:pt x="3275330" y="1837309"/>
                  </a:lnTo>
                  <a:lnTo>
                    <a:pt x="3275330" y="1845818"/>
                  </a:lnTo>
                  <a:lnTo>
                    <a:pt x="155448" y="1845818"/>
                  </a:lnTo>
                  <a:lnTo>
                    <a:pt x="155448" y="1837309"/>
                  </a:lnTo>
                  <a:lnTo>
                    <a:pt x="155448" y="1845818"/>
                  </a:lnTo>
                  <a:cubicBezTo>
                    <a:pt x="69596" y="1845691"/>
                    <a:pt x="0" y="1776476"/>
                    <a:pt x="0" y="1691005"/>
                  </a:cubicBezTo>
                  <a:lnTo>
                    <a:pt x="0" y="154813"/>
                  </a:lnTo>
                  <a:lnTo>
                    <a:pt x="8509" y="154813"/>
                  </a:lnTo>
                  <a:lnTo>
                    <a:pt x="0" y="154813"/>
                  </a:lnTo>
                  <a:moveTo>
                    <a:pt x="16891" y="154813"/>
                  </a:moveTo>
                  <a:lnTo>
                    <a:pt x="16891" y="1691005"/>
                  </a:lnTo>
                  <a:lnTo>
                    <a:pt x="8509" y="1691005"/>
                  </a:lnTo>
                  <a:lnTo>
                    <a:pt x="17018" y="1691005"/>
                  </a:lnTo>
                  <a:cubicBezTo>
                    <a:pt x="17018" y="1767078"/>
                    <a:pt x="78994" y="1828800"/>
                    <a:pt x="155448" y="1828800"/>
                  </a:cubicBezTo>
                  <a:lnTo>
                    <a:pt x="3275330" y="1828800"/>
                  </a:lnTo>
                  <a:cubicBezTo>
                    <a:pt x="3351784" y="1828800"/>
                    <a:pt x="3413760" y="1767078"/>
                    <a:pt x="3413760" y="1691005"/>
                  </a:cubicBezTo>
                  <a:lnTo>
                    <a:pt x="3413760" y="154813"/>
                  </a:lnTo>
                  <a:cubicBezTo>
                    <a:pt x="3413760" y="78740"/>
                    <a:pt x="3351784" y="17018"/>
                    <a:pt x="3275330" y="17018"/>
                  </a:cubicBezTo>
                  <a:lnTo>
                    <a:pt x="155448" y="17018"/>
                  </a:lnTo>
                  <a:lnTo>
                    <a:pt x="155448" y="8509"/>
                  </a:lnTo>
                  <a:lnTo>
                    <a:pt x="155448" y="17018"/>
                  </a:lnTo>
                  <a:cubicBezTo>
                    <a:pt x="78994" y="17018"/>
                    <a:pt x="17018" y="78740"/>
                    <a:pt x="17018" y="154813"/>
                  </a:cubicBezTo>
                  <a:close/>
                </a:path>
              </a:pathLst>
            </a:custGeom>
            <a:solidFill>
              <a:srgbClr val="1E3352"/>
            </a:solidFill>
          </p:spPr>
        </p:sp>
      </p:grpSp>
      <p:grpSp>
        <p:nvGrpSpPr>
          <p:cNvPr name="Group 92" id="92"/>
          <p:cNvGrpSpPr/>
          <p:nvPr/>
        </p:nvGrpSpPr>
        <p:grpSpPr>
          <a:xfrm rot="0">
            <a:off x="6878822" y="8485632"/>
            <a:ext cx="2560320" cy="1371600"/>
            <a:chOff x="0" y="0"/>
            <a:chExt cx="3413760" cy="1828800"/>
          </a:xfrm>
        </p:grpSpPr>
        <p:sp>
          <p:nvSpPr>
            <p:cNvPr name="Freeform 93" id="93"/>
            <p:cNvSpPr/>
            <p:nvPr/>
          </p:nvSpPr>
          <p:spPr>
            <a:xfrm flipH="false" flipV="false" rot="0">
              <a:off x="0" y="0"/>
              <a:ext cx="3413760" cy="1828800"/>
            </a:xfrm>
            <a:custGeom>
              <a:avLst/>
              <a:gdLst/>
              <a:ahLst/>
              <a:cxnLst/>
              <a:rect r="r" b="b" t="t" l="l"/>
              <a:pathLst>
                <a:path h="1828800" w="3413760">
                  <a:moveTo>
                    <a:pt x="0" y="0"/>
                  </a:moveTo>
                  <a:lnTo>
                    <a:pt x="3413760" y="0"/>
                  </a:lnTo>
                  <a:lnTo>
                    <a:pt x="3413760" y="1828800"/>
                  </a:lnTo>
                  <a:lnTo>
                    <a:pt x="0" y="1828800"/>
                  </a:lnTo>
                  <a:close/>
                </a:path>
              </a:pathLst>
            </a:custGeom>
            <a:blipFill>
              <a:blip r:embed="rId3">
                <a:alphaModFix amt="0"/>
              </a:blip>
              <a:stretch>
                <a:fillRect l="-18734" t="0" r="-18734" b="0"/>
              </a:stretch>
            </a:blipFill>
          </p:spPr>
        </p:sp>
        <p:sp>
          <p:nvSpPr>
            <p:cNvPr name="TextBox 94" id="94"/>
            <p:cNvSpPr txBox="true"/>
            <p:nvPr/>
          </p:nvSpPr>
          <p:spPr>
            <a:xfrm>
              <a:off x="0" y="-38100"/>
              <a:ext cx="3413760" cy="1866900"/>
            </a:xfrm>
            <a:prstGeom prst="rect">
              <a:avLst/>
            </a:prstGeom>
          </p:spPr>
          <p:txBody>
            <a:bodyPr anchor="ctr" rtlCol="false" tIns="0" lIns="0" bIns="0" rIns="0"/>
            <a:lstStyle/>
            <a:p>
              <a:pPr algn="ctr">
                <a:lnSpc>
                  <a:spcPts val="2400"/>
                </a:lnSpc>
              </a:pPr>
              <a:r>
                <a:rPr lang="en-US" sz="2000" b="true">
                  <a:solidFill>
                    <a:srgbClr val="1A8FFF"/>
                  </a:solidFill>
                  <a:latin typeface="Calibri (MS) Bold"/>
                  <a:ea typeface="Calibri (MS) Bold"/>
                  <a:cs typeface="Calibri (MS) Bold"/>
                  <a:sym typeface="Calibri (MS) Bold"/>
                </a:rPr>
                <a:t>Recall</a:t>
              </a:r>
            </a:p>
          </p:txBody>
        </p:sp>
      </p:grpSp>
      <p:grpSp>
        <p:nvGrpSpPr>
          <p:cNvPr name="Group 95" id="95"/>
          <p:cNvGrpSpPr/>
          <p:nvPr/>
        </p:nvGrpSpPr>
        <p:grpSpPr>
          <a:xfrm rot="0">
            <a:off x="9652244" y="8479279"/>
            <a:ext cx="2573017" cy="1384297"/>
            <a:chOff x="0" y="0"/>
            <a:chExt cx="3430689" cy="1845729"/>
          </a:xfrm>
        </p:grpSpPr>
        <p:sp>
          <p:nvSpPr>
            <p:cNvPr name="Freeform 96" id="96"/>
            <p:cNvSpPr/>
            <p:nvPr/>
          </p:nvSpPr>
          <p:spPr>
            <a:xfrm flipH="false" flipV="false" rot="0">
              <a:off x="8509" y="8509"/>
              <a:ext cx="3413760" cy="1828800"/>
            </a:xfrm>
            <a:custGeom>
              <a:avLst/>
              <a:gdLst/>
              <a:ahLst/>
              <a:cxnLst/>
              <a:rect r="r" b="b" t="t" l="l"/>
              <a:pathLst>
                <a:path h="1828800" w="3413760">
                  <a:moveTo>
                    <a:pt x="0" y="146304"/>
                  </a:moveTo>
                  <a:cubicBezTo>
                    <a:pt x="0" y="65405"/>
                    <a:pt x="65786" y="0"/>
                    <a:pt x="146939" y="0"/>
                  </a:cubicBezTo>
                  <a:lnTo>
                    <a:pt x="3266821" y="0"/>
                  </a:lnTo>
                  <a:cubicBezTo>
                    <a:pt x="3347974" y="0"/>
                    <a:pt x="3413760" y="65532"/>
                    <a:pt x="3413760" y="146304"/>
                  </a:cubicBezTo>
                  <a:lnTo>
                    <a:pt x="3413760" y="1682496"/>
                  </a:lnTo>
                  <a:cubicBezTo>
                    <a:pt x="3413760" y="1763268"/>
                    <a:pt x="3347974" y="1828800"/>
                    <a:pt x="3266821" y="1828800"/>
                  </a:cubicBezTo>
                  <a:lnTo>
                    <a:pt x="146939" y="1828800"/>
                  </a:lnTo>
                  <a:cubicBezTo>
                    <a:pt x="65786" y="1828800"/>
                    <a:pt x="0" y="1763268"/>
                    <a:pt x="0" y="1682496"/>
                  </a:cubicBezTo>
                  <a:close/>
                </a:path>
              </a:pathLst>
            </a:custGeom>
            <a:solidFill>
              <a:srgbClr val="122540"/>
            </a:solidFill>
          </p:spPr>
        </p:sp>
        <p:sp>
          <p:nvSpPr>
            <p:cNvPr name="Freeform 97" id="97"/>
            <p:cNvSpPr/>
            <p:nvPr/>
          </p:nvSpPr>
          <p:spPr>
            <a:xfrm flipH="false" flipV="false" rot="0">
              <a:off x="0" y="0"/>
              <a:ext cx="3430778" cy="1845818"/>
            </a:xfrm>
            <a:custGeom>
              <a:avLst/>
              <a:gdLst/>
              <a:ahLst/>
              <a:cxnLst/>
              <a:rect r="r" b="b" t="t" l="l"/>
              <a:pathLst>
                <a:path h="1845818" w="3430778">
                  <a:moveTo>
                    <a:pt x="0" y="154813"/>
                  </a:moveTo>
                  <a:cubicBezTo>
                    <a:pt x="0" y="69215"/>
                    <a:pt x="69596" y="0"/>
                    <a:pt x="155448" y="0"/>
                  </a:cubicBezTo>
                  <a:lnTo>
                    <a:pt x="3275330" y="0"/>
                  </a:lnTo>
                  <a:lnTo>
                    <a:pt x="3275330" y="8509"/>
                  </a:lnTo>
                  <a:lnTo>
                    <a:pt x="3275330" y="0"/>
                  </a:lnTo>
                  <a:cubicBezTo>
                    <a:pt x="3361182" y="0"/>
                    <a:pt x="3430778" y="69215"/>
                    <a:pt x="3430778" y="154813"/>
                  </a:cubicBezTo>
                  <a:lnTo>
                    <a:pt x="3422269" y="154813"/>
                  </a:lnTo>
                  <a:lnTo>
                    <a:pt x="3430778" y="154813"/>
                  </a:lnTo>
                  <a:lnTo>
                    <a:pt x="3430778" y="1691005"/>
                  </a:lnTo>
                  <a:lnTo>
                    <a:pt x="3422269" y="1691005"/>
                  </a:lnTo>
                  <a:lnTo>
                    <a:pt x="3430778" y="1691005"/>
                  </a:lnTo>
                  <a:cubicBezTo>
                    <a:pt x="3430778" y="1776476"/>
                    <a:pt x="3361182" y="1845818"/>
                    <a:pt x="3275330" y="1845818"/>
                  </a:cubicBezTo>
                  <a:lnTo>
                    <a:pt x="3275330" y="1837309"/>
                  </a:lnTo>
                  <a:lnTo>
                    <a:pt x="3275330" y="1845818"/>
                  </a:lnTo>
                  <a:lnTo>
                    <a:pt x="155448" y="1845818"/>
                  </a:lnTo>
                  <a:lnTo>
                    <a:pt x="155448" y="1837309"/>
                  </a:lnTo>
                  <a:lnTo>
                    <a:pt x="155448" y="1845818"/>
                  </a:lnTo>
                  <a:cubicBezTo>
                    <a:pt x="69596" y="1845691"/>
                    <a:pt x="0" y="1776476"/>
                    <a:pt x="0" y="1691005"/>
                  </a:cubicBezTo>
                  <a:lnTo>
                    <a:pt x="0" y="154813"/>
                  </a:lnTo>
                  <a:lnTo>
                    <a:pt x="8509" y="154813"/>
                  </a:lnTo>
                  <a:lnTo>
                    <a:pt x="0" y="154813"/>
                  </a:lnTo>
                  <a:moveTo>
                    <a:pt x="16891" y="154813"/>
                  </a:moveTo>
                  <a:lnTo>
                    <a:pt x="16891" y="1691005"/>
                  </a:lnTo>
                  <a:lnTo>
                    <a:pt x="8509" y="1691005"/>
                  </a:lnTo>
                  <a:lnTo>
                    <a:pt x="17018" y="1691005"/>
                  </a:lnTo>
                  <a:cubicBezTo>
                    <a:pt x="17018" y="1767078"/>
                    <a:pt x="78994" y="1828800"/>
                    <a:pt x="155448" y="1828800"/>
                  </a:cubicBezTo>
                  <a:lnTo>
                    <a:pt x="3275330" y="1828800"/>
                  </a:lnTo>
                  <a:cubicBezTo>
                    <a:pt x="3351784" y="1828800"/>
                    <a:pt x="3413760" y="1767078"/>
                    <a:pt x="3413760" y="1691005"/>
                  </a:cubicBezTo>
                  <a:lnTo>
                    <a:pt x="3413760" y="154813"/>
                  </a:lnTo>
                  <a:cubicBezTo>
                    <a:pt x="3413760" y="78740"/>
                    <a:pt x="3351784" y="17018"/>
                    <a:pt x="3275330" y="17018"/>
                  </a:cubicBezTo>
                  <a:lnTo>
                    <a:pt x="155448" y="17018"/>
                  </a:lnTo>
                  <a:lnTo>
                    <a:pt x="155448" y="8509"/>
                  </a:lnTo>
                  <a:lnTo>
                    <a:pt x="155448" y="17018"/>
                  </a:lnTo>
                  <a:cubicBezTo>
                    <a:pt x="78994" y="17018"/>
                    <a:pt x="17018" y="78740"/>
                    <a:pt x="17018" y="154813"/>
                  </a:cubicBezTo>
                  <a:close/>
                </a:path>
              </a:pathLst>
            </a:custGeom>
            <a:solidFill>
              <a:srgbClr val="1E3352"/>
            </a:solidFill>
          </p:spPr>
        </p:sp>
      </p:grpSp>
      <p:grpSp>
        <p:nvGrpSpPr>
          <p:cNvPr name="Group 98" id="98"/>
          <p:cNvGrpSpPr/>
          <p:nvPr/>
        </p:nvGrpSpPr>
        <p:grpSpPr>
          <a:xfrm rot="0">
            <a:off x="9658598" y="8485632"/>
            <a:ext cx="2560320" cy="1371600"/>
            <a:chOff x="0" y="0"/>
            <a:chExt cx="3413760" cy="1828800"/>
          </a:xfrm>
        </p:grpSpPr>
        <p:sp>
          <p:nvSpPr>
            <p:cNvPr name="Freeform 99" id="99"/>
            <p:cNvSpPr/>
            <p:nvPr/>
          </p:nvSpPr>
          <p:spPr>
            <a:xfrm flipH="false" flipV="false" rot="0">
              <a:off x="0" y="0"/>
              <a:ext cx="3413760" cy="1828800"/>
            </a:xfrm>
            <a:custGeom>
              <a:avLst/>
              <a:gdLst/>
              <a:ahLst/>
              <a:cxnLst/>
              <a:rect r="r" b="b" t="t" l="l"/>
              <a:pathLst>
                <a:path h="1828800" w="3413760">
                  <a:moveTo>
                    <a:pt x="0" y="0"/>
                  </a:moveTo>
                  <a:lnTo>
                    <a:pt x="3413760" y="0"/>
                  </a:lnTo>
                  <a:lnTo>
                    <a:pt x="3413760" y="1828800"/>
                  </a:lnTo>
                  <a:lnTo>
                    <a:pt x="0" y="1828800"/>
                  </a:lnTo>
                  <a:close/>
                </a:path>
              </a:pathLst>
            </a:custGeom>
            <a:blipFill>
              <a:blip r:embed="rId3">
                <a:alphaModFix amt="0"/>
              </a:blip>
              <a:stretch>
                <a:fillRect l="-18734" t="0" r="-18734" b="0"/>
              </a:stretch>
            </a:blipFill>
          </p:spPr>
        </p:sp>
        <p:sp>
          <p:nvSpPr>
            <p:cNvPr name="TextBox 100" id="100"/>
            <p:cNvSpPr txBox="true"/>
            <p:nvPr/>
          </p:nvSpPr>
          <p:spPr>
            <a:xfrm>
              <a:off x="0" y="-38100"/>
              <a:ext cx="3413760" cy="1866900"/>
            </a:xfrm>
            <a:prstGeom prst="rect">
              <a:avLst/>
            </a:prstGeom>
          </p:spPr>
          <p:txBody>
            <a:bodyPr anchor="ctr" rtlCol="false" tIns="0" lIns="0" bIns="0" rIns="0"/>
            <a:lstStyle/>
            <a:p>
              <a:pPr algn="ctr">
                <a:lnSpc>
                  <a:spcPts val="2400"/>
                </a:lnSpc>
              </a:pPr>
              <a:r>
                <a:rPr lang="en-US" sz="2000" b="true">
                  <a:solidFill>
                    <a:srgbClr val="1A8FFF"/>
                  </a:solidFill>
                  <a:latin typeface="Calibri (MS) Bold"/>
                  <a:ea typeface="Calibri (MS) Bold"/>
                  <a:cs typeface="Calibri (MS) Bold"/>
                  <a:sym typeface="Calibri (MS) Bold"/>
                </a:rPr>
                <a:t>F1-Score</a:t>
              </a:r>
            </a:p>
          </p:txBody>
        </p:sp>
      </p:grpSp>
      <p:grpSp>
        <p:nvGrpSpPr>
          <p:cNvPr name="Group 101" id="101"/>
          <p:cNvGrpSpPr/>
          <p:nvPr/>
        </p:nvGrpSpPr>
        <p:grpSpPr>
          <a:xfrm rot="0">
            <a:off x="12432020" y="8479279"/>
            <a:ext cx="2573017" cy="1384297"/>
            <a:chOff x="0" y="0"/>
            <a:chExt cx="3430689" cy="1845729"/>
          </a:xfrm>
        </p:grpSpPr>
        <p:sp>
          <p:nvSpPr>
            <p:cNvPr name="Freeform 102" id="102"/>
            <p:cNvSpPr/>
            <p:nvPr/>
          </p:nvSpPr>
          <p:spPr>
            <a:xfrm flipH="false" flipV="false" rot="0">
              <a:off x="8509" y="8509"/>
              <a:ext cx="3413760" cy="1828800"/>
            </a:xfrm>
            <a:custGeom>
              <a:avLst/>
              <a:gdLst/>
              <a:ahLst/>
              <a:cxnLst/>
              <a:rect r="r" b="b" t="t" l="l"/>
              <a:pathLst>
                <a:path h="1828800" w="3413760">
                  <a:moveTo>
                    <a:pt x="0" y="146304"/>
                  </a:moveTo>
                  <a:cubicBezTo>
                    <a:pt x="0" y="65405"/>
                    <a:pt x="65786" y="0"/>
                    <a:pt x="146939" y="0"/>
                  </a:cubicBezTo>
                  <a:lnTo>
                    <a:pt x="3266821" y="0"/>
                  </a:lnTo>
                  <a:cubicBezTo>
                    <a:pt x="3347974" y="0"/>
                    <a:pt x="3413760" y="65532"/>
                    <a:pt x="3413760" y="146304"/>
                  </a:cubicBezTo>
                  <a:lnTo>
                    <a:pt x="3413760" y="1682496"/>
                  </a:lnTo>
                  <a:cubicBezTo>
                    <a:pt x="3413760" y="1763268"/>
                    <a:pt x="3347974" y="1828800"/>
                    <a:pt x="3266821" y="1828800"/>
                  </a:cubicBezTo>
                  <a:lnTo>
                    <a:pt x="146939" y="1828800"/>
                  </a:lnTo>
                  <a:cubicBezTo>
                    <a:pt x="65786" y="1828800"/>
                    <a:pt x="0" y="1763268"/>
                    <a:pt x="0" y="1682496"/>
                  </a:cubicBezTo>
                  <a:close/>
                </a:path>
              </a:pathLst>
            </a:custGeom>
            <a:solidFill>
              <a:srgbClr val="122540"/>
            </a:solidFill>
          </p:spPr>
        </p:sp>
        <p:sp>
          <p:nvSpPr>
            <p:cNvPr name="Freeform 103" id="103"/>
            <p:cNvSpPr/>
            <p:nvPr/>
          </p:nvSpPr>
          <p:spPr>
            <a:xfrm flipH="false" flipV="false" rot="0">
              <a:off x="0" y="0"/>
              <a:ext cx="3430778" cy="1845818"/>
            </a:xfrm>
            <a:custGeom>
              <a:avLst/>
              <a:gdLst/>
              <a:ahLst/>
              <a:cxnLst/>
              <a:rect r="r" b="b" t="t" l="l"/>
              <a:pathLst>
                <a:path h="1845818" w="3430778">
                  <a:moveTo>
                    <a:pt x="0" y="154813"/>
                  </a:moveTo>
                  <a:cubicBezTo>
                    <a:pt x="0" y="69215"/>
                    <a:pt x="69596" y="0"/>
                    <a:pt x="155448" y="0"/>
                  </a:cubicBezTo>
                  <a:lnTo>
                    <a:pt x="3275330" y="0"/>
                  </a:lnTo>
                  <a:lnTo>
                    <a:pt x="3275330" y="8509"/>
                  </a:lnTo>
                  <a:lnTo>
                    <a:pt x="3275330" y="0"/>
                  </a:lnTo>
                  <a:cubicBezTo>
                    <a:pt x="3361182" y="0"/>
                    <a:pt x="3430778" y="69215"/>
                    <a:pt x="3430778" y="154813"/>
                  </a:cubicBezTo>
                  <a:lnTo>
                    <a:pt x="3422269" y="154813"/>
                  </a:lnTo>
                  <a:lnTo>
                    <a:pt x="3430778" y="154813"/>
                  </a:lnTo>
                  <a:lnTo>
                    <a:pt x="3430778" y="1691005"/>
                  </a:lnTo>
                  <a:lnTo>
                    <a:pt x="3422269" y="1691005"/>
                  </a:lnTo>
                  <a:lnTo>
                    <a:pt x="3430778" y="1691005"/>
                  </a:lnTo>
                  <a:cubicBezTo>
                    <a:pt x="3430778" y="1776476"/>
                    <a:pt x="3361182" y="1845818"/>
                    <a:pt x="3275330" y="1845818"/>
                  </a:cubicBezTo>
                  <a:lnTo>
                    <a:pt x="3275330" y="1837309"/>
                  </a:lnTo>
                  <a:lnTo>
                    <a:pt x="3275330" y="1845818"/>
                  </a:lnTo>
                  <a:lnTo>
                    <a:pt x="155448" y="1845818"/>
                  </a:lnTo>
                  <a:lnTo>
                    <a:pt x="155448" y="1837309"/>
                  </a:lnTo>
                  <a:lnTo>
                    <a:pt x="155448" y="1845818"/>
                  </a:lnTo>
                  <a:cubicBezTo>
                    <a:pt x="69596" y="1845691"/>
                    <a:pt x="0" y="1776476"/>
                    <a:pt x="0" y="1691005"/>
                  </a:cubicBezTo>
                  <a:lnTo>
                    <a:pt x="0" y="154813"/>
                  </a:lnTo>
                  <a:lnTo>
                    <a:pt x="8509" y="154813"/>
                  </a:lnTo>
                  <a:lnTo>
                    <a:pt x="0" y="154813"/>
                  </a:lnTo>
                  <a:moveTo>
                    <a:pt x="16891" y="154813"/>
                  </a:moveTo>
                  <a:lnTo>
                    <a:pt x="16891" y="1691005"/>
                  </a:lnTo>
                  <a:lnTo>
                    <a:pt x="8509" y="1691005"/>
                  </a:lnTo>
                  <a:lnTo>
                    <a:pt x="17018" y="1691005"/>
                  </a:lnTo>
                  <a:cubicBezTo>
                    <a:pt x="17018" y="1767078"/>
                    <a:pt x="78994" y="1828800"/>
                    <a:pt x="155448" y="1828800"/>
                  </a:cubicBezTo>
                  <a:lnTo>
                    <a:pt x="3275330" y="1828800"/>
                  </a:lnTo>
                  <a:cubicBezTo>
                    <a:pt x="3351784" y="1828800"/>
                    <a:pt x="3413760" y="1767078"/>
                    <a:pt x="3413760" y="1691005"/>
                  </a:cubicBezTo>
                  <a:lnTo>
                    <a:pt x="3413760" y="154813"/>
                  </a:lnTo>
                  <a:cubicBezTo>
                    <a:pt x="3413760" y="78740"/>
                    <a:pt x="3351784" y="17018"/>
                    <a:pt x="3275330" y="17018"/>
                  </a:cubicBezTo>
                  <a:lnTo>
                    <a:pt x="155448" y="17018"/>
                  </a:lnTo>
                  <a:lnTo>
                    <a:pt x="155448" y="8509"/>
                  </a:lnTo>
                  <a:lnTo>
                    <a:pt x="155448" y="17018"/>
                  </a:lnTo>
                  <a:cubicBezTo>
                    <a:pt x="78994" y="17018"/>
                    <a:pt x="17018" y="78740"/>
                    <a:pt x="17018" y="154813"/>
                  </a:cubicBezTo>
                  <a:close/>
                </a:path>
              </a:pathLst>
            </a:custGeom>
            <a:solidFill>
              <a:srgbClr val="1E3352"/>
            </a:solidFill>
          </p:spPr>
        </p:sp>
      </p:grpSp>
      <p:grpSp>
        <p:nvGrpSpPr>
          <p:cNvPr name="Group 104" id="104"/>
          <p:cNvGrpSpPr/>
          <p:nvPr/>
        </p:nvGrpSpPr>
        <p:grpSpPr>
          <a:xfrm rot="0">
            <a:off x="12438374" y="8485632"/>
            <a:ext cx="2560320" cy="1371600"/>
            <a:chOff x="0" y="0"/>
            <a:chExt cx="3413760" cy="1828800"/>
          </a:xfrm>
        </p:grpSpPr>
        <p:sp>
          <p:nvSpPr>
            <p:cNvPr name="Freeform 105" id="105"/>
            <p:cNvSpPr/>
            <p:nvPr/>
          </p:nvSpPr>
          <p:spPr>
            <a:xfrm flipH="false" flipV="false" rot="0">
              <a:off x="0" y="0"/>
              <a:ext cx="3413760" cy="1828800"/>
            </a:xfrm>
            <a:custGeom>
              <a:avLst/>
              <a:gdLst/>
              <a:ahLst/>
              <a:cxnLst/>
              <a:rect r="r" b="b" t="t" l="l"/>
              <a:pathLst>
                <a:path h="1828800" w="3413760">
                  <a:moveTo>
                    <a:pt x="0" y="0"/>
                  </a:moveTo>
                  <a:lnTo>
                    <a:pt x="3413760" y="0"/>
                  </a:lnTo>
                  <a:lnTo>
                    <a:pt x="3413760" y="1828800"/>
                  </a:lnTo>
                  <a:lnTo>
                    <a:pt x="0" y="1828800"/>
                  </a:lnTo>
                  <a:close/>
                </a:path>
              </a:pathLst>
            </a:custGeom>
            <a:blipFill>
              <a:blip r:embed="rId3">
                <a:alphaModFix amt="0"/>
              </a:blip>
              <a:stretch>
                <a:fillRect l="-18734" t="0" r="-18734" b="0"/>
              </a:stretch>
            </a:blipFill>
          </p:spPr>
        </p:sp>
        <p:sp>
          <p:nvSpPr>
            <p:cNvPr name="TextBox 106" id="106"/>
            <p:cNvSpPr txBox="true"/>
            <p:nvPr/>
          </p:nvSpPr>
          <p:spPr>
            <a:xfrm>
              <a:off x="0" y="-38100"/>
              <a:ext cx="3413760" cy="1866900"/>
            </a:xfrm>
            <a:prstGeom prst="rect">
              <a:avLst/>
            </a:prstGeom>
          </p:spPr>
          <p:txBody>
            <a:bodyPr anchor="ctr" rtlCol="false" tIns="0" lIns="0" bIns="0" rIns="0"/>
            <a:lstStyle/>
            <a:p>
              <a:pPr algn="ctr">
                <a:lnSpc>
                  <a:spcPts val="2400"/>
                </a:lnSpc>
              </a:pPr>
              <a:r>
                <a:rPr lang="en-US" sz="2000" b="true">
                  <a:solidFill>
                    <a:srgbClr val="1A8FFF"/>
                  </a:solidFill>
                  <a:latin typeface="Calibri (MS) Bold"/>
                  <a:ea typeface="Calibri (MS) Bold"/>
                  <a:cs typeface="Calibri (MS) Bold"/>
                  <a:sym typeface="Calibri (MS) Bold"/>
                </a:rPr>
                <a:t>AUC-ROC</a:t>
              </a:r>
            </a:p>
          </p:txBody>
        </p:sp>
      </p:grpSp>
      <p:grpSp>
        <p:nvGrpSpPr>
          <p:cNvPr name="Group 107" id="107"/>
          <p:cNvGrpSpPr/>
          <p:nvPr/>
        </p:nvGrpSpPr>
        <p:grpSpPr>
          <a:xfrm rot="0">
            <a:off x="15211796" y="8479279"/>
            <a:ext cx="2573017" cy="1384297"/>
            <a:chOff x="0" y="0"/>
            <a:chExt cx="3430689" cy="1845729"/>
          </a:xfrm>
        </p:grpSpPr>
        <p:sp>
          <p:nvSpPr>
            <p:cNvPr name="Freeform 108" id="108"/>
            <p:cNvSpPr/>
            <p:nvPr/>
          </p:nvSpPr>
          <p:spPr>
            <a:xfrm flipH="false" flipV="false" rot="0">
              <a:off x="8509" y="8509"/>
              <a:ext cx="3413760" cy="1828800"/>
            </a:xfrm>
            <a:custGeom>
              <a:avLst/>
              <a:gdLst/>
              <a:ahLst/>
              <a:cxnLst/>
              <a:rect r="r" b="b" t="t" l="l"/>
              <a:pathLst>
                <a:path h="1828800" w="3413760">
                  <a:moveTo>
                    <a:pt x="0" y="146304"/>
                  </a:moveTo>
                  <a:cubicBezTo>
                    <a:pt x="0" y="65405"/>
                    <a:pt x="65786" y="0"/>
                    <a:pt x="146939" y="0"/>
                  </a:cubicBezTo>
                  <a:lnTo>
                    <a:pt x="3266821" y="0"/>
                  </a:lnTo>
                  <a:cubicBezTo>
                    <a:pt x="3347974" y="0"/>
                    <a:pt x="3413760" y="65532"/>
                    <a:pt x="3413760" y="146304"/>
                  </a:cubicBezTo>
                  <a:lnTo>
                    <a:pt x="3413760" y="1682496"/>
                  </a:lnTo>
                  <a:cubicBezTo>
                    <a:pt x="3413760" y="1763268"/>
                    <a:pt x="3347974" y="1828800"/>
                    <a:pt x="3266821" y="1828800"/>
                  </a:cubicBezTo>
                  <a:lnTo>
                    <a:pt x="146939" y="1828800"/>
                  </a:lnTo>
                  <a:cubicBezTo>
                    <a:pt x="65786" y="1828800"/>
                    <a:pt x="0" y="1763268"/>
                    <a:pt x="0" y="1682496"/>
                  </a:cubicBezTo>
                  <a:close/>
                </a:path>
              </a:pathLst>
            </a:custGeom>
            <a:solidFill>
              <a:srgbClr val="122540"/>
            </a:solidFill>
          </p:spPr>
        </p:sp>
        <p:sp>
          <p:nvSpPr>
            <p:cNvPr name="Freeform 109" id="109"/>
            <p:cNvSpPr/>
            <p:nvPr/>
          </p:nvSpPr>
          <p:spPr>
            <a:xfrm flipH="false" flipV="false" rot="0">
              <a:off x="0" y="0"/>
              <a:ext cx="3430778" cy="1845818"/>
            </a:xfrm>
            <a:custGeom>
              <a:avLst/>
              <a:gdLst/>
              <a:ahLst/>
              <a:cxnLst/>
              <a:rect r="r" b="b" t="t" l="l"/>
              <a:pathLst>
                <a:path h="1845818" w="3430778">
                  <a:moveTo>
                    <a:pt x="0" y="154813"/>
                  </a:moveTo>
                  <a:cubicBezTo>
                    <a:pt x="0" y="69215"/>
                    <a:pt x="69596" y="0"/>
                    <a:pt x="155448" y="0"/>
                  </a:cubicBezTo>
                  <a:lnTo>
                    <a:pt x="3275330" y="0"/>
                  </a:lnTo>
                  <a:lnTo>
                    <a:pt x="3275330" y="8509"/>
                  </a:lnTo>
                  <a:lnTo>
                    <a:pt x="3275330" y="0"/>
                  </a:lnTo>
                  <a:cubicBezTo>
                    <a:pt x="3361182" y="0"/>
                    <a:pt x="3430778" y="69215"/>
                    <a:pt x="3430778" y="154813"/>
                  </a:cubicBezTo>
                  <a:lnTo>
                    <a:pt x="3422269" y="154813"/>
                  </a:lnTo>
                  <a:lnTo>
                    <a:pt x="3430778" y="154813"/>
                  </a:lnTo>
                  <a:lnTo>
                    <a:pt x="3430778" y="1691005"/>
                  </a:lnTo>
                  <a:lnTo>
                    <a:pt x="3422269" y="1691005"/>
                  </a:lnTo>
                  <a:lnTo>
                    <a:pt x="3430778" y="1691005"/>
                  </a:lnTo>
                  <a:cubicBezTo>
                    <a:pt x="3430778" y="1776476"/>
                    <a:pt x="3361182" y="1845818"/>
                    <a:pt x="3275330" y="1845818"/>
                  </a:cubicBezTo>
                  <a:lnTo>
                    <a:pt x="3275330" y="1837309"/>
                  </a:lnTo>
                  <a:lnTo>
                    <a:pt x="3275330" y="1845818"/>
                  </a:lnTo>
                  <a:lnTo>
                    <a:pt x="155448" y="1845818"/>
                  </a:lnTo>
                  <a:lnTo>
                    <a:pt x="155448" y="1837309"/>
                  </a:lnTo>
                  <a:lnTo>
                    <a:pt x="155448" y="1845818"/>
                  </a:lnTo>
                  <a:cubicBezTo>
                    <a:pt x="69596" y="1845691"/>
                    <a:pt x="0" y="1776476"/>
                    <a:pt x="0" y="1691005"/>
                  </a:cubicBezTo>
                  <a:lnTo>
                    <a:pt x="0" y="154813"/>
                  </a:lnTo>
                  <a:lnTo>
                    <a:pt x="8509" y="154813"/>
                  </a:lnTo>
                  <a:lnTo>
                    <a:pt x="0" y="154813"/>
                  </a:lnTo>
                  <a:moveTo>
                    <a:pt x="16891" y="154813"/>
                  </a:moveTo>
                  <a:lnTo>
                    <a:pt x="16891" y="1691005"/>
                  </a:lnTo>
                  <a:lnTo>
                    <a:pt x="8509" y="1691005"/>
                  </a:lnTo>
                  <a:lnTo>
                    <a:pt x="17018" y="1691005"/>
                  </a:lnTo>
                  <a:cubicBezTo>
                    <a:pt x="17018" y="1767078"/>
                    <a:pt x="78994" y="1828800"/>
                    <a:pt x="155448" y="1828800"/>
                  </a:cubicBezTo>
                  <a:lnTo>
                    <a:pt x="3275330" y="1828800"/>
                  </a:lnTo>
                  <a:cubicBezTo>
                    <a:pt x="3351784" y="1828800"/>
                    <a:pt x="3413760" y="1767078"/>
                    <a:pt x="3413760" y="1691005"/>
                  </a:cubicBezTo>
                  <a:lnTo>
                    <a:pt x="3413760" y="154813"/>
                  </a:lnTo>
                  <a:cubicBezTo>
                    <a:pt x="3413760" y="78740"/>
                    <a:pt x="3351784" y="17018"/>
                    <a:pt x="3275330" y="17018"/>
                  </a:cubicBezTo>
                  <a:lnTo>
                    <a:pt x="155448" y="17018"/>
                  </a:lnTo>
                  <a:lnTo>
                    <a:pt x="155448" y="8509"/>
                  </a:lnTo>
                  <a:lnTo>
                    <a:pt x="155448" y="17018"/>
                  </a:lnTo>
                  <a:cubicBezTo>
                    <a:pt x="78994" y="17018"/>
                    <a:pt x="17018" y="78740"/>
                    <a:pt x="17018" y="154813"/>
                  </a:cubicBezTo>
                  <a:close/>
                </a:path>
              </a:pathLst>
            </a:custGeom>
            <a:solidFill>
              <a:srgbClr val="1E3352"/>
            </a:solidFill>
          </p:spPr>
        </p:sp>
      </p:grpSp>
      <p:grpSp>
        <p:nvGrpSpPr>
          <p:cNvPr name="Group 110" id="110"/>
          <p:cNvGrpSpPr/>
          <p:nvPr/>
        </p:nvGrpSpPr>
        <p:grpSpPr>
          <a:xfrm rot="0">
            <a:off x="15218150" y="8485632"/>
            <a:ext cx="2560320" cy="1371600"/>
            <a:chOff x="0" y="0"/>
            <a:chExt cx="3413760" cy="1828800"/>
          </a:xfrm>
        </p:grpSpPr>
        <p:sp>
          <p:nvSpPr>
            <p:cNvPr name="Freeform 111" id="111"/>
            <p:cNvSpPr/>
            <p:nvPr/>
          </p:nvSpPr>
          <p:spPr>
            <a:xfrm flipH="false" flipV="false" rot="0">
              <a:off x="0" y="0"/>
              <a:ext cx="3413760" cy="1828800"/>
            </a:xfrm>
            <a:custGeom>
              <a:avLst/>
              <a:gdLst/>
              <a:ahLst/>
              <a:cxnLst/>
              <a:rect r="r" b="b" t="t" l="l"/>
              <a:pathLst>
                <a:path h="1828800" w="3413760">
                  <a:moveTo>
                    <a:pt x="0" y="0"/>
                  </a:moveTo>
                  <a:lnTo>
                    <a:pt x="3413760" y="0"/>
                  </a:lnTo>
                  <a:lnTo>
                    <a:pt x="3413760" y="1828800"/>
                  </a:lnTo>
                  <a:lnTo>
                    <a:pt x="0" y="1828800"/>
                  </a:lnTo>
                  <a:close/>
                </a:path>
              </a:pathLst>
            </a:custGeom>
            <a:blipFill>
              <a:blip r:embed="rId3">
                <a:alphaModFix amt="0"/>
              </a:blip>
              <a:stretch>
                <a:fillRect l="-18734" t="0" r="-18734" b="0"/>
              </a:stretch>
            </a:blipFill>
          </p:spPr>
        </p:sp>
        <p:sp>
          <p:nvSpPr>
            <p:cNvPr name="TextBox 112" id="112"/>
            <p:cNvSpPr txBox="true"/>
            <p:nvPr/>
          </p:nvSpPr>
          <p:spPr>
            <a:xfrm>
              <a:off x="0" y="-38100"/>
              <a:ext cx="3413760" cy="1866900"/>
            </a:xfrm>
            <a:prstGeom prst="rect">
              <a:avLst/>
            </a:prstGeom>
          </p:spPr>
          <p:txBody>
            <a:bodyPr anchor="ctr" rtlCol="false" tIns="0" lIns="0" bIns="0" rIns="0"/>
            <a:lstStyle/>
            <a:p>
              <a:pPr algn="ctr">
                <a:lnSpc>
                  <a:spcPts val="2400"/>
                </a:lnSpc>
              </a:pPr>
              <a:r>
                <a:rPr lang="en-US" sz="2000" b="true">
                  <a:solidFill>
                    <a:srgbClr val="1A8FFF"/>
                  </a:solidFill>
                  <a:latin typeface="Calibri (MS) Bold"/>
                  <a:ea typeface="Calibri (MS) Bold"/>
                  <a:cs typeface="Calibri (MS) Bold"/>
                  <a:sym typeface="Calibri (MS) Bold"/>
                </a:rPr>
                <a:t>Matrice de confusion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04237" y="392173"/>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914400" y="402336"/>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04 — RÉSULTATS</a:t>
              </a:r>
            </a:p>
          </p:txBody>
        </p:sp>
      </p:grpSp>
      <p:grpSp>
        <p:nvGrpSpPr>
          <p:cNvPr name="Group 8" id="8"/>
          <p:cNvGrpSpPr/>
          <p:nvPr/>
        </p:nvGrpSpPr>
        <p:grpSpPr>
          <a:xfrm rot="0">
            <a:off x="914395" y="987552"/>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Comparaison des Modèles de Classification</a:t>
              </a:r>
            </a:p>
          </p:txBody>
        </p:sp>
      </p:grpSp>
      <p:grpSp>
        <p:nvGrpSpPr>
          <p:cNvPr name="Group 11" id="11"/>
          <p:cNvGrpSpPr/>
          <p:nvPr/>
        </p:nvGrpSpPr>
        <p:grpSpPr>
          <a:xfrm rot="0">
            <a:off x="901698" y="7869431"/>
            <a:ext cx="16484603" cy="2256539"/>
            <a:chOff x="0" y="0"/>
            <a:chExt cx="21979471" cy="3008719"/>
          </a:xfrm>
        </p:grpSpPr>
        <p:sp>
          <p:nvSpPr>
            <p:cNvPr name="Freeform 12" id="12"/>
            <p:cNvSpPr/>
            <p:nvPr/>
          </p:nvSpPr>
          <p:spPr>
            <a:xfrm flipH="false" flipV="false" rot="0">
              <a:off x="16891" y="16891"/>
              <a:ext cx="21945599" cy="2974848"/>
            </a:xfrm>
            <a:custGeom>
              <a:avLst/>
              <a:gdLst/>
              <a:ahLst/>
              <a:cxnLst/>
              <a:rect r="r" b="b" t="t" l="l"/>
              <a:pathLst>
                <a:path h="2974848" w="21945599">
                  <a:moveTo>
                    <a:pt x="0" y="243840"/>
                  </a:moveTo>
                  <a:cubicBezTo>
                    <a:pt x="0" y="109220"/>
                    <a:pt x="110236" y="0"/>
                    <a:pt x="246253" y="0"/>
                  </a:cubicBezTo>
                  <a:lnTo>
                    <a:pt x="21699346" y="0"/>
                  </a:lnTo>
                  <a:cubicBezTo>
                    <a:pt x="21835363" y="0"/>
                    <a:pt x="21945599" y="109220"/>
                    <a:pt x="21945599" y="243840"/>
                  </a:cubicBezTo>
                  <a:lnTo>
                    <a:pt x="21945599" y="2731008"/>
                  </a:lnTo>
                  <a:cubicBezTo>
                    <a:pt x="21945599" y="2865628"/>
                    <a:pt x="21835363" y="2974848"/>
                    <a:pt x="21699346" y="2974848"/>
                  </a:cubicBezTo>
                  <a:lnTo>
                    <a:pt x="246253" y="2974848"/>
                  </a:lnTo>
                  <a:cubicBezTo>
                    <a:pt x="110236" y="2974848"/>
                    <a:pt x="0" y="2865628"/>
                    <a:pt x="0" y="2731008"/>
                  </a:cubicBezTo>
                  <a:close/>
                </a:path>
              </a:pathLst>
            </a:custGeom>
            <a:solidFill>
              <a:srgbClr val="0A2518"/>
            </a:solidFill>
          </p:spPr>
        </p:sp>
        <p:sp>
          <p:nvSpPr>
            <p:cNvPr name="Freeform 13" id="13"/>
            <p:cNvSpPr/>
            <p:nvPr/>
          </p:nvSpPr>
          <p:spPr>
            <a:xfrm flipH="false" flipV="false" rot="0">
              <a:off x="0" y="0"/>
              <a:ext cx="21979381" cy="3008630"/>
            </a:xfrm>
            <a:custGeom>
              <a:avLst/>
              <a:gdLst/>
              <a:ahLst/>
              <a:cxnLst/>
              <a:rect r="r" b="b" t="t" l="l"/>
              <a:pathLst>
                <a:path h="3008630" w="21979381">
                  <a:moveTo>
                    <a:pt x="0" y="260731"/>
                  </a:moveTo>
                  <a:cubicBezTo>
                    <a:pt x="0" y="116586"/>
                    <a:pt x="117983" y="0"/>
                    <a:pt x="263144" y="0"/>
                  </a:cubicBezTo>
                  <a:lnTo>
                    <a:pt x="21716237" y="0"/>
                  </a:lnTo>
                  <a:lnTo>
                    <a:pt x="21716237" y="16891"/>
                  </a:lnTo>
                  <a:lnTo>
                    <a:pt x="21716237" y="0"/>
                  </a:lnTo>
                  <a:cubicBezTo>
                    <a:pt x="21861399" y="0"/>
                    <a:pt x="21979381" y="116586"/>
                    <a:pt x="21979381" y="260731"/>
                  </a:cubicBezTo>
                  <a:lnTo>
                    <a:pt x="21962490" y="260731"/>
                  </a:lnTo>
                  <a:lnTo>
                    <a:pt x="21979381" y="260731"/>
                  </a:lnTo>
                  <a:lnTo>
                    <a:pt x="21979381" y="2747899"/>
                  </a:lnTo>
                  <a:lnTo>
                    <a:pt x="21962490" y="2747899"/>
                  </a:lnTo>
                  <a:lnTo>
                    <a:pt x="21979381" y="2747899"/>
                  </a:lnTo>
                  <a:cubicBezTo>
                    <a:pt x="21979381" y="2892044"/>
                    <a:pt x="21861399" y="3008630"/>
                    <a:pt x="21716237" y="3008630"/>
                  </a:cubicBezTo>
                  <a:lnTo>
                    <a:pt x="21716237" y="2991739"/>
                  </a:lnTo>
                  <a:lnTo>
                    <a:pt x="21716237" y="3008630"/>
                  </a:lnTo>
                  <a:lnTo>
                    <a:pt x="263144" y="3008630"/>
                  </a:lnTo>
                  <a:lnTo>
                    <a:pt x="263144" y="2991739"/>
                  </a:lnTo>
                  <a:lnTo>
                    <a:pt x="263144" y="3008630"/>
                  </a:lnTo>
                  <a:cubicBezTo>
                    <a:pt x="117983" y="3008757"/>
                    <a:pt x="0" y="2892171"/>
                    <a:pt x="0" y="2747899"/>
                  </a:cubicBezTo>
                  <a:lnTo>
                    <a:pt x="0" y="260731"/>
                  </a:lnTo>
                  <a:lnTo>
                    <a:pt x="16891" y="260731"/>
                  </a:lnTo>
                  <a:lnTo>
                    <a:pt x="0" y="260731"/>
                  </a:lnTo>
                  <a:moveTo>
                    <a:pt x="33909" y="260731"/>
                  </a:moveTo>
                  <a:lnTo>
                    <a:pt x="33909" y="2747899"/>
                  </a:lnTo>
                  <a:lnTo>
                    <a:pt x="16891" y="2747899"/>
                  </a:lnTo>
                  <a:lnTo>
                    <a:pt x="33909" y="2747899"/>
                  </a:lnTo>
                  <a:cubicBezTo>
                    <a:pt x="33909" y="2873121"/>
                    <a:pt x="136398" y="2974848"/>
                    <a:pt x="263271" y="2974848"/>
                  </a:cubicBezTo>
                  <a:lnTo>
                    <a:pt x="21716237" y="2974848"/>
                  </a:lnTo>
                  <a:cubicBezTo>
                    <a:pt x="21842983" y="2974848"/>
                    <a:pt x="21945600" y="2873121"/>
                    <a:pt x="21945600" y="2747899"/>
                  </a:cubicBezTo>
                  <a:lnTo>
                    <a:pt x="21945600" y="260731"/>
                  </a:lnTo>
                  <a:cubicBezTo>
                    <a:pt x="21945600" y="135509"/>
                    <a:pt x="21843110" y="33782"/>
                    <a:pt x="21716237" y="33782"/>
                  </a:cubicBezTo>
                  <a:lnTo>
                    <a:pt x="263144" y="33782"/>
                  </a:lnTo>
                  <a:lnTo>
                    <a:pt x="263144" y="16891"/>
                  </a:lnTo>
                  <a:lnTo>
                    <a:pt x="263144" y="33909"/>
                  </a:lnTo>
                  <a:cubicBezTo>
                    <a:pt x="136398" y="33909"/>
                    <a:pt x="33782" y="135636"/>
                    <a:pt x="33782" y="260858"/>
                  </a:cubicBezTo>
                  <a:close/>
                </a:path>
              </a:pathLst>
            </a:custGeom>
            <a:solidFill>
              <a:srgbClr val="00E5A0"/>
            </a:solidFill>
          </p:spPr>
        </p:sp>
      </p:grpSp>
      <p:grpSp>
        <p:nvGrpSpPr>
          <p:cNvPr name="Group 14" id="14"/>
          <p:cNvGrpSpPr/>
          <p:nvPr/>
        </p:nvGrpSpPr>
        <p:grpSpPr>
          <a:xfrm rot="0">
            <a:off x="1280155" y="8010144"/>
            <a:ext cx="10972800" cy="822960"/>
            <a:chOff x="0" y="0"/>
            <a:chExt cx="14630400" cy="1097280"/>
          </a:xfrm>
        </p:grpSpPr>
        <p:sp>
          <p:nvSpPr>
            <p:cNvPr name="Freeform 15" id="15"/>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16" id="16"/>
            <p:cNvSpPr txBox="true"/>
            <p:nvPr/>
          </p:nvSpPr>
          <p:spPr>
            <a:xfrm>
              <a:off x="0" y="-57150"/>
              <a:ext cx="14630400" cy="1154430"/>
            </a:xfrm>
            <a:prstGeom prst="rect">
              <a:avLst/>
            </a:prstGeom>
          </p:spPr>
          <p:txBody>
            <a:bodyPr anchor="ctr" rtlCol="false" tIns="0" lIns="0" bIns="0" rIns="0"/>
            <a:lstStyle/>
            <a:p>
              <a:pPr algn="l">
                <a:lnSpc>
                  <a:spcPts val="3840"/>
                </a:lnSpc>
              </a:pPr>
              <a:r>
                <a:rPr lang="en-US" sz="3200" b="true">
                  <a:solidFill>
                    <a:srgbClr val="00E5A0"/>
                  </a:solidFill>
                  <a:latin typeface="Calibri (MS) Bold"/>
                  <a:ea typeface="Calibri (MS) Bold"/>
                  <a:cs typeface="Calibri (MS) Bold"/>
                  <a:sym typeface="Calibri (MS) Bold"/>
                </a:rPr>
                <a:t>---&gt;</a:t>
              </a:r>
              <a:r>
                <a:rPr lang="en-US" sz="3200" b="true">
                  <a:solidFill>
                    <a:srgbClr val="00E5A0"/>
                  </a:solidFill>
                  <a:latin typeface="Calibri (MS) Bold"/>
                  <a:ea typeface="Calibri (MS) Bold"/>
                  <a:cs typeface="Calibri (MS) Bold"/>
                  <a:sym typeface="Calibri (MS) Bold"/>
                </a:rPr>
                <a:t>  Meilleur modèle retenu : XGBoost</a:t>
              </a:r>
            </a:p>
          </p:txBody>
        </p:sp>
      </p:grpSp>
      <p:grpSp>
        <p:nvGrpSpPr>
          <p:cNvPr name="Group 17" id="17"/>
          <p:cNvGrpSpPr/>
          <p:nvPr/>
        </p:nvGrpSpPr>
        <p:grpSpPr>
          <a:xfrm rot="0">
            <a:off x="1280155" y="8851392"/>
            <a:ext cx="15544800" cy="640080"/>
            <a:chOff x="0" y="0"/>
            <a:chExt cx="20726400" cy="853440"/>
          </a:xfrm>
        </p:grpSpPr>
        <p:sp>
          <p:nvSpPr>
            <p:cNvPr name="Freeform 18" id="18"/>
            <p:cNvSpPr/>
            <p:nvPr/>
          </p:nvSpPr>
          <p:spPr>
            <a:xfrm flipH="false" flipV="false" rot="0">
              <a:off x="0" y="0"/>
              <a:ext cx="20726400" cy="853440"/>
            </a:xfrm>
            <a:custGeom>
              <a:avLst/>
              <a:gdLst/>
              <a:ahLst/>
              <a:cxnLst/>
              <a:rect r="r" b="b" t="t" l="l"/>
              <a:pathLst>
                <a:path h="853440" w="20726400">
                  <a:moveTo>
                    <a:pt x="0" y="0"/>
                  </a:moveTo>
                  <a:lnTo>
                    <a:pt x="20726400" y="0"/>
                  </a:lnTo>
                  <a:lnTo>
                    <a:pt x="20726400" y="853440"/>
                  </a:lnTo>
                  <a:lnTo>
                    <a:pt x="0" y="853440"/>
                  </a:lnTo>
                  <a:close/>
                </a:path>
              </a:pathLst>
            </a:custGeom>
            <a:blipFill>
              <a:blip r:embed="rId3">
                <a:alphaModFix amt="0"/>
              </a:blip>
              <a:stretch>
                <a:fillRect l="0" t="-423208" r="0" b="-423208"/>
              </a:stretch>
            </a:blipFill>
          </p:spPr>
        </p:sp>
        <p:sp>
          <p:nvSpPr>
            <p:cNvPr name="TextBox 19" id="19"/>
            <p:cNvSpPr txBox="true"/>
            <p:nvPr/>
          </p:nvSpPr>
          <p:spPr>
            <a:xfrm>
              <a:off x="0" y="-47625"/>
              <a:ext cx="20726400" cy="901065"/>
            </a:xfrm>
            <a:prstGeom prst="rect">
              <a:avLst/>
            </a:prstGeom>
          </p:spPr>
          <p:txBody>
            <a:bodyPr anchor="ctr" rtlCol="false" tIns="0" lIns="0" bIns="0" rIns="0"/>
            <a:lstStyle/>
            <a:p>
              <a:pPr algn="l">
                <a:lnSpc>
                  <a:spcPts val="2640"/>
                </a:lnSpc>
              </a:pPr>
              <a:r>
                <a:rPr lang="en-US" sz="2200">
                  <a:solidFill>
                    <a:srgbClr val="E2EDF5"/>
                  </a:solidFill>
                  <a:latin typeface="Calibri (MS)"/>
                  <a:ea typeface="Calibri (MS)"/>
                  <a:cs typeface="Calibri (MS)"/>
                  <a:sym typeface="Calibri (MS)"/>
                </a:rPr>
                <a:t>AUC-ROC = 0.945  ·  F1-Score = 0.838  ·  Accuracy = 88.8%</a:t>
              </a:r>
            </a:p>
          </p:txBody>
        </p:sp>
      </p:grpSp>
      <p:sp>
        <p:nvSpPr>
          <p:cNvPr name="Freeform 20" id="20"/>
          <p:cNvSpPr/>
          <p:nvPr/>
        </p:nvSpPr>
        <p:spPr>
          <a:xfrm flipH="false" flipV="false" rot="0">
            <a:off x="3144013" y="2267712"/>
            <a:ext cx="11999975" cy="5122793"/>
          </a:xfrm>
          <a:custGeom>
            <a:avLst/>
            <a:gdLst/>
            <a:ahLst/>
            <a:cxnLst/>
            <a:rect r="r" b="b" t="t" l="l"/>
            <a:pathLst>
              <a:path h="5122793" w="11999975">
                <a:moveTo>
                  <a:pt x="0" y="0"/>
                </a:moveTo>
                <a:lnTo>
                  <a:pt x="11999974" y="0"/>
                </a:lnTo>
                <a:lnTo>
                  <a:pt x="11999974" y="5122793"/>
                </a:lnTo>
                <a:lnTo>
                  <a:pt x="0" y="5122793"/>
                </a:lnTo>
                <a:lnTo>
                  <a:pt x="0" y="0"/>
                </a:lnTo>
                <a:close/>
              </a:path>
            </a:pathLst>
          </a:custGeom>
          <a:blipFill>
            <a:blip r:embed="rId4"/>
            <a:stretch>
              <a:fillRect l="0" t="-48453"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sp>
        <p:nvSpPr>
          <p:cNvPr name="Freeform 2" id="2"/>
          <p:cNvSpPr/>
          <p:nvPr/>
        </p:nvSpPr>
        <p:spPr>
          <a:xfrm flipH="false" flipV="false" rot="0">
            <a:off x="867854" y="796249"/>
            <a:ext cx="8005376" cy="6734523"/>
          </a:xfrm>
          <a:custGeom>
            <a:avLst/>
            <a:gdLst/>
            <a:ahLst/>
            <a:cxnLst/>
            <a:rect r="r" b="b" t="t" l="l"/>
            <a:pathLst>
              <a:path h="6734523" w="8005376">
                <a:moveTo>
                  <a:pt x="0" y="0"/>
                </a:moveTo>
                <a:lnTo>
                  <a:pt x="8005376" y="0"/>
                </a:lnTo>
                <a:lnTo>
                  <a:pt x="8005376" y="6734523"/>
                </a:lnTo>
                <a:lnTo>
                  <a:pt x="0" y="6734523"/>
                </a:lnTo>
                <a:lnTo>
                  <a:pt x="0" y="0"/>
                </a:lnTo>
                <a:close/>
              </a:path>
            </a:pathLst>
          </a:custGeom>
          <a:blipFill>
            <a:blip r:embed="rId3"/>
            <a:stretch>
              <a:fillRect l="0" t="0" r="0" b="0"/>
            </a:stretch>
          </a:blipFill>
        </p:spPr>
      </p:sp>
      <p:sp>
        <p:nvSpPr>
          <p:cNvPr name="Freeform 3" id="3"/>
          <p:cNvSpPr/>
          <p:nvPr/>
        </p:nvSpPr>
        <p:spPr>
          <a:xfrm flipH="false" flipV="false" rot="0">
            <a:off x="9741365" y="796249"/>
            <a:ext cx="8009066" cy="6734523"/>
          </a:xfrm>
          <a:custGeom>
            <a:avLst/>
            <a:gdLst/>
            <a:ahLst/>
            <a:cxnLst/>
            <a:rect r="r" b="b" t="t" l="l"/>
            <a:pathLst>
              <a:path h="6734523" w="8009066">
                <a:moveTo>
                  <a:pt x="0" y="0"/>
                </a:moveTo>
                <a:lnTo>
                  <a:pt x="8009066" y="0"/>
                </a:lnTo>
                <a:lnTo>
                  <a:pt x="8009066" y="6734523"/>
                </a:lnTo>
                <a:lnTo>
                  <a:pt x="0" y="6734523"/>
                </a:lnTo>
                <a:lnTo>
                  <a:pt x="0" y="0"/>
                </a:lnTo>
                <a:close/>
              </a:path>
            </a:pathLst>
          </a:custGeom>
          <a:blipFill>
            <a:blip r:embed="rId4"/>
            <a:stretch>
              <a:fillRect l="0" t="0" r="0" b="0"/>
            </a:stretch>
          </a:blipFill>
        </p:spPr>
      </p:sp>
      <p:grpSp>
        <p:nvGrpSpPr>
          <p:cNvPr name="Group 4" id="4"/>
          <p:cNvGrpSpPr/>
          <p:nvPr/>
        </p:nvGrpSpPr>
        <p:grpSpPr>
          <a:xfrm rot="0">
            <a:off x="1233391" y="8123992"/>
            <a:ext cx="7274302" cy="1388869"/>
            <a:chOff x="0" y="0"/>
            <a:chExt cx="9699069" cy="1851825"/>
          </a:xfrm>
        </p:grpSpPr>
        <p:sp>
          <p:nvSpPr>
            <p:cNvPr name="Freeform 5" id="5"/>
            <p:cNvSpPr/>
            <p:nvPr/>
          </p:nvSpPr>
          <p:spPr>
            <a:xfrm flipH="false" flipV="false" rot="0">
              <a:off x="7454" y="10396"/>
              <a:ext cx="9684122" cy="1830978"/>
            </a:xfrm>
            <a:custGeom>
              <a:avLst/>
              <a:gdLst/>
              <a:ahLst/>
              <a:cxnLst/>
              <a:rect r="r" b="b" t="t" l="l"/>
              <a:pathLst>
                <a:path h="1830978" w="9684122">
                  <a:moveTo>
                    <a:pt x="0" y="150080"/>
                  </a:moveTo>
                  <a:cubicBezTo>
                    <a:pt x="0" y="67224"/>
                    <a:pt x="48644" y="0"/>
                    <a:pt x="108666" y="0"/>
                  </a:cubicBezTo>
                  <a:lnTo>
                    <a:pt x="9575456" y="0"/>
                  </a:lnTo>
                  <a:cubicBezTo>
                    <a:pt x="9635477" y="0"/>
                    <a:pt x="9684122" y="67224"/>
                    <a:pt x="9684122" y="150080"/>
                  </a:cubicBezTo>
                  <a:lnTo>
                    <a:pt x="9684122" y="1680898"/>
                  </a:lnTo>
                  <a:cubicBezTo>
                    <a:pt x="9684122" y="1763755"/>
                    <a:pt x="9635477" y="1830978"/>
                    <a:pt x="9575456" y="1830978"/>
                  </a:cubicBezTo>
                  <a:lnTo>
                    <a:pt x="108666" y="1830978"/>
                  </a:lnTo>
                  <a:cubicBezTo>
                    <a:pt x="48644" y="1830978"/>
                    <a:pt x="0" y="1763755"/>
                    <a:pt x="0" y="1680898"/>
                  </a:cubicBezTo>
                  <a:close/>
                </a:path>
              </a:pathLst>
            </a:custGeom>
            <a:solidFill>
              <a:srgbClr val="0A2518"/>
            </a:solidFill>
          </p:spPr>
        </p:sp>
        <p:sp>
          <p:nvSpPr>
            <p:cNvPr name="Freeform 6" id="6"/>
            <p:cNvSpPr/>
            <p:nvPr/>
          </p:nvSpPr>
          <p:spPr>
            <a:xfrm flipH="false" flipV="false" rot="0">
              <a:off x="0" y="0"/>
              <a:ext cx="9699030" cy="1851770"/>
            </a:xfrm>
            <a:custGeom>
              <a:avLst/>
              <a:gdLst/>
              <a:ahLst/>
              <a:cxnLst/>
              <a:rect r="r" b="b" t="t" l="l"/>
              <a:pathLst>
                <a:path h="1851770" w="9699030">
                  <a:moveTo>
                    <a:pt x="0" y="160476"/>
                  </a:moveTo>
                  <a:cubicBezTo>
                    <a:pt x="0" y="71757"/>
                    <a:pt x="52063" y="0"/>
                    <a:pt x="116120" y="0"/>
                  </a:cubicBezTo>
                  <a:lnTo>
                    <a:pt x="9582910" y="0"/>
                  </a:lnTo>
                  <a:lnTo>
                    <a:pt x="9582910" y="10396"/>
                  </a:lnTo>
                  <a:lnTo>
                    <a:pt x="9582910" y="0"/>
                  </a:lnTo>
                  <a:cubicBezTo>
                    <a:pt x="9646967" y="0"/>
                    <a:pt x="9699030" y="71757"/>
                    <a:pt x="9699030" y="160476"/>
                  </a:cubicBezTo>
                  <a:lnTo>
                    <a:pt x="9691576" y="160476"/>
                  </a:lnTo>
                  <a:lnTo>
                    <a:pt x="9699030" y="160476"/>
                  </a:lnTo>
                  <a:lnTo>
                    <a:pt x="9699030" y="1691294"/>
                  </a:lnTo>
                  <a:lnTo>
                    <a:pt x="9691576" y="1691294"/>
                  </a:lnTo>
                  <a:lnTo>
                    <a:pt x="9699030" y="1691294"/>
                  </a:lnTo>
                  <a:cubicBezTo>
                    <a:pt x="9699030" y="1780013"/>
                    <a:pt x="9646967" y="1851770"/>
                    <a:pt x="9582910" y="1851770"/>
                  </a:cubicBezTo>
                  <a:lnTo>
                    <a:pt x="9582910" y="1841374"/>
                  </a:lnTo>
                  <a:lnTo>
                    <a:pt x="9582910" y="1851770"/>
                  </a:lnTo>
                  <a:lnTo>
                    <a:pt x="116120" y="1851770"/>
                  </a:lnTo>
                  <a:lnTo>
                    <a:pt x="116120" y="1841374"/>
                  </a:lnTo>
                  <a:lnTo>
                    <a:pt x="116120" y="1851770"/>
                  </a:lnTo>
                  <a:cubicBezTo>
                    <a:pt x="52063" y="1851863"/>
                    <a:pt x="0" y="1780092"/>
                    <a:pt x="0" y="1691294"/>
                  </a:cubicBezTo>
                  <a:lnTo>
                    <a:pt x="0" y="160476"/>
                  </a:lnTo>
                  <a:lnTo>
                    <a:pt x="7454" y="160476"/>
                  </a:lnTo>
                  <a:lnTo>
                    <a:pt x="0" y="160476"/>
                  </a:lnTo>
                  <a:moveTo>
                    <a:pt x="14963" y="160476"/>
                  </a:moveTo>
                  <a:lnTo>
                    <a:pt x="14963" y="1691294"/>
                  </a:lnTo>
                  <a:lnTo>
                    <a:pt x="7454" y="1691294"/>
                  </a:lnTo>
                  <a:lnTo>
                    <a:pt x="14963" y="1691294"/>
                  </a:lnTo>
                  <a:cubicBezTo>
                    <a:pt x="14963" y="1768366"/>
                    <a:pt x="60190" y="1830978"/>
                    <a:pt x="116176" y="1830978"/>
                  </a:cubicBezTo>
                  <a:lnTo>
                    <a:pt x="9582910" y="1830978"/>
                  </a:lnTo>
                  <a:cubicBezTo>
                    <a:pt x="9638840" y="1830978"/>
                    <a:pt x="9684123" y="1768366"/>
                    <a:pt x="9684123" y="1691294"/>
                  </a:cubicBezTo>
                  <a:lnTo>
                    <a:pt x="9684123" y="160476"/>
                  </a:lnTo>
                  <a:cubicBezTo>
                    <a:pt x="9684123" y="83404"/>
                    <a:pt x="9638896" y="20792"/>
                    <a:pt x="9582910" y="20792"/>
                  </a:cubicBezTo>
                  <a:lnTo>
                    <a:pt x="116120" y="20792"/>
                  </a:lnTo>
                  <a:lnTo>
                    <a:pt x="116120" y="10396"/>
                  </a:lnTo>
                  <a:lnTo>
                    <a:pt x="116120" y="20871"/>
                  </a:lnTo>
                  <a:cubicBezTo>
                    <a:pt x="60190" y="20871"/>
                    <a:pt x="14907" y="83482"/>
                    <a:pt x="14907" y="160555"/>
                  </a:cubicBezTo>
                  <a:close/>
                </a:path>
              </a:pathLst>
            </a:custGeom>
            <a:solidFill>
              <a:srgbClr val="00E5A0"/>
            </a:solidFill>
          </p:spPr>
        </p:sp>
      </p:grpSp>
      <p:grpSp>
        <p:nvGrpSpPr>
          <p:cNvPr name="Group 7" id="7"/>
          <p:cNvGrpSpPr/>
          <p:nvPr/>
        </p:nvGrpSpPr>
        <p:grpSpPr>
          <a:xfrm rot="0">
            <a:off x="1836922" y="8502349"/>
            <a:ext cx="10972800" cy="1129334"/>
            <a:chOff x="0" y="0"/>
            <a:chExt cx="14630400" cy="1505778"/>
          </a:xfrm>
        </p:grpSpPr>
        <p:sp>
          <p:nvSpPr>
            <p:cNvPr name="Freeform 8" id="8"/>
            <p:cNvSpPr/>
            <p:nvPr/>
          </p:nvSpPr>
          <p:spPr>
            <a:xfrm flipH="false" flipV="false" rot="0">
              <a:off x="0" y="0"/>
              <a:ext cx="14630400" cy="1505778"/>
            </a:xfrm>
            <a:custGeom>
              <a:avLst/>
              <a:gdLst/>
              <a:ahLst/>
              <a:cxnLst/>
              <a:rect r="r" b="b" t="t" l="l"/>
              <a:pathLst>
                <a:path h="1505778" w="14630400">
                  <a:moveTo>
                    <a:pt x="0" y="0"/>
                  </a:moveTo>
                  <a:lnTo>
                    <a:pt x="14630400" y="0"/>
                  </a:lnTo>
                  <a:lnTo>
                    <a:pt x="14630400" y="1505778"/>
                  </a:lnTo>
                  <a:lnTo>
                    <a:pt x="0" y="1505778"/>
                  </a:lnTo>
                  <a:close/>
                </a:path>
              </a:pathLst>
            </a:custGeom>
            <a:blipFill>
              <a:blip r:embed="rId5">
                <a:alphaModFix amt="0"/>
              </a:blip>
              <a:stretch>
                <a:fillRect l="0" t="-152884" r="0" b="-125755"/>
              </a:stretch>
            </a:blipFill>
          </p:spPr>
        </p:sp>
        <p:sp>
          <p:nvSpPr>
            <p:cNvPr name="TextBox 9" id="9"/>
            <p:cNvSpPr txBox="true"/>
            <p:nvPr/>
          </p:nvSpPr>
          <p:spPr>
            <a:xfrm>
              <a:off x="0" y="-57150"/>
              <a:ext cx="14630400" cy="1562928"/>
            </a:xfrm>
            <a:prstGeom prst="rect">
              <a:avLst/>
            </a:prstGeom>
          </p:spPr>
          <p:txBody>
            <a:bodyPr anchor="ctr" rtlCol="false" tIns="0" lIns="0" bIns="0" rIns="0"/>
            <a:lstStyle/>
            <a:p>
              <a:pPr algn="l">
                <a:lnSpc>
                  <a:spcPts val="3840"/>
                </a:lnSpc>
              </a:pPr>
              <a:r>
                <a:rPr lang="en-US" sz="3200" b="true">
                  <a:solidFill>
                    <a:srgbClr val="00E5A0"/>
                  </a:solidFill>
                  <a:latin typeface="Calibri (MS) Bold"/>
                  <a:ea typeface="Calibri (MS) Bold"/>
                  <a:cs typeface="Calibri (MS) Bold"/>
                  <a:sym typeface="Calibri (MS) Bold"/>
                </a:rPr>
                <a:t>Matrice</a:t>
              </a:r>
              <a:r>
                <a:rPr lang="en-US" sz="3200" b="true">
                  <a:solidFill>
                    <a:srgbClr val="00E5A0"/>
                  </a:solidFill>
                  <a:latin typeface="Calibri (MS) Bold"/>
                  <a:ea typeface="Calibri (MS) Bold"/>
                  <a:cs typeface="Calibri (MS) Bold"/>
                  <a:sym typeface="Calibri (MS) Bold"/>
                </a:rPr>
                <a:t> de confusion Decision Tree</a:t>
              </a:r>
            </a:p>
            <a:p>
              <a:pPr algn="l">
                <a:lnSpc>
                  <a:spcPts val="3840"/>
                </a:lnSpc>
              </a:pPr>
            </a:p>
          </p:txBody>
        </p:sp>
      </p:grpSp>
      <p:grpSp>
        <p:nvGrpSpPr>
          <p:cNvPr name="Group 10" id="10"/>
          <p:cNvGrpSpPr/>
          <p:nvPr/>
        </p:nvGrpSpPr>
        <p:grpSpPr>
          <a:xfrm rot="0">
            <a:off x="9984998" y="8123992"/>
            <a:ext cx="7274302" cy="1388869"/>
            <a:chOff x="0" y="0"/>
            <a:chExt cx="9699069" cy="1851825"/>
          </a:xfrm>
        </p:grpSpPr>
        <p:sp>
          <p:nvSpPr>
            <p:cNvPr name="Freeform 11" id="11"/>
            <p:cNvSpPr/>
            <p:nvPr/>
          </p:nvSpPr>
          <p:spPr>
            <a:xfrm flipH="false" flipV="false" rot="0">
              <a:off x="7454" y="10396"/>
              <a:ext cx="9684122" cy="1830978"/>
            </a:xfrm>
            <a:custGeom>
              <a:avLst/>
              <a:gdLst/>
              <a:ahLst/>
              <a:cxnLst/>
              <a:rect r="r" b="b" t="t" l="l"/>
              <a:pathLst>
                <a:path h="1830978" w="9684122">
                  <a:moveTo>
                    <a:pt x="0" y="150080"/>
                  </a:moveTo>
                  <a:cubicBezTo>
                    <a:pt x="0" y="67224"/>
                    <a:pt x="48644" y="0"/>
                    <a:pt x="108666" y="0"/>
                  </a:cubicBezTo>
                  <a:lnTo>
                    <a:pt x="9575456" y="0"/>
                  </a:lnTo>
                  <a:cubicBezTo>
                    <a:pt x="9635477" y="0"/>
                    <a:pt x="9684122" y="67224"/>
                    <a:pt x="9684122" y="150080"/>
                  </a:cubicBezTo>
                  <a:lnTo>
                    <a:pt x="9684122" y="1680898"/>
                  </a:lnTo>
                  <a:cubicBezTo>
                    <a:pt x="9684122" y="1763755"/>
                    <a:pt x="9635477" y="1830978"/>
                    <a:pt x="9575456" y="1830978"/>
                  </a:cubicBezTo>
                  <a:lnTo>
                    <a:pt x="108666" y="1830978"/>
                  </a:lnTo>
                  <a:cubicBezTo>
                    <a:pt x="48644" y="1830978"/>
                    <a:pt x="0" y="1763755"/>
                    <a:pt x="0" y="1680898"/>
                  </a:cubicBezTo>
                  <a:close/>
                </a:path>
              </a:pathLst>
            </a:custGeom>
            <a:solidFill>
              <a:srgbClr val="0A2518"/>
            </a:solidFill>
          </p:spPr>
        </p:sp>
        <p:sp>
          <p:nvSpPr>
            <p:cNvPr name="Freeform 12" id="12"/>
            <p:cNvSpPr/>
            <p:nvPr/>
          </p:nvSpPr>
          <p:spPr>
            <a:xfrm flipH="false" flipV="false" rot="0">
              <a:off x="0" y="0"/>
              <a:ext cx="9699030" cy="1851770"/>
            </a:xfrm>
            <a:custGeom>
              <a:avLst/>
              <a:gdLst/>
              <a:ahLst/>
              <a:cxnLst/>
              <a:rect r="r" b="b" t="t" l="l"/>
              <a:pathLst>
                <a:path h="1851770" w="9699030">
                  <a:moveTo>
                    <a:pt x="0" y="160476"/>
                  </a:moveTo>
                  <a:cubicBezTo>
                    <a:pt x="0" y="71757"/>
                    <a:pt x="52063" y="0"/>
                    <a:pt x="116120" y="0"/>
                  </a:cubicBezTo>
                  <a:lnTo>
                    <a:pt x="9582910" y="0"/>
                  </a:lnTo>
                  <a:lnTo>
                    <a:pt x="9582910" y="10396"/>
                  </a:lnTo>
                  <a:lnTo>
                    <a:pt x="9582910" y="0"/>
                  </a:lnTo>
                  <a:cubicBezTo>
                    <a:pt x="9646967" y="0"/>
                    <a:pt x="9699030" y="71757"/>
                    <a:pt x="9699030" y="160476"/>
                  </a:cubicBezTo>
                  <a:lnTo>
                    <a:pt x="9691576" y="160476"/>
                  </a:lnTo>
                  <a:lnTo>
                    <a:pt x="9699030" y="160476"/>
                  </a:lnTo>
                  <a:lnTo>
                    <a:pt x="9699030" y="1691294"/>
                  </a:lnTo>
                  <a:lnTo>
                    <a:pt x="9691576" y="1691294"/>
                  </a:lnTo>
                  <a:lnTo>
                    <a:pt x="9699030" y="1691294"/>
                  </a:lnTo>
                  <a:cubicBezTo>
                    <a:pt x="9699030" y="1780013"/>
                    <a:pt x="9646967" y="1851770"/>
                    <a:pt x="9582910" y="1851770"/>
                  </a:cubicBezTo>
                  <a:lnTo>
                    <a:pt x="9582910" y="1841374"/>
                  </a:lnTo>
                  <a:lnTo>
                    <a:pt x="9582910" y="1851770"/>
                  </a:lnTo>
                  <a:lnTo>
                    <a:pt x="116120" y="1851770"/>
                  </a:lnTo>
                  <a:lnTo>
                    <a:pt x="116120" y="1841374"/>
                  </a:lnTo>
                  <a:lnTo>
                    <a:pt x="116120" y="1851770"/>
                  </a:lnTo>
                  <a:cubicBezTo>
                    <a:pt x="52063" y="1851863"/>
                    <a:pt x="0" y="1780092"/>
                    <a:pt x="0" y="1691294"/>
                  </a:cubicBezTo>
                  <a:lnTo>
                    <a:pt x="0" y="160476"/>
                  </a:lnTo>
                  <a:lnTo>
                    <a:pt x="7454" y="160476"/>
                  </a:lnTo>
                  <a:lnTo>
                    <a:pt x="0" y="160476"/>
                  </a:lnTo>
                  <a:moveTo>
                    <a:pt x="14963" y="160476"/>
                  </a:moveTo>
                  <a:lnTo>
                    <a:pt x="14963" y="1691294"/>
                  </a:lnTo>
                  <a:lnTo>
                    <a:pt x="7454" y="1691294"/>
                  </a:lnTo>
                  <a:lnTo>
                    <a:pt x="14963" y="1691294"/>
                  </a:lnTo>
                  <a:cubicBezTo>
                    <a:pt x="14963" y="1768366"/>
                    <a:pt x="60190" y="1830978"/>
                    <a:pt x="116176" y="1830978"/>
                  </a:cubicBezTo>
                  <a:lnTo>
                    <a:pt x="9582910" y="1830978"/>
                  </a:lnTo>
                  <a:cubicBezTo>
                    <a:pt x="9638840" y="1830978"/>
                    <a:pt x="9684123" y="1768366"/>
                    <a:pt x="9684123" y="1691294"/>
                  </a:cubicBezTo>
                  <a:lnTo>
                    <a:pt x="9684123" y="160476"/>
                  </a:lnTo>
                  <a:cubicBezTo>
                    <a:pt x="9684123" y="83404"/>
                    <a:pt x="9638896" y="20792"/>
                    <a:pt x="9582910" y="20792"/>
                  </a:cubicBezTo>
                  <a:lnTo>
                    <a:pt x="116120" y="20792"/>
                  </a:lnTo>
                  <a:lnTo>
                    <a:pt x="116120" y="10396"/>
                  </a:lnTo>
                  <a:lnTo>
                    <a:pt x="116120" y="20871"/>
                  </a:lnTo>
                  <a:cubicBezTo>
                    <a:pt x="60190" y="20871"/>
                    <a:pt x="14907" y="83482"/>
                    <a:pt x="14907" y="160555"/>
                  </a:cubicBezTo>
                  <a:close/>
                </a:path>
              </a:pathLst>
            </a:custGeom>
            <a:solidFill>
              <a:srgbClr val="00E5A0"/>
            </a:solidFill>
          </p:spPr>
        </p:sp>
      </p:grpSp>
      <p:grpSp>
        <p:nvGrpSpPr>
          <p:cNvPr name="Group 13" id="13"/>
          <p:cNvGrpSpPr/>
          <p:nvPr/>
        </p:nvGrpSpPr>
        <p:grpSpPr>
          <a:xfrm rot="0">
            <a:off x="10344896" y="8383527"/>
            <a:ext cx="10972800" cy="822960"/>
            <a:chOff x="0" y="0"/>
            <a:chExt cx="14630400" cy="1097280"/>
          </a:xfrm>
        </p:grpSpPr>
        <p:sp>
          <p:nvSpPr>
            <p:cNvPr name="Freeform 14" id="14"/>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5">
                <a:alphaModFix amt="0"/>
              </a:blip>
              <a:stretch>
                <a:fillRect l="0" t="-209800" r="0" b="-209800"/>
              </a:stretch>
            </a:blipFill>
          </p:spPr>
        </p:sp>
        <p:sp>
          <p:nvSpPr>
            <p:cNvPr name="TextBox 15" id="15"/>
            <p:cNvSpPr txBox="true"/>
            <p:nvPr/>
          </p:nvSpPr>
          <p:spPr>
            <a:xfrm>
              <a:off x="0" y="-57150"/>
              <a:ext cx="14630400" cy="1154430"/>
            </a:xfrm>
            <a:prstGeom prst="rect">
              <a:avLst/>
            </a:prstGeom>
          </p:spPr>
          <p:txBody>
            <a:bodyPr anchor="ctr" rtlCol="false" tIns="0" lIns="0" bIns="0" rIns="0"/>
            <a:lstStyle/>
            <a:p>
              <a:pPr algn="l">
                <a:lnSpc>
                  <a:spcPts val="3840"/>
                </a:lnSpc>
              </a:pPr>
              <a:r>
                <a:rPr lang="en-US" b="true" sz="3200">
                  <a:solidFill>
                    <a:srgbClr val="FFB800"/>
                  </a:solidFill>
                  <a:latin typeface="Calibri (MS) Bold"/>
                  <a:ea typeface="Calibri (MS) Bold"/>
                  <a:cs typeface="Calibri (MS) Bold"/>
                  <a:sym typeface="Calibri (MS) Bold"/>
                </a:rPr>
                <a:t>Matrice</a:t>
              </a:r>
              <a:r>
                <a:rPr lang="en-US" b="true" sz="3200">
                  <a:solidFill>
                    <a:srgbClr val="FFB800"/>
                  </a:solidFill>
                  <a:latin typeface="Calibri (MS) Bold"/>
                  <a:ea typeface="Calibri (MS) Bold"/>
                  <a:cs typeface="Calibri (MS) Bold"/>
                  <a:sym typeface="Calibri (MS) Bold"/>
                </a:rPr>
                <a:t> de confusion KNN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1233391" y="8123992"/>
            <a:ext cx="7274302" cy="1388869"/>
            <a:chOff x="0" y="0"/>
            <a:chExt cx="9699069" cy="1851825"/>
          </a:xfrm>
        </p:grpSpPr>
        <p:sp>
          <p:nvSpPr>
            <p:cNvPr name="Freeform 3" id="3"/>
            <p:cNvSpPr/>
            <p:nvPr/>
          </p:nvSpPr>
          <p:spPr>
            <a:xfrm flipH="false" flipV="false" rot="0">
              <a:off x="7454" y="10396"/>
              <a:ext cx="9684122" cy="1830978"/>
            </a:xfrm>
            <a:custGeom>
              <a:avLst/>
              <a:gdLst/>
              <a:ahLst/>
              <a:cxnLst/>
              <a:rect r="r" b="b" t="t" l="l"/>
              <a:pathLst>
                <a:path h="1830978" w="9684122">
                  <a:moveTo>
                    <a:pt x="0" y="150080"/>
                  </a:moveTo>
                  <a:cubicBezTo>
                    <a:pt x="0" y="67224"/>
                    <a:pt x="48644" y="0"/>
                    <a:pt x="108666" y="0"/>
                  </a:cubicBezTo>
                  <a:lnTo>
                    <a:pt x="9575456" y="0"/>
                  </a:lnTo>
                  <a:cubicBezTo>
                    <a:pt x="9635477" y="0"/>
                    <a:pt x="9684122" y="67224"/>
                    <a:pt x="9684122" y="150080"/>
                  </a:cubicBezTo>
                  <a:lnTo>
                    <a:pt x="9684122" y="1680898"/>
                  </a:lnTo>
                  <a:cubicBezTo>
                    <a:pt x="9684122" y="1763755"/>
                    <a:pt x="9635477" y="1830978"/>
                    <a:pt x="9575456" y="1830978"/>
                  </a:cubicBezTo>
                  <a:lnTo>
                    <a:pt x="108666" y="1830978"/>
                  </a:lnTo>
                  <a:cubicBezTo>
                    <a:pt x="48644" y="1830978"/>
                    <a:pt x="0" y="1763755"/>
                    <a:pt x="0" y="1680898"/>
                  </a:cubicBezTo>
                  <a:close/>
                </a:path>
              </a:pathLst>
            </a:custGeom>
            <a:solidFill>
              <a:srgbClr val="0A2518"/>
            </a:solidFill>
          </p:spPr>
        </p:sp>
        <p:sp>
          <p:nvSpPr>
            <p:cNvPr name="Freeform 4" id="4"/>
            <p:cNvSpPr/>
            <p:nvPr/>
          </p:nvSpPr>
          <p:spPr>
            <a:xfrm flipH="false" flipV="false" rot="0">
              <a:off x="0" y="0"/>
              <a:ext cx="9699030" cy="1851770"/>
            </a:xfrm>
            <a:custGeom>
              <a:avLst/>
              <a:gdLst/>
              <a:ahLst/>
              <a:cxnLst/>
              <a:rect r="r" b="b" t="t" l="l"/>
              <a:pathLst>
                <a:path h="1851770" w="9699030">
                  <a:moveTo>
                    <a:pt x="0" y="160476"/>
                  </a:moveTo>
                  <a:cubicBezTo>
                    <a:pt x="0" y="71757"/>
                    <a:pt x="52063" y="0"/>
                    <a:pt x="116120" y="0"/>
                  </a:cubicBezTo>
                  <a:lnTo>
                    <a:pt x="9582910" y="0"/>
                  </a:lnTo>
                  <a:lnTo>
                    <a:pt x="9582910" y="10396"/>
                  </a:lnTo>
                  <a:lnTo>
                    <a:pt x="9582910" y="0"/>
                  </a:lnTo>
                  <a:cubicBezTo>
                    <a:pt x="9646967" y="0"/>
                    <a:pt x="9699030" y="71757"/>
                    <a:pt x="9699030" y="160476"/>
                  </a:cubicBezTo>
                  <a:lnTo>
                    <a:pt x="9691576" y="160476"/>
                  </a:lnTo>
                  <a:lnTo>
                    <a:pt x="9699030" y="160476"/>
                  </a:lnTo>
                  <a:lnTo>
                    <a:pt x="9699030" y="1691294"/>
                  </a:lnTo>
                  <a:lnTo>
                    <a:pt x="9691576" y="1691294"/>
                  </a:lnTo>
                  <a:lnTo>
                    <a:pt x="9699030" y="1691294"/>
                  </a:lnTo>
                  <a:cubicBezTo>
                    <a:pt x="9699030" y="1780013"/>
                    <a:pt x="9646967" y="1851770"/>
                    <a:pt x="9582910" y="1851770"/>
                  </a:cubicBezTo>
                  <a:lnTo>
                    <a:pt x="9582910" y="1841374"/>
                  </a:lnTo>
                  <a:lnTo>
                    <a:pt x="9582910" y="1851770"/>
                  </a:lnTo>
                  <a:lnTo>
                    <a:pt x="116120" y="1851770"/>
                  </a:lnTo>
                  <a:lnTo>
                    <a:pt x="116120" y="1841374"/>
                  </a:lnTo>
                  <a:lnTo>
                    <a:pt x="116120" y="1851770"/>
                  </a:lnTo>
                  <a:cubicBezTo>
                    <a:pt x="52063" y="1851863"/>
                    <a:pt x="0" y="1780092"/>
                    <a:pt x="0" y="1691294"/>
                  </a:cubicBezTo>
                  <a:lnTo>
                    <a:pt x="0" y="160476"/>
                  </a:lnTo>
                  <a:lnTo>
                    <a:pt x="7454" y="160476"/>
                  </a:lnTo>
                  <a:lnTo>
                    <a:pt x="0" y="160476"/>
                  </a:lnTo>
                  <a:moveTo>
                    <a:pt x="14963" y="160476"/>
                  </a:moveTo>
                  <a:lnTo>
                    <a:pt x="14963" y="1691294"/>
                  </a:lnTo>
                  <a:lnTo>
                    <a:pt x="7454" y="1691294"/>
                  </a:lnTo>
                  <a:lnTo>
                    <a:pt x="14963" y="1691294"/>
                  </a:lnTo>
                  <a:cubicBezTo>
                    <a:pt x="14963" y="1768366"/>
                    <a:pt x="60190" y="1830978"/>
                    <a:pt x="116176" y="1830978"/>
                  </a:cubicBezTo>
                  <a:lnTo>
                    <a:pt x="9582910" y="1830978"/>
                  </a:lnTo>
                  <a:cubicBezTo>
                    <a:pt x="9638840" y="1830978"/>
                    <a:pt x="9684123" y="1768366"/>
                    <a:pt x="9684123" y="1691294"/>
                  </a:cubicBezTo>
                  <a:lnTo>
                    <a:pt x="9684123" y="160476"/>
                  </a:lnTo>
                  <a:cubicBezTo>
                    <a:pt x="9684123" y="83404"/>
                    <a:pt x="9638896" y="20792"/>
                    <a:pt x="9582910" y="20792"/>
                  </a:cubicBezTo>
                  <a:lnTo>
                    <a:pt x="116120" y="20792"/>
                  </a:lnTo>
                  <a:lnTo>
                    <a:pt x="116120" y="10396"/>
                  </a:lnTo>
                  <a:lnTo>
                    <a:pt x="116120" y="20871"/>
                  </a:lnTo>
                  <a:cubicBezTo>
                    <a:pt x="60190" y="20871"/>
                    <a:pt x="14907" y="83482"/>
                    <a:pt x="14907" y="160555"/>
                  </a:cubicBezTo>
                  <a:close/>
                </a:path>
              </a:pathLst>
            </a:custGeom>
            <a:solidFill>
              <a:srgbClr val="00E5A0"/>
            </a:solidFill>
          </p:spPr>
        </p:sp>
      </p:grpSp>
      <p:grpSp>
        <p:nvGrpSpPr>
          <p:cNvPr name="Group 5" id="5"/>
          <p:cNvGrpSpPr/>
          <p:nvPr/>
        </p:nvGrpSpPr>
        <p:grpSpPr>
          <a:xfrm rot="0">
            <a:off x="1836922" y="8435340"/>
            <a:ext cx="10972800" cy="822960"/>
            <a:chOff x="0" y="0"/>
            <a:chExt cx="14630400" cy="1097280"/>
          </a:xfrm>
        </p:grpSpPr>
        <p:sp>
          <p:nvSpPr>
            <p:cNvPr name="Freeform 6" id="6"/>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7" id="7"/>
            <p:cNvSpPr txBox="true"/>
            <p:nvPr/>
          </p:nvSpPr>
          <p:spPr>
            <a:xfrm>
              <a:off x="0" y="-57150"/>
              <a:ext cx="14630400" cy="1154430"/>
            </a:xfrm>
            <a:prstGeom prst="rect">
              <a:avLst/>
            </a:prstGeom>
          </p:spPr>
          <p:txBody>
            <a:bodyPr anchor="ctr" rtlCol="false" tIns="0" lIns="0" bIns="0" rIns="0"/>
            <a:lstStyle/>
            <a:p>
              <a:pPr algn="l">
                <a:lnSpc>
                  <a:spcPts val="3840"/>
                </a:lnSpc>
              </a:pPr>
              <a:r>
                <a:rPr lang="en-US" b="true" sz="3200">
                  <a:solidFill>
                    <a:srgbClr val="38B6FF"/>
                  </a:solidFill>
                  <a:latin typeface="Calibri (MS) Bold"/>
                  <a:ea typeface="Calibri (MS) Bold"/>
                  <a:cs typeface="Calibri (MS) Bold"/>
                  <a:sym typeface="Calibri (MS) Bold"/>
                </a:rPr>
                <a:t>Matrice</a:t>
              </a:r>
              <a:r>
                <a:rPr lang="en-US" b="true" sz="3200">
                  <a:solidFill>
                    <a:srgbClr val="38B6FF"/>
                  </a:solidFill>
                  <a:latin typeface="Calibri (MS) Bold"/>
                  <a:ea typeface="Calibri (MS) Bold"/>
                  <a:cs typeface="Calibri (MS) Bold"/>
                  <a:sym typeface="Calibri (MS) Bold"/>
                </a:rPr>
                <a:t> de confusion Random Forest</a:t>
              </a:r>
            </a:p>
          </p:txBody>
        </p:sp>
      </p:grpSp>
      <p:grpSp>
        <p:nvGrpSpPr>
          <p:cNvPr name="Group 8" id="8"/>
          <p:cNvGrpSpPr/>
          <p:nvPr/>
        </p:nvGrpSpPr>
        <p:grpSpPr>
          <a:xfrm rot="0">
            <a:off x="10299323" y="8123992"/>
            <a:ext cx="7274302" cy="1388869"/>
            <a:chOff x="0" y="0"/>
            <a:chExt cx="9699069" cy="1851825"/>
          </a:xfrm>
        </p:grpSpPr>
        <p:sp>
          <p:nvSpPr>
            <p:cNvPr name="Freeform 9" id="9"/>
            <p:cNvSpPr/>
            <p:nvPr/>
          </p:nvSpPr>
          <p:spPr>
            <a:xfrm flipH="false" flipV="false" rot="0">
              <a:off x="7454" y="10396"/>
              <a:ext cx="9684122" cy="1830978"/>
            </a:xfrm>
            <a:custGeom>
              <a:avLst/>
              <a:gdLst/>
              <a:ahLst/>
              <a:cxnLst/>
              <a:rect r="r" b="b" t="t" l="l"/>
              <a:pathLst>
                <a:path h="1830978" w="9684122">
                  <a:moveTo>
                    <a:pt x="0" y="150080"/>
                  </a:moveTo>
                  <a:cubicBezTo>
                    <a:pt x="0" y="67224"/>
                    <a:pt x="48644" y="0"/>
                    <a:pt x="108666" y="0"/>
                  </a:cubicBezTo>
                  <a:lnTo>
                    <a:pt x="9575456" y="0"/>
                  </a:lnTo>
                  <a:cubicBezTo>
                    <a:pt x="9635477" y="0"/>
                    <a:pt x="9684122" y="67224"/>
                    <a:pt x="9684122" y="150080"/>
                  </a:cubicBezTo>
                  <a:lnTo>
                    <a:pt x="9684122" y="1680898"/>
                  </a:lnTo>
                  <a:cubicBezTo>
                    <a:pt x="9684122" y="1763755"/>
                    <a:pt x="9635477" y="1830978"/>
                    <a:pt x="9575456" y="1830978"/>
                  </a:cubicBezTo>
                  <a:lnTo>
                    <a:pt x="108666" y="1830978"/>
                  </a:lnTo>
                  <a:cubicBezTo>
                    <a:pt x="48644" y="1830978"/>
                    <a:pt x="0" y="1763755"/>
                    <a:pt x="0" y="1680898"/>
                  </a:cubicBezTo>
                  <a:close/>
                </a:path>
              </a:pathLst>
            </a:custGeom>
            <a:solidFill>
              <a:srgbClr val="0A2518"/>
            </a:solidFill>
          </p:spPr>
        </p:sp>
        <p:sp>
          <p:nvSpPr>
            <p:cNvPr name="Freeform 10" id="10"/>
            <p:cNvSpPr/>
            <p:nvPr/>
          </p:nvSpPr>
          <p:spPr>
            <a:xfrm flipH="false" flipV="false" rot="0">
              <a:off x="0" y="0"/>
              <a:ext cx="9699030" cy="1851770"/>
            </a:xfrm>
            <a:custGeom>
              <a:avLst/>
              <a:gdLst/>
              <a:ahLst/>
              <a:cxnLst/>
              <a:rect r="r" b="b" t="t" l="l"/>
              <a:pathLst>
                <a:path h="1851770" w="9699030">
                  <a:moveTo>
                    <a:pt x="0" y="160476"/>
                  </a:moveTo>
                  <a:cubicBezTo>
                    <a:pt x="0" y="71757"/>
                    <a:pt x="52063" y="0"/>
                    <a:pt x="116120" y="0"/>
                  </a:cubicBezTo>
                  <a:lnTo>
                    <a:pt x="9582910" y="0"/>
                  </a:lnTo>
                  <a:lnTo>
                    <a:pt x="9582910" y="10396"/>
                  </a:lnTo>
                  <a:lnTo>
                    <a:pt x="9582910" y="0"/>
                  </a:lnTo>
                  <a:cubicBezTo>
                    <a:pt x="9646967" y="0"/>
                    <a:pt x="9699030" y="71757"/>
                    <a:pt x="9699030" y="160476"/>
                  </a:cubicBezTo>
                  <a:lnTo>
                    <a:pt x="9691576" y="160476"/>
                  </a:lnTo>
                  <a:lnTo>
                    <a:pt x="9699030" y="160476"/>
                  </a:lnTo>
                  <a:lnTo>
                    <a:pt x="9699030" y="1691294"/>
                  </a:lnTo>
                  <a:lnTo>
                    <a:pt x="9691576" y="1691294"/>
                  </a:lnTo>
                  <a:lnTo>
                    <a:pt x="9699030" y="1691294"/>
                  </a:lnTo>
                  <a:cubicBezTo>
                    <a:pt x="9699030" y="1780013"/>
                    <a:pt x="9646967" y="1851770"/>
                    <a:pt x="9582910" y="1851770"/>
                  </a:cubicBezTo>
                  <a:lnTo>
                    <a:pt x="9582910" y="1841374"/>
                  </a:lnTo>
                  <a:lnTo>
                    <a:pt x="9582910" y="1851770"/>
                  </a:lnTo>
                  <a:lnTo>
                    <a:pt x="116120" y="1851770"/>
                  </a:lnTo>
                  <a:lnTo>
                    <a:pt x="116120" y="1841374"/>
                  </a:lnTo>
                  <a:lnTo>
                    <a:pt x="116120" y="1851770"/>
                  </a:lnTo>
                  <a:cubicBezTo>
                    <a:pt x="52063" y="1851863"/>
                    <a:pt x="0" y="1780092"/>
                    <a:pt x="0" y="1691294"/>
                  </a:cubicBezTo>
                  <a:lnTo>
                    <a:pt x="0" y="160476"/>
                  </a:lnTo>
                  <a:lnTo>
                    <a:pt x="7454" y="160476"/>
                  </a:lnTo>
                  <a:lnTo>
                    <a:pt x="0" y="160476"/>
                  </a:lnTo>
                  <a:moveTo>
                    <a:pt x="14963" y="160476"/>
                  </a:moveTo>
                  <a:lnTo>
                    <a:pt x="14963" y="1691294"/>
                  </a:lnTo>
                  <a:lnTo>
                    <a:pt x="7454" y="1691294"/>
                  </a:lnTo>
                  <a:lnTo>
                    <a:pt x="14963" y="1691294"/>
                  </a:lnTo>
                  <a:cubicBezTo>
                    <a:pt x="14963" y="1768366"/>
                    <a:pt x="60190" y="1830978"/>
                    <a:pt x="116176" y="1830978"/>
                  </a:cubicBezTo>
                  <a:lnTo>
                    <a:pt x="9582910" y="1830978"/>
                  </a:lnTo>
                  <a:cubicBezTo>
                    <a:pt x="9638840" y="1830978"/>
                    <a:pt x="9684123" y="1768366"/>
                    <a:pt x="9684123" y="1691294"/>
                  </a:cubicBezTo>
                  <a:lnTo>
                    <a:pt x="9684123" y="160476"/>
                  </a:lnTo>
                  <a:cubicBezTo>
                    <a:pt x="9684123" y="83404"/>
                    <a:pt x="9638896" y="20792"/>
                    <a:pt x="9582910" y="20792"/>
                  </a:cubicBezTo>
                  <a:lnTo>
                    <a:pt x="116120" y="20792"/>
                  </a:lnTo>
                  <a:lnTo>
                    <a:pt x="116120" y="10396"/>
                  </a:lnTo>
                  <a:lnTo>
                    <a:pt x="116120" y="20871"/>
                  </a:lnTo>
                  <a:cubicBezTo>
                    <a:pt x="60190" y="20871"/>
                    <a:pt x="14907" y="83482"/>
                    <a:pt x="14907" y="160555"/>
                  </a:cubicBezTo>
                  <a:close/>
                </a:path>
              </a:pathLst>
            </a:custGeom>
            <a:solidFill>
              <a:srgbClr val="00E5A0"/>
            </a:solidFill>
          </p:spPr>
        </p:sp>
      </p:grpSp>
      <p:grpSp>
        <p:nvGrpSpPr>
          <p:cNvPr name="Group 11" id="11"/>
          <p:cNvGrpSpPr/>
          <p:nvPr/>
        </p:nvGrpSpPr>
        <p:grpSpPr>
          <a:xfrm rot="0">
            <a:off x="10659221" y="8383527"/>
            <a:ext cx="10972800" cy="822960"/>
            <a:chOff x="0" y="0"/>
            <a:chExt cx="14630400" cy="1097280"/>
          </a:xfrm>
        </p:grpSpPr>
        <p:sp>
          <p:nvSpPr>
            <p:cNvPr name="Freeform 12" id="12"/>
            <p:cNvSpPr/>
            <p:nvPr/>
          </p:nvSpPr>
          <p:spPr>
            <a:xfrm flipH="false" flipV="false" rot="0">
              <a:off x="0" y="0"/>
              <a:ext cx="14630400" cy="1097280"/>
            </a:xfrm>
            <a:custGeom>
              <a:avLst/>
              <a:gdLst/>
              <a:ahLst/>
              <a:cxnLst/>
              <a:rect r="r" b="b" t="t" l="l"/>
              <a:pathLst>
                <a:path h="1097280" w="14630400">
                  <a:moveTo>
                    <a:pt x="0" y="0"/>
                  </a:moveTo>
                  <a:lnTo>
                    <a:pt x="14630400" y="0"/>
                  </a:lnTo>
                  <a:lnTo>
                    <a:pt x="14630400" y="1097280"/>
                  </a:lnTo>
                  <a:lnTo>
                    <a:pt x="0" y="1097280"/>
                  </a:lnTo>
                  <a:close/>
                </a:path>
              </a:pathLst>
            </a:custGeom>
            <a:blipFill>
              <a:blip r:embed="rId3">
                <a:alphaModFix amt="0"/>
              </a:blip>
              <a:stretch>
                <a:fillRect l="0" t="-209800" r="0" b="-209800"/>
              </a:stretch>
            </a:blipFill>
          </p:spPr>
        </p:sp>
        <p:sp>
          <p:nvSpPr>
            <p:cNvPr name="TextBox 13" id="13"/>
            <p:cNvSpPr txBox="true"/>
            <p:nvPr/>
          </p:nvSpPr>
          <p:spPr>
            <a:xfrm>
              <a:off x="0" y="-57150"/>
              <a:ext cx="14630400" cy="1154430"/>
            </a:xfrm>
            <a:prstGeom prst="rect">
              <a:avLst/>
            </a:prstGeom>
          </p:spPr>
          <p:txBody>
            <a:bodyPr anchor="ctr" rtlCol="false" tIns="0" lIns="0" bIns="0" rIns="0"/>
            <a:lstStyle/>
            <a:p>
              <a:pPr algn="l">
                <a:lnSpc>
                  <a:spcPts val="3840"/>
                </a:lnSpc>
              </a:pPr>
              <a:r>
                <a:rPr lang="en-US" b="true" sz="3200">
                  <a:solidFill>
                    <a:srgbClr val="FF4D6A"/>
                  </a:solidFill>
                  <a:latin typeface="Calibri (MS) Bold"/>
                  <a:ea typeface="Calibri (MS) Bold"/>
                  <a:cs typeface="Calibri (MS) Bold"/>
                  <a:sym typeface="Calibri (MS) Bold"/>
                </a:rPr>
                <a:t>Matrice</a:t>
              </a:r>
              <a:r>
                <a:rPr lang="en-US" b="true" sz="3200">
                  <a:solidFill>
                    <a:srgbClr val="FF4D6A"/>
                  </a:solidFill>
                  <a:latin typeface="Calibri (MS) Bold"/>
                  <a:ea typeface="Calibri (MS) Bold"/>
                  <a:cs typeface="Calibri (MS) Bold"/>
                  <a:sym typeface="Calibri (MS) Bold"/>
                </a:rPr>
                <a:t> de confusion XGBoost</a:t>
              </a:r>
            </a:p>
          </p:txBody>
        </p:sp>
      </p:grpSp>
      <p:sp>
        <p:nvSpPr>
          <p:cNvPr name="Freeform 14" id="14"/>
          <p:cNvSpPr/>
          <p:nvPr/>
        </p:nvSpPr>
        <p:spPr>
          <a:xfrm flipH="false" flipV="false" rot="0">
            <a:off x="910228" y="870615"/>
            <a:ext cx="7920627" cy="6660157"/>
          </a:xfrm>
          <a:custGeom>
            <a:avLst/>
            <a:gdLst/>
            <a:ahLst/>
            <a:cxnLst/>
            <a:rect r="r" b="b" t="t" l="l"/>
            <a:pathLst>
              <a:path h="6660157" w="7920627">
                <a:moveTo>
                  <a:pt x="0" y="0"/>
                </a:moveTo>
                <a:lnTo>
                  <a:pt x="7920627" y="0"/>
                </a:lnTo>
                <a:lnTo>
                  <a:pt x="7920627" y="6660157"/>
                </a:lnTo>
                <a:lnTo>
                  <a:pt x="0" y="6660157"/>
                </a:lnTo>
                <a:lnTo>
                  <a:pt x="0" y="0"/>
                </a:lnTo>
                <a:close/>
              </a:path>
            </a:pathLst>
          </a:custGeom>
          <a:blipFill>
            <a:blip r:embed="rId4"/>
            <a:stretch>
              <a:fillRect l="0" t="0" r="0" b="0"/>
            </a:stretch>
          </a:blipFill>
        </p:spPr>
      </p:sp>
      <p:sp>
        <p:nvSpPr>
          <p:cNvPr name="Freeform 15" id="15"/>
          <p:cNvSpPr/>
          <p:nvPr/>
        </p:nvSpPr>
        <p:spPr>
          <a:xfrm flipH="false" flipV="false" rot="0">
            <a:off x="9789066" y="796249"/>
            <a:ext cx="8009066" cy="6734523"/>
          </a:xfrm>
          <a:custGeom>
            <a:avLst/>
            <a:gdLst/>
            <a:ahLst/>
            <a:cxnLst/>
            <a:rect r="r" b="b" t="t" l="l"/>
            <a:pathLst>
              <a:path h="6734523" w="8009066">
                <a:moveTo>
                  <a:pt x="0" y="0"/>
                </a:moveTo>
                <a:lnTo>
                  <a:pt x="8009066" y="0"/>
                </a:lnTo>
                <a:lnTo>
                  <a:pt x="8009066" y="6734523"/>
                </a:lnTo>
                <a:lnTo>
                  <a:pt x="0" y="6734523"/>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04237" y="392173"/>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914400" y="402336"/>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04 — VISUALISATION</a:t>
              </a:r>
            </a:p>
          </p:txBody>
        </p:sp>
      </p:grpSp>
      <p:grpSp>
        <p:nvGrpSpPr>
          <p:cNvPr name="Group 8" id="8"/>
          <p:cNvGrpSpPr/>
          <p:nvPr/>
        </p:nvGrpSpPr>
        <p:grpSpPr>
          <a:xfrm rot="0">
            <a:off x="914400" y="1374349"/>
            <a:ext cx="17150851" cy="1280160"/>
            <a:chOff x="0" y="0"/>
            <a:chExt cx="22867801" cy="1706880"/>
          </a:xfrm>
        </p:grpSpPr>
        <p:sp>
          <p:nvSpPr>
            <p:cNvPr name="Freeform 9" id="9"/>
            <p:cNvSpPr/>
            <p:nvPr/>
          </p:nvSpPr>
          <p:spPr>
            <a:xfrm flipH="false" flipV="false" rot="0">
              <a:off x="0" y="0"/>
              <a:ext cx="22867801" cy="1706880"/>
            </a:xfrm>
            <a:custGeom>
              <a:avLst/>
              <a:gdLst/>
              <a:ahLst/>
              <a:cxnLst/>
              <a:rect r="r" b="b" t="t" l="l"/>
              <a:pathLst>
                <a:path h="1706880" w="22867801">
                  <a:moveTo>
                    <a:pt x="0" y="0"/>
                  </a:moveTo>
                  <a:lnTo>
                    <a:pt x="22867801" y="0"/>
                  </a:lnTo>
                  <a:lnTo>
                    <a:pt x="22867801" y="1706880"/>
                  </a:lnTo>
                  <a:lnTo>
                    <a:pt x="0" y="1706880"/>
                  </a:lnTo>
                  <a:close/>
                </a:path>
              </a:pathLst>
            </a:custGeom>
            <a:blipFill>
              <a:blip r:embed="rId3">
                <a:alphaModFix amt="0"/>
              </a:blip>
              <a:stretch>
                <a:fillRect l="0" t="-200521" r="4032" b="-200521"/>
              </a:stretch>
            </a:blipFill>
          </p:spPr>
        </p:sp>
        <p:sp>
          <p:nvSpPr>
            <p:cNvPr name="TextBox 10" id="10"/>
            <p:cNvSpPr txBox="true"/>
            <p:nvPr/>
          </p:nvSpPr>
          <p:spPr>
            <a:xfrm>
              <a:off x="0" y="-114300"/>
              <a:ext cx="22867801"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Performance des Classifieurs — AUC-ROC, F1-Score &amp; Acc</a:t>
              </a:r>
            </a:p>
          </p:txBody>
        </p:sp>
      </p:grpSp>
      <p:pic>
        <p:nvPicPr>
          <p:cNvPr name="Picture 11" id="11"/>
          <p:cNvPicPr>
            <a:picLocks noChangeAspect="true"/>
          </p:cNvPicPr>
          <p:nvPr/>
        </p:nvPicPr>
        <p:blipFill>
          <a:blip r:embed="rId4"/>
          <a:stretch>
            <a:fillRect/>
          </a:stretch>
        </p:blipFill>
        <p:spPr>
          <a:xfrm rot="0">
            <a:off x="-1163698" y="398772"/>
            <a:ext cx="20615395" cy="11170081"/>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07413" y="328674"/>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917577" y="338838"/>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05 — RÉGRESSION</a:t>
              </a:r>
            </a:p>
          </p:txBody>
        </p:sp>
      </p:grpSp>
      <p:grpSp>
        <p:nvGrpSpPr>
          <p:cNvPr name="Group 8" id="8"/>
          <p:cNvGrpSpPr/>
          <p:nvPr/>
        </p:nvGrpSpPr>
        <p:grpSpPr>
          <a:xfrm rot="0">
            <a:off x="881001" y="895988"/>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Modèle de Régression — Estimation des Dépenses</a:t>
              </a:r>
            </a:p>
          </p:txBody>
        </p:sp>
      </p:grpSp>
      <p:grpSp>
        <p:nvGrpSpPr>
          <p:cNvPr name="Group 11" id="11"/>
          <p:cNvGrpSpPr/>
          <p:nvPr/>
        </p:nvGrpSpPr>
        <p:grpSpPr>
          <a:xfrm rot="0">
            <a:off x="917577" y="2319023"/>
            <a:ext cx="16459200" cy="640080"/>
            <a:chOff x="0" y="0"/>
            <a:chExt cx="21945600" cy="853440"/>
          </a:xfrm>
        </p:grpSpPr>
        <p:sp>
          <p:nvSpPr>
            <p:cNvPr name="Freeform 12" id="12"/>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13" id="13"/>
            <p:cNvSpPr txBox="true"/>
            <p:nvPr/>
          </p:nvSpPr>
          <p:spPr>
            <a:xfrm>
              <a:off x="0" y="-38100"/>
              <a:ext cx="21945600" cy="891540"/>
            </a:xfrm>
            <a:prstGeom prst="rect">
              <a:avLst/>
            </a:prstGeom>
          </p:spPr>
          <p:txBody>
            <a:bodyPr anchor="ctr" rtlCol="false" tIns="0" lIns="0" bIns="0" rIns="0"/>
            <a:lstStyle/>
            <a:p>
              <a:pPr algn="l">
                <a:lnSpc>
                  <a:spcPts val="2879"/>
                </a:lnSpc>
              </a:pPr>
              <a:r>
                <a:rPr lang="en-US" sz="2400">
                  <a:solidFill>
                    <a:srgbClr val="6B8BAA"/>
                  </a:solidFill>
                  <a:latin typeface="Calibri (MS)"/>
                  <a:ea typeface="Calibri (MS)"/>
                  <a:cs typeface="Calibri (MS)"/>
                  <a:sym typeface="Calibri (MS)"/>
                </a:rPr>
                <a:t>RandomForestRegressor sur données brutes</a:t>
              </a:r>
            </a:p>
          </p:txBody>
        </p:sp>
      </p:grpSp>
      <p:grpSp>
        <p:nvGrpSpPr>
          <p:cNvPr name="Group 14" id="14"/>
          <p:cNvGrpSpPr/>
          <p:nvPr/>
        </p:nvGrpSpPr>
        <p:grpSpPr>
          <a:xfrm rot="0">
            <a:off x="911223" y="2916174"/>
            <a:ext cx="3121657" cy="2426713"/>
            <a:chOff x="0" y="0"/>
            <a:chExt cx="4162209" cy="3235617"/>
          </a:xfrm>
        </p:grpSpPr>
        <p:sp>
          <p:nvSpPr>
            <p:cNvPr name="Freeform 15" id="15"/>
            <p:cNvSpPr/>
            <p:nvPr/>
          </p:nvSpPr>
          <p:spPr>
            <a:xfrm flipH="false" flipV="false" rot="0">
              <a:off x="8509" y="8509"/>
              <a:ext cx="4145280" cy="3218688"/>
            </a:xfrm>
            <a:custGeom>
              <a:avLst/>
              <a:gdLst/>
              <a:ahLst/>
              <a:cxnLst/>
              <a:rect r="r" b="b" t="t" l="l"/>
              <a:pathLst>
                <a:path h="3218688" w="4145280">
                  <a:moveTo>
                    <a:pt x="0" y="0"/>
                  </a:moveTo>
                  <a:lnTo>
                    <a:pt x="4145280" y="0"/>
                  </a:lnTo>
                  <a:lnTo>
                    <a:pt x="4145280" y="3218688"/>
                  </a:lnTo>
                  <a:lnTo>
                    <a:pt x="0" y="3218688"/>
                  </a:lnTo>
                  <a:close/>
                </a:path>
              </a:pathLst>
            </a:custGeom>
            <a:solidFill>
              <a:srgbClr val="0D1E35"/>
            </a:solidFill>
          </p:spPr>
        </p:sp>
        <p:sp>
          <p:nvSpPr>
            <p:cNvPr name="Freeform 16" id="16"/>
            <p:cNvSpPr/>
            <p:nvPr/>
          </p:nvSpPr>
          <p:spPr>
            <a:xfrm flipH="false" flipV="false" rot="0">
              <a:off x="0" y="0"/>
              <a:ext cx="4162298" cy="3235706"/>
            </a:xfrm>
            <a:custGeom>
              <a:avLst/>
              <a:gdLst/>
              <a:ahLst/>
              <a:cxnLst/>
              <a:rect r="r" b="b" t="t" l="l"/>
              <a:pathLst>
                <a:path h="3235706" w="4162298">
                  <a:moveTo>
                    <a:pt x="8509" y="0"/>
                  </a:moveTo>
                  <a:lnTo>
                    <a:pt x="4153789" y="0"/>
                  </a:lnTo>
                  <a:cubicBezTo>
                    <a:pt x="4158488" y="0"/>
                    <a:pt x="4162298" y="3810"/>
                    <a:pt x="4162298" y="8509"/>
                  </a:cubicBezTo>
                  <a:lnTo>
                    <a:pt x="4162298" y="3227197"/>
                  </a:lnTo>
                  <a:cubicBezTo>
                    <a:pt x="4162298" y="3231896"/>
                    <a:pt x="4158488" y="3235706"/>
                    <a:pt x="4153789"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4153789" y="3218688"/>
                  </a:lnTo>
                  <a:lnTo>
                    <a:pt x="4153789" y="3227197"/>
                  </a:lnTo>
                  <a:lnTo>
                    <a:pt x="4145280" y="3227197"/>
                  </a:lnTo>
                  <a:lnTo>
                    <a:pt x="4145280" y="8509"/>
                  </a:lnTo>
                  <a:lnTo>
                    <a:pt x="4153789" y="8509"/>
                  </a:lnTo>
                  <a:lnTo>
                    <a:pt x="4153789" y="17018"/>
                  </a:lnTo>
                  <a:lnTo>
                    <a:pt x="8509" y="17018"/>
                  </a:lnTo>
                  <a:close/>
                </a:path>
              </a:pathLst>
            </a:custGeom>
            <a:solidFill>
              <a:srgbClr val="1E3352"/>
            </a:solidFill>
          </p:spPr>
        </p:sp>
      </p:grpSp>
      <p:grpSp>
        <p:nvGrpSpPr>
          <p:cNvPr name="Group 17" id="17"/>
          <p:cNvGrpSpPr/>
          <p:nvPr/>
        </p:nvGrpSpPr>
        <p:grpSpPr>
          <a:xfrm rot="0">
            <a:off x="904880" y="5214118"/>
            <a:ext cx="3134363" cy="135131"/>
            <a:chOff x="0" y="0"/>
            <a:chExt cx="4179151" cy="180175"/>
          </a:xfrm>
        </p:grpSpPr>
        <p:sp>
          <p:nvSpPr>
            <p:cNvPr name="Freeform 18" id="18"/>
            <p:cNvSpPr/>
            <p:nvPr/>
          </p:nvSpPr>
          <p:spPr>
            <a:xfrm flipH="false" flipV="false" rot="0">
              <a:off x="16891" y="16891"/>
              <a:ext cx="4145280" cy="146304"/>
            </a:xfrm>
            <a:custGeom>
              <a:avLst/>
              <a:gdLst/>
              <a:ahLst/>
              <a:cxnLst/>
              <a:rect r="r" b="b" t="t" l="l"/>
              <a:pathLst>
                <a:path h="146304" w="4145280">
                  <a:moveTo>
                    <a:pt x="0" y="0"/>
                  </a:moveTo>
                  <a:lnTo>
                    <a:pt x="4145280" y="0"/>
                  </a:lnTo>
                  <a:lnTo>
                    <a:pt x="4145280" y="146304"/>
                  </a:lnTo>
                  <a:lnTo>
                    <a:pt x="0" y="146304"/>
                  </a:lnTo>
                  <a:close/>
                </a:path>
              </a:pathLst>
            </a:custGeom>
            <a:solidFill>
              <a:srgbClr val="00E5A0"/>
            </a:solidFill>
          </p:spPr>
        </p:sp>
        <p:sp>
          <p:nvSpPr>
            <p:cNvPr name="Freeform 19" id="19"/>
            <p:cNvSpPr/>
            <p:nvPr/>
          </p:nvSpPr>
          <p:spPr>
            <a:xfrm flipH="false" flipV="false" rot="0">
              <a:off x="0" y="0"/>
              <a:ext cx="4179062" cy="180088"/>
            </a:xfrm>
            <a:custGeom>
              <a:avLst/>
              <a:gdLst/>
              <a:ahLst/>
              <a:cxnLst/>
              <a:rect r="r" b="b" t="t" l="l"/>
              <a:pathLst>
                <a:path h="180088" w="4179062">
                  <a:moveTo>
                    <a:pt x="16891" y="0"/>
                  </a:moveTo>
                  <a:lnTo>
                    <a:pt x="4162171" y="0"/>
                  </a:lnTo>
                  <a:cubicBezTo>
                    <a:pt x="4171569" y="0"/>
                    <a:pt x="4179062" y="7620"/>
                    <a:pt x="4179062" y="16891"/>
                  </a:cubicBezTo>
                  <a:lnTo>
                    <a:pt x="4179062" y="163195"/>
                  </a:lnTo>
                  <a:cubicBezTo>
                    <a:pt x="4179062" y="172593"/>
                    <a:pt x="4171442" y="180086"/>
                    <a:pt x="416217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162171" y="146304"/>
                  </a:lnTo>
                  <a:lnTo>
                    <a:pt x="4162171" y="163195"/>
                  </a:lnTo>
                  <a:lnTo>
                    <a:pt x="4145280" y="163195"/>
                  </a:lnTo>
                  <a:lnTo>
                    <a:pt x="4145280" y="16891"/>
                  </a:lnTo>
                  <a:lnTo>
                    <a:pt x="4162171" y="16891"/>
                  </a:lnTo>
                  <a:lnTo>
                    <a:pt x="4162171" y="33909"/>
                  </a:lnTo>
                  <a:lnTo>
                    <a:pt x="16891" y="33909"/>
                  </a:lnTo>
                  <a:close/>
                </a:path>
              </a:pathLst>
            </a:custGeom>
            <a:solidFill>
              <a:srgbClr val="00E5A0"/>
            </a:solidFill>
          </p:spPr>
        </p:sp>
      </p:grpSp>
      <p:grpSp>
        <p:nvGrpSpPr>
          <p:cNvPr name="Group 20" id="20"/>
          <p:cNvGrpSpPr/>
          <p:nvPr/>
        </p:nvGrpSpPr>
        <p:grpSpPr>
          <a:xfrm rot="0">
            <a:off x="917577" y="3105407"/>
            <a:ext cx="3108960" cy="1060704"/>
            <a:chOff x="0" y="0"/>
            <a:chExt cx="4145280" cy="1414272"/>
          </a:xfrm>
        </p:grpSpPr>
        <p:sp>
          <p:nvSpPr>
            <p:cNvPr name="Freeform 21" id="21"/>
            <p:cNvSpPr/>
            <p:nvPr/>
          </p:nvSpPr>
          <p:spPr>
            <a:xfrm flipH="false" flipV="false" rot="0">
              <a:off x="0" y="0"/>
              <a:ext cx="4145280" cy="1414272"/>
            </a:xfrm>
            <a:custGeom>
              <a:avLst/>
              <a:gdLst/>
              <a:ahLst/>
              <a:cxnLst/>
              <a:rect r="r" b="b" t="t" l="l"/>
              <a:pathLst>
                <a:path h="1414272" w="4145280">
                  <a:moveTo>
                    <a:pt x="0" y="0"/>
                  </a:moveTo>
                  <a:lnTo>
                    <a:pt x="4145280" y="0"/>
                  </a:lnTo>
                  <a:lnTo>
                    <a:pt x="4145280" y="1414272"/>
                  </a:lnTo>
                  <a:lnTo>
                    <a:pt x="0" y="1414272"/>
                  </a:lnTo>
                  <a:close/>
                </a:path>
              </a:pathLst>
            </a:custGeom>
            <a:blipFill>
              <a:blip r:embed="rId3">
                <a:alphaModFix amt="0"/>
              </a:blip>
              <a:stretch>
                <a:fillRect l="0" t="-7111" r="0" b="-7111"/>
              </a:stretch>
            </a:blipFill>
          </p:spPr>
        </p:sp>
        <p:sp>
          <p:nvSpPr>
            <p:cNvPr name="TextBox 22" id="22"/>
            <p:cNvSpPr txBox="true"/>
            <p:nvPr/>
          </p:nvSpPr>
          <p:spPr>
            <a:xfrm>
              <a:off x="0" y="-76200"/>
              <a:ext cx="4145280" cy="1490472"/>
            </a:xfrm>
            <a:prstGeom prst="rect">
              <a:avLst/>
            </a:prstGeom>
          </p:spPr>
          <p:txBody>
            <a:bodyPr anchor="ctr" rtlCol="false" tIns="0" lIns="0" bIns="0" rIns="0"/>
            <a:lstStyle/>
            <a:p>
              <a:pPr algn="ctr">
                <a:lnSpc>
                  <a:spcPts val="5280"/>
                </a:lnSpc>
              </a:pPr>
              <a:r>
                <a:rPr lang="en-US" sz="4400" b="true">
                  <a:solidFill>
                    <a:srgbClr val="00E5A0"/>
                  </a:solidFill>
                  <a:latin typeface="Calibri (MS) Bold"/>
                  <a:ea typeface="Calibri (MS) Bold"/>
                  <a:cs typeface="Calibri (MS) Bold"/>
                  <a:sym typeface="Calibri (MS) Bold"/>
                </a:rPr>
                <a:t>0.9625</a:t>
              </a:r>
            </a:p>
          </p:txBody>
        </p:sp>
      </p:grpSp>
      <p:grpSp>
        <p:nvGrpSpPr>
          <p:cNvPr name="Group 23" id="23"/>
          <p:cNvGrpSpPr/>
          <p:nvPr/>
        </p:nvGrpSpPr>
        <p:grpSpPr>
          <a:xfrm rot="0">
            <a:off x="917577" y="4184399"/>
            <a:ext cx="3108960" cy="950976"/>
            <a:chOff x="0" y="0"/>
            <a:chExt cx="4145280" cy="1267968"/>
          </a:xfrm>
        </p:grpSpPr>
        <p:sp>
          <p:nvSpPr>
            <p:cNvPr name="Freeform 24" id="24"/>
            <p:cNvSpPr/>
            <p:nvPr/>
          </p:nvSpPr>
          <p:spPr>
            <a:xfrm flipH="false" flipV="false" rot="0">
              <a:off x="0" y="0"/>
              <a:ext cx="4145280" cy="1267968"/>
            </a:xfrm>
            <a:custGeom>
              <a:avLst/>
              <a:gdLst/>
              <a:ahLst/>
              <a:cxnLst/>
              <a:rect r="r" b="b" t="t" l="l"/>
              <a:pathLst>
                <a:path h="1267968" w="4145280">
                  <a:moveTo>
                    <a:pt x="0" y="0"/>
                  </a:moveTo>
                  <a:lnTo>
                    <a:pt x="4145280" y="0"/>
                  </a:lnTo>
                  <a:lnTo>
                    <a:pt x="4145280" y="1267968"/>
                  </a:lnTo>
                  <a:lnTo>
                    <a:pt x="0" y="1267968"/>
                  </a:lnTo>
                  <a:close/>
                </a:path>
              </a:pathLst>
            </a:custGeom>
            <a:blipFill>
              <a:blip r:embed="rId3">
                <a:alphaModFix amt="0"/>
              </a:blip>
              <a:stretch>
                <a:fillRect l="0" t="-13701" r="0" b="-13701"/>
              </a:stretch>
            </a:blipFill>
          </p:spPr>
        </p:sp>
        <p:sp>
          <p:nvSpPr>
            <p:cNvPr name="TextBox 25" id="25"/>
            <p:cNvSpPr txBox="true"/>
            <p:nvPr/>
          </p:nvSpPr>
          <p:spPr>
            <a:xfrm>
              <a:off x="0" y="-38100"/>
              <a:ext cx="4145280" cy="1306068"/>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R² (Log Scale)</a:t>
              </a:r>
            </a:p>
          </p:txBody>
        </p:sp>
      </p:grpSp>
      <p:grpSp>
        <p:nvGrpSpPr>
          <p:cNvPr name="Group 26" id="26"/>
          <p:cNvGrpSpPr/>
          <p:nvPr/>
        </p:nvGrpSpPr>
        <p:grpSpPr>
          <a:xfrm rot="0">
            <a:off x="4239639" y="2916174"/>
            <a:ext cx="3121657" cy="2426713"/>
            <a:chOff x="0" y="0"/>
            <a:chExt cx="4162209" cy="3235617"/>
          </a:xfrm>
        </p:grpSpPr>
        <p:sp>
          <p:nvSpPr>
            <p:cNvPr name="Freeform 27" id="27"/>
            <p:cNvSpPr/>
            <p:nvPr/>
          </p:nvSpPr>
          <p:spPr>
            <a:xfrm flipH="false" flipV="false" rot="0">
              <a:off x="8509" y="8509"/>
              <a:ext cx="4145280" cy="3218688"/>
            </a:xfrm>
            <a:custGeom>
              <a:avLst/>
              <a:gdLst/>
              <a:ahLst/>
              <a:cxnLst/>
              <a:rect r="r" b="b" t="t" l="l"/>
              <a:pathLst>
                <a:path h="3218688" w="4145280">
                  <a:moveTo>
                    <a:pt x="0" y="0"/>
                  </a:moveTo>
                  <a:lnTo>
                    <a:pt x="4145280" y="0"/>
                  </a:lnTo>
                  <a:lnTo>
                    <a:pt x="4145280" y="3218688"/>
                  </a:lnTo>
                  <a:lnTo>
                    <a:pt x="0" y="3218688"/>
                  </a:lnTo>
                  <a:close/>
                </a:path>
              </a:pathLst>
            </a:custGeom>
            <a:solidFill>
              <a:srgbClr val="0D1E35"/>
            </a:solidFill>
          </p:spPr>
        </p:sp>
        <p:sp>
          <p:nvSpPr>
            <p:cNvPr name="Freeform 28" id="28"/>
            <p:cNvSpPr/>
            <p:nvPr/>
          </p:nvSpPr>
          <p:spPr>
            <a:xfrm flipH="false" flipV="false" rot="0">
              <a:off x="0" y="0"/>
              <a:ext cx="4162298" cy="3235706"/>
            </a:xfrm>
            <a:custGeom>
              <a:avLst/>
              <a:gdLst/>
              <a:ahLst/>
              <a:cxnLst/>
              <a:rect r="r" b="b" t="t" l="l"/>
              <a:pathLst>
                <a:path h="3235706" w="4162298">
                  <a:moveTo>
                    <a:pt x="8509" y="0"/>
                  </a:moveTo>
                  <a:lnTo>
                    <a:pt x="4153789" y="0"/>
                  </a:lnTo>
                  <a:cubicBezTo>
                    <a:pt x="4158488" y="0"/>
                    <a:pt x="4162298" y="3810"/>
                    <a:pt x="4162298" y="8509"/>
                  </a:cubicBezTo>
                  <a:lnTo>
                    <a:pt x="4162298" y="3227197"/>
                  </a:lnTo>
                  <a:cubicBezTo>
                    <a:pt x="4162298" y="3231896"/>
                    <a:pt x="4158488" y="3235706"/>
                    <a:pt x="4153789"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4153789" y="3218688"/>
                  </a:lnTo>
                  <a:lnTo>
                    <a:pt x="4153789" y="3227197"/>
                  </a:lnTo>
                  <a:lnTo>
                    <a:pt x="4145280" y="3227197"/>
                  </a:lnTo>
                  <a:lnTo>
                    <a:pt x="4145280" y="8509"/>
                  </a:lnTo>
                  <a:lnTo>
                    <a:pt x="4153789" y="8509"/>
                  </a:lnTo>
                  <a:lnTo>
                    <a:pt x="4153789" y="17018"/>
                  </a:lnTo>
                  <a:lnTo>
                    <a:pt x="8509" y="17018"/>
                  </a:lnTo>
                  <a:close/>
                </a:path>
              </a:pathLst>
            </a:custGeom>
            <a:solidFill>
              <a:srgbClr val="1E3352"/>
            </a:solidFill>
          </p:spPr>
        </p:sp>
      </p:grpSp>
      <p:grpSp>
        <p:nvGrpSpPr>
          <p:cNvPr name="Group 29" id="29"/>
          <p:cNvGrpSpPr/>
          <p:nvPr/>
        </p:nvGrpSpPr>
        <p:grpSpPr>
          <a:xfrm rot="0">
            <a:off x="4233296" y="5214118"/>
            <a:ext cx="3134363" cy="135131"/>
            <a:chOff x="0" y="0"/>
            <a:chExt cx="4179151" cy="180175"/>
          </a:xfrm>
        </p:grpSpPr>
        <p:sp>
          <p:nvSpPr>
            <p:cNvPr name="Freeform 30" id="30"/>
            <p:cNvSpPr/>
            <p:nvPr/>
          </p:nvSpPr>
          <p:spPr>
            <a:xfrm flipH="false" flipV="false" rot="0">
              <a:off x="16891" y="16891"/>
              <a:ext cx="4145280" cy="146304"/>
            </a:xfrm>
            <a:custGeom>
              <a:avLst/>
              <a:gdLst/>
              <a:ahLst/>
              <a:cxnLst/>
              <a:rect r="r" b="b" t="t" l="l"/>
              <a:pathLst>
                <a:path h="146304" w="4145280">
                  <a:moveTo>
                    <a:pt x="0" y="0"/>
                  </a:moveTo>
                  <a:lnTo>
                    <a:pt x="4145280" y="0"/>
                  </a:lnTo>
                  <a:lnTo>
                    <a:pt x="4145280" y="146304"/>
                  </a:lnTo>
                  <a:lnTo>
                    <a:pt x="0" y="146304"/>
                  </a:lnTo>
                  <a:close/>
                </a:path>
              </a:pathLst>
            </a:custGeom>
            <a:solidFill>
              <a:srgbClr val="1A8FFF"/>
            </a:solidFill>
          </p:spPr>
        </p:sp>
        <p:sp>
          <p:nvSpPr>
            <p:cNvPr name="Freeform 31" id="31"/>
            <p:cNvSpPr/>
            <p:nvPr/>
          </p:nvSpPr>
          <p:spPr>
            <a:xfrm flipH="false" flipV="false" rot="0">
              <a:off x="0" y="0"/>
              <a:ext cx="4179062" cy="180088"/>
            </a:xfrm>
            <a:custGeom>
              <a:avLst/>
              <a:gdLst/>
              <a:ahLst/>
              <a:cxnLst/>
              <a:rect r="r" b="b" t="t" l="l"/>
              <a:pathLst>
                <a:path h="180088" w="4179062">
                  <a:moveTo>
                    <a:pt x="16891" y="0"/>
                  </a:moveTo>
                  <a:lnTo>
                    <a:pt x="4162171" y="0"/>
                  </a:lnTo>
                  <a:cubicBezTo>
                    <a:pt x="4171569" y="0"/>
                    <a:pt x="4179062" y="7620"/>
                    <a:pt x="4179062" y="16891"/>
                  </a:cubicBezTo>
                  <a:lnTo>
                    <a:pt x="4179062" y="163195"/>
                  </a:lnTo>
                  <a:cubicBezTo>
                    <a:pt x="4179062" y="172593"/>
                    <a:pt x="4171442" y="180086"/>
                    <a:pt x="416217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162171" y="146304"/>
                  </a:lnTo>
                  <a:lnTo>
                    <a:pt x="4162171" y="163195"/>
                  </a:lnTo>
                  <a:lnTo>
                    <a:pt x="4145280" y="163195"/>
                  </a:lnTo>
                  <a:lnTo>
                    <a:pt x="4145280" y="16891"/>
                  </a:lnTo>
                  <a:lnTo>
                    <a:pt x="4162171" y="16891"/>
                  </a:lnTo>
                  <a:lnTo>
                    <a:pt x="4162171" y="33909"/>
                  </a:lnTo>
                  <a:lnTo>
                    <a:pt x="16891" y="33909"/>
                  </a:lnTo>
                  <a:close/>
                </a:path>
              </a:pathLst>
            </a:custGeom>
            <a:solidFill>
              <a:srgbClr val="1A8FFF"/>
            </a:solidFill>
          </p:spPr>
        </p:sp>
      </p:grpSp>
      <p:grpSp>
        <p:nvGrpSpPr>
          <p:cNvPr name="Group 32" id="32"/>
          <p:cNvGrpSpPr/>
          <p:nvPr/>
        </p:nvGrpSpPr>
        <p:grpSpPr>
          <a:xfrm rot="0">
            <a:off x="4245993" y="3105407"/>
            <a:ext cx="3108960" cy="1060704"/>
            <a:chOff x="0" y="0"/>
            <a:chExt cx="4145280" cy="1414272"/>
          </a:xfrm>
        </p:grpSpPr>
        <p:sp>
          <p:nvSpPr>
            <p:cNvPr name="Freeform 33" id="33"/>
            <p:cNvSpPr/>
            <p:nvPr/>
          </p:nvSpPr>
          <p:spPr>
            <a:xfrm flipH="false" flipV="false" rot="0">
              <a:off x="0" y="0"/>
              <a:ext cx="4145280" cy="1414272"/>
            </a:xfrm>
            <a:custGeom>
              <a:avLst/>
              <a:gdLst/>
              <a:ahLst/>
              <a:cxnLst/>
              <a:rect r="r" b="b" t="t" l="l"/>
              <a:pathLst>
                <a:path h="1414272" w="4145280">
                  <a:moveTo>
                    <a:pt x="0" y="0"/>
                  </a:moveTo>
                  <a:lnTo>
                    <a:pt x="4145280" y="0"/>
                  </a:lnTo>
                  <a:lnTo>
                    <a:pt x="4145280" y="1414272"/>
                  </a:lnTo>
                  <a:lnTo>
                    <a:pt x="0" y="1414272"/>
                  </a:lnTo>
                  <a:close/>
                </a:path>
              </a:pathLst>
            </a:custGeom>
            <a:blipFill>
              <a:blip r:embed="rId3">
                <a:alphaModFix amt="0"/>
              </a:blip>
              <a:stretch>
                <a:fillRect l="0" t="-7111" r="0" b="-7111"/>
              </a:stretch>
            </a:blipFill>
          </p:spPr>
        </p:sp>
        <p:sp>
          <p:nvSpPr>
            <p:cNvPr name="TextBox 34" id="34"/>
            <p:cNvSpPr txBox="true"/>
            <p:nvPr/>
          </p:nvSpPr>
          <p:spPr>
            <a:xfrm>
              <a:off x="0" y="-76200"/>
              <a:ext cx="4145280" cy="1490472"/>
            </a:xfrm>
            <a:prstGeom prst="rect">
              <a:avLst/>
            </a:prstGeom>
          </p:spPr>
          <p:txBody>
            <a:bodyPr anchor="ctr" rtlCol="false" tIns="0" lIns="0" bIns="0" rIns="0"/>
            <a:lstStyle/>
            <a:p>
              <a:pPr algn="ctr">
                <a:lnSpc>
                  <a:spcPts val="5280"/>
                </a:lnSpc>
              </a:pPr>
              <a:r>
                <a:rPr lang="en-US" sz="4400" b="true">
                  <a:solidFill>
                    <a:srgbClr val="1A8FFF"/>
                  </a:solidFill>
                  <a:latin typeface="Calibri (MS) Bold"/>
                  <a:ea typeface="Calibri (MS) Bold"/>
                  <a:cs typeface="Calibri (MS) Bold"/>
                  <a:sym typeface="Calibri (MS) Bold"/>
                </a:rPr>
                <a:t>0.9099</a:t>
              </a:r>
            </a:p>
          </p:txBody>
        </p:sp>
      </p:grpSp>
      <p:grpSp>
        <p:nvGrpSpPr>
          <p:cNvPr name="Group 35" id="35"/>
          <p:cNvGrpSpPr/>
          <p:nvPr/>
        </p:nvGrpSpPr>
        <p:grpSpPr>
          <a:xfrm rot="0">
            <a:off x="4245993" y="4184399"/>
            <a:ext cx="3108960" cy="950976"/>
            <a:chOff x="0" y="0"/>
            <a:chExt cx="4145280" cy="1267968"/>
          </a:xfrm>
        </p:grpSpPr>
        <p:sp>
          <p:nvSpPr>
            <p:cNvPr name="Freeform 36" id="36"/>
            <p:cNvSpPr/>
            <p:nvPr/>
          </p:nvSpPr>
          <p:spPr>
            <a:xfrm flipH="false" flipV="false" rot="0">
              <a:off x="0" y="0"/>
              <a:ext cx="4145280" cy="1267968"/>
            </a:xfrm>
            <a:custGeom>
              <a:avLst/>
              <a:gdLst/>
              <a:ahLst/>
              <a:cxnLst/>
              <a:rect r="r" b="b" t="t" l="l"/>
              <a:pathLst>
                <a:path h="1267968" w="4145280">
                  <a:moveTo>
                    <a:pt x="0" y="0"/>
                  </a:moveTo>
                  <a:lnTo>
                    <a:pt x="4145280" y="0"/>
                  </a:lnTo>
                  <a:lnTo>
                    <a:pt x="4145280" y="1267968"/>
                  </a:lnTo>
                  <a:lnTo>
                    <a:pt x="0" y="1267968"/>
                  </a:lnTo>
                  <a:close/>
                </a:path>
              </a:pathLst>
            </a:custGeom>
            <a:blipFill>
              <a:blip r:embed="rId3">
                <a:alphaModFix amt="0"/>
              </a:blip>
              <a:stretch>
                <a:fillRect l="0" t="-13701" r="0" b="-13701"/>
              </a:stretch>
            </a:blipFill>
          </p:spPr>
        </p:sp>
        <p:sp>
          <p:nvSpPr>
            <p:cNvPr name="TextBox 37" id="37"/>
            <p:cNvSpPr txBox="true"/>
            <p:nvPr/>
          </p:nvSpPr>
          <p:spPr>
            <a:xfrm>
              <a:off x="0" y="-38100"/>
              <a:ext cx="4145280" cy="1306068"/>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R² (Real Scale)</a:t>
              </a:r>
            </a:p>
          </p:txBody>
        </p:sp>
      </p:grpSp>
      <p:grpSp>
        <p:nvGrpSpPr>
          <p:cNvPr name="Group 38" id="38"/>
          <p:cNvGrpSpPr/>
          <p:nvPr/>
        </p:nvGrpSpPr>
        <p:grpSpPr>
          <a:xfrm rot="0">
            <a:off x="7568055" y="2916174"/>
            <a:ext cx="3121657" cy="2426713"/>
            <a:chOff x="0" y="0"/>
            <a:chExt cx="4162209" cy="3235617"/>
          </a:xfrm>
        </p:grpSpPr>
        <p:sp>
          <p:nvSpPr>
            <p:cNvPr name="Freeform 39" id="39"/>
            <p:cNvSpPr/>
            <p:nvPr/>
          </p:nvSpPr>
          <p:spPr>
            <a:xfrm flipH="false" flipV="false" rot="0">
              <a:off x="8509" y="8509"/>
              <a:ext cx="4145280" cy="3218688"/>
            </a:xfrm>
            <a:custGeom>
              <a:avLst/>
              <a:gdLst/>
              <a:ahLst/>
              <a:cxnLst/>
              <a:rect r="r" b="b" t="t" l="l"/>
              <a:pathLst>
                <a:path h="3218688" w="4145280">
                  <a:moveTo>
                    <a:pt x="0" y="0"/>
                  </a:moveTo>
                  <a:lnTo>
                    <a:pt x="4145280" y="0"/>
                  </a:lnTo>
                  <a:lnTo>
                    <a:pt x="4145280" y="3218688"/>
                  </a:lnTo>
                  <a:lnTo>
                    <a:pt x="0" y="3218688"/>
                  </a:lnTo>
                  <a:close/>
                </a:path>
              </a:pathLst>
            </a:custGeom>
            <a:solidFill>
              <a:srgbClr val="0D1E35"/>
            </a:solidFill>
          </p:spPr>
        </p:sp>
        <p:sp>
          <p:nvSpPr>
            <p:cNvPr name="Freeform 40" id="40"/>
            <p:cNvSpPr/>
            <p:nvPr/>
          </p:nvSpPr>
          <p:spPr>
            <a:xfrm flipH="false" flipV="false" rot="0">
              <a:off x="0" y="0"/>
              <a:ext cx="4162298" cy="3235706"/>
            </a:xfrm>
            <a:custGeom>
              <a:avLst/>
              <a:gdLst/>
              <a:ahLst/>
              <a:cxnLst/>
              <a:rect r="r" b="b" t="t" l="l"/>
              <a:pathLst>
                <a:path h="3235706" w="4162298">
                  <a:moveTo>
                    <a:pt x="8509" y="0"/>
                  </a:moveTo>
                  <a:lnTo>
                    <a:pt x="4153789" y="0"/>
                  </a:lnTo>
                  <a:cubicBezTo>
                    <a:pt x="4158488" y="0"/>
                    <a:pt x="4162298" y="3810"/>
                    <a:pt x="4162298" y="8509"/>
                  </a:cubicBezTo>
                  <a:lnTo>
                    <a:pt x="4162298" y="3227197"/>
                  </a:lnTo>
                  <a:cubicBezTo>
                    <a:pt x="4162298" y="3231896"/>
                    <a:pt x="4158488" y="3235706"/>
                    <a:pt x="4153789"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4153789" y="3218688"/>
                  </a:lnTo>
                  <a:lnTo>
                    <a:pt x="4153789" y="3227197"/>
                  </a:lnTo>
                  <a:lnTo>
                    <a:pt x="4145280" y="3227197"/>
                  </a:lnTo>
                  <a:lnTo>
                    <a:pt x="4145280" y="8509"/>
                  </a:lnTo>
                  <a:lnTo>
                    <a:pt x="4153789" y="8509"/>
                  </a:lnTo>
                  <a:lnTo>
                    <a:pt x="4153789" y="17018"/>
                  </a:lnTo>
                  <a:lnTo>
                    <a:pt x="8509" y="17018"/>
                  </a:lnTo>
                  <a:close/>
                </a:path>
              </a:pathLst>
            </a:custGeom>
            <a:solidFill>
              <a:srgbClr val="1E3352"/>
            </a:solidFill>
          </p:spPr>
        </p:sp>
      </p:grpSp>
      <p:grpSp>
        <p:nvGrpSpPr>
          <p:cNvPr name="Group 41" id="41"/>
          <p:cNvGrpSpPr/>
          <p:nvPr/>
        </p:nvGrpSpPr>
        <p:grpSpPr>
          <a:xfrm rot="0">
            <a:off x="7561712" y="5214118"/>
            <a:ext cx="3134363" cy="135131"/>
            <a:chOff x="0" y="0"/>
            <a:chExt cx="4179151" cy="180175"/>
          </a:xfrm>
        </p:grpSpPr>
        <p:sp>
          <p:nvSpPr>
            <p:cNvPr name="Freeform 42" id="42"/>
            <p:cNvSpPr/>
            <p:nvPr/>
          </p:nvSpPr>
          <p:spPr>
            <a:xfrm flipH="false" flipV="false" rot="0">
              <a:off x="16891" y="16891"/>
              <a:ext cx="4145280" cy="146304"/>
            </a:xfrm>
            <a:custGeom>
              <a:avLst/>
              <a:gdLst/>
              <a:ahLst/>
              <a:cxnLst/>
              <a:rect r="r" b="b" t="t" l="l"/>
              <a:pathLst>
                <a:path h="146304" w="4145280">
                  <a:moveTo>
                    <a:pt x="0" y="0"/>
                  </a:moveTo>
                  <a:lnTo>
                    <a:pt x="4145280" y="0"/>
                  </a:lnTo>
                  <a:lnTo>
                    <a:pt x="4145280" y="146304"/>
                  </a:lnTo>
                  <a:lnTo>
                    <a:pt x="0" y="146304"/>
                  </a:lnTo>
                  <a:close/>
                </a:path>
              </a:pathLst>
            </a:custGeom>
            <a:solidFill>
              <a:srgbClr val="FFB800"/>
            </a:solidFill>
          </p:spPr>
        </p:sp>
        <p:sp>
          <p:nvSpPr>
            <p:cNvPr name="Freeform 43" id="43"/>
            <p:cNvSpPr/>
            <p:nvPr/>
          </p:nvSpPr>
          <p:spPr>
            <a:xfrm flipH="false" flipV="false" rot="0">
              <a:off x="0" y="0"/>
              <a:ext cx="4179062" cy="180088"/>
            </a:xfrm>
            <a:custGeom>
              <a:avLst/>
              <a:gdLst/>
              <a:ahLst/>
              <a:cxnLst/>
              <a:rect r="r" b="b" t="t" l="l"/>
              <a:pathLst>
                <a:path h="180088" w="4179062">
                  <a:moveTo>
                    <a:pt x="16891" y="0"/>
                  </a:moveTo>
                  <a:lnTo>
                    <a:pt x="4162171" y="0"/>
                  </a:lnTo>
                  <a:cubicBezTo>
                    <a:pt x="4171569" y="0"/>
                    <a:pt x="4179062" y="7620"/>
                    <a:pt x="4179062" y="16891"/>
                  </a:cubicBezTo>
                  <a:lnTo>
                    <a:pt x="4179062" y="163195"/>
                  </a:lnTo>
                  <a:cubicBezTo>
                    <a:pt x="4179062" y="172593"/>
                    <a:pt x="4171442" y="180086"/>
                    <a:pt x="416217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162171" y="146304"/>
                  </a:lnTo>
                  <a:lnTo>
                    <a:pt x="4162171" y="163195"/>
                  </a:lnTo>
                  <a:lnTo>
                    <a:pt x="4145280" y="163195"/>
                  </a:lnTo>
                  <a:lnTo>
                    <a:pt x="4145280" y="16891"/>
                  </a:lnTo>
                  <a:lnTo>
                    <a:pt x="4162171" y="16891"/>
                  </a:lnTo>
                  <a:lnTo>
                    <a:pt x="4162171" y="33909"/>
                  </a:lnTo>
                  <a:lnTo>
                    <a:pt x="16891" y="33909"/>
                  </a:lnTo>
                  <a:close/>
                </a:path>
              </a:pathLst>
            </a:custGeom>
            <a:solidFill>
              <a:srgbClr val="FFB800"/>
            </a:solidFill>
          </p:spPr>
        </p:sp>
      </p:grpSp>
      <p:grpSp>
        <p:nvGrpSpPr>
          <p:cNvPr name="Group 44" id="44"/>
          <p:cNvGrpSpPr/>
          <p:nvPr/>
        </p:nvGrpSpPr>
        <p:grpSpPr>
          <a:xfrm rot="0">
            <a:off x="7574409" y="3105407"/>
            <a:ext cx="3108960" cy="1060704"/>
            <a:chOff x="0" y="0"/>
            <a:chExt cx="4145280" cy="1414272"/>
          </a:xfrm>
        </p:grpSpPr>
        <p:sp>
          <p:nvSpPr>
            <p:cNvPr name="Freeform 45" id="45"/>
            <p:cNvSpPr/>
            <p:nvPr/>
          </p:nvSpPr>
          <p:spPr>
            <a:xfrm flipH="false" flipV="false" rot="0">
              <a:off x="0" y="0"/>
              <a:ext cx="4145280" cy="1414272"/>
            </a:xfrm>
            <a:custGeom>
              <a:avLst/>
              <a:gdLst/>
              <a:ahLst/>
              <a:cxnLst/>
              <a:rect r="r" b="b" t="t" l="l"/>
              <a:pathLst>
                <a:path h="1414272" w="4145280">
                  <a:moveTo>
                    <a:pt x="0" y="0"/>
                  </a:moveTo>
                  <a:lnTo>
                    <a:pt x="4145280" y="0"/>
                  </a:lnTo>
                  <a:lnTo>
                    <a:pt x="4145280" y="1414272"/>
                  </a:lnTo>
                  <a:lnTo>
                    <a:pt x="0" y="1414272"/>
                  </a:lnTo>
                  <a:close/>
                </a:path>
              </a:pathLst>
            </a:custGeom>
            <a:blipFill>
              <a:blip r:embed="rId3">
                <a:alphaModFix amt="0"/>
              </a:blip>
              <a:stretch>
                <a:fillRect l="0" t="-7111" r="0" b="-7111"/>
              </a:stretch>
            </a:blipFill>
          </p:spPr>
        </p:sp>
        <p:sp>
          <p:nvSpPr>
            <p:cNvPr name="TextBox 46" id="46"/>
            <p:cNvSpPr txBox="true"/>
            <p:nvPr/>
          </p:nvSpPr>
          <p:spPr>
            <a:xfrm>
              <a:off x="0" y="-76200"/>
              <a:ext cx="4145280" cy="1490472"/>
            </a:xfrm>
            <a:prstGeom prst="rect">
              <a:avLst/>
            </a:prstGeom>
          </p:spPr>
          <p:txBody>
            <a:bodyPr anchor="ctr" rtlCol="false" tIns="0" lIns="0" bIns="0" rIns="0"/>
            <a:lstStyle/>
            <a:p>
              <a:pPr algn="ctr">
                <a:lnSpc>
                  <a:spcPts val="5280"/>
                </a:lnSpc>
              </a:pPr>
              <a:r>
                <a:rPr lang="en-US" sz="4400" b="true">
                  <a:solidFill>
                    <a:srgbClr val="FFB800"/>
                  </a:solidFill>
                  <a:latin typeface="Calibri (MS) Bold"/>
                  <a:ea typeface="Calibri (MS) Bold"/>
                  <a:cs typeface="Calibri (MS) Bold"/>
                  <a:sym typeface="Calibri (MS) Bold"/>
                </a:rPr>
                <a:t>0.9651</a:t>
              </a:r>
            </a:p>
          </p:txBody>
        </p:sp>
      </p:grpSp>
      <p:grpSp>
        <p:nvGrpSpPr>
          <p:cNvPr name="Group 47" id="47"/>
          <p:cNvGrpSpPr/>
          <p:nvPr/>
        </p:nvGrpSpPr>
        <p:grpSpPr>
          <a:xfrm rot="0">
            <a:off x="7574409" y="4184399"/>
            <a:ext cx="3108960" cy="950976"/>
            <a:chOff x="0" y="0"/>
            <a:chExt cx="4145280" cy="1267968"/>
          </a:xfrm>
        </p:grpSpPr>
        <p:sp>
          <p:nvSpPr>
            <p:cNvPr name="Freeform 48" id="48"/>
            <p:cNvSpPr/>
            <p:nvPr/>
          </p:nvSpPr>
          <p:spPr>
            <a:xfrm flipH="false" flipV="false" rot="0">
              <a:off x="0" y="0"/>
              <a:ext cx="4145280" cy="1267968"/>
            </a:xfrm>
            <a:custGeom>
              <a:avLst/>
              <a:gdLst/>
              <a:ahLst/>
              <a:cxnLst/>
              <a:rect r="r" b="b" t="t" l="l"/>
              <a:pathLst>
                <a:path h="1267968" w="4145280">
                  <a:moveTo>
                    <a:pt x="0" y="0"/>
                  </a:moveTo>
                  <a:lnTo>
                    <a:pt x="4145280" y="0"/>
                  </a:lnTo>
                  <a:lnTo>
                    <a:pt x="4145280" y="1267968"/>
                  </a:lnTo>
                  <a:lnTo>
                    <a:pt x="0" y="1267968"/>
                  </a:lnTo>
                  <a:close/>
                </a:path>
              </a:pathLst>
            </a:custGeom>
            <a:blipFill>
              <a:blip r:embed="rId3">
                <a:alphaModFix amt="0"/>
              </a:blip>
              <a:stretch>
                <a:fillRect l="0" t="-13701" r="0" b="-13701"/>
              </a:stretch>
            </a:blipFill>
          </p:spPr>
        </p:sp>
        <p:sp>
          <p:nvSpPr>
            <p:cNvPr name="TextBox 49" id="49"/>
            <p:cNvSpPr txBox="true"/>
            <p:nvPr/>
          </p:nvSpPr>
          <p:spPr>
            <a:xfrm>
              <a:off x="0" y="-38100"/>
              <a:ext cx="4145280" cy="1306068"/>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CV R² (5-fold)</a:t>
              </a:r>
            </a:p>
          </p:txBody>
        </p:sp>
      </p:grpSp>
      <p:grpSp>
        <p:nvGrpSpPr>
          <p:cNvPr name="Group 50" id="50"/>
          <p:cNvGrpSpPr/>
          <p:nvPr/>
        </p:nvGrpSpPr>
        <p:grpSpPr>
          <a:xfrm rot="0">
            <a:off x="10896471" y="2916174"/>
            <a:ext cx="3121657" cy="2426713"/>
            <a:chOff x="0" y="0"/>
            <a:chExt cx="4162209" cy="3235617"/>
          </a:xfrm>
        </p:grpSpPr>
        <p:sp>
          <p:nvSpPr>
            <p:cNvPr name="Freeform 51" id="51"/>
            <p:cNvSpPr/>
            <p:nvPr/>
          </p:nvSpPr>
          <p:spPr>
            <a:xfrm flipH="false" flipV="false" rot="0">
              <a:off x="8509" y="8509"/>
              <a:ext cx="4145280" cy="3218688"/>
            </a:xfrm>
            <a:custGeom>
              <a:avLst/>
              <a:gdLst/>
              <a:ahLst/>
              <a:cxnLst/>
              <a:rect r="r" b="b" t="t" l="l"/>
              <a:pathLst>
                <a:path h="3218688" w="4145280">
                  <a:moveTo>
                    <a:pt x="0" y="0"/>
                  </a:moveTo>
                  <a:lnTo>
                    <a:pt x="4145280" y="0"/>
                  </a:lnTo>
                  <a:lnTo>
                    <a:pt x="4145280" y="3218688"/>
                  </a:lnTo>
                  <a:lnTo>
                    <a:pt x="0" y="3218688"/>
                  </a:lnTo>
                  <a:close/>
                </a:path>
              </a:pathLst>
            </a:custGeom>
            <a:solidFill>
              <a:srgbClr val="0D1E35"/>
            </a:solidFill>
          </p:spPr>
        </p:sp>
        <p:sp>
          <p:nvSpPr>
            <p:cNvPr name="Freeform 52" id="52"/>
            <p:cNvSpPr/>
            <p:nvPr/>
          </p:nvSpPr>
          <p:spPr>
            <a:xfrm flipH="false" flipV="false" rot="0">
              <a:off x="0" y="0"/>
              <a:ext cx="4162298" cy="3235706"/>
            </a:xfrm>
            <a:custGeom>
              <a:avLst/>
              <a:gdLst/>
              <a:ahLst/>
              <a:cxnLst/>
              <a:rect r="r" b="b" t="t" l="l"/>
              <a:pathLst>
                <a:path h="3235706" w="4162298">
                  <a:moveTo>
                    <a:pt x="8509" y="0"/>
                  </a:moveTo>
                  <a:lnTo>
                    <a:pt x="4153789" y="0"/>
                  </a:lnTo>
                  <a:cubicBezTo>
                    <a:pt x="4158488" y="0"/>
                    <a:pt x="4162298" y="3810"/>
                    <a:pt x="4162298" y="8509"/>
                  </a:cubicBezTo>
                  <a:lnTo>
                    <a:pt x="4162298" y="3227197"/>
                  </a:lnTo>
                  <a:cubicBezTo>
                    <a:pt x="4162298" y="3231896"/>
                    <a:pt x="4158488" y="3235706"/>
                    <a:pt x="4153789"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4153789" y="3218688"/>
                  </a:lnTo>
                  <a:lnTo>
                    <a:pt x="4153789" y="3227197"/>
                  </a:lnTo>
                  <a:lnTo>
                    <a:pt x="4145280" y="3227197"/>
                  </a:lnTo>
                  <a:lnTo>
                    <a:pt x="4145280" y="8509"/>
                  </a:lnTo>
                  <a:lnTo>
                    <a:pt x="4153789" y="8509"/>
                  </a:lnTo>
                  <a:lnTo>
                    <a:pt x="4153789" y="17018"/>
                  </a:lnTo>
                  <a:lnTo>
                    <a:pt x="8509" y="17018"/>
                  </a:lnTo>
                  <a:close/>
                </a:path>
              </a:pathLst>
            </a:custGeom>
            <a:solidFill>
              <a:srgbClr val="1E3352"/>
            </a:solidFill>
          </p:spPr>
        </p:sp>
      </p:grpSp>
      <p:grpSp>
        <p:nvGrpSpPr>
          <p:cNvPr name="Group 53" id="53"/>
          <p:cNvGrpSpPr/>
          <p:nvPr/>
        </p:nvGrpSpPr>
        <p:grpSpPr>
          <a:xfrm rot="0">
            <a:off x="10890128" y="5214118"/>
            <a:ext cx="3134363" cy="135131"/>
            <a:chOff x="0" y="0"/>
            <a:chExt cx="4179151" cy="180175"/>
          </a:xfrm>
        </p:grpSpPr>
        <p:sp>
          <p:nvSpPr>
            <p:cNvPr name="Freeform 54" id="54"/>
            <p:cNvSpPr/>
            <p:nvPr/>
          </p:nvSpPr>
          <p:spPr>
            <a:xfrm flipH="false" flipV="false" rot="0">
              <a:off x="16891" y="16891"/>
              <a:ext cx="4145280" cy="146304"/>
            </a:xfrm>
            <a:custGeom>
              <a:avLst/>
              <a:gdLst/>
              <a:ahLst/>
              <a:cxnLst/>
              <a:rect r="r" b="b" t="t" l="l"/>
              <a:pathLst>
                <a:path h="146304" w="4145280">
                  <a:moveTo>
                    <a:pt x="0" y="0"/>
                  </a:moveTo>
                  <a:lnTo>
                    <a:pt x="4145280" y="0"/>
                  </a:lnTo>
                  <a:lnTo>
                    <a:pt x="4145280" y="146304"/>
                  </a:lnTo>
                  <a:lnTo>
                    <a:pt x="0" y="146304"/>
                  </a:lnTo>
                  <a:close/>
                </a:path>
              </a:pathLst>
            </a:custGeom>
            <a:solidFill>
              <a:srgbClr val="FF4D6A"/>
            </a:solidFill>
          </p:spPr>
        </p:sp>
        <p:sp>
          <p:nvSpPr>
            <p:cNvPr name="Freeform 55" id="55"/>
            <p:cNvSpPr/>
            <p:nvPr/>
          </p:nvSpPr>
          <p:spPr>
            <a:xfrm flipH="false" flipV="false" rot="0">
              <a:off x="0" y="0"/>
              <a:ext cx="4179062" cy="180088"/>
            </a:xfrm>
            <a:custGeom>
              <a:avLst/>
              <a:gdLst/>
              <a:ahLst/>
              <a:cxnLst/>
              <a:rect r="r" b="b" t="t" l="l"/>
              <a:pathLst>
                <a:path h="180088" w="4179062">
                  <a:moveTo>
                    <a:pt x="16891" y="0"/>
                  </a:moveTo>
                  <a:lnTo>
                    <a:pt x="4162171" y="0"/>
                  </a:lnTo>
                  <a:cubicBezTo>
                    <a:pt x="4171569" y="0"/>
                    <a:pt x="4179062" y="7620"/>
                    <a:pt x="4179062" y="16891"/>
                  </a:cubicBezTo>
                  <a:lnTo>
                    <a:pt x="4179062" y="163195"/>
                  </a:lnTo>
                  <a:cubicBezTo>
                    <a:pt x="4179062" y="172593"/>
                    <a:pt x="4171442" y="180086"/>
                    <a:pt x="416217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162171" y="146304"/>
                  </a:lnTo>
                  <a:lnTo>
                    <a:pt x="4162171" y="163195"/>
                  </a:lnTo>
                  <a:lnTo>
                    <a:pt x="4145280" y="163195"/>
                  </a:lnTo>
                  <a:lnTo>
                    <a:pt x="4145280" y="16891"/>
                  </a:lnTo>
                  <a:lnTo>
                    <a:pt x="4162171" y="16891"/>
                  </a:lnTo>
                  <a:lnTo>
                    <a:pt x="4162171" y="33909"/>
                  </a:lnTo>
                  <a:lnTo>
                    <a:pt x="16891" y="33909"/>
                  </a:lnTo>
                  <a:close/>
                </a:path>
              </a:pathLst>
            </a:custGeom>
            <a:solidFill>
              <a:srgbClr val="FF4D6A"/>
            </a:solidFill>
          </p:spPr>
        </p:sp>
      </p:grpSp>
      <p:grpSp>
        <p:nvGrpSpPr>
          <p:cNvPr name="Group 56" id="56"/>
          <p:cNvGrpSpPr/>
          <p:nvPr/>
        </p:nvGrpSpPr>
        <p:grpSpPr>
          <a:xfrm rot="0">
            <a:off x="10902825" y="3105407"/>
            <a:ext cx="3108960" cy="1060704"/>
            <a:chOff x="0" y="0"/>
            <a:chExt cx="4145280" cy="1414272"/>
          </a:xfrm>
        </p:grpSpPr>
        <p:sp>
          <p:nvSpPr>
            <p:cNvPr name="Freeform 57" id="57"/>
            <p:cNvSpPr/>
            <p:nvPr/>
          </p:nvSpPr>
          <p:spPr>
            <a:xfrm flipH="false" flipV="false" rot="0">
              <a:off x="0" y="0"/>
              <a:ext cx="4145280" cy="1414272"/>
            </a:xfrm>
            <a:custGeom>
              <a:avLst/>
              <a:gdLst/>
              <a:ahLst/>
              <a:cxnLst/>
              <a:rect r="r" b="b" t="t" l="l"/>
              <a:pathLst>
                <a:path h="1414272" w="4145280">
                  <a:moveTo>
                    <a:pt x="0" y="0"/>
                  </a:moveTo>
                  <a:lnTo>
                    <a:pt x="4145280" y="0"/>
                  </a:lnTo>
                  <a:lnTo>
                    <a:pt x="4145280" y="1414272"/>
                  </a:lnTo>
                  <a:lnTo>
                    <a:pt x="0" y="1414272"/>
                  </a:lnTo>
                  <a:close/>
                </a:path>
              </a:pathLst>
            </a:custGeom>
            <a:blipFill>
              <a:blip r:embed="rId3">
                <a:alphaModFix amt="0"/>
              </a:blip>
              <a:stretch>
                <a:fillRect l="0" t="-7111" r="0" b="-7111"/>
              </a:stretch>
            </a:blipFill>
          </p:spPr>
        </p:sp>
        <p:sp>
          <p:nvSpPr>
            <p:cNvPr name="TextBox 58" id="58"/>
            <p:cNvSpPr txBox="true"/>
            <p:nvPr/>
          </p:nvSpPr>
          <p:spPr>
            <a:xfrm>
              <a:off x="0" y="-76200"/>
              <a:ext cx="4145280" cy="1490472"/>
            </a:xfrm>
            <a:prstGeom prst="rect">
              <a:avLst/>
            </a:prstGeom>
          </p:spPr>
          <p:txBody>
            <a:bodyPr anchor="ctr" rtlCol="false" tIns="0" lIns="0" bIns="0" rIns="0"/>
            <a:lstStyle/>
            <a:p>
              <a:pPr algn="ctr">
                <a:lnSpc>
                  <a:spcPts val="5280"/>
                </a:lnSpc>
              </a:pPr>
              <a:r>
                <a:rPr lang="en-US" sz="4400" b="true">
                  <a:solidFill>
                    <a:srgbClr val="FF4D6A"/>
                  </a:solidFill>
                  <a:latin typeface="Calibri (MS) Bold"/>
                  <a:ea typeface="Calibri (MS) Bold"/>
                  <a:cs typeface="Calibri (MS) Bold"/>
                  <a:sym typeface="Calibri (MS) Bold"/>
                </a:rPr>
                <a:t>799 DT</a:t>
              </a:r>
            </a:p>
          </p:txBody>
        </p:sp>
      </p:grpSp>
      <p:grpSp>
        <p:nvGrpSpPr>
          <p:cNvPr name="Group 59" id="59"/>
          <p:cNvGrpSpPr/>
          <p:nvPr/>
        </p:nvGrpSpPr>
        <p:grpSpPr>
          <a:xfrm rot="0">
            <a:off x="10902825" y="4184399"/>
            <a:ext cx="3108960" cy="950976"/>
            <a:chOff x="0" y="0"/>
            <a:chExt cx="4145280" cy="1267968"/>
          </a:xfrm>
        </p:grpSpPr>
        <p:sp>
          <p:nvSpPr>
            <p:cNvPr name="Freeform 60" id="60"/>
            <p:cNvSpPr/>
            <p:nvPr/>
          </p:nvSpPr>
          <p:spPr>
            <a:xfrm flipH="false" flipV="false" rot="0">
              <a:off x="0" y="0"/>
              <a:ext cx="4145280" cy="1267968"/>
            </a:xfrm>
            <a:custGeom>
              <a:avLst/>
              <a:gdLst/>
              <a:ahLst/>
              <a:cxnLst/>
              <a:rect r="r" b="b" t="t" l="l"/>
              <a:pathLst>
                <a:path h="1267968" w="4145280">
                  <a:moveTo>
                    <a:pt x="0" y="0"/>
                  </a:moveTo>
                  <a:lnTo>
                    <a:pt x="4145280" y="0"/>
                  </a:lnTo>
                  <a:lnTo>
                    <a:pt x="4145280" y="1267968"/>
                  </a:lnTo>
                  <a:lnTo>
                    <a:pt x="0" y="1267968"/>
                  </a:lnTo>
                  <a:close/>
                </a:path>
              </a:pathLst>
            </a:custGeom>
            <a:blipFill>
              <a:blip r:embed="rId3">
                <a:alphaModFix amt="0"/>
              </a:blip>
              <a:stretch>
                <a:fillRect l="0" t="-13701" r="0" b="-13701"/>
              </a:stretch>
            </a:blipFill>
          </p:spPr>
        </p:sp>
        <p:sp>
          <p:nvSpPr>
            <p:cNvPr name="TextBox 61" id="61"/>
            <p:cNvSpPr txBox="true"/>
            <p:nvPr/>
          </p:nvSpPr>
          <p:spPr>
            <a:xfrm>
              <a:off x="0" y="-38100"/>
              <a:ext cx="4145280" cy="1306068"/>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RMSE</a:t>
              </a:r>
            </a:p>
          </p:txBody>
        </p:sp>
      </p:grpSp>
      <p:grpSp>
        <p:nvGrpSpPr>
          <p:cNvPr name="Group 62" id="62"/>
          <p:cNvGrpSpPr/>
          <p:nvPr/>
        </p:nvGrpSpPr>
        <p:grpSpPr>
          <a:xfrm rot="0">
            <a:off x="14224887" y="2916174"/>
            <a:ext cx="3121657" cy="2426713"/>
            <a:chOff x="0" y="0"/>
            <a:chExt cx="4162209" cy="3235617"/>
          </a:xfrm>
        </p:grpSpPr>
        <p:sp>
          <p:nvSpPr>
            <p:cNvPr name="Freeform 63" id="63"/>
            <p:cNvSpPr/>
            <p:nvPr/>
          </p:nvSpPr>
          <p:spPr>
            <a:xfrm flipH="false" flipV="false" rot="0">
              <a:off x="8509" y="8509"/>
              <a:ext cx="4145280" cy="3218688"/>
            </a:xfrm>
            <a:custGeom>
              <a:avLst/>
              <a:gdLst/>
              <a:ahLst/>
              <a:cxnLst/>
              <a:rect r="r" b="b" t="t" l="l"/>
              <a:pathLst>
                <a:path h="3218688" w="4145280">
                  <a:moveTo>
                    <a:pt x="0" y="0"/>
                  </a:moveTo>
                  <a:lnTo>
                    <a:pt x="4145280" y="0"/>
                  </a:lnTo>
                  <a:lnTo>
                    <a:pt x="4145280" y="3218688"/>
                  </a:lnTo>
                  <a:lnTo>
                    <a:pt x="0" y="3218688"/>
                  </a:lnTo>
                  <a:close/>
                </a:path>
              </a:pathLst>
            </a:custGeom>
            <a:solidFill>
              <a:srgbClr val="0D1E35"/>
            </a:solidFill>
          </p:spPr>
        </p:sp>
        <p:sp>
          <p:nvSpPr>
            <p:cNvPr name="Freeform 64" id="64"/>
            <p:cNvSpPr/>
            <p:nvPr/>
          </p:nvSpPr>
          <p:spPr>
            <a:xfrm flipH="false" flipV="false" rot="0">
              <a:off x="0" y="0"/>
              <a:ext cx="4162298" cy="3235706"/>
            </a:xfrm>
            <a:custGeom>
              <a:avLst/>
              <a:gdLst/>
              <a:ahLst/>
              <a:cxnLst/>
              <a:rect r="r" b="b" t="t" l="l"/>
              <a:pathLst>
                <a:path h="3235706" w="4162298">
                  <a:moveTo>
                    <a:pt x="8509" y="0"/>
                  </a:moveTo>
                  <a:lnTo>
                    <a:pt x="4153789" y="0"/>
                  </a:lnTo>
                  <a:cubicBezTo>
                    <a:pt x="4158488" y="0"/>
                    <a:pt x="4162298" y="3810"/>
                    <a:pt x="4162298" y="8509"/>
                  </a:cubicBezTo>
                  <a:lnTo>
                    <a:pt x="4162298" y="3227197"/>
                  </a:lnTo>
                  <a:cubicBezTo>
                    <a:pt x="4162298" y="3231896"/>
                    <a:pt x="4158488" y="3235706"/>
                    <a:pt x="4153789"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4153789" y="3218688"/>
                  </a:lnTo>
                  <a:lnTo>
                    <a:pt x="4153789" y="3227197"/>
                  </a:lnTo>
                  <a:lnTo>
                    <a:pt x="4145280" y="3227197"/>
                  </a:lnTo>
                  <a:lnTo>
                    <a:pt x="4145280" y="8509"/>
                  </a:lnTo>
                  <a:lnTo>
                    <a:pt x="4153789" y="8509"/>
                  </a:lnTo>
                  <a:lnTo>
                    <a:pt x="4153789" y="17018"/>
                  </a:lnTo>
                  <a:lnTo>
                    <a:pt x="8509" y="17018"/>
                  </a:lnTo>
                  <a:close/>
                </a:path>
              </a:pathLst>
            </a:custGeom>
            <a:solidFill>
              <a:srgbClr val="1E3352"/>
            </a:solidFill>
          </p:spPr>
        </p:sp>
      </p:grpSp>
      <p:grpSp>
        <p:nvGrpSpPr>
          <p:cNvPr name="Group 65" id="65"/>
          <p:cNvGrpSpPr/>
          <p:nvPr/>
        </p:nvGrpSpPr>
        <p:grpSpPr>
          <a:xfrm rot="0">
            <a:off x="14218544" y="5214118"/>
            <a:ext cx="3134363" cy="135131"/>
            <a:chOff x="0" y="0"/>
            <a:chExt cx="4179151" cy="180175"/>
          </a:xfrm>
        </p:grpSpPr>
        <p:sp>
          <p:nvSpPr>
            <p:cNvPr name="Freeform 66" id="66"/>
            <p:cNvSpPr/>
            <p:nvPr/>
          </p:nvSpPr>
          <p:spPr>
            <a:xfrm flipH="false" flipV="false" rot="0">
              <a:off x="16891" y="16891"/>
              <a:ext cx="4145280" cy="146304"/>
            </a:xfrm>
            <a:custGeom>
              <a:avLst/>
              <a:gdLst/>
              <a:ahLst/>
              <a:cxnLst/>
              <a:rect r="r" b="b" t="t" l="l"/>
              <a:pathLst>
                <a:path h="146304" w="4145280">
                  <a:moveTo>
                    <a:pt x="0" y="0"/>
                  </a:moveTo>
                  <a:lnTo>
                    <a:pt x="4145280" y="0"/>
                  </a:lnTo>
                  <a:lnTo>
                    <a:pt x="4145280" y="146304"/>
                  </a:lnTo>
                  <a:lnTo>
                    <a:pt x="0" y="146304"/>
                  </a:lnTo>
                  <a:close/>
                </a:path>
              </a:pathLst>
            </a:custGeom>
            <a:solidFill>
              <a:srgbClr val="A855F7"/>
            </a:solidFill>
          </p:spPr>
        </p:sp>
        <p:sp>
          <p:nvSpPr>
            <p:cNvPr name="Freeform 67" id="67"/>
            <p:cNvSpPr/>
            <p:nvPr/>
          </p:nvSpPr>
          <p:spPr>
            <a:xfrm flipH="false" flipV="false" rot="0">
              <a:off x="0" y="0"/>
              <a:ext cx="4179062" cy="180088"/>
            </a:xfrm>
            <a:custGeom>
              <a:avLst/>
              <a:gdLst/>
              <a:ahLst/>
              <a:cxnLst/>
              <a:rect r="r" b="b" t="t" l="l"/>
              <a:pathLst>
                <a:path h="180088" w="4179062">
                  <a:moveTo>
                    <a:pt x="16891" y="0"/>
                  </a:moveTo>
                  <a:lnTo>
                    <a:pt x="4162171" y="0"/>
                  </a:lnTo>
                  <a:cubicBezTo>
                    <a:pt x="4171569" y="0"/>
                    <a:pt x="4179062" y="7620"/>
                    <a:pt x="4179062" y="16891"/>
                  </a:cubicBezTo>
                  <a:lnTo>
                    <a:pt x="4179062" y="163195"/>
                  </a:lnTo>
                  <a:cubicBezTo>
                    <a:pt x="4179062" y="172593"/>
                    <a:pt x="4171442" y="180086"/>
                    <a:pt x="416217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162171" y="146304"/>
                  </a:lnTo>
                  <a:lnTo>
                    <a:pt x="4162171" y="163195"/>
                  </a:lnTo>
                  <a:lnTo>
                    <a:pt x="4145280" y="163195"/>
                  </a:lnTo>
                  <a:lnTo>
                    <a:pt x="4145280" y="16891"/>
                  </a:lnTo>
                  <a:lnTo>
                    <a:pt x="4162171" y="16891"/>
                  </a:lnTo>
                  <a:lnTo>
                    <a:pt x="4162171" y="33909"/>
                  </a:lnTo>
                  <a:lnTo>
                    <a:pt x="16891" y="33909"/>
                  </a:lnTo>
                  <a:close/>
                </a:path>
              </a:pathLst>
            </a:custGeom>
            <a:solidFill>
              <a:srgbClr val="A855F7"/>
            </a:solidFill>
          </p:spPr>
        </p:sp>
      </p:grpSp>
      <p:grpSp>
        <p:nvGrpSpPr>
          <p:cNvPr name="Group 68" id="68"/>
          <p:cNvGrpSpPr/>
          <p:nvPr/>
        </p:nvGrpSpPr>
        <p:grpSpPr>
          <a:xfrm rot="0">
            <a:off x="14231241" y="3105407"/>
            <a:ext cx="3108960" cy="1060704"/>
            <a:chOff x="0" y="0"/>
            <a:chExt cx="4145280" cy="1414272"/>
          </a:xfrm>
        </p:grpSpPr>
        <p:sp>
          <p:nvSpPr>
            <p:cNvPr name="Freeform 69" id="69"/>
            <p:cNvSpPr/>
            <p:nvPr/>
          </p:nvSpPr>
          <p:spPr>
            <a:xfrm flipH="false" flipV="false" rot="0">
              <a:off x="0" y="0"/>
              <a:ext cx="4145280" cy="1414272"/>
            </a:xfrm>
            <a:custGeom>
              <a:avLst/>
              <a:gdLst/>
              <a:ahLst/>
              <a:cxnLst/>
              <a:rect r="r" b="b" t="t" l="l"/>
              <a:pathLst>
                <a:path h="1414272" w="4145280">
                  <a:moveTo>
                    <a:pt x="0" y="0"/>
                  </a:moveTo>
                  <a:lnTo>
                    <a:pt x="4145280" y="0"/>
                  </a:lnTo>
                  <a:lnTo>
                    <a:pt x="4145280" y="1414272"/>
                  </a:lnTo>
                  <a:lnTo>
                    <a:pt x="0" y="1414272"/>
                  </a:lnTo>
                  <a:close/>
                </a:path>
              </a:pathLst>
            </a:custGeom>
            <a:blipFill>
              <a:blip r:embed="rId3">
                <a:alphaModFix amt="0"/>
              </a:blip>
              <a:stretch>
                <a:fillRect l="0" t="-7111" r="0" b="-7111"/>
              </a:stretch>
            </a:blipFill>
          </p:spPr>
        </p:sp>
        <p:sp>
          <p:nvSpPr>
            <p:cNvPr name="TextBox 70" id="70"/>
            <p:cNvSpPr txBox="true"/>
            <p:nvPr/>
          </p:nvSpPr>
          <p:spPr>
            <a:xfrm>
              <a:off x="0" y="-76200"/>
              <a:ext cx="4145280" cy="1490472"/>
            </a:xfrm>
            <a:prstGeom prst="rect">
              <a:avLst/>
            </a:prstGeom>
          </p:spPr>
          <p:txBody>
            <a:bodyPr anchor="ctr" rtlCol="false" tIns="0" lIns="0" bIns="0" rIns="0"/>
            <a:lstStyle/>
            <a:p>
              <a:pPr algn="ctr">
                <a:lnSpc>
                  <a:spcPts val="5280"/>
                </a:lnSpc>
              </a:pPr>
              <a:r>
                <a:rPr lang="en-US" sz="4400" b="true">
                  <a:solidFill>
                    <a:srgbClr val="A855F7"/>
                  </a:solidFill>
                  <a:latin typeface="Calibri (MS) Bold"/>
                  <a:ea typeface="Calibri (MS) Bold"/>
                  <a:cs typeface="Calibri (MS) Bold"/>
                  <a:sym typeface="Calibri (MS) Bold"/>
                </a:rPr>
                <a:t>265 DT</a:t>
              </a:r>
            </a:p>
          </p:txBody>
        </p:sp>
      </p:grpSp>
      <p:grpSp>
        <p:nvGrpSpPr>
          <p:cNvPr name="Group 71" id="71"/>
          <p:cNvGrpSpPr/>
          <p:nvPr/>
        </p:nvGrpSpPr>
        <p:grpSpPr>
          <a:xfrm rot="0">
            <a:off x="14231241" y="4184399"/>
            <a:ext cx="3108960" cy="950976"/>
            <a:chOff x="0" y="0"/>
            <a:chExt cx="4145280" cy="1267968"/>
          </a:xfrm>
        </p:grpSpPr>
        <p:sp>
          <p:nvSpPr>
            <p:cNvPr name="Freeform 72" id="72"/>
            <p:cNvSpPr/>
            <p:nvPr/>
          </p:nvSpPr>
          <p:spPr>
            <a:xfrm flipH="false" flipV="false" rot="0">
              <a:off x="0" y="0"/>
              <a:ext cx="4145280" cy="1267968"/>
            </a:xfrm>
            <a:custGeom>
              <a:avLst/>
              <a:gdLst/>
              <a:ahLst/>
              <a:cxnLst/>
              <a:rect r="r" b="b" t="t" l="l"/>
              <a:pathLst>
                <a:path h="1267968" w="4145280">
                  <a:moveTo>
                    <a:pt x="0" y="0"/>
                  </a:moveTo>
                  <a:lnTo>
                    <a:pt x="4145280" y="0"/>
                  </a:lnTo>
                  <a:lnTo>
                    <a:pt x="4145280" y="1267968"/>
                  </a:lnTo>
                  <a:lnTo>
                    <a:pt x="0" y="1267968"/>
                  </a:lnTo>
                  <a:close/>
                </a:path>
              </a:pathLst>
            </a:custGeom>
            <a:blipFill>
              <a:blip r:embed="rId3">
                <a:alphaModFix amt="0"/>
              </a:blip>
              <a:stretch>
                <a:fillRect l="0" t="-13701" r="0" b="-13701"/>
              </a:stretch>
            </a:blipFill>
          </p:spPr>
        </p:sp>
        <p:sp>
          <p:nvSpPr>
            <p:cNvPr name="TextBox 73" id="73"/>
            <p:cNvSpPr txBox="true"/>
            <p:nvPr/>
          </p:nvSpPr>
          <p:spPr>
            <a:xfrm>
              <a:off x="0" y="-38100"/>
              <a:ext cx="4145280" cy="1306068"/>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MAE</a:t>
              </a:r>
            </a:p>
          </p:txBody>
        </p:sp>
      </p:grpSp>
      <p:grpSp>
        <p:nvGrpSpPr>
          <p:cNvPr name="Group 74" id="74"/>
          <p:cNvGrpSpPr/>
          <p:nvPr/>
        </p:nvGrpSpPr>
        <p:grpSpPr>
          <a:xfrm rot="0">
            <a:off x="911223" y="5714238"/>
            <a:ext cx="8059417" cy="4584697"/>
            <a:chOff x="0" y="0"/>
            <a:chExt cx="10745889" cy="6112929"/>
          </a:xfrm>
        </p:grpSpPr>
        <p:sp>
          <p:nvSpPr>
            <p:cNvPr name="Freeform 75" id="75"/>
            <p:cNvSpPr/>
            <p:nvPr/>
          </p:nvSpPr>
          <p:spPr>
            <a:xfrm flipH="false" flipV="false" rot="0">
              <a:off x="8509" y="8509"/>
              <a:ext cx="10728960" cy="6096000"/>
            </a:xfrm>
            <a:custGeom>
              <a:avLst/>
              <a:gdLst/>
              <a:ahLst/>
              <a:cxnLst/>
              <a:rect r="r" b="b" t="t" l="l"/>
              <a:pathLst>
                <a:path h="6096000" w="10728960">
                  <a:moveTo>
                    <a:pt x="0" y="0"/>
                  </a:moveTo>
                  <a:lnTo>
                    <a:pt x="10728960" y="0"/>
                  </a:lnTo>
                  <a:lnTo>
                    <a:pt x="10728960" y="6096000"/>
                  </a:lnTo>
                  <a:lnTo>
                    <a:pt x="0" y="6096000"/>
                  </a:lnTo>
                  <a:close/>
                </a:path>
              </a:pathLst>
            </a:custGeom>
            <a:solidFill>
              <a:srgbClr val="0D1E35"/>
            </a:solidFill>
          </p:spPr>
        </p:sp>
        <p:sp>
          <p:nvSpPr>
            <p:cNvPr name="Freeform 76" id="76"/>
            <p:cNvSpPr/>
            <p:nvPr/>
          </p:nvSpPr>
          <p:spPr>
            <a:xfrm flipH="false" flipV="false" rot="0">
              <a:off x="0" y="0"/>
              <a:ext cx="10745978" cy="6113018"/>
            </a:xfrm>
            <a:custGeom>
              <a:avLst/>
              <a:gdLst/>
              <a:ahLst/>
              <a:cxnLst/>
              <a:rect r="r" b="b" t="t" l="l"/>
              <a:pathLst>
                <a:path h="6113018" w="10745978">
                  <a:moveTo>
                    <a:pt x="8509" y="0"/>
                  </a:moveTo>
                  <a:lnTo>
                    <a:pt x="10737469" y="0"/>
                  </a:lnTo>
                  <a:cubicBezTo>
                    <a:pt x="10742168" y="0"/>
                    <a:pt x="10745978" y="3810"/>
                    <a:pt x="10745978" y="8509"/>
                  </a:cubicBezTo>
                  <a:lnTo>
                    <a:pt x="10745978" y="6104509"/>
                  </a:lnTo>
                  <a:cubicBezTo>
                    <a:pt x="10745978" y="6109208"/>
                    <a:pt x="10742168" y="6113018"/>
                    <a:pt x="10737469" y="6113018"/>
                  </a:cubicBezTo>
                  <a:lnTo>
                    <a:pt x="8509" y="6113018"/>
                  </a:lnTo>
                  <a:cubicBezTo>
                    <a:pt x="3810" y="6113018"/>
                    <a:pt x="0" y="6109208"/>
                    <a:pt x="0" y="6104509"/>
                  </a:cubicBezTo>
                  <a:lnTo>
                    <a:pt x="0" y="8509"/>
                  </a:lnTo>
                  <a:cubicBezTo>
                    <a:pt x="0" y="3810"/>
                    <a:pt x="3810" y="0"/>
                    <a:pt x="8509" y="0"/>
                  </a:cubicBezTo>
                  <a:moveTo>
                    <a:pt x="8509" y="16891"/>
                  </a:moveTo>
                  <a:lnTo>
                    <a:pt x="8509" y="8509"/>
                  </a:lnTo>
                  <a:lnTo>
                    <a:pt x="17018" y="8509"/>
                  </a:lnTo>
                  <a:lnTo>
                    <a:pt x="17018" y="6104509"/>
                  </a:lnTo>
                  <a:lnTo>
                    <a:pt x="8509" y="6104509"/>
                  </a:lnTo>
                  <a:lnTo>
                    <a:pt x="8509" y="6096000"/>
                  </a:lnTo>
                  <a:lnTo>
                    <a:pt x="10737469" y="6096000"/>
                  </a:lnTo>
                  <a:lnTo>
                    <a:pt x="10737469" y="6104509"/>
                  </a:lnTo>
                  <a:lnTo>
                    <a:pt x="10728960" y="6104509"/>
                  </a:lnTo>
                  <a:lnTo>
                    <a:pt x="10728960" y="8509"/>
                  </a:lnTo>
                  <a:lnTo>
                    <a:pt x="10737469" y="8509"/>
                  </a:lnTo>
                  <a:lnTo>
                    <a:pt x="10737469" y="17018"/>
                  </a:lnTo>
                  <a:lnTo>
                    <a:pt x="8509" y="17018"/>
                  </a:lnTo>
                  <a:close/>
                </a:path>
              </a:pathLst>
            </a:custGeom>
            <a:solidFill>
              <a:srgbClr val="1E3352"/>
            </a:solidFill>
          </p:spPr>
        </p:sp>
      </p:grpSp>
      <p:grpSp>
        <p:nvGrpSpPr>
          <p:cNvPr name="Group 77" id="77"/>
          <p:cNvGrpSpPr/>
          <p:nvPr/>
        </p:nvGrpSpPr>
        <p:grpSpPr>
          <a:xfrm rot="0">
            <a:off x="1283337" y="5903471"/>
            <a:ext cx="7315200" cy="640080"/>
            <a:chOff x="0" y="0"/>
            <a:chExt cx="9753600" cy="853440"/>
          </a:xfrm>
        </p:grpSpPr>
        <p:sp>
          <p:nvSpPr>
            <p:cNvPr name="Freeform 78" id="78"/>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79" id="79"/>
            <p:cNvSpPr txBox="true"/>
            <p:nvPr/>
          </p:nvSpPr>
          <p:spPr>
            <a:xfrm>
              <a:off x="0" y="-57150"/>
              <a:ext cx="9753600" cy="910590"/>
            </a:xfrm>
            <a:prstGeom prst="rect">
              <a:avLst/>
            </a:prstGeom>
          </p:spPr>
          <p:txBody>
            <a:bodyPr anchor="ctr" rtlCol="false" tIns="0" lIns="0" bIns="0" rIns="0"/>
            <a:lstStyle/>
            <a:p>
              <a:pPr algn="l">
                <a:lnSpc>
                  <a:spcPts val="3120"/>
                </a:lnSpc>
              </a:pPr>
              <a:r>
                <a:rPr lang="en-US" sz="2600" b="true">
                  <a:solidFill>
                    <a:srgbClr val="FFB800"/>
                  </a:solidFill>
                  <a:latin typeface="Calibri (MS) Bold"/>
                  <a:ea typeface="Calibri (MS) Bold"/>
                  <a:cs typeface="Calibri (MS) Bold"/>
                  <a:sym typeface="Calibri (MS) Bold"/>
                </a:rPr>
                <a:t>Configuration du modèle</a:t>
              </a:r>
            </a:p>
          </p:txBody>
        </p:sp>
      </p:grpSp>
      <p:sp>
        <p:nvSpPr>
          <p:cNvPr name="TextBox 80" id="80"/>
          <p:cNvSpPr txBox="true"/>
          <p:nvPr/>
        </p:nvSpPr>
        <p:spPr>
          <a:xfrm rot="0">
            <a:off x="1374777" y="6633086"/>
            <a:ext cx="7132320" cy="3430905"/>
          </a:xfrm>
          <a:prstGeom prst="rect">
            <a:avLst/>
          </a:prstGeom>
        </p:spPr>
        <p:txBody>
          <a:bodyPr anchor="t" rtlCol="false" tIns="0" lIns="0" bIns="0" rIns="0">
            <a:spAutoFit/>
          </a:bodyPr>
          <a:lstStyle/>
          <a:p>
            <a:pPr algn="l" marL="530860" indent="-265430" lvl="1">
              <a:lnSpc>
                <a:spcPts val="2640"/>
              </a:lnSpc>
              <a:buFont typeface="Arial"/>
              <a:buChar char="•"/>
            </a:pPr>
            <a:r>
              <a:rPr lang="en-US" sz="2200">
                <a:solidFill>
                  <a:srgbClr val="E2EDF5"/>
                </a:solidFill>
                <a:latin typeface="Calibri (MS)"/>
                <a:ea typeface="Calibri (MS)"/>
                <a:cs typeface="Calibri (MS)"/>
                <a:sym typeface="Calibri (MS)"/>
              </a:rPr>
              <a:t>n_estimators = 200</a:t>
            </a:r>
          </a:p>
          <a:p>
            <a:pPr algn="l" marL="530860" indent="-265430" lvl="1">
              <a:lnSpc>
                <a:spcPts val="2640"/>
              </a:lnSpc>
              <a:buFont typeface="Arial"/>
              <a:buChar char="•"/>
            </a:pPr>
            <a:r>
              <a:rPr lang="en-US" sz="2200">
                <a:solidFill>
                  <a:srgbClr val="E2EDF5"/>
                </a:solidFill>
                <a:latin typeface="Calibri (MS)"/>
                <a:ea typeface="Calibri (MS)"/>
                <a:cs typeface="Calibri (MS)"/>
                <a:sym typeface="Calibri (MS)"/>
              </a:rPr>
              <a:t>max_depth = 15</a:t>
            </a:r>
          </a:p>
          <a:p>
            <a:pPr algn="l" marL="530860" indent="-265430" lvl="1">
              <a:lnSpc>
                <a:spcPts val="2640"/>
              </a:lnSpc>
              <a:buFont typeface="Arial"/>
              <a:buChar char="•"/>
            </a:pPr>
            <a:r>
              <a:rPr lang="en-US" sz="2200">
                <a:solidFill>
                  <a:srgbClr val="E2EDF5"/>
                </a:solidFill>
                <a:latin typeface="Calibri (MS)"/>
                <a:ea typeface="Calibri (MS)"/>
                <a:cs typeface="Calibri (MS)"/>
                <a:sym typeface="Calibri (MS)"/>
              </a:rPr>
              <a:t>min_samples_split = 5</a:t>
            </a:r>
          </a:p>
          <a:p>
            <a:pPr algn="l" marL="530860" indent="-265430" lvl="1">
              <a:lnSpc>
                <a:spcPts val="2640"/>
              </a:lnSpc>
              <a:buFont typeface="Arial"/>
              <a:buChar char="•"/>
            </a:pPr>
            <a:r>
              <a:rPr lang="en-US" sz="2200">
                <a:solidFill>
                  <a:srgbClr val="E2EDF5"/>
                </a:solidFill>
                <a:latin typeface="Calibri (MS)"/>
                <a:ea typeface="Calibri (MS)"/>
                <a:cs typeface="Calibri (MS)"/>
                <a:sym typeface="Calibri (MS)"/>
              </a:rPr>
              <a:t>Transformation log : np.log1p(y)</a:t>
            </a:r>
          </a:p>
          <a:p>
            <a:pPr algn="l" marL="530860" indent="-265430" lvl="1">
              <a:lnSpc>
                <a:spcPts val="2640"/>
              </a:lnSpc>
              <a:buFont typeface="Arial"/>
              <a:buChar char="•"/>
            </a:pPr>
            <a:r>
              <a:rPr lang="en-US" sz="2200">
                <a:solidFill>
                  <a:srgbClr val="E2EDF5"/>
                </a:solidFill>
                <a:latin typeface="Calibri (MS)"/>
                <a:ea typeface="Calibri (MS)"/>
                <a:cs typeface="Calibri (MS)"/>
                <a:sym typeface="Calibri (MS)"/>
              </a:rPr>
              <a:t>Validation croisée 5-fold</a:t>
            </a:r>
          </a:p>
        </p:txBody>
      </p:sp>
      <p:grpSp>
        <p:nvGrpSpPr>
          <p:cNvPr name="Group 81" id="81"/>
          <p:cNvGrpSpPr/>
          <p:nvPr/>
        </p:nvGrpSpPr>
        <p:grpSpPr>
          <a:xfrm rot="0">
            <a:off x="9323703" y="5714238"/>
            <a:ext cx="8059417" cy="4584697"/>
            <a:chOff x="0" y="0"/>
            <a:chExt cx="10745889" cy="6112929"/>
          </a:xfrm>
        </p:grpSpPr>
        <p:sp>
          <p:nvSpPr>
            <p:cNvPr name="Freeform 82" id="82"/>
            <p:cNvSpPr/>
            <p:nvPr/>
          </p:nvSpPr>
          <p:spPr>
            <a:xfrm flipH="false" flipV="false" rot="0">
              <a:off x="8509" y="8509"/>
              <a:ext cx="10728960" cy="6096000"/>
            </a:xfrm>
            <a:custGeom>
              <a:avLst/>
              <a:gdLst/>
              <a:ahLst/>
              <a:cxnLst/>
              <a:rect r="r" b="b" t="t" l="l"/>
              <a:pathLst>
                <a:path h="6096000" w="10728960">
                  <a:moveTo>
                    <a:pt x="0" y="0"/>
                  </a:moveTo>
                  <a:lnTo>
                    <a:pt x="10728960" y="0"/>
                  </a:lnTo>
                  <a:lnTo>
                    <a:pt x="10728960" y="6096000"/>
                  </a:lnTo>
                  <a:lnTo>
                    <a:pt x="0" y="6096000"/>
                  </a:lnTo>
                  <a:close/>
                </a:path>
              </a:pathLst>
            </a:custGeom>
            <a:solidFill>
              <a:srgbClr val="0D1E35"/>
            </a:solidFill>
          </p:spPr>
        </p:sp>
        <p:sp>
          <p:nvSpPr>
            <p:cNvPr name="Freeform 83" id="83"/>
            <p:cNvSpPr/>
            <p:nvPr/>
          </p:nvSpPr>
          <p:spPr>
            <a:xfrm flipH="false" flipV="false" rot="0">
              <a:off x="0" y="0"/>
              <a:ext cx="10745978" cy="6113018"/>
            </a:xfrm>
            <a:custGeom>
              <a:avLst/>
              <a:gdLst/>
              <a:ahLst/>
              <a:cxnLst/>
              <a:rect r="r" b="b" t="t" l="l"/>
              <a:pathLst>
                <a:path h="6113018" w="10745978">
                  <a:moveTo>
                    <a:pt x="8509" y="0"/>
                  </a:moveTo>
                  <a:lnTo>
                    <a:pt x="10737469" y="0"/>
                  </a:lnTo>
                  <a:cubicBezTo>
                    <a:pt x="10742168" y="0"/>
                    <a:pt x="10745978" y="3810"/>
                    <a:pt x="10745978" y="8509"/>
                  </a:cubicBezTo>
                  <a:lnTo>
                    <a:pt x="10745978" y="6104509"/>
                  </a:lnTo>
                  <a:cubicBezTo>
                    <a:pt x="10745978" y="6109208"/>
                    <a:pt x="10742168" y="6113018"/>
                    <a:pt x="10737469" y="6113018"/>
                  </a:cubicBezTo>
                  <a:lnTo>
                    <a:pt x="8509" y="6113018"/>
                  </a:lnTo>
                  <a:cubicBezTo>
                    <a:pt x="3810" y="6113018"/>
                    <a:pt x="0" y="6109208"/>
                    <a:pt x="0" y="6104509"/>
                  </a:cubicBezTo>
                  <a:lnTo>
                    <a:pt x="0" y="8509"/>
                  </a:lnTo>
                  <a:cubicBezTo>
                    <a:pt x="0" y="3810"/>
                    <a:pt x="3810" y="0"/>
                    <a:pt x="8509" y="0"/>
                  </a:cubicBezTo>
                  <a:moveTo>
                    <a:pt x="8509" y="16891"/>
                  </a:moveTo>
                  <a:lnTo>
                    <a:pt x="8509" y="8509"/>
                  </a:lnTo>
                  <a:lnTo>
                    <a:pt x="17018" y="8509"/>
                  </a:lnTo>
                  <a:lnTo>
                    <a:pt x="17018" y="6104509"/>
                  </a:lnTo>
                  <a:lnTo>
                    <a:pt x="8509" y="6104509"/>
                  </a:lnTo>
                  <a:lnTo>
                    <a:pt x="8509" y="6096000"/>
                  </a:lnTo>
                  <a:lnTo>
                    <a:pt x="10737469" y="6096000"/>
                  </a:lnTo>
                  <a:lnTo>
                    <a:pt x="10737469" y="6104509"/>
                  </a:lnTo>
                  <a:lnTo>
                    <a:pt x="10728960" y="6104509"/>
                  </a:lnTo>
                  <a:lnTo>
                    <a:pt x="10728960" y="8509"/>
                  </a:lnTo>
                  <a:lnTo>
                    <a:pt x="10737469" y="8509"/>
                  </a:lnTo>
                  <a:lnTo>
                    <a:pt x="10737469" y="17018"/>
                  </a:lnTo>
                  <a:lnTo>
                    <a:pt x="8509" y="17018"/>
                  </a:lnTo>
                  <a:close/>
                </a:path>
              </a:pathLst>
            </a:custGeom>
            <a:solidFill>
              <a:srgbClr val="1E3352"/>
            </a:solidFill>
          </p:spPr>
        </p:sp>
      </p:grpSp>
      <p:grpSp>
        <p:nvGrpSpPr>
          <p:cNvPr name="Group 84" id="84"/>
          <p:cNvGrpSpPr/>
          <p:nvPr/>
        </p:nvGrpSpPr>
        <p:grpSpPr>
          <a:xfrm rot="0">
            <a:off x="9695817" y="5903471"/>
            <a:ext cx="7315200" cy="640080"/>
            <a:chOff x="0" y="0"/>
            <a:chExt cx="9753600" cy="853440"/>
          </a:xfrm>
        </p:grpSpPr>
        <p:sp>
          <p:nvSpPr>
            <p:cNvPr name="Freeform 85" id="85"/>
            <p:cNvSpPr/>
            <p:nvPr/>
          </p:nvSpPr>
          <p:spPr>
            <a:xfrm flipH="false" flipV="false" rot="0">
              <a:off x="0" y="0"/>
              <a:ext cx="9753600" cy="853440"/>
            </a:xfrm>
            <a:custGeom>
              <a:avLst/>
              <a:gdLst/>
              <a:ahLst/>
              <a:cxnLst/>
              <a:rect r="r" b="b" t="t" l="l"/>
              <a:pathLst>
                <a:path h="853440" w="9753600">
                  <a:moveTo>
                    <a:pt x="0" y="0"/>
                  </a:moveTo>
                  <a:lnTo>
                    <a:pt x="9753600" y="0"/>
                  </a:lnTo>
                  <a:lnTo>
                    <a:pt x="9753600" y="853440"/>
                  </a:lnTo>
                  <a:lnTo>
                    <a:pt x="0" y="853440"/>
                  </a:lnTo>
                  <a:close/>
                </a:path>
              </a:pathLst>
            </a:custGeom>
            <a:blipFill>
              <a:blip r:embed="rId3">
                <a:alphaModFix amt="0"/>
              </a:blip>
              <a:stretch>
                <a:fillRect l="0" t="-172686" r="0" b="-172686"/>
              </a:stretch>
            </a:blipFill>
          </p:spPr>
        </p:sp>
        <p:sp>
          <p:nvSpPr>
            <p:cNvPr name="TextBox 86" id="86"/>
            <p:cNvSpPr txBox="true"/>
            <p:nvPr/>
          </p:nvSpPr>
          <p:spPr>
            <a:xfrm>
              <a:off x="0" y="-57150"/>
              <a:ext cx="9753600" cy="910590"/>
            </a:xfrm>
            <a:prstGeom prst="rect">
              <a:avLst/>
            </a:prstGeom>
          </p:spPr>
          <p:txBody>
            <a:bodyPr anchor="ctr" rtlCol="false" tIns="0" lIns="0" bIns="0" rIns="0"/>
            <a:lstStyle/>
            <a:p>
              <a:pPr algn="l">
                <a:lnSpc>
                  <a:spcPts val="3120"/>
                </a:lnSpc>
              </a:pPr>
              <a:r>
                <a:rPr lang="en-US" sz="2600" b="true">
                  <a:solidFill>
                    <a:srgbClr val="00E5A0"/>
                  </a:solidFill>
                  <a:latin typeface="Calibri (MS) Bold"/>
                  <a:ea typeface="Calibri (MS) Bold"/>
                  <a:cs typeface="Calibri (MS) Bold"/>
                  <a:sym typeface="Calibri (MS) Bold"/>
                </a:rPr>
                <a:t>Top features prédictives</a:t>
              </a:r>
            </a:p>
          </p:txBody>
        </p:sp>
      </p:grpSp>
      <p:grpSp>
        <p:nvGrpSpPr>
          <p:cNvPr name="Group 87" id="87"/>
          <p:cNvGrpSpPr/>
          <p:nvPr/>
        </p:nvGrpSpPr>
        <p:grpSpPr>
          <a:xfrm rot="0">
            <a:off x="9695817" y="6634991"/>
            <a:ext cx="2926080" cy="548640"/>
            <a:chOff x="0" y="0"/>
            <a:chExt cx="3901440" cy="731520"/>
          </a:xfrm>
        </p:grpSpPr>
        <p:sp>
          <p:nvSpPr>
            <p:cNvPr name="Freeform 88" id="88"/>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89" id="89"/>
            <p:cNvSpPr txBox="true"/>
            <p:nvPr/>
          </p:nvSpPr>
          <p:spPr>
            <a:xfrm>
              <a:off x="0" y="-38100"/>
              <a:ext cx="390144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UniqueInvoices</a:t>
              </a:r>
            </a:p>
          </p:txBody>
        </p:sp>
      </p:grpSp>
      <p:grpSp>
        <p:nvGrpSpPr>
          <p:cNvPr name="Group 90" id="90"/>
          <p:cNvGrpSpPr/>
          <p:nvPr/>
        </p:nvGrpSpPr>
        <p:grpSpPr>
          <a:xfrm rot="0">
            <a:off x="12609200" y="6732022"/>
            <a:ext cx="3865883" cy="318011"/>
            <a:chOff x="0" y="0"/>
            <a:chExt cx="5154511" cy="424015"/>
          </a:xfrm>
        </p:grpSpPr>
        <p:sp>
          <p:nvSpPr>
            <p:cNvPr name="Freeform 91" id="91"/>
            <p:cNvSpPr/>
            <p:nvPr/>
          </p:nvSpPr>
          <p:spPr>
            <a:xfrm flipH="false" flipV="false" rot="0">
              <a:off x="16891" y="16891"/>
              <a:ext cx="5120640" cy="390144"/>
            </a:xfrm>
            <a:custGeom>
              <a:avLst/>
              <a:gdLst/>
              <a:ahLst/>
              <a:cxnLst/>
              <a:rect r="r" b="b" t="t" l="l"/>
              <a:pathLst>
                <a:path h="390144" w="5120640">
                  <a:moveTo>
                    <a:pt x="0" y="0"/>
                  </a:moveTo>
                  <a:lnTo>
                    <a:pt x="5120640" y="0"/>
                  </a:lnTo>
                  <a:lnTo>
                    <a:pt x="5120640" y="390144"/>
                  </a:lnTo>
                  <a:lnTo>
                    <a:pt x="0" y="390144"/>
                  </a:lnTo>
                  <a:close/>
                </a:path>
              </a:pathLst>
            </a:custGeom>
            <a:solidFill>
              <a:srgbClr val="00E5A0">
                <a:alpha val="48627"/>
              </a:srgbClr>
            </a:solidFill>
          </p:spPr>
        </p:sp>
        <p:sp>
          <p:nvSpPr>
            <p:cNvPr name="Freeform 92" id="92"/>
            <p:cNvSpPr/>
            <p:nvPr/>
          </p:nvSpPr>
          <p:spPr>
            <a:xfrm flipH="false" flipV="false" rot="0">
              <a:off x="0" y="0"/>
              <a:ext cx="5154422" cy="423928"/>
            </a:xfrm>
            <a:custGeom>
              <a:avLst/>
              <a:gdLst/>
              <a:ahLst/>
              <a:cxnLst/>
              <a:rect r="r" b="b" t="t" l="l"/>
              <a:pathLst>
                <a:path h="423928" w="5154422">
                  <a:moveTo>
                    <a:pt x="16891" y="0"/>
                  </a:moveTo>
                  <a:lnTo>
                    <a:pt x="5137531" y="0"/>
                  </a:lnTo>
                  <a:cubicBezTo>
                    <a:pt x="5146929" y="0"/>
                    <a:pt x="5154422" y="7620"/>
                    <a:pt x="5154422" y="16891"/>
                  </a:cubicBezTo>
                  <a:lnTo>
                    <a:pt x="5154422" y="407035"/>
                  </a:lnTo>
                  <a:cubicBezTo>
                    <a:pt x="5154422" y="416433"/>
                    <a:pt x="5146802" y="423926"/>
                    <a:pt x="5137531" y="423926"/>
                  </a:cubicBezTo>
                  <a:lnTo>
                    <a:pt x="16891" y="423926"/>
                  </a:lnTo>
                  <a:cubicBezTo>
                    <a:pt x="7620" y="424053"/>
                    <a:pt x="0" y="416433"/>
                    <a:pt x="0" y="407035"/>
                  </a:cubicBezTo>
                  <a:lnTo>
                    <a:pt x="0" y="16891"/>
                  </a:lnTo>
                  <a:cubicBezTo>
                    <a:pt x="0" y="7620"/>
                    <a:pt x="7620" y="0"/>
                    <a:pt x="16891" y="0"/>
                  </a:cubicBezTo>
                  <a:moveTo>
                    <a:pt x="16891" y="33909"/>
                  </a:moveTo>
                  <a:lnTo>
                    <a:pt x="16891" y="16891"/>
                  </a:lnTo>
                  <a:lnTo>
                    <a:pt x="33909" y="16891"/>
                  </a:lnTo>
                  <a:lnTo>
                    <a:pt x="33909" y="407035"/>
                  </a:lnTo>
                  <a:lnTo>
                    <a:pt x="16891" y="407035"/>
                  </a:lnTo>
                  <a:lnTo>
                    <a:pt x="16891" y="390144"/>
                  </a:lnTo>
                  <a:lnTo>
                    <a:pt x="5137531" y="390144"/>
                  </a:lnTo>
                  <a:lnTo>
                    <a:pt x="5137531" y="407035"/>
                  </a:lnTo>
                  <a:lnTo>
                    <a:pt x="5120640" y="407035"/>
                  </a:lnTo>
                  <a:lnTo>
                    <a:pt x="5120640" y="16891"/>
                  </a:lnTo>
                  <a:lnTo>
                    <a:pt x="5137531" y="16891"/>
                  </a:lnTo>
                  <a:lnTo>
                    <a:pt x="5137531" y="33909"/>
                  </a:lnTo>
                  <a:lnTo>
                    <a:pt x="16891" y="33909"/>
                  </a:lnTo>
                  <a:close/>
                </a:path>
              </a:pathLst>
            </a:custGeom>
            <a:solidFill>
              <a:srgbClr val="00E5A0"/>
            </a:solidFill>
          </p:spPr>
        </p:sp>
      </p:grpSp>
      <p:grpSp>
        <p:nvGrpSpPr>
          <p:cNvPr name="Group 93" id="93"/>
          <p:cNvGrpSpPr/>
          <p:nvPr/>
        </p:nvGrpSpPr>
        <p:grpSpPr>
          <a:xfrm rot="0">
            <a:off x="9695817" y="7311647"/>
            <a:ext cx="2926080" cy="548640"/>
            <a:chOff x="0" y="0"/>
            <a:chExt cx="3901440" cy="731520"/>
          </a:xfrm>
        </p:grpSpPr>
        <p:sp>
          <p:nvSpPr>
            <p:cNvPr name="Freeform 94" id="94"/>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95" id="95"/>
            <p:cNvSpPr txBox="true"/>
            <p:nvPr/>
          </p:nvSpPr>
          <p:spPr>
            <a:xfrm>
              <a:off x="0" y="-38100"/>
              <a:ext cx="390144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MaxQuantity</a:t>
              </a:r>
            </a:p>
          </p:txBody>
        </p:sp>
      </p:grpSp>
      <p:grpSp>
        <p:nvGrpSpPr>
          <p:cNvPr name="Group 96" id="96"/>
          <p:cNvGrpSpPr/>
          <p:nvPr/>
        </p:nvGrpSpPr>
        <p:grpSpPr>
          <a:xfrm rot="0">
            <a:off x="12609200" y="7408678"/>
            <a:ext cx="3426971" cy="318011"/>
            <a:chOff x="0" y="0"/>
            <a:chExt cx="4569295" cy="424015"/>
          </a:xfrm>
        </p:grpSpPr>
        <p:sp>
          <p:nvSpPr>
            <p:cNvPr name="Freeform 97" id="97"/>
            <p:cNvSpPr/>
            <p:nvPr/>
          </p:nvSpPr>
          <p:spPr>
            <a:xfrm flipH="false" flipV="false" rot="0">
              <a:off x="16891" y="16891"/>
              <a:ext cx="4535424" cy="390144"/>
            </a:xfrm>
            <a:custGeom>
              <a:avLst/>
              <a:gdLst/>
              <a:ahLst/>
              <a:cxnLst/>
              <a:rect r="r" b="b" t="t" l="l"/>
              <a:pathLst>
                <a:path h="390144" w="4535424">
                  <a:moveTo>
                    <a:pt x="0" y="0"/>
                  </a:moveTo>
                  <a:lnTo>
                    <a:pt x="4535424" y="0"/>
                  </a:lnTo>
                  <a:lnTo>
                    <a:pt x="4535424" y="390144"/>
                  </a:lnTo>
                  <a:lnTo>
                    <a:pt x="0" y="390144"/>
                  </a:lnTo>
                  <a:close/>
                </a:path>
              </a:pathLst>
            </a:custGeom>
            <a:solidFill>
              <a:srgbClr val="00E5A0">
                <a:alpha val="48627"/>
              </a:srgbClr>
            </a:solidFill>
          </p:spPr>
        </p:sp>
        <p:sp>
          <p:nvSpPr>
            <p:cNvPr name="Freeform 98" id="98"/>
            <p:cNvSpPr/>
            <p:nvPr/>
          </p:nvSpPr>
          <p:spPr>
            <a:xfrm flipH="false" flipV="false" rot="0">
              <a:off x="0" y="0"/>
              <a:ext cx="4569206" cy="423928"/>
            </a:xfrm>
            <a:custGeom>
              <a:avLst/>
              <a:gdLst/>
              <a:ahLst/>
              <a:cxnLst/>
              <a:rect r="r" b="b" t="t" l="l"/>
              <a:pathLst>
                <a:path h="423928" w="4569206">
                  <a:moveTo>
                    <a:pt x="16891" y="0"/>
                  </a:moveTo>
                  <a:lnTo>
                    <a:pt x="4552315" y="0"/>
                  </a:lnTo>
                  <a:cubicBezTo>
                    <a:pt x="4561713" y="0"/>
                    <a:pt x="4569206" y="7620"/>
                    <a:pt x="4569206" y="16891"/>
                  </a:cubicBezTo>
                  <a:lnTo>
                    <a:pt x="4569206" y="407035"/>
                  </a:lnTo>
                  <a:cubicBezTo>
                    <a:pt x="4569206" y="416433"/>
                    <a:pt x="4561586" y="423926"/>
                    <a:pt x="4552315" y="423926"/>
                  </a:cubicBezTo>
                  <a:lnTo>
                    <a:pt x="16891" y="423926"/>
                  </a:lnTo>
                  <a:cubicBezTo>
                    <a:pt x="7620" y="424053"/>
                    <a:pt x="0" y="416433"/>
                    <a:pt x="0" y="407035"/>
                  </a:cubicBezTo>
                  <a:lnTo>
                    <a:pt x="0" y="16891"/>
                  </a:lnTo>
                  <a:cubicBezTo>
                    <a:pt x="0" y="7620"/>
                    <a:pt x="7620" y="0"/>
                    <a:pt x="16891" y="0"/>
                  </a:cubicBezTo>
                  <a:moveTo>
                    <a:pt x="16891" y="33909"/>
                  </a:moveTo>
                  <a:lnTo>
                    <a:pt x="16891" y="16891"/>
                  </a:lnTo>
                  <a:lnTo>
                    <a:pt x="33909" y="16891"/>
                  </a:lnTo>
                  <a:lnTo>
                    <a:pt x="33909" y="407035"/>
                  </a:lnTo>
                  <a:lnTo>
                    <a:pt x="16891" y="407035"/>
                  </a:lnTo>
                  <a:lnTo>
                    <a:pt x="16891" y="390144"/>
                  </a:lnTo>
                  <a:lnTo>
                    <a:pt x="4552315" y="390144"/>
                  </a:lnTo>
                  <a:lnTo>
                    <a:pt x="4552315" y="407035"/>
                  </a:lnTo>
                  <a:lnTo>
                    <a:pt x="4535424" y="407035"/>
                  </a:lnTo>
                  <a:lnTo>
                    <a:pt x="4535424" y="16891"/>
                  </a:lnTo>
                  <a:lnTo>
                    <a:pt x="4552315" y="16891"/>
                  </a:lnTo>
                  <a:lnTo>
                    <a:pt x="4552315" y="33909"/>
                  </a:lnTo>
                  <a:lnTo>
                    <a:pt x="16891" y="33909"/>
                  </a:lnTo>
                  <a:close/>
                </a:path>
              </a:pathLst>
            </a:custGeom>
            <a:solidFill>
              <a:srgbClr val="00E5A0"/>
            </a:solidFill>
          </p:spPr>
        </p:sp>
      </p:grpSp>
      <p:grpSp>
        <p:nvGrpSpPr>
          <p:cNvPr name="Group 99" id="99"/>
          <p:cNvGrpSpPr/>
          <p:nvPr/>
        </p:nvGrpSpPr>
        <p:grpSpPr>
          <a:xfrm rot="0">
            <a:off x="9695817" y="7988303"/>
            <a:ext cx="2926080" cy="548640"/>
            <a:chOff x="0" y="0"/>
            <a:chExt cx="3901440" cy="731520"/>
          </a:xfrm>
        </p:grpSpPr>
        <p:sp>
          <p:nvSpPr>
            <p:cNvPr name="Freeform 100" id="100"/>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101" id="101"/>
            <p:cNvSpPr txBox="true"/>
            <p:nvPr/>
          </p:nvSpPr>
          <p:spPr>
            <a:xfrm>
              <a:off x="0" y="-38100"/>
              <a:ext cx="390144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UniqueProducts</a:t>
              </a:r>
            </a:p>
          </p:txBody>
        </p:sp>
      </p:grpSp>
      <p:grpSp>
        <p:nvGrpSpPr>
          <p:cNvPr name="Group 102" id="102"/>
          <p:cNvGrpSpPr/>
          <p:nvPr/>
        </p:nvGrpSpPr>
        <p:grpSpPr>
          <a:xfrm rot="0">
            <a:off x="12609200" y="8085334"/>
            <a:ext cx="3042923" cy="318011"/>
            <a:chOff x="0" y="0"/>
            <a:chExt cx="4057231" cy="424015"/>
          </a:xfrm>
        </p:grpSpPr>
        <p:sp>
          <p:nvSpPr>
            <p:cNvPr name="Freeform 103" id="103"/>
            <p:cNvSpPr/>
            <p:nvPr/>
          </p:nvSpPr>
          <p:spPr>
            <a:xfrm flipH="false" flipV="false" rot="0">
              <a:off x="16891" y="16891"/>
              <a:ext cx="4023360" cy="390144"/>
            </a:xfrm>
            <a:custGeom>
              <a:avLst/>
              <a:gdLst/>
              <a:ahLst/>
              <a:cxnLst/>
              <a:rect r="r" b="b" t="t" l="l"/>
              <a:pathLst>
                <a:path h="390144" w="4023360">
                  <a:moveTo>
                    <a:pt x="0" y="0"/>
                  </a:moveTo>
                  <a:lnTo>
                    <a:pt x="4023360" y="0"/>
                  </a:lnTo>
                  <a:lnTo>
                    <a:pt x="4023360" y="390144"/>
                  </a:lnTo>
                  <a:lnTo>
                    <a:pt x="0" y="390144"/>
                  </a:lnTo>
                  <a:close/>
                </a:path>
              </a:pathLst>
            </a:custGeom>
            <a:solidFill>
              <a:srgbClr val="00E5A0">
                <a:alpha val="48627"/>
              </a:srgbClr>
            </a:solidFill>
          </p:spPr>
        </p:sp>
        <p:sp>
          <p:nvSpPr>
            <p:cNvPr name="Freeform 104" id="104"/>
            <p:cNvSpPr/>
            <p:nvPr/>
          </p:nvSpPr>
          <p:spPr>
            <a:xfrm flipH="false" flipV="false" rot="0">
              <a:off x="0" y="0"/>
              <a:ext cx="4057142" cy="423928"/>
            </a:xfrm>
            <a:custGeom>
              <a:avLst/>
              <a:gdLst/>
              <a:ahLst/>
              <a:cxnLst/>
              <a:rect r="r" b="b" t="t" l="l"/>
              <a:pathLst>
                <a:path h="423928" w="4057142">
                  <a:moveTo>
                    <a:pt x="16891" y="0"/>
                  </a:moveTo>
                  <a:lnTo>
                    <a:pt x="4040251" y="0"/>
                  </a:lnTo>
                  <a:cubicBezTo>
                    <a:pt x="4049649" y="0"/>
                    <a:pt x="4057142" y="7620"/>
                    <a:pt x="4057142" y="16891"/>
                  </a:cubicBezTo>
                  <a:lnTo>
                    <a:pt x="4057142" y="407035"/>
                  </a:lnTo>
                  <a:cubicBezTo>
                    <a:pt x="4057142" y="416433"/>
                    <a:pt x="4049522" y="423926"/>
                    <a:pt x="4040251" y="423926"/>
                  </a:cubicBezTo>
                  <a:lnTo>
                    <a:pt x="16891" y="423926"/>
                  </a:lnTo>
                  <a:cubicBezTo>
                    <a:pt x="7620" y="424053"/>
                    <a:pt x="0" y="416433"/>
                    <a:pt x="0" y="407035"/>
                  </a:cubicBezTo>
                  <a:lnTo>
                    <a:pt x="0" y="16891"/>
                  </a:lnTo>
                  <a:cubicBezTo>
                    <a:pt x="0" y="7620"/>
                    <a:pt x="7620" y="0"/>
                    <a:pt x="16891" y="0"/>
                  </a:cubicBezTo>
                  <a:moveTo>
                    <a:pt x="16891" y="33909"/>
                  </a:moveTo>
                  <a:lnTo>
                    <a:pt x="16891" y="16891"/>
                  </a:lnTo>
                  <a:lnTo>
                    <a:pt x="33909" y="16891"/>
                  </a:lnTo>
                  <a:lnTo>
                    <a:pt x="33909" y="407035"/>
                  </a:lnTo>
                  <a:lnTo>
                    <a:pt x="16891" y="407035"/>
                  </a:lnTo>
                  <a:lnTo>
                    <a:pt x="16891" y="390144"/>
                  </a:lnTo>
                  <a:lnTo>
                    <a:pt x="4040251" y="390144"/>
                  </a:lnTo>
                  <a:lnTo>
                    <a:pt x="4040251" y="407035"/>
                  </a:lnTo>
                  <a:lnTo>
                    <a:pt x="4023360" y="407035"/>
                  </a:lnTo>
                  <a:lnTo>
                    <a:pt x="4023360" y="16891"/>
                  </a:lnTo>
                  <a:lnTo>
                    <a:pt x="4040251" y="16891"/>
                  </a:lnTo>
                  <a:lnTo>
                    <a:pt x="4040251" y="33909"/>
                  </a:lnTo>
                  <a:lnTo>
                    <a:pt x="16891" y="33909"/>
                  </a:lnTo>
                  <a:close/>
                </a:path>
              </a:pathLst>
            </a:custGeom>
            <a:solidFill>
              <a:srgbClr val="00E5A0"/>
            </a:solidFill>
          </p:spPr>
        </p:sp>
      </p:grpSp>
      <p:grpSp>
        <p:nvGrpSpPr>
          <p:cNvPr name="Group 105" id="105"/>
          <p:cNvGrpSpPr/>
          <p:nvPr/>
        </p:nvGrpSpPr>
        <p:grpSpPr>
          <a:xfrm rot="0">
            <a:off x="9695817" y="8664959"/>
            <a:ext cx="2926080" cy="548640"/>
            <a:chOff x="0" y="0"/>
            <a:chExt cx="3901440" cy="731520"/>
          </a:xfrm>
        </p:grpSpPr>
        <p:sp>
          <p:nvSpPr>
            <p:cNvPr name="Freeform 106" id="106"/>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107" id="107"/>
            <p:cNvSpPr txBox="true"/>
            <p:nvPr/>
          </p:nvSpPr>
          <p:spPr>
            <a:xfrm>
              <a:off x="0" y="-38100"/>
              <a:ext cx="390144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Frequency</a:t>
              </a:r>
            </a:p>
          </p:txBody>
        </p:sp>
      </p:grpSp>
      <p:grpSp>
        <p:nvGrpSpPr>
          <p:cNvPr name="Group 108" id="108"/>
          <p:cNvGrpSpPr/>
          <p:nvPr/>
        </p:nvGrpSpPr>
        <p:grpSpPr>
          <a:xfrm rot="0">
            <a:off x="12609200" y="8761990"/>
            <a:ext cx="2494283" cy="318011"/>
            <a:chOff x="0" y="0"/>
            <a:chExt cx="3325711" cy="424015"/>
          </a:xfrm>
        </p:grpSpPr>
        <p:sp>
          <p:nvSpPr>
            <p:cNvPr name="Freeform 109" id="109"/>
            <p:cNvSpPr/>
            <p:nvPr/>
          </p:nvSpPr>
          <p:spPr>
            <a:xfrm flipH="false" flipV="false" rot="0">
              <a:off x="16891" y="16891"/>
              <a:ext cx="3291840" cy="390144"/>
            </a:xfrm>
            <a:custGeom>
              <a:avLst/>
              <a:gdLst/>
              <a:ahLst/>
              <a:cxnLst/>
              <a:rect r="r" b="b" t="t" l="l"/>
              <a:pathLst>
                <a:path h="390144" w="3291840">
                  <a:moveTo>
                    <a:pt x="0" y="0"/>
                  </a:moveTo>
                  <a:lnTo>
                    <a:pt x="3291840" y="0"/>
                  </a:lnTo>
                  <a:lnTo>
                    <a:pt x="3291840" y="390144"/>
                  </a:lnTo>
                  <a:lnTo>
                    <a:pt x="0" y="390144"/>
                  </a:lnTo>
                  <a:close/>
                </a:path>
              </a:pathLst>
            </a:custGeom>
            <a:solidFill>
              <a:srgbClr val="00E5A0">
                <a:alpha val="48627"/>
              </a:srgbClr>
            </a:solidFill>
          </p:spPr>
        </p:sp>
        <p:sp>
          <p:nvSpPr>
            <p:cNvPr name="Freeform 110" id="110"/>
            <p:cNvSpPr/>
            <p:nvPr/>
          </p:nvSpPr>
          <p:spPr>
            <a:xfrm flipH="false" flipV="false" rot="0">
              <a:off x="0" y="0"/>
              <a:ext cx="3325622" cy="423928"/>
            </a:xfrm>
            <a:custGeom>
              <a:avLst/>
              <a:gdLst/>
              <a:ahLst/>
              <a:cxnLst/>
              <a:rect r="r" b="b" t="t" l="l"/>
              <a:pathLst>
                <a:path h="423928" w="3325622">
                  <a:moveTo>
                    <a:pt x="16891" y="0"/>
                  </a:moveTo>
                  <a:lnTo>
                    <a:pt x="3308731" y="0"/>
                  </a:lnTo>
                  <a:cubicBezTo>
                    <a:pt x="3318129" y="0"/>
                    <a:pt x="3325622" y="7620"/>
                    <a:pt x="3325622" y="16891"/>
                  </a:cubicBezTo>
                  <a:lnTo>
                    <a:pt x="3325622" y="407035"/>
                  </a:lnTo>
                  <a:cubicBezTo>
                    <a:pt x="3325622" y="416433"/>
                    <a:pt x="3318002" y="423926"/>
                    <a:pt x="3308731" y="423926"/>
                  </a:cubicBezTo>
                  <a:lnTo>
                    <a:pt x="16891" y="423926"/>
                  </a:lnTo>
                  <a:cubicBezTo>
                    <a:pt x="7620" y="424053"/>
                    <a:pt x="0" y="416433"/>
                    <a:pt x="0" y="407035"/>
                  </a:cubicBezTo>
                  <a:lnTo>
                    <a:pt x="0" y="16891"/>
                  </a:lnTo>
                  <a:cubicBezTo>
                    <a:pt x="0" y="7620"/>
                    <a:pt x="7620" y="0"/>
                    <a:pt x="16891" y="0"/>
                  </a:cubicBezTo>
                  <a:moveTo>
                    <a:pt x="16891" y="33909"/>
                  </a:moveTo>
                  <a:lnTo>
                    <a:pt x="16891" y="16891"/>
                  </a:lnTo>
                  <a:lnTo>
                    <a:pt x="33909" y="16891"/>
                  </a:lnTo>
                  <a:lnTo>
                    <a:pt x="33909" y="407035"/>
                  </a:lnTo>
                  <a:lnTo>
                    <a:pt x="16891" y="407035"/>
                  </a:lnTo>
                  <a:lnTo>
                    <a:pt x="16891" y="390144"/>
                  </a:lnTo>
                  <a:lnTo>
                    <a:pt x="3308731" y="390144"/>
                  </a:lnTo>
                  <a:lnTo>
                    <a:pt x="3308731" y="407035"/>
                  </a:lnTo>
                  <a:lnTo>
                    <a:pt x="3291840" y="407035"/>
                  </a:lnTo>
                  <a:lnTo>
                    <a:pt x="3291840" y="16891"/>
                  </a:lnTo>
                  <a:lnTo>
                    <a:pt x="3308731" y="16891"/>
                  </a:lnTo>
                  <a:lnTo>
                    <a:pt x="3308731" y="33909"/>
                  </a:lnTo>
                  <a:lnTo>
                    <a:pt x="16891" y="33909"/>
                  </a:lnTo>
                  <a:close/>
                </a:path>
              </a:pathLst>
            </a:custGeom>
            <a:solidFill>
              <a:srgbClr val="00E5A0"/>
            </a:solidFill>
          </p:spPr>
        </p:sp>
      </p:grpSp>
      <p:grpSp>
        <p:nvGrpSpPr>
          <p:cNvPr name="Group 111" id="111"/>
          <p:cNvGrpSpPr/>
          <p:nvPr/>
        </p:nvGrpSpPr>
        <p:grpSpPr>
          <a:xfrm rot="0">
            <a:off x="9695817" y="9341615"/>
            <a:ext cx="2926080" cy="548640"/>
            <a:chOff x="0" y="0"/>
            <a:chExt cx="3901440" cy="731520"/>
          </a:xfrm>
        </p:grpSpPr>
        <p:sp>
          <p:nvSpPr>
            <p:cNvPr name="Freeform 112" id="112"/>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113" id="113"/>
            <p:cNvSpPr txBox="true"/>
            <p:nvPr/>
          </p:nvSpPr>
          <p:spPr>
            <a:xfrm>
              <a:off x="0" y="-38100"/>
              <a:ext cx="390144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TotalQuantity</a:t>
              </a:r>
            </a:p>
          </p:txBody>
        </p:sp>
      </p:grpSp>
      <p:grpSp>
        <p:nvGrpSpPr>
          <p:cNvPr name="Group 114" id="114"/>
          <p:cNvGrpSpPr/>
          <p:nvPr/>
        </p:nvGrpSpPr>
        <p:grpSpPr>
          <a:xfrm rot="0">
            <a:off x="12609200" y="9438646"/>
            <a:ext cx="1945643" cy="318011"/>
            <a:chOff x="0" y="0"/>
            <a:chExt cx="2594191" cy="424015"/>
          </a:xfrm>
        </p:grpSpPr>
        <p:sp>
          <p:nvSpPr>
            <p:cNvPr name="Freeform 115" id="115"/>
            <p:cNvSpPr/>
            <p:nvPr/>
          </p:nvSpPr>
          <p:spPr>
            <a:xfrm flipH="false" flipV="false" rot="0">
              <a:off x="16891" y="16891"/>
              <a:ext cx="2560320" cy="390144"/>
            </a:xfrm>
            <a:custGeom>
              <a:avLst/>
              <a:gdLst/>
              <a:ahLst/>
              <a:cxnLst/>
              <a:rect r="r" b="b" t="t" l="l"/>
              <a:pathLst>
                <a:path h="390144" w="2560320">
                  <a:moveTo>
                    <a:pt x="0" y="0"/>
                  </a:moveTo>
                  <a:lnTo>
                    <a:pt x="2560320" y="0"/>
                  </a:lnTo>
                  <a:lnTo>
                    <a:pt x="2560320" y="390144"/>
                  </a:lnTo>
                  <a:lnTo>
                    <a:pt x="0" y="390144"/>
                  </a:lnTo>
                  <a:close/>
                </a:path>
              </a:pathLst>
            </a:custGeom>
            <a:solidFill>
              <a:srgbClr val="00E5A0">
                <a:alpha val="48627"/>
              </a:srgbClr>
            </a:solidFill>
          </p:spPr>
        </p:sp>
        <p:sp>
          <p:nvSpPr>
            <p:cNvPr name="Freeform 116" id="116"/>
            <p:cNvSpPr/>
            <p:nvPr/>
          </p:nvSpPr>
          <p:spPr>
            <a:xfrm flipH="false" flipV="false" rot="0">
              <a:off x="0" y="0"/>
              <a:ext cx="2594102" cy="423928"/>
            </a:xfrm>
            <a:custGeom>
              <a:avLst/>
              <a:gdLst/>
              <a:ahLst/>
              <a:cxnLst/>
              <a:rect r="r" b="b" t="t" l="l"/>
              <a:pathLst>
                <a:path h="423928" w="2594102">
                  <a:moveTo>
                    <a:pt x="16891" y="0"/>
                  </a:moveTo>
                  <a:lnTo>
                    <a:pt x="2577211" y="0"/>
                  </a:lnTo>
                  <a:cubicBezTo>
                    <a:pt x="2586609" y="0"/>
                    <a:pt x="2594102" y="7620"/>
                    <a:pt x="2594102" y="16891"/>
                  </a:cubicBezTo>
                  <a:lnTo>
                    <a:pt x="2594102" y="407035"/>
                  </a:lnTo>
                  <a:cubicBezTo>
                    <a:pt x="2594102" y="416433"/>
                    <a:pt x="2586482" y="423926"/>
                    <a:pt x="2577211" y="423926"/>
                  </a:cubicBezTo>
                  <a:lnTo>
                    <a:pt x="16891" y="423926"/>
                  </a:lnTo>
                  <a:cubicBezTo>
                    <a:pt x="7620" y="424053"/>
                    <a:pt x="0" y="416433"/>
                    <a:pt x="0" y="407035"/>
                  </a:cubicBezTo>
                  <a:lnTo>
                    <a:pt x="0" y="16891"/>
                  </a:lnTo>
                  <a:cubicBezTo>
                    <a:pt x="0" y="7620"/>
                    <a:pt x="7620" y="0"/>
                    <a:pt x="16891" y="0"/>
                  </a:cubicBezTo>
                  <a:moveTo>
                    <a:pt x="16891" y="33909"/>
                  </a:moveTo>
                  <a:lnTo>
                    <a:pt x="16891" y="16891"/>
                  </a:lnTo>
                  <a:lnTo>
                    <a:pt x="33909" y="16891"/>
                  </a:lnTo>
                  <a:lnTo>
                    <a:pt x="33909" y="407035"/>
                  </a:lnTo>
                  <a:lnTo>
                    <a:pt x="16891" y="407035"/>
                  </a:lnTo>
                  <a:lnTo>
                    <a:pt x="16891" y="390144"/>
                  </a:lnTo>
                  <a:lnTo>
                    <a:pt x="2577211" y="390144"/>
                  </a:lnTo>
                  <a:lnTo>
                    <a:pt x="2577211" y="407035"/>
                  </a:lnTo>
                  <a:lnTo>
                    <a:pt x="2560320" y="407035"/>
                  </a:lnTo>
                  <a:lnTo>
                    <a:pt x="2560320" y="16891"/>
                  </a:lnTo>
                  <a:lnTo>
                    <a:pt x="2577211" y="16891"/>
                  </a:lnTo>
                  <a:lnTo>
                    <a:pt x="2577211" y="33909"/>
                  </a:lnTo>
                  <a:lnTo>
                    <a:pt x="16891" y="33909"/>
                  </a:lnTo>
                  <a:close/>
                </a:path>
              </a:pathLst>
            </a:custGeom>
            <a:solidFill>
              <a:srgbClr val="00E5A0"/>
            </a:solid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724533" y="518922"/>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734697" y="529085"/>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06 — CLUSTERING</a:t>
              </a:r>
            </a:p>
          </p:txBody>
        </p:sp>
      </p:grpSp>
      <p:grpSp>
        <p:nvGrpSpPr>
          <p:cNvPr name="Group 8" id="8"/>
          <p:cNvGrpSpPr/>
          <p:nvPr/>
        </p:nvGrpSpPr>
        <p:grpSpPr>
          <a:xfrm rot="0">
            <a:off x="734697" y="1114301"/>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Clustering &amp; Réduction de Dimension</a:t>
              </a:r>
            </a:p>
          </p:txBody>
        </p:sp>
      </p:grpSp>
      <p:grpSp>
        <p:nvGrpSpPr>
          <p:cNvPr name="Group 11" id="11"/>
          <p:cNvGrpSpPr/>
          <p:nvPr/>
        </p:nvGrpSpPr>
        <p:grpSpPr>
          <a:xfrm rot="0">
            <a:off x="734697" y="2319023"/>
            <a:ext cx="16459200" cy="640080"/>
            <a:chOff x="0" y="0"/>
            <a:chExt cx="21945600" cy="853440"/>
          </a:xfrm>
        </p:grpSpPr>
        <p:sp>
          <p:nvSpPr>
            <p:cNvPr name="Freeform 12" id="12"/>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13" id="13"/>
            <p:cNvSpPr txBox="true"/>
            <p:nvPr/>
          </p:nvSpPr>
          <p:spPr>
            <a:xfrm>
              <a:off x="0" y="-38100"/>
              <a:ext cx="21945600" cy="891540"/>
            </a:xfrm>
            <a:prstGeom prst="rect">
              <a:avLst/>
            </a:prstGeom>
          </p:spPr>
          <p:txBody>
            <a:bodyPr anchor="ctr" rtlCol="false" tIns="0" lIns="0" bIns="0" rIns="0"/>
            <a:lstStyle/>
            <a:p>
              <a:pPr algn="l">
                <a:lnSpc>
                  <a:spcPts val="2879"/>
                </a:lnSpc>
              </a:pPr>
              <a:r>
                <a:rPr lang="en-US" sz="2400">
                  <a:solidFill>
                    <a:srgbClr val="6B8BAA"/>
                  </a:solidFill>
                  <a:latin typeface="Calibri (MS)"/>
                  <a:ea typeface="Calibri (MS)"/>
                  <a:cs typeface="Calibri (MS)"/>
                  <a:sym typeface="Calibri (MS)"/>
                </a:rPr>
                <a:t>PCA (10 composantes) + KMeans (k=4)</a:t>
              </a:r>
            </a:p>
          </p:txBody>
        </p:sp>
      </p:grpSp>
      <p:grpSp>
        <p:nvGrpSpPr>
          <p:cNvPr name="Group 14" id="14"/>
          <p:cNvGrpSpPr/>
          <p:nvPr/>
        </p:nvGrpSpPr>
        <p:grpSpPr>
          <a:xfrm rot="0">
            <a:off x="728343" y="2861310"/>
            <a:ext cx="3670297" cy="1658617"/>
            <a:chOff x="0" y="0"/>
            <a:chExt cx="4893729" cy="2211489"/>
          </a:xfrm>
        </p:grpSpPr>
        <p:sp>
          <p:nvSpPr>
            <p:cNvPr name="Freeform 15" id="15"/>
            <p:cNvSpPr/>
            <p:nvPr/>
          </p:nvSpPr>
          <p:spPr>
            <a:xfrm flipH="false" flipV="false" rot="0">
              <a:off x="8509" y="8509"/>
              <a:ext cx="4876800" cy="2194560"/>
            </a:xfrm>
            <a:custGeom>
              <a:avLst/>
              <a:gdLst/>
              <a:ahLst/>
              <a:cxnLst/>
              <a:rect r="r" b="b" t="t" l="l"/>
              <a:pathLst>
                <a:path h="2194560" w="4876800">
                  <a:moveTo>
                    <a:pt x="0" y="0"/>
                  </a:moveTo>
                  <a:lnTo>
                    <a:pt x="4876800" y="0"/>
                  </a:lnTo>
                  <a:lnTo>
                    <a:pt x="4876800" y="2194560"/>
                  </a:lnTo>
                  <a:lnTo>
                    <a:pt x="0" y="2194560"/>
                  </a:lnTo>
                  <a:close/>
                </a:path>
              </a:pathLst>
            </a:custGeom>
            <a:solidFill>
              <a:srgbClr val="0D1E35"/>
            </a:solidFill>
          </p:spPr>
        </p:sp>
        <p:sp>
          <p:nvSpPr>
            <p:cNvPr name="Freeform 16" id="16"/>
            <p:cNvSpPr/>
            <p:nvPr/>
          </p:nvSpPr>
          <p:spPr>
            <a:xfrm flipH="false" flipV="false" rot="0">
              <a:off x="0" y="0"/>
              <a:ext cx="4893818" cy="2211578"/>
            </a:xfrm>
            <a:custGeom>
              <a:avLst/>
              <a:gdLst/>
              <a:ahLst/>
              <a:cxnLst/>
              <a:rect r="r" b="b" t="t" l="l"/>
              <a:pathLst>
                <a:path h="2211578" w="4893818">
                  <a:moveTo>
                    <a:pt x="8509" y="0"/>
                  </a:moveTo>
                  <a:lnTo>
                    <a:pt x="4885309" y="0"/>
                  </a:lnTo>
                  <a:cubicBezTo>
                    <a:pt x="4890008" y="0"/>
                    <a:pt x="4893818" y="3810"/>
                    <a:pt x="4893818" y="8509"/>
                  </a:cubicBezTo>
                  <a:lnTo>
                    <a:pt x="4893818" y="2203069"/>
                  </a:lnTo>
                  <a:cubicBezTo>
                    <a:pt x="4893818" y="2207768"/>
                    <a:pt x="4890008" y="2211578"/>
                    <a:pt x="488530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4885309" y="2194560"/>
                  </a:lnTo>
                  <a:lnTo>
                    <a:pt x="4885309" y="2203069"/>
                  </a:lnTo>
                  <a:lnTo>
                    <a:pt x="4876800" y="2203069"/>
                  </a:lnTo>
                  <a:lnTo>
                    <a:pt x="4876800" y="8509"/>
                  </a:lnTo>
                  <a:lnTo>
                    <a:pt x="4885309" y="8509"/>
                  </a:lnTo>
                  <a:lnTo>
                    <a:pt x="4885309" y="17018"/>
                  </a:lnTo>
                  <a:lnTo>
                    <a:pt x="8509" y="17018"/>
                  </a:lnTo>
                  <a:close/>
                </a:path>
              </a:pathLst>
            </a:custGeom>
            <a:solidFill>
              <a:srgbClr val="1E3352"/>
            </a:solidFill>
          </p:spPr>
        </p:sp>
      </p:grpSp>
      <p:grpSp>
        <p:nvGrpSpPr>
          <p:cNvPr name="Group 17" id="17"/>
          <p:cNvGrpSpPr/>
          <p:nvPr/>
        </p:nvGrpSpPr>
        <p:grpSpPr>
          <a:xfrm rot="0">
            <a:off x="734697" y="3013967"/>
            <a:ext cx="3657600" cy="694944"/>
            <a:chOff x="0" y="0"/>
            <a:chExt cx="4876800" cy="926592"/>
          </a:xfrm>
        </p:grpSpPr>
        <p:sp>
          <p:nvSpPr>
            <p:cNvPr name="Freeform 18" id="18"/>
            <p:cNvSpPr/>
            <p:nvPr/>
          </p:nvSpPr>
          <p:spPr>
            <a:xfrm flipH="false" flipV="false" rot="0">
              <a:off x="0" y="0"/>
              <a:ext cx="4876800" cy="926592"/>
            </a:xfrm>
            <a:custGeom>
              <a:avLst/>
              <a:gdLst/>
              <a:ahLst/>
              <a:cxnLst/>
              <a:rect r="r" b="b" t="t" l="l"/>
              <a:pathLst>
                <a:path h="926592" w="4876800">
                  <a:moveTo>
                    <a:pt x="0" y="0"/>
                  </a:moveTo>
                  <a:lnTo>
                    <a:pt x="4876800" y="0"/>
                  </a:lnTo>
                  <a:lnTo>
                    <a:pt x="4876800" y="926592"/>
                  </a:lnTo>
                  <a:lnTo>
                    <a:pt x="0" y="926592"/>
                  </a:lnTo>
                  <a:close/>
                </a:path>
              </a:pathLst>
            </a:custGeom>
            <a:blipFill>
              <a:blip r:embed="rId3">
                <a:alphaModFix amt="0"/>
              </a:blip>
              <a:stretch>
                <a:fillRect l="0" t="-52552" r="0" b="-52552"/>
              </a:stretch>
            </a:blipFill>
          </p:spPr>
        </p:sp>
        <p:sp>
          <p:nvSpPr>
            <p:cNvPr name="TextBox 19" id="19"/>
            <p:cNvSpPr txBox="true"/>
            <p:nvPr/>
          </p:nvSpPr>
          <p:spPr>
            <a:xfrm>
              <a:off x="0" y="-57150"/>
              <a:ext cx="4876800" cy="983742"/>
            </a:xfrm>
            <a:prstGeom prst="rect">
              <a:avLst/>
            </a:prstGeom>
          </p:spPr>
          <p:txBody>
            <a:bodyPr anchor="ctr" rtlCol="false" tIns="0" lIns="0" bIns="0" rIns="0"/>
            <a:lstStyle/>
            <a:p>
              <a:pPr algn="ctr">
                <a:lnSpc>
                  <a:spcPts val="3120"/>
                </a:lnSpc>
              </a:pPr>
              <a:r>
                <a:rPr lang="en-US" sz="2600" b="true">
                  <a:solidFill>
                    <a:srgbClr val="1A8FFF"/>
                  </a:solidFill>
                  <a:latin typeface="Calibri (MS) Bold"/>
                  <a:ea typeface="Calibri (MS) Bold"/>
                  <a:cs typeface="Calibri (MS) Bold"/>
                  <a:sym typeface="Calibri (MS) Bold"/>
                </a:rPr>
                <a:t>StandardScaler</a:t>
              </a:r>
            </a:p>
          </p:txBody>
        </p:sp>
      </p:grpSp>
      <p:grpSp>
        <p:nvGrpSpPr>
          <p:cNvPr name="Group 20" id="20"/>
          <p:cNvGrpSpPr/>
          <p:nvPr/>
        </p:nvGrpSpPr>
        <p:grpSpPr>
          <a:xfrm rot="0">
            <a:off x="734697" y="3708911"/>
            <a:ext cx="3657600" cy="640080"/>
            <a:chOff x="0" y="0"/>
            <a:chExt cx="4876800" cy="853440"/>
          </a:xfrm>
        </p:grpSpPr>
        <p:sp>
          <p:nvSpPr>
            <p:cNvPr name="Freeform 21" id="21"/>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sp>
        <p:sp>
          <p:nvSpPr>
            <p:cNvPr name="TextBox 22" id="22"/>
            <p:cNvSpPr txBox="true"/>
            <p:nvPr/>
          </p:nvSpPr>
          <p:spPr>
            <a:xfrm>
              <a:off x="0" y="-38100"/>
              <a:ext cx="4876800" cy="891540"/>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Normalisation</a:t>
              </a:r>
            </a:p>
          </p:txBody>
        </p:sp>
      </p:grpSp>
      <p:grpSp>
        <p:nvGrpSpPr>
          <p:cNvPr name="Group 23" id="23"/>
          <p:cNvGrpSpPr/>
          <p:nvPr/>
        </p:nvGrpSpPr>
        <p:grpSpPr>
          <a:xfrm rot="0">
            <a:off x="4392297" y="3471167"/>
            <a:ext cx="640080" cy="640080"/>
            <a:chOff x="0" y="0"/>
            <a:chExt cx="853440" cy="853440"/>
          </a:xfrm>
        </p:grpSpPr>
        <p:sp>
          <p:nvSpPr>
            <p:cNvPr name="Freeform 24" id="24"/>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25" id="25"/>
            <p:cNvSpPr txBox="true"/>
            <p:nvPr/>
          </p:nvSpPr>
          <p:spPr>
            <a:xfrm>
              <a:off x="0" y="-57150"/>
              <a:ext cx="853440" cy="910590"/>
            </a:xfrm>
            <a:prstGeom prst="rect">
              <a:avLst/>
            </a:prstGeom>
          </p:spPr>
          <p:txBody>
            <a:bodyPr anchor="ctr" rtlCol="false" tIns="0" lIns="0" bIns="0" rIns="0"/>
            <a:lstStyle/>
            <a:p>
              <a:pPr algn="ctr">
                <a:lnSpc>
                  <a:spcPts val="3840"/>
                </a:lnSpc>
              </a:pPr>
              <a:r>
                <a:rPr lang="en-US" sz="3200" b="true">
                  <a:solidFill>
                    <a:srgbClr val="1E3352"/>
                  </a:solidFill>
                  <a:latin typeface="Calibri (MS) Bold"/>
                  <a:ea typeface="Calibri (MS) Bold"/>
                  <a:cs typeface="Calibri (MS) Bold"/>
                  <a:sym typeface="Calibri (MS) Bold"/>
                </a:rPr>
                <a:t>→</a:t>
              </a:r>
            </a:p>
          </p:txBody>
        </p:sp>
      </p:grpSp>
      <p:grpSp>
        <p:nvGrpSpPr>
          <p:cNvPr name="Group 26" id="26"/>
          <p:cNvGrpSpPr/>
          <p:nvPr/>
        </p:nvGrpSpPr>
        <p:grpSpPr>
          <a:xfrm rot="0">
            <a:off x="5026023" y="2861310"/>
            <a:ext cx="3670297" cy="1658617"/>
            <a:chOff x="0" y="0"/>
            <a:chExt cx="4893729" cy="2211489"/>
          </a:xfrm>
        </p:grpSpPr>
        <p:sp>
          <p:nvSpPr>
            <p:cNvPr name="Freeform 27" id="27"/>
            <p:cNvSpPr/>
            <p:nvPr/>
          </p:nvSpPr>
          <p:spPr>
            <a:xfrm flipH="false" flipV="false" rot="0">
              <a:off x="8509" y="8509"/>
              <a:ext cx="4876800" cy="2194560"/>
            </a:xfrm>
            <a:custGeom>
              <a:avLst/>
              <a:gdLst/>
              <a:ahLst/>
              <a:cxnLst/>
              <a:rect r="r" b="b" t="t" l="l"/>
              <a:pathLst>
                <a:path h="2194560" w="4876800">
                  <a:moveTo>
                    <a:pt x="0" y="0"/>
                  </a:moveTo>
                  <a:lnTo>
                    <a:pt x="4876800" y="0"/>
                  </a:lnTo>
                  <a:lnTo>
                    <a:pt x="4876800" y="2194560"/>
                  </a:lnTo>
                  <a:lnTo>
                    <a:pt x="0" y="2194560"/>
                  </a:lnTo>
                  <a:close/>
                </a:path>
              </a:pathLst>
            </a:custGeom>
            <a:solidFill>
              <a:srgbClr val="0D1E35"/>
            </a:solidFill>
          </p:spPr>
        </p:sp>
        <p:sp>
          <p:nvSpPr>
            <p:cNvPr name="Freeform 28" id="28"/>
            <p:cNvSpPr/>
            <p:nvPr/>
          </p:nvSpPr>
          <p:spPr>
            <a:xfrm flipH="false" flipV="false" rot="0">
              <a:off x="0" y="0"/>
              <a:ext cx="4893818" cy="2211578"/>
            </a:xfrm>
            <a:custGeom>
              <a:avLst/>
              <a:gdLst/>
              <a:ahLst/>
              <a:cxnLst/>
              <a:rect r="r" b="b" t="t" l="l"/>
              <a:pathLst>
                <a:path h="2211578" w="4893818">
                  <a:moveTo>
                    <a:pt x="8509" y="0"/>
                  </a:moveTo>
                  <a:lnTo>
                    <a:pt x="4885309" y="0"/>
                  </a:lnTo>
                  <a:cubicBezTo>
                    <a:pt x="4890008" y="0"/>
                    <a:pt x="4893818" y="3810"/>
                    <a:pt x="4893818" y="8509"/>
                  </a:cubicBezTo>
                  <a:lnTo>
                    <a:pt x="4893818" y="2203069"/>
                  </a:lnTo>
                  <a:cubicBezTo>
                    <a:pt x="4893818" y="2207768"/>
                    <a:pt x="4890008" y="2211578"/>
                    <a:pt x="488530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4885309" y="2194560"/>
                  </a:lnTo>
                  <a:lnTo>
                    <a:pt x="4885309" y="2203069"/>
                  </a:lnTo>
                  <a:lnTo>
                    <a:pt x="4876800" y="2203069"/>
                  </a:lnTo>
                  <a:lnTo>
                    <a:pt x="4876800" y="8509"/>
                  </a:lnTo>
                  <a:lnTo>
                    <a:pt x="4885309" y="8509"/>
                  </a:lnTo>
                  <a:lnTo>
                    <a:pt x="4885309" y="17018"/>
                  </a:lnTo>
                  <a:lnTo>
                    <a:pt x="8509" y="17018"/>
                  </a:lnTo>
                  <a:close/>
                </a:path>
              </a:pathLst>
            </a:custGeom>
            <a:solidFill>
              <a:srgbClr val="1E3352"/>
            </a:solidFill>
          </p:spPr>
        </p:sp>
      </p:grpSp>
      <p:grpSp>
        <p:nvGrpSpPr>
          <p:cNvPr name="Group 29" id="29"/>
          <p:cNvGrpSpPr/>
          <p:nvPr/>
        </p:nvGrpSpPr>
        <p:grpSpPr>
          <a:xfrm rot="0">
            <a:off x="5032377" y="3013967"/>
            <a:ext cx="3657600" cy="694944"/>
            <a:chOff x="0" y="0"/>
            <a:chExt cx="4876800" cy="926592"/>
          </a:xfrm>
        </p:grpSpPr>
        <p:sp>
          <p:nvSpPr>
            <p:cNvPr name="Freeform 30" id="30"/>
            <p:cNvSpPr/>
            <p:nvPr/>
          </p:nvSpPr>
          <p:spPr>
            <a:xfrm flipH="false" flipV="false" rot="0">
              <a:off x="0" y="0"/>
              <a:ext cx="4876800" cy="926592"/>
            </a:xfrm>
            <a:custGeom>
              <a:avLst/>
              <a:gdLst/>
              <a:ahLst/>
              <a:cxnLst/>
              <a:rect r="r" b="b" t="t" l="l"/>
              <a:pathLst>
                <a:path h="926592" w="4876800">
                  <a:moveTo>
                    <a:pt x="0" y="0"/>
                  </a:moveTo>
                  <a:lnTo>
                    <a:pt x="4876800" y="0"/>
                  </a:lnTo>
                  <a:lnTo>
                    <a:pt x="4876800" y="926592"/>
                  </a:lnTo>
                  <a:lnTo>
                    <a:pt x="0" y="926592"/>
                  </a:lnTo>
                  <a:close/>
                </a:path>
              </a:pathLst>
            </a:custGeom>
            <a:blipFill>
              <a:blip r:embed="rId3">
                <a:alphaModFix amt="0"/>
              </a:blip>
              <a:stretch>
                <a:fillRect l="0" t="-52552" r="0" b="-52552"/>
              </a:stretch>
            </a:blipFill>
          </p:spPr>
        </p:sp>
        <p:sp>
          <p:nvSpPr>
            <p:cNvPr name="TextBox 31" id="31"/>
            <p:cNvSpPr txBox="true"/>
            <p:nvPr/>
          </p:nvSpPr>
          <p:spPr>
            <a:xfrm>
              <a:off x="0" y="-57150"/>
              <a:ext cx="4876800" cy="983742"/>
            </a:xfrm>
            <a:prstGeom prst="rect">
              <a:avLst/>
            </a:prstGeom>
          </p:spPr>
          <p:txBody>
            <a:bodyPr anchor="ctr" rtlCol="false" tIns="0" lIns="0" bIns="0" rIns="0"/>
            <a:lstStyle/>
            <a:p>
              <a:pPr algn="ctr">
                <a:lnSpc>
                  <a:spcPts val="3120"/>
                </a:lnSpc>
              </a:pPr>
              <a:r>
                <a:rPr lang="en-US" sz="2600" b="true">
                  <a:solidFill>
                    <a:srgbClr val="FFB800"/>
                  </a:solidFill>
                  <a:latin typeface="Calibri (MS) Bold"/>
                  <a:ea typeface="Calibri (MS) Bold"/>
                  <a:cs typeface="Calibri (MS) Bold"/>
                  <a:sym typeface="Calibri (MS) Bold"/>
                </a:rPr>
                <a:t>PCA</a:t>
              </a:r>
            </a:p>
          </p:txBody>
        </p:sp>
      </p:grpSp>
      <p:grpSp>
        <p:nvGrpSpPr>
          <p:cNvPr name="Group 32" id="32"/>
          <p:cNvGrpSpPr/>
          <p:nvPr/>
        </p:nvGrpSpPr>
        <p:grpSpPr>
          <a:xfrm rot="0">
            <a:off x="5032377" y="3708911"/>
            <a:ext cx="3657600" cy="640080"/>
            <a:chOff x="0" y="0"/>
            <a:chExt cx="4876800" cy="853440"/>
          </a:xfrm>
        </p:grpSpPr>
        <p:sp>
          <p:nvSpPr>
            <p:cNvPr name="Freeform 33" id="33"/>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sp>
        <p:sp>
          <p:nvSpPr>
            <p:cNvPr name="TextBox 34" id="34"/>
            <p:cNvSpPr txBox="true"/>
            <p:nvPr/>
          </p:nvSpPr>
          <p:spPr>
            <a:xfrm>
              <a:off x="0" y="-38100"/>
              <a:ext cx="4876800" cy="891540"/>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10 composantes</a:t>
              </a:r>
            </a:p>
          </p:txBody>
        </p:sp>
      </p:grpSp>
      <p:grpSp>
        <p:nvGrpSpPr>
          <p:cNvPr name="Group 35" id="35"/>
          <p:cNvGrpSpPr/>
          <p:nvPr/>
        </p:nvGrpSpPr>
        <p:grpSpPr>
          <a:xfrm rot="0">
            <a:off x="8689977" y="3471167"/>
            <a:ext cx="640080" cy="640080"/>
            <a:chOff x="0" y="0"/>
            <a:chExt cx="853440" cy="853440"/>
          </a:xfrm>
        </p:grpSpPr>
        <p:sp>
          <p:nvSpPr>
            <p:cNvPr name="Freeform 36" id="36"/>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37" id="37"/>
            <p:cNvSpPr txBox="true"/>
            <p:nvPr/>
          </p:nvSpPr>
          <p:spPr>
            <a:xfrm>
              <a:off x="0" y="-57150"/>
              <a:ext cx="853440" cy="910590"/>
            </a:xfrm>
            <a:prstGeom prst="rect">
              <a:avLst/>
            </a:prstGeom>
          </p:spPr>
          <p:txBody>
            <a:bodyPr anchor="ctr" rtlCol="false" tIns="0" lIns="0" bIns="0" rIns="0"/>
            <a:lstStyle/>
            <a:p>
              <a:pPr algn="ctr">
                <a:lnSpc>
                  <a:spcPts val="3840"/>
                </a:lnSpc>
              </a:pPr>
              <a:r>
                <a:rPr lang="en-US" sz="3200" b="true">
                  <a:solidFill>
                    <a:srgbClr val="1E3352"/>
                  </a:solidFill>
                  <a:latin typeface="Calibri (MS) Bold"/>
                  <a:ea typeface="Calibri (MS) Bold"/>
                  <a:cs typeface="Calibri (MS) Bold"/>
                  <a:sym typeface="Calibri (MS) Bold"/>
                </a:rPr>
                <a:t>→</a:t>
              </a:r>
            </a:p>
          </p:txBody>
        </p:sp>
      </p:grpSp>
      <p:grpSp>
        <p:nvGrpSpPr>
          <p:cNvPr name="Group 38" id="38"/>
          <p:cNvGrpSpPr/>
          <p:nvPr/>
        </p:nvGrpSpPr>
        <p:grpSpPr>
          <a:xfrm rot="0">
            <a:off x="9323703" y="2861310"/>
            <a:ext cx="3670297" cy="1658617"/>
            <a:chOff x="0" y="0"/>
            <a:chExt cx="4893729" cy="2211489"/>
          </a:xfrm>
        </p:grpSpPr>
        <p:sp>
          <p:nvSpPr>
            <p:cNvPr name="Freeform 39" id="39"/>
            <p:cNvSpPr/>
            <p:nvPr/>
          </p:nvSpPr>
          <p:spPr>
            <a:xfrm flipH="false" flipV="false" rot="0">
              <a:off x="8509" y="8509"/>
              <a:ext cx="4876800" cy="2194560"/>
            </a:xfrm>
            <a:custGeom>
              <a:avLst/>
              <a:gdLst/>
              <a:ahLst/>
              <a:cxnLst/>
              <a:rect r="r" b="b" t="t" l="l"/>
              <a:pathLst>
                <a:path h="2194560" w="4876800">
                  <a:moveTo>
                    <a:pt x="0" y="0"/>
                  </a:moveTo>
                  <a:lnTo>
                    <a:pt x="4876800" y="0"/>
                  </a:lnTo>
                  <a:lnTo>
                    <a:pt x="4876800" y="2194560"/>
                  </a:lnTo>
                  <a:lnTo>
                    <a:pt x="0" y="2194560"/>
                  </a:lnTo>
                  <a:close/>
                </a:path>
              </a:pathLst>
            </a:custGeom>
            <a:solidFill>
              <a:srgbClr val="0D1E35"/>
            </a:solidFill>
          </p:spPr>
        </p:sp>
        <p:sp>
          <p:nvSpPr>
            <p:cNvPr name="Freeform 40" id="40"/>
            <p:cNvSpPr/>
            <p:nvPr/>
          </p:nvSpPr>
          <p:spPr>
            <a:xfrm flipH="false" flipV="false" rot="0">
              <a:off x="0" y="0"/>
              <a:ext cx="4893818" cy="2211578"/>
            </a:xfrm>
            <a:custGeom>
              <a:avLst/>
              <a:gdLst/>
              <a:ahLst/>
              <a:cxnLst/>
              <a:rect r="r" b="b" t="t" l="l"/>
              <a:pathLst>
                <a:path h="2211578" w="4893818">
                  <a:moveTo>
                    <a:pt x="8509" y="0"/>
                  </a:moveTo>
                  <a:lnTo>
                    <a:pt x="4885309" y="0"/>
                  </a:lnTo>
                  <a:cubicBezTo>
                    <a:pt x="4890008" y="0"/>
                    <a:pt x="4893818" y="3810"/>
                    <a:pt x="4893818" y="8509"/>
                  </a:cubicBezTo>
                  <a:lnTo>
                    <a:pt x="4893818" y="2203069"/>
                  </a:lnTo>
                  <a:cubicBezTo>
                    <a:pt x="4893818" y="2207768"/>
                    <a:pt x="4890008" y="2211578"/>
                    <a:pt x="488530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4885309" y="2194560"/>
                  </a:lnTo>
                  <a:lnTo>
                    <a:pt x="4885309" y="2203069"/>
                  </a:lnTo>
                  <a:lnTo>
                    <a:pt x="4876800" y="2203069"/>
                  </a:lnTo>
                  <a:lnTo>
                    <a:pt x="4876800" y="8509"/>
                  </a:lnTo>
                  <a:lnTo>
                    <a:pt x="4885309" y="8509"/>
                  </a:lnTo>
                  <a:lnTo>
                    <a:pt x="4885309" y="17018"/>
                  </a:lnTo>
                  <a:lnTo>
                    <a:pt x="8509" y="17018"/>
                  </a:lnTo>
                  <a:close/>
                </a:path>
              </a:pathLst>
            </a:custGeom>
            <a:solidFill>
              <a:srgbClr val="1E3352"/>
            </a:solidFill>
          </p:spPr>
        </p:sp>
      </p:grpSp>
      <p:grpSp>
        <p:nvGrpSpPr>
          <p:cNvPr name="Group 41" id="41"/>
          <p:cNvGrpSpPr/>
          <p:nvPr/>
        </p:nvGrpSpPr>
        <p:grpSpPr>
          <a:xfrm rot="0">
            <a:off x="9330057" y="3013967"/>
            <a:ext cx="3657600" cy="694944"/>
            <a:chOff x="0" y="0"/>
            <a:chExt cx="4876800" cy="926592"/>
          </a:xfrm>
        </p:grpSpPr>
        <p:sp>
          <p:nvSpPr>
            <p:cNvPr name="Freeform 42" id="42"/>
            <p:cNvSpPr/>
            <p:nvPr/>
          </p:nvSpPr>
          <p:spPr>
            <a:xfrm flipH="false" flipV="false" rot="0">
              <a:off x="0" y="0"/>
              <a:ext cx="4876800" cy="926592"/>
            </a:xfrm>
            <a:custGeom>
              <a:avLst/>
              <a:gdLst/>
              <a:ahLst/>
              <a:cxnLst/>
              <a:rect r="r" b="b" t="t" l="l"/>
              <a:pathLst>
                <a:path h="926592" w="4876800">
                  <a:moveTo>
                    <a:pt x="0" y="0"/>
                  </a:moveTo>
                  <a:lnTo>
                    <a:pt x="4876800" y="0"/>
                  </a:lnTo>
                  <a:lnTo>
                    <a:pt x="4876800" y="926592"/>
                  </a:lnTo>
                  <a:lnTo>
                    <a:pt x="0" y="926592"/>
                  </a:lnTo>
                  <a:close/>
                </a:path>
              </a:pathLst>
            </a:custGeom>
            <a:blipFill>
              <a:blip r:embed="rId3">
                <a:alphaModFix amt="0"/>
              </a:blip>
              <a:stretch>
                <a:fillRect l="0" t="-52552" r="0" b="-52552"/>
              </a:stretch>
            </a:blipFill>
          </p:spPr>
        </p:sp>
        <p:sp>
          <p:nvSpPr>
            <p:cNvPr name="TextBox 43" id="43"/>
            <p:cNvSpPr txBox="true"/>
            <p:nvPr/>
          </p:nvSpPr>
          <p:spPr>
            <a:xfrm>
              <a:off x="0" y="-57150"/>
              <a:ext cx="4876800" cy="983742"/>
            </a:xfrm>
            <a:prstGeom prst="rect">
              <a:avLst/>
            </a:prstGeom>
          </p:spPr>
          <p:txBody>
            <a:bodyPr anchor="ctr" rtlCol="false" tIns="0" lIns="0" bIns="0" rIns="0"/>
            <a:lstStyle/>
            <a:p>
              <a:pPr algn="ctr">
                <a:lnSpc>
                  <a:spcPts val="3120"/>
                </a:lnSpc>
              </a:pPr>
              <a:r>
                <a:rPr lang="en-US" sz="2600" b="true">
                  <a:solidFill>
                    <a:srgbClr val="00E5A0"/>
                  </a:solidFill>
                  <a:latin typeface="Calibri (MS) Bold"/>
                  <a:ea typeface="Calibri (MS) Bold"/>
                  <a:cs typeface="Calibri (MS) Bold"/>
                  <a:sym typeface="Calibri (MS) Bold"/>
                </a:rPr>
                <a:t>KMeans</a:t>
              </a:r>
            </a:p>
          </p:txBody>
        </p:sp>
      </p:grpSp>
      <p:grpSp>
        <p:nvGrpSpPr>
          <p:cNvPr name="Group 44" id="44"/>
          <p:cNvGrpSpPr/>
          <p:nvPr/>
        </p:nvGrpSpPr>
        <p:grpSpPr>
          <a:xfrm rot="0">
            <a:off x="9330057" y="3708911"/>
            <a:ext cx="3657600" cy="640080"/>
            <a:chOff x="0" y="0"/>
            <a:chExt cx="4876800" cy="853440"/>
          </a:xfrm>
        </p:grpSpPr>
        <p:sp>
          <p:nvSpPr>
            <p:cNvPr name="Freeform 45" id="45"/>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sp>
        <p:sp>
          <p:nvSpPr>
            <p:cNvPr name="TextBox 46" id="46"/>
            <p:cNvSpPr txBox="true"/>
            <p:nvPr/>
          </p:nvSpPr>
          <p:spPr>
            <a:xfrm>
              <a:off x="0" y="-38100"/>
              <a:ext cx="4876800" cy="891540"/>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k=4 clusters</a:t>
              </a:r>
            </a:p>
          </p:txBody>
        </p:sp>
      </p:grpSp>
      <p:grpSp>
        <p:nvGrpSpPr>
          <p:cNvPr name="Group 47" id="47"/>
          <p:cNvGrpSpPr/>
          <p:nvPr/>
        </p:nvGrpSpPr>
        <p:grpSpPr>
          <a:xfrm rot="0">
            <a:off x="12987657" y="3471167"/>
            <a:ext cx="640080" cy="640080"/>
            <a:chOff x="0" y="0"/>
            <a:chExt cx="853440" cy="853440"/>
          </a:xfrm>
        </p:grpSpPr>
        <p:sp>
          <p:nvSpPr>
            <p:cNvPr name="Freeform 48" id="48"/>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49" id="49"/>
            <p:cNvSpPr txBox="true"/>
            <p:nvPr/>
          </p:nvSpPr>
          <p:spPr>
            <a:xfrm>
              <a:off x="0" y="-57150"/>
              <a:ext cx="853440" cy="910590"/>
            </a:xfrm>
            <a:prstGeom prst="rect">
              <a:avLst/>
            </a:prstGeom>
          </p:spPr>
          <p:txBody>
            <a:bodyPr anchor="ctr" rtlCol="false" tIns="0" lIns="0" bIns="0" rIns="0"/>
            <a:lstStyle/>
            <a:p>
              <a:pPr algn="ctr">
                <a:lnSpc>
                  <a:spcPts val="3840"/>
                </a:lnSpc>
              </a:pPr>
              <a:r>
                <a:rPr lang="en-US" sz="3200" b="true">
                  <a:solidFill>
                    <a:srgbClr val="1E3352"/>
                  </a:solidFill>
                  <a:latin typeface="Calibri (MS) Bold"/>
                  <a:ea typeface="Calibri (MS) Bold"/>
                  <a:cs typeface="Calibri (MS) Bold"/>
                  <a:sym typeface="Calibri (MS) Bold"/>
                </a:rPr>
                <a:t>→</a:t>
              </a:r>
            </a:p>
          </p:txBody>
        </p:sp>
      </p:grpSp>
      <p:grpSp>
        <p:nvGrpSpPr>
          <p:cNvPr name="Group 50" id="50"/>
          <p:cNvGrpSpPr/>
          <p:nvPr/>
        </p:nvGrpSpPr>
        <p:grpSpPr>
          <a:xfrm rot="0">
            <a:off x="13621383" y="2861310"/>
            <a:ext cx="3670297" cy="1658617"/>
            <a:chOff x="0" y="0"/>
            <a:chExt cx="4893729" cy="2211489"/>
          </a:xfrm>
        </p:grpSpPr>
        <p:sp>
          <p:nvSpPr>
            <p:cNvPr name="Freeform 51" id="51"/>
            <p:cNvSpPr/>
            <p:nvPr/>
          </p:nvSpPr>
          <p:spPr>
            <a:xfrm flipH="false" flipV="false" rot="0">
              <a:off x="8509" y="8509"/>
              <a:ext cx="4876800" cy="2194560"/>
            </a:xfrm>
            <a:custGeom>
              <a:avLst/>
              <a:gdLst/>
              <a:ahLst/>
              <a:cxnLst/>
              <a:rect r="r" b="b" t="t" l="l"/>
              <a:pathLst>
                <a:path h="2194560" w="4876800">
                  <a:moveTo>
                    <a:pt x="0" y="0"/>
                  </a:moveTo>
                  <a:lnTo>
                    <a:pt x="4876800" y="0"/>
                  </a:lnTo>
                  <a:lnTo>
                    <a:pt x="4876800" y="2194560"/>
                  </a:lnTo>
                  <a:lnTo>
                    <a:pt x="0" y="2194560"/>
                  </a:lnTo>
                  <a:close/>
                </a:path>
              </a:pathLst>
            </a:custGeom>
            <a:solidFill>
              <a:srgbClr val="0D1E35"/>
            </a:solidFill>
          </p:spPr>
        </p:sp>
        <p:sp>
          <p:nvSpPr>
            <p:cNvPr name="Freeform 52" id="52"/>
            <p:cNvSpPr/>
            <p:nvPr/>
          </p:nvSpPr>
          <p:spPr>
            <a:xfrm flipH="false" flipV="false" rot="0">
              <a:off x="0" y="0"/>
              <a:ext cx="4893818" cy="2211578"/>
            </a:xfrm>
            <a:custGeom>
              <a:avLst/>
              <a:gdLst/>
              <a:ahLst/>
              <a:cxnLst/>
              <a:rect r="r" b="b" t="t" l="l"/>
              <a:pathLst>
                <a:path h="2211578" w="4893818">
                  <a:moveTo>
                    <a:pt x="8509" y="0"/>
                  </a:moveTo>
                  <a:lnTo>
                    <a:pt x="4885309" y="0"/>
                  </a:lnTo>
                  <a:cubicBezTo>
                    <a:pt x="4890008" y="0"/>
                    <a:pt x="4893818" y="3810"/>
                    <a:pt x="4893818" y="8509"/>
                  </a:cubicBezTo>
                  <a:lnTo>
                    <a:pt x="4893818" y="2203069"/>
                  </a:lnTo>
                  <a:cubicBezTo>
                    <a:pt x="4893818" y="2207768"/>
                    <a:pt x="4890008" y="2211578"/>
                    <a:pt x="488530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4885309" y="2194560"/>
                  </a:lnTo>
                  <a:lnTo>
                    <a:pt x="4885309" y="2203069"/>
                  </a:lnTo>
                  <a:lnTo>
                    <a:pt x="4876800" y="2203069"/>
                  </a:lnTo>
                  <a:lnTo>
                    <a:pt x="4876800" y="8509"/>
                  </a:lnTo>
                  <a:lnTo>
                    <a:pt x="4885309" y="8509"/>
                  </a:lnTo>
                  <a:lnTo>
                    <a:pt x="4885309" y="17018"/>
                  </a:lnTo>
                  <a:lnTo>
                    <a:pt x="8509" y="17018"/>
                  </a:lnTo>
                  <a:close/>
                </a:path>
              </a:pathLst>
            </a:custGeom>
            <a:solidFill>
              <a:srgbClr val="1E3352"/>
            </a:solidFill>
          </p:spPr>
        </p:sp>
      </p:grpSp>
      <p:grpSp>
        <p:nvGrpSpPr>
          <p:cNvPr name="Group 53" id="53"/>
          <p:cNvGrpSpPr/>
          <p:nvPr/>
        </p:nvGrpSpPr>
        <p:grpSpPr>
          <a:xfrm rot="0">
            <a:off x="13627737" y="3013967"/>
            <a:ext cx="3657600" cy="694944"/>
            <a:chOff x="0" y="0"/>
            <a:chExt cx="4876800" cy="926592"/>
          </a:xfrm>
        </p:grpSpPr>
        <p:sp>
          <p:nvSpPr>
            <p:cNvPr name="Freeform 54" id="54"/>
            <p:cNvSpPr/>
            <p:nvPr/>
          </p:nvSpPr>
          <p:spPr>
            <a:xfrm flipH="false" flipV="false" rot="0">
              <a:off x="0" y="0"/>
              <a:ext cx="4876800" cy="926592"/>
            </a:xfrm>
            <a:custGeom>
              <a:avLst/>
              <a:gdLst/>
              <a:ahLst/>
              <a:cxnLst/>
              <a:rect r="r" b="b" t="t" l="l"/>
              <a:pathLst>
                <a:path h="926592" w="4876800">
                  <a:moveTo>
                    <a:pt x="0" y="0"/>
                  </a:moveTo>
                  <a:lnTo>
                    <a:pt x="4876800" y="0"/>
                  </a:lnTo>
                  <a:lnTo>
                    <a:pt x="4876800" y="926592"/>
                  </a:lnTo>
                  <a:lnTo>
                    <a:pt x="0" y="926592"/>
                  </a:lnTo>
                  <a:close/>
                </a:path>
              </a:pathLst>
            </a:custGeom>
            <a:blipFill>
              <a:blip r:embed="rId3">
                <a:alphaModFix amt="0"/>
              </a:blip>
              <a:stretch>
                <a:fillRect l="0" t="-52552" r="0" b="-52552"/>
              </a:stretch>
            </a:blipFill>
          </p:spPr>
        </p:sp>
        <p:sp>
          <p:nvSpPr>
            <p:cNvPr name="TextBox 55" id="55"/>
            <p:cNvSpPr txBox="true"/>
            <p:nvPr/>
          </p:nvSpPr>
          <p:spPr>
            <a:xfrm>
              <a:off x="0" y="-57150"/>
              <a:ext cx="4876800" cy="983742"/>
            </a:xfrm>
            <a:prstGeom prst="rect">
              <a:avLst/>
            </a:prstGeom>
          </p:spPr>
          <p:txBody>
            <a:bodyPr anchor="ctr" rtlCol="false" tIns="0" lIns="0" bIns="0" rIns="0"/>
            <a:lstStyle/>
            <a:p>
              <a:pPr algn="ctr">
                <a:lnSpc>
                  <a:spcPts val="3120"/>
                </a:lnSpc>
              </a:pPr>
              <a:r>
                <a:rPr lang="en-US" sz="2600" b="true">
                  <a:solidFill>
                    <a:srgbClr val="FF4D6A"/>
                  </a:solidFill>
                  <a:latin typeface="Calibri (MS) Bold"/>
                  <a:ea typeface="Calibri (MS) Bold"/>
                  <a:cs typeface="Calibri (MS) Bold"/>
                  <a:sym typeface="Calibri (MS) Bold"/>
                </a:rPr>
                <a:t>Segments</a:t>
              </a:r>
            </a:p>
          </p:txBody>
        </p:sp>
      </p:grpSp>
      <p:grpSp>
        <p:nvGrpSpPr>
          <p:cNvPr name="Group 56" id="56"/>
          <p:cNvGrpSpPr/>
          <p:nvPr/>
        </p:nvGrpSpPr>
        <p:grpSpPr>
          <a:xfrm rot="0">
            <a:off x="13627737" y="3708911"/>
            <a:ext cx="3657600" cy="640080"/>
            <a:chOff x="0" y="0"/>
            <a:chExt cx="4876800" cy="853440"/>
          </a:xfrm>
        </p:grpSpPr>
        <p:sp>
          <p:nvSpPr>
            <p:cNvPr name="Freeform 57" id="57"/>
            <p:cNvSpPr/>
            <p:nvPr/>
          </p:nvSpPr>
          <p:spPr>
            <a:xfrm flipH="false" flipV="false" rot="0">
              <a:off x="0" y="0"/>
              <a:ext cx="4876800" cy="853440"/>
            </a:xfrm>
            <a:custGeom>
              <a:avLst/>
              <a:gdLst/>
              <a:ahLst/>
              <a:cxnLst/>
              <a:rect r="r" b="b" t="t" l="l"/>
              <a:pathLst>
                <a:path h="853440" w="4876800">
                  <a:moveTo>
                    <a:pt x="0" y="0"/>
                  </a:moveTo>
                  <a:lnTo>
                    <a:pt x="4876800" y="0"/>
                  </a:lnTo>
                  <a:lnTo>
                    <a:pt x="4876800" y="853440"/>
                  </a:lnTo>
                  <a:lnTo>
                    <a:pt x="0" y="853440"/>
                  </a:lnTo>
                  <a:close/>
                </a:path>
              </a:pathLst>
            </a:custGeom>
            <a:blipFill>
              <a:blip r:embed="rId3">
                <a:alphaModFix amt="0"/>
              </a:blip>
              <a:stretch>
                <a:fillRect l="0" t="-61343" r="0" b="-61343"/>
              </a:stretch>
            </a:blipFill>
          </p:spPr>
        </p:sp>
        <p:sp>
          <p:nvSpPr>
            <p:cNvPr name="TextBox 58" id="58"/>
            <p:cNvSpPr txBox="true"/>
            <p:nvPr/>
          </p:nvSpPr>
          <p:spPr>
            <a:xfrm>
              <a:off x="0" y="-38100"/>
              <a:ext cx="4876800" cy="891540"/>
            </a:xfrm>
            <a:prstGeom prst="rect">
              <a:avLst/>
            </a:prstGeom>
          </p:spPr>
          <p:txBody>
            <a:bodyPr anchor="ctr" rtlCol="false" tIns="0" lIns="0" bIns="0" rIns="0"/>
            <a:lstStyle/>
            <a:p>
              <a:pPr algn="ctr">
                <a:lnSpc>
                  <a:spcPts val="2160"/>
                </a:lnSpc>
              </a:pPr>
              <a:r>
                <a:rPr lang="en-US" sz="1800">
                  <a:solidFill>
                    <a:srgbClr val="6B8BAA"/>
                  </a:solidFill>
                  <a:latin typeface="Calibri (MS)"/>
                  <a:ea typeface="Calibri (MS)"/>
                  <a:cs typeface="Calibri (MS)"/>
                  <a:sym typeface="Calibri (MS)"/>
                </a:rPr>
                <a:t>4 profils clients</a:t>
              </a:r>
            </a:p>
          </p:txBody>
        </p:sp>
      </p:grpSp>
      <p:grpSp>
        <p:nvGrpSpPr>
          <p:cNvPr name="Group 59" id="59"/>
          <p:cNvGrpSpPr/>
          <p:nvPr/>
        </p:nvGrpSpPr>
        <p:grpSpPr>
          <a:xfrm rot="0">
            <a:off x="728343" y="4927854"/>
            <a:ext cx="8059417" cy="2243833"/>
            <a:chOff x="0" y="0"/>
            <a:chExt cx="10745889" cy="2991777"/>
          </a:xfrm>
        </p:grpSpPr>
        <p:sp>
          <p:nvSpPr>
            <p:cNvPr name="Freeform 60" id="60"/>
            <p:cNvSpPr/>
            <p:nvPr/>
          </p:nvSpPr>
          <p:spPr>
            <a:xfrm flipH="false" flipV="false" rot="0">
              <a:off x="8509" y="8509"/>
              <a:ext cx="10728960" cy="2974848"/>
            </a:xfrm>
            <a:custGeom>
              <a:avLst/>
              <a:gdLst/>
              <a:ahLst/>
              <a:cxnLst/>
              <a:rect r="r" b="b" t="t" l="l"/>
              <a:pathLst>
                <a:path h="2974848" w="10728960">
                  <a:moveTo>
                    <a:pt x="0" y="0"/>
                  </a:moveTo>
                  <a:lnTo>
                    <a:pt x="10728960" y="0"/>
                  </a:lnTo>
                  <a:lnTo>
                    <a:pt x="10728960" y="2974848"/>
                  </a:lnTo>
                  <a:lnTo>
                    <a:pt x="0" y="2974848"/>
                  </a:lnTo>
                  <a:close/>
                </a:path>
              </a:pathLst>
            </a:custGeom>
            <a:solidFill>
              <a:srgbClr val="122540"/>
            </a:solidFill>
          </p:spPr>
        </p:sp>
        <p:sp>
          <p:nvSpPr>
            <p:cNvPr name="Freeform 61" id="61"/>
            <p:cNvSpPr/>
            <p:nvPr/>
          </p:nvSpPr>
          <p:spPr>
            <a:xfrm flipH="false" flipV="false" rot="0">
              <a:off x="0" y="0"/>
              <a:ext cx="10745978" cy="2991866"/>
            </a:xfrm>
            <a:custGeom>
              <a:avLst/>
              <a:gdLst/>
              <a:ahLst/>
              <a:cxnLst/>
              <a:rect r="r" b="b" t="t" l="l"/>
              <a:pathLst>
                <a:path h="2991866" w="10745978">
                  <a:moveTo>
                    <a:pt x="8509" y="0"/>
                  </a:moveTo>
                  <a:lnTo>
                    <a:pt x="10737469" y="0"/>
                  </a:lnTo>
                  <a:cubicBezTo>
                    <a:pt x="10742168" y="0"/>
                    <a:pt x="10745978" y="3810"/>
                    <a:pt x="10745978" y="8509"/>
                  </a:cubicBezTo>
                  <a:lnTo>
                    <a:pt x="10745978" y="2983357"/>
                  </a:lnTo>
                  <a:cubicBezTo>
                    <a:pt x="10745978" y="2988056"/>
                    <a:pt x="10742168" y="2991866"/>
                    <a:pt x="10737469" y="2991866"/>
                  </a:cubicBezTo>
                  <a:lnTo>
                    <a:pt x="8509" y="2991866"/>
                  </a:lnTo>
                  <a:cubicBezTo>
                    <a:pt x="3810" y="2991866"/>
                    <a:pt x="0" y="2988056"/>
                    <a:pt x="0" y="2983357"/>
                  </a:cubicBezTo>
                  <a:lnTo>
                    <a:pt x="0" y="8509"/>
                  </a:lnTo>
                  <a:cubicBezTo>
                    <a:pt x="0" y="3810"/>
                    <a:pt x="3810" y="0"/>
                    <a:pt x="8509" y="0"/>
                  </a:cubicBezTo>
                  <a:moveTo>
                    <a:pt x="8509" y="16891"/>
                  </a:moveTo>
                  <a:lnTo>
                    <a:pt x="8509" y="8509"/>
                  </a:lnTo>
                  <a:lnTo>
                    <a:pt x="17018" y="8509"/>
                  </a:lnTo>
                  <a:lnTo>
                    <a:pt x="17018" y="2983357"/>
                  </a:lnTo>
                  <a:lnTo>
                    <a:pt x="8509" y="2983357"/>
                  </a:lnTo>
                  <a:lnTo>
                    <a:pt x="8509" y="2974848"/>
                  </a:lnTo>
                  <a:lnTo>
                    <a:pt x="10737469" y="2974848"/>
                  </a:lnTo>
                  <a:lnTo>
                    <a:pt x="10737469" y="2983357"/>
                  </a:lnTo>
                  <a:lnTo>
                    <a:pt x="10728960" y="2983357"/>
                  </a:lnTo>
                  <a:lnTo>
                    <a:pt x="10728960" y="8509"/>
                  </a:lnTo>
                  <a:lnTo>
                    <a:pt x="10737469" y="8509"/>
                  </a:lnTo>
                  <a:lnTo>
                    <a:pt x="10737469" y="17018"/>
                  </a:lnTo>
                  <a:lnTo>
                    <a:pt x="8509" y="17018"/>
                  </a:lnTo>
                  <a:close/>
                </a:path>
              </a:pathLst>
            </a:custGeom>
            <a:solidFill>
              <a:srgbClr val="1E3352"/>
            </a:solidFill>
          </p:spPr>
        </p:sp>
      </p:grpSp>
      <p:grpSp>
        <p:nvGrpSpPr>
          <p:cNvPr name="Group 62" id="62"/>
          <p:cNvGrpSpPr/>
          <p:nvPr/>
        </p:nvGrpSpPr>
        <p:grpSpPr>
          <a:xfrm rot="0">
            <a:off x="722000" y="4921510"/>
            <a:ext cx="135131" cy="2256539"/>
            <a:chOff x="0" y="0"/>
            <a:chExt cx="180175" cy="3008719"/>
          </a:xfrm>
        </p:grpSpPr>
        <p:sp>
          <p:nvSpPr>
            <p:cNvPr name="Freeform 63" id="63"/>
            <p:cNvSpPr/>
            <p:nvPr/>
          </p:nvSpPr>
          <p:spPr>
            <a:xfrm flipH="false" flipV="false" rot="0">
              <a:off x="16891" y="16891"/>
              <a:ext cx="146304" cy="2974848"/>
            </a:xfrm>
            <a:custGeom>
              <a:avLst/>
              <a:gdLst/>
              <a:ahLst/>
              <a:cxnLst/>
              <a:rect r="r" b="b" t="t" l="l"/>
              <a:pathLst>
                <a:path h="2974848" w="146304">
                  <a:moveTo>
                    <a:pt x="0" y="0"/>
                  </a:moveTo>
                  <a:lnTo>
                    <a:pt x="146304" y="0"/>
                  </a:lnTo>
                  <a:lnTo>
                    <a:pt x="146304" y="2974848"/>
                  </a:lnTo>
                  <a:lnTo>
                    <a:pt x="0" y="2974848"/>
                  </a:lnTo>
                  <a:close/>
                </a:path>
              </a:pathLst>
            </a:custGeom>
            <a:solidFill>
              <a:srgbClr val="00E5A0"/>
            </a:solidFill>
          </p:spPr>
        </p:sp>
        <p:sp>
          <p:nvSpPr>
            <p:cNvPr name="Freeform 64" id="64"/>
            <p:cNvSpPr/>
            <p:nvPr/>
          </p:nvSpPr>
          <p:spPr>
            <a:xfrm flipH="false" flipV="false" rot="0">
              <a:off x="0" y="0"/>
              <a:ext cx="180086" cy="3008630"/>
            </a:xfrm>
            <a:custGeom>
              <a:avLst/>
              <a:gdLst/>
              <a:ahLst/>
              <a:cxnLst/>
              <a:rect r="r" b="b" t="t" l="l"/>
              <a:pathLst>
                <a:path h="3008630" w="180086">
                  <a:moveTo>
                    <a:pt x="16891" y="0"/>
                  </a:moveTo>
                  <a:lnTo>
                    <a:pt x="163195" y="0"/>
                  </a:lnTo>
                  <a:cubicBezTo>
                    <a:pt x="172593" y="0"/>
                    <a:pt x="180086" y="7620"/>
                    <a:pt x="180086" y="16891"/>
                  </a:cubicBezTo>
                  <a:lnTo>
                    <a:pt x="180086" y="2991739"/>
                  </a:lnTo>
                  <a:cubicBezTo>
                    <a:pt x="180086" y="3001137"/>
                    <a:pt x="172466" y="3008630"/>
                    <a:pt x="163195"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63195" y="2974848"/>
                  </a:lnTo>
                  <a:lnTo>
                    <a:pt x="163195" y="2991739"/>
                  </a:lnTo>
                  <a:lnTo>
                    <a:pt x="146304" y="2991739"/>
                  </a:lnTo>
                  <a:lnTo>
                    <a:pt x="146304" y="16891"/>
                  </a:lnTo>
                  <a:lnTo>
                    <a:pt x="163195" y="16891"/>
                  </a:lnTo>
                  <a:lnTo>
                    <a:pt x="163195" y="33909"/>
                  </a:lnTo>
                  <a:lnTo>
                    <a:pt x="16891" y="33909"/>
                  </a:lnTo>
                  <a:close/>
                </a:path>
              </a:pathLst>
            </a:custGeom>
            <a:solidFill>
              <a:srgbClr val="00E5A0"/>
            </a:solidFill>
          </p:spPr>
        </p:sp>
      </p:grpSp>
      <p:grpSp>
        <p:nvGrpSpPr>
          <p:cNvPr name="Group 65" id="65"/>
          <p:cNvGrpSpPr/>
          <p:nvPr/>
        </p:nvGrpSpPr>
        <p:grpSpPr>
          <a:xfrm rot="0">
            <a:off x="1051184" y="5104390"/>
            <a:ext cx="665483" cy="665483"/>
            <a:chOff x="0" y="0"/>
            <a:chExt cx="887311" cy="887311"/>
          </a:xfrm>
        </p:grpSpPr>
        <p:sp>
          <p:nvSpPr>
            <p:cNvPr name="Freeform 66" id="66"/>
            <p:cNvSpPr/>
            <p:nvPr/>
          </p:nvSpPr>
          <p:spPr>
            <a:xfrm flipH="false" flipV="false" rot="0">
              <a:off x="16891" y="16891"/>
              <a:ext cx="853440" cy="853440"/>
            </a:xfrm>
            <a:custGeom>
              <a:avLst/>
              <a:gdLst/>
              <a:ahLst/>
              <a:cxnLst/>
              <a:rect r="r" b="b" t="t" l="l"/>
              <a:pathLst>
                <a:path h="853440" w="853440">
                  <a:moveTo>
                    <a:pt x="0" y="121920"/>
                  </a:moveTo>
                  <a:cubicBezTo>
                    <a:pt x="0" y="54610"/>
                    <a:pt x="54610" y="0"/>
                    <a:pt x="121920" y="0"/>
                  </a:cubicBezTo>
                  <a:lnTo>
                    <a:pt x="731520" y="0"/>
                  </a:lnTo>
                  <a:cubicBezTo>
                    <a:pt x="798830" y="0"/>
                    <a:pt x="853440" y="54610"/>
                    <a:pt x="853440" y="121920"/>
                  </a:cubicBezTo>
                  <a:lnTo>
                    <a:pt x="853440" y="731520"/>
                  </a:lnTo>
                  <a:cubicBezTo>
                    <a:pt x="853440" y="798830"/>
                    <a:pt x="798830" y="853440"/>
                    <a:pt x="731520" y="853440"/>
                  </a:cubicBezTo>
                  <a:lnTo>
                    <a:pt x="121920" y="853440"/>
                  </a:lnTo>
                  <a:cubicBezTo>
                    <a:pt x="54610" y="853440"/>
                    <a:pt x="0" y="798830"/>
                    <a:pt x="0" y="731520"/>
                  </a:cubicBezTo>
                  <a:close/>
                </a:path>
              </a:pathLst>
            </a:custGeom>
            <a:solidFill>
              <a:srgbClr val="00E5A0">
                <a:alpha val="3922"/>
              </a:srgbClr>
            </a:solidFill>
          </p:spPr>
        </p:sp>
        <p:sp>
          <p:nvSpPr>
            <p:cNvPr name="Freeform 67" id="67"/>
            <p:cNvSpPr/>
            <p:nvPr/>
          </p:nvSpPr>
          <p:spPr>
            <a:xfrm flipH="false" flipV="false" rot="0">
              <a:off x="0" y="0"/>
              <a:ext cx="887222" cy="887222"/>
            </a:xfrm>
            <a:custGeom>
              <a:avLst/>
              <a:gdLst/>
              <a:ahLst/>
              <a:cxnLst/>
              <a:rect r="r" b="b" t="t" l="l"/>
              <a:pathLst>
                <a:path h="887222" w="887222">
                  <a:moveTo>
                    <a:pt x="0" y="138811"/>
                  </a:moveTo>
                  <a:cubicBezTo>
                    <a:pt x="0" y="62230"/>
                    <a:pt x="62230" y="0"/>
                    <a:pt x="138811" y="0"/>
                  </a:cubicBezTo>
                  <a:lnTo>
                    <a:pt x="748411" y="0"/>
                  </a:lnTo>
                  <a:lnTo>
                    <a:pt x="748411" y="16891"/>
                  </a:lnTo>
                  <a:lnTo>
                    <a:pt x="748411" y="0"/>
                  </a:lnTo>
                  <a:cubicBezTo>
                    <a:pt x="825119" y="0"/>
                    <a:pt x="887222" y="62230"/>
                    <a:pt x="887222" y="138811"/>
                  </a:cubicBezTo>
                  <a:lnTo>
                    <a:pt x="870331" y="138811"/>
                  </a:lnTo>
                  <a:lnTo>
                    <a:pt x="887222" y="138811"/>
                  </a:lnTo>
                  <a:lnTo>
                    <a:pt x="887222" y="748411"/>
                  </a:lnTo>
                  <a:lnTo>
                    <a:pt x="870331" y="748411"/>
                  </a:lnTo>
                  <a:lnTo>
                    <a:pt x="887222" y="748411"/>
                  </a:lnTo>
                  <a:cubicBezTo>
                    <a:pt x="887222" y="825119"/>
                    <a:pt x="824992" y="887222"/>
                    <a:pt x="748411" y="887222"/>
                  </a:cubicBezTo>
                  <a:lnTo>
                    <a:pt x="748411" y="870331"/>
                  </a:lnTo>
                  <a:lnTo>
                    <a:pt x="748411" y="887222"/>
                  </a:lnTo>
                  <a:lnTo>
                    <a:pt x="138811" y="887222"/>
                  </a:lnTo>
                  <a:lnTo>
                    <a:pt x="138811" y="870331"/>
                  </a:lnTo>
                  <a:lnTo>
                    <a:pt x="138811" y="887222"/>
                  </a:lnTo>
                  <a:cubicBezTo>
                    <a:pt x="62230" y="887349"/>
                    <a:pt x="0" y="825119"/>
                    <a:pt x="0" y="748411"/>
                  </a:cubicBezTo>
                  <a:lnTo>
                    <a:pt x="0" y="138811"/>
                  </a:lnTo>
                  <a:lnTo>
                    <a:pt x="16891" y="138811"/>
                  </a:lnTo>
                  <a:lnTo>
                    <a:pt x="0" y="138811"/>
                  </a:lnTo>
                  <a:moveTo>
                    <a:pt x="33909" y="138811"/>
                  </a:moveTo>
                  <a:lnTo>
                    <a:pt x="33909" y="748411"/>
                  </a:lnTo>
                  <a:lnTo>
                    <a:pt x="16891" y="748411"/>
                  </a:lnTo>
                  <a:lnTo>
                    <a:pt x="33909" y="748411"/>
                  </a:lnTo>
                  <a:cubicBezTo>
                    <a:pt x="33909" y="806450"/>
                    <a:pt x="80899" y="853440"/>
                    <a:pt x="138938" y="853440"/>
                  </a:cubicBezTo>
                  <a:lnTo>
                    <a:pt x="748538" y="853440"/>
                  </a:lnTo>
                  <a:cubicBezTo>
                    <a:pt x="806577" y="853440"/>
                    <a:pt x="853567" y="806450"/>
                    <a:pt x="853567" y="748411"/>
                  </a:cubicBezTo>
                  <a:lnTo>
                    <a:pt x="853567" y="138811"/>
                  </a:lnTo>
                  <a:cubicBezTo>
                    <a:pt x="853567" y="80772"/>
                    <a:pt x="806577" y="33782"/>
                    <a:pt x="748538" y="33782"/>
                  </a:cubicBezTo>
                  <a:lnTo>
                    <a:pt x="138938" y="33782"/>
                  </a:lnTo>
                  <a:lnTo>
                    <a:pt x="138938" y="16891"/>
                  </a:lnTo>
                  <a:lnTo>
                    <a:pt x="138938" y="33909"/>
                  </a:lnTo>
                  <a:cubicBezTo>
                    <a:pt x="80899" y="33909"/>
                    <a:pt x="33909" y="80899"/>
                    <a:pt x="33909" y="138938"/>
                  </a:cubicBezTo>
                  <a:close/>
                </a:path>
              </a:pathLst>
            </a:custGeom>
            <a:solidFill>
              <a:srgbClr val="00E5A0"/>
            </a:solidFill>
          </p:spPr>
        </p:sp>
      </p:grpSp>
      <p:grpSp>
        <p:nvGrpSpPr>
          <p:cNvPr name="Group 68" id="68"/>
          <p:cNvGrpSpPr/>
          <p:nvPr/>
        </p:nvGrpSpPr>
        <p:grpSpPr>
          <a:xfrm rot="0">
            <a:off x="1063881" y="5117087"/>
            <a:ext cx="640080" cy="640080"/>
            <a:chOff x="0" y="0"/>
            <a:chExt cx="853440" cy="853440"/>
          </a:xfrm>
        </p:grpSpPr>
        <p:sp>
          <p:nvSpPr>
            <p:cNvPr name="Freeform 69" id="69"/>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70" id="70"/>
            <p:cNvSpPr txBox="true"/>
            <p:nvPr/>
          </p:nvSpPr>
          <p:spPr>
            <a:xfrm>
              <a:off x="0" y="-38100"/>
              <a:ext cx="853440" cy="891540"/>
            </a:xfrm>
            <a:prstGeom prst="rect">
              <a:avLst/>
            </a:prstGeom>
          </p:spPr>
          <p:txBody>
            <a:bodyPr anchor="ctr" rtlCol="false" tIns="0" lIns="0" bIns="0" rIns="0"/>
            <a:lstStyle/>
            <a:p>
              <a:pPr algn="ctr">
                <a:lnSpc>
                  <a:spcPts val="2879"/>
                </a:lnSpc>
              </a:pPr>
              <a:r>
                <a:rPr lang="en-US" sz="2400" b="true">
                  <a:solidFill>
                    <a:srgbClr val="00E5A0"/>
                  </a:solidFill>
                  <a:latin typeface="Calibri (MS) Bold"/>
                  <a:ea typeface="Calibri (MS) Bold"/>
                  <a:cs typeface="Calibri (MS) Bold"/>
                  <a:sym typeface="Calibri (MS) Bold"/>
                </a:rPr>
                <a:t>0</a:t>
              </a:r>
            </a:p>
          </p:txBody>
        </p:sp>
      </p:grpSp>
      <p:grpSp>
        <p:nvGrpSpPr>
          <p:cNvPr name="Group 71" id="71"/>
          <p:cNvGrpSpPr/>
          <p:nvPr/>
        </p:nvGrpSpPr>
        <p:grpSpPr>
          <a:xfrm rot="0">
            <a:off x="1923417" y="5117087"/>
            <a:ext cx="6217920" cy="640080"/>
            <a:chOff x="0" y="0"/>
            <a:chExt cx="8290560" cy="853440"/>
          </a:xfrm>
        </p:grpSpPr>
        <p:sp>
          <p:nvSpPr>
            <p:cNvPr name="Freeform 72" id="72"/>
            <p:cNvSpPr/>
            <p:nvPr/>
          </p:nvSpPr>
          <p:spPr>
            <a:xfrm flipH="false" flipV="false" rot="0">
              <a:off x="0" y="0"/>
              <a:ext cx="8290560" cy="853440"/>
            </a:xfrm>
            <a:custGeom>
              <a:avLst/>
              <a:gdLst/>
              <a:ahLst/>
              <a:cxnLst/>
              <a:rect r="r" b="b" t="t" l="l"/>
              <a:pathLst>
                <a:path h="853440" w="8290560">
                  <a:moveTo>
                    <a:pt x="0" y="0"/>
                  </a:moveTo>
                  <a:lnTo>
                    <a:pt x="8290560" y="0"/>
                  </a:lnTo>
                  <a:lnTo>
                    <a:pt x="8290560" y="853440"/>
                  </a:lnTo>
                  <a:lnTo>
                    <a:pt x="0" y="853440"/>
                  </a:lnTo>
                  <a:close/>
                </a:path>
              </a:pathLst>
            </a:custGeom>
            <a:blipFill>
              <a:blip r:embed="rId3">
                <a:alphaModFix amt="0"/>
              </a:blip>
              <a:stretch>
                <a:fillRect l="0" t="-139283" r="0" b="-139283"/>
              </a:stretch>
            </a:blipFill>
          </p:spPr>
        </p:sp>
        <p:sp>
          <p:nvSpPr>
            <p:cNvPr name="TextBox 73" id="73"/>
            <p:cNvSpPr txBox="true"/>
            <p:nvPr/>
          </p:nvSpPr>
          <p:spPr>
            <a:xfrm>
              <a:off x="0" y="-47625"/>
              <a:ext cx="8290560" cy="90106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Ambassadeurs (Fidèles &amp; VIP)</a:t>
              </a:r>
            </a:p>
          </p:txBody>
        </p:sp>
      </p:grpSp>
      <p:grpSp>
        <p:nvGrpSpPr>
          <p:cNvPr name="Group 74" id="74"/>
          <p:cNvGrpSpPr/>
          <p:nvPr/>
        </p:nvGrpSpPr>
        <p:grpSpPr>
          <a:xfrm rot="0">
            <a:off x="1923417" y="5775455"/>
            <a:ext cx="5486400" cy="822960"/>
            <a:chOff x="0" y="0"/>
            <a:chExt cx="7315200" cy="1097280"/>
          </a:xfrm>
        </p:grpSpPr>
        <p:sp>
          <p:nvSpPr>
            <p:cNvPr name="Freeform 75" id="75"/>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3">
                <a:alphaModFix amt="0"/>
              </a:blip>
              <a:stretch>
                <a:fillRect l="0" t="-79900" r="0" b="-79900"/>
              </a:stretch>
            </a:blipFill>
          </p:spPr>
        </p:sp>
        <p:sp>
          <p:nvSpPr>
            <p:cNvPr name="TextBox 76" id="76"/>
            <p:cNvSpPr txBox="true"/>
            <p:nvPr/>
          </p:nvSpPr>
          <p:spPr>
            <a:xfrm>
              <a:off x="0" y="-38100"/>
              <a:ext cx="7315200" cy="113538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Clients haute valeur, fidèles et engagés. Cible premium.</a:t>
              </a:r>
            </a:p>
          </p:txBody>
        </p:sp>
      </p:grpSp>
      <p:grpSp>
        <p:nvGrpSpPr>
          <p:cNvPr name="Group 77" id="77"/>
          <p:cNvGrpSpPr/>
          <p:nvPr/>
        </p:nvGrpSpPr>
        <p:grpSpPr>
          <a:xfrm rot="0">
            <a:off x="6952617" y="5775455"/>
            <a:ext cx="1554480" cy="822960"/>
            <a:chOff x="0" y="0"/>
            <a:chExt cx="2072640" cy="1097280"/>
          </a:xfrm>
        </p:grpSpPr>
        <p:sp>
          <p:nvSpPr>
            <p:cNvPr name="Freeform 78" id="78"/>
            <p:cNvSpPr/>
            <p:nvPr/>
          </p:nvSpPr>
          <p:spPr>
            <a:xfrm flipH="false" flipV="false" rot="0">
              <a:off x="0" y="0"/>
              <a:ext cx="2072640" cy="1097280"/>
            </a:xfrm>
            <a:custGeom>
              <a:avLst/>
              <a:gdLst/>
              <a:ahLst/>
              <a:cxnLst/>
              <a:rect r="r" b="b" t="t" l="l"/>
              <a:pathLst>
                <a:path h="1097280" w="2072640">
                  <a:moveTo>
                    <a:pt x="0" y="0"/>
                  </a:moveTo>
                  <a:lnTo>
                    <a:pt x="2072640" y="0"/>
                  </a:lnTo>
                  <a:lnTo>
                    <a:pt x="2072640" y="1097280"/>
                  </a:lnTo>
                  <a:lnTo>
                    <a:pt x="0" y="1097280"/>
                  </a:lnTo>
                  <a:close/>
                </a:path>
              </a:pathLst>
            </a:custGeom>
            <a:blipFill>
              <a:blip r:embed="rId3">
                <a:alphaModFix amt="0"/>
              </a:blip>
              <a:stretch>
                <a:fillRect l="-17925" t="0" r="-17925" b="0"/>
              </a:stretch>
            </a:blipFill>
          </p:spPr>
        </p:sp>
        <p:sp>
          <p:nvSpPr>
            <p:cNvPr name="TextBox 79" id="79"/>
            <p:cNvSpPr txBox="true"/>
            <p:nvPr/>
          </p:nvSpPr>
          <p:spPr>
            <a:xfrm>
              <a:off x="0" y="-66675"/>
              <a:ext cx="2072640" cy="1163955"/>
            </a:xfrm>
            <a:prstGeom prst="rect">
              <a:avLst/>
            </a:prstGeom>
          </p:spPr>
          <p:txBody>
            <a:bodyPr anchor="ctr" rtlCol="false" tIns="0" lIns="0" bIns="0" rIns="0"/>
            <a:lstStyle/>
            <a:p>
              <a:pPr algn="r">
                <a:lnSpc>
                  <a:spcPts val="4320"/>
                </a:lnSpc>
              </a:pPr>
              <a:r>
                <a:rPr lang="en-US" sz="3600" b="true">
                  <a:solidFill>
                    <a:srgbClr val="00E5A0"/>
                  </a:solidFill>
                  <a:latin typeface="Calibri (MS) Bold"/>
                  <a:ea typeface="Calibri (MS) Bold"/>
                  <a:cs typeface="Calibri (MS) Bold"/>
                  <a:sym typeface="Calibri (MS) Bold"/>
                </a:rPr>
                <a:t>22.5%</a:t>
              </a:r>
            </a:p>
          </p:txBody>
        </p:sp>
      </p:grpSp>
      <p:grpSp>
        <p:nvGrpSpPr>
          <p:cNvPr name="Group 80" id="80"/>
          <p:cNvGrpSpPr/>
          <p:nvPr/>
        </p:nvGrpSpPr>
        <p:grpSpPr>
          <a:xfrm rot="0">
            <a:off x="728343" y="7524750"/>
            <a:ext cx="8059417" cy="2243833"/>
            <a:chOff x="0" y="0"/>
            <a:chExt cx="10745889" cy="2991777"/>
          </a:xfrm>
        </p:grpSpPr>
        <p:sp>
          <p:nvSpPr>
            <p:cNvPr name="Freeform 81" id="81"/>
            <p:cNvSpPr/>
            <p:nvPr/>
          </p:nvSpPr>
          <p:spPr>
            <a:xfrm flipH="false" flipV="false" rot="0">
              <a:off x="8509" y="8509"/>
              <a:ext cx="10728960" cy="2974848"/>
            </a:xfrm>
            <a:custGeom>
              <a:avLst/>
              <a:gdLst/>
              <a:ahLst/>
              <a:cxnLst/>
              <a:rect r="r" b="b" t="t" l="l"/>
              <a:pathLst>
                <a:path h="2974848" w="10728960">
                  <a:moveTo>
                    <a:pt x="0" y="0"/>
                  </a:moveTo>
                  <a:lnTo>
                    <a:pt x="10728960" y="0"/>
                  </a:lnTo>
                  <a:lnTo>
                    <a:pt x="10728960" y="2974848"/>
                  </a:lnTo>
                  <a:lnTo>
                    <a:pt x="0" y="2974848"/>
                  </a:lnTo>
                  <a:close/>
                </a:path>
              </a:pathLst>
            </a:custGeom>
            <a:solidFill>
              <a:srgbClr val="122540"/>
            </a:solidFill>
          </p:spPr>
        </p:sp>
        <p:sp>
          <p:nvSpPr>
            <p:cNvPr name="Freeform 82" id="82"/>
            <p:cNvSpPr/>
            <p:nvPr/>
          </p:nvSpPr>
          <p:spPr>
            <a:xfrm flipH="false" flipV="false" rot="0">
              <a:off x="0" y="0"/>
              <a:ext cx="10745978" cy="2991866"/>
            </a:xfrm>
            <a:custGeom>
              <a:avLst/>
              <a:gdLst/>
              <a:ahLst/>
              <a:cxnLst/>
              <a:rect r="r" b="b" t="t" l="l"/>
              <a:pathLst>
                <a:path h="2991866" w="10745978">
                  <a:moveTo>
                    <a:pt x="8509" y="0"/>
                  </a:moveTo>
                  <a:lnTo>
                    <a:pt x="10737469" y="0"/>
                  </a:lnTo>
                  <a:cubicBezTo>
                    <a:pt x="10742168" y="0"/>
                    <a:pt x="10745978" y="3810"/>
                    <a:pt x="10745978" y="8509"/>
                  </a:cubicBezTo>
                  <a:lnTo>
                    <a:pt x="10745978" y="2983357"/>
                  </a:lnTo>
                  <a:cubicBezTo>
                    <a:pt x="10745978" y="2988056"/>
                    <a:pt x="10742168" y="2991866"/>
                    <a:pt x="10737469" y="2991866"/>
                  </a:cubicBezTo>
                  <a:lnTo>
                    <a:pt x="8509" y="2991866"/>
                  </a:lnTo>
                  <a:cubicBezTo>
                    <a:pt x="3810" y="2991866"/>
                    <a:pt x="0" y="2988056"/>
                    <a:pt x="0" y="2983357"/>
                  </a:cubicBezTo>
                  <a:lnTo>
                    <a:pt x="0" y="8509"/>
                  </a:lnTo>
                  <a:cubicBezTo>
                    <a:pt x="0" y="3810"/>
                    <a:pt x="3810" y="0"/>
                    <a:pt x="8509" y="0"/>
                  </a:cubicBezTo>
                  <a:moveTo>
                    <a:pt x="8509" y="16891"/>
                  </a:moveTo>
                  <a:lnTo>
                    <a:pt x="8509" y="8509"/>
                  </a:lnTo>
                  <a:lnTo>
                    <a:pt x="17018" y="8509"/>
                  </a:lnTo>
                  <a:lnTo>
                    <a:pt x="17018" y="2983357"/>
                  </a:lnTo>
                  <a:lnTo>
                    <a:pt x="8509" y="2983357"/>
                  </a:lnTo>
                  <a:lnTo>
                    <a:pt x="8509" y="2974848"/>
                  </a:lnTo>
                  <a:lnTo>
                    <a:pt x="10737469" y="2974848"/>
                  </a:lnTo>
                  <a:lnTo>
                    <a:pt x="10737469" y="2983357"/>
                  </a:lnTo>
                  <a:lnTo>
                    <a:pt x="10728960" y="2983357"/>
                  </a:lnTo>
                  <a:lnTo>
                    <a:pt x="10728960" y="8509"/>
                  </a:lnTo>
                  <a:lnTo>
                    <a:pt x="10737469" y="8509"/>
                  </a:lnTo>
                  <a:lnTo>
                    <a:pt x="10737469" y="17018"/>
                  </a:lnTo>
                  <a:lnTo>
                    <a:pt x="8509" y="17018"/>
                  </a:lnTo>
                  <a:close/>
                </a:path>
              </a:pathLst>
            </a:custGeom>
            <a:solidFill>
              <a:srgbClr val="1E3352"/>
            </a:solidFill>
          </p:spPr>
        </p:sp>
      </p:grpSp>
      <p:grpSp>
        <p:nvGrpSpPr>
          <p:cNvPr name="Group 83" id="83"/>
          <p:cNvGrpSpPr/>
          <p:nvPr/>
        </p:nvGrpSpPr>
        <p:grpSpPr>
          <a:xfrm rot="0">
            <a:off x="722000" y="7518406"/>
            <a:ext cx="135131" cy="2256539"/>
            <a:chOff x="0" y="0"/>
            <a:chExt cx="180175" cy="3008719"/>
          </a:xfrm>
        </p:grpSpPr>
        <p:sp>
          <p:nvSpPr>
            <p:cNvPr name="Freeform 84" id="84"/>
            <p:cNvSpPr/>
            <p:nvPr/>
          </p:nvSpPr>
          <p:spPr>
            <a:xfrm flipH="false" flipV="false" rot="0">
              <a:off x="16891" y="16891"/>
              <a:ext cx="146304" cy="2974848"/>
            </a:xfrm>
            <a:custGeom>
              <a:avLst/>
              <a:gdLst/>
              <a:ahLst/>
              <a:cxnLst/>
              <a:rect r="r" b="b" t="t" l="l"/>
              <a:pathLst>
                <a:path h="2974848" w="146304">
                  <a:moveTo>
                    <a:pt x="0" y="0"/>
                  </a:moveTo>
                  <a:lnTo>
                    <a:pt x="146304" y="0"/>
                  </a:lnTo>
                  <a:lnTo>
                    <a:pt x="146304" y="2974848"/>
                  </a:lnTo>
                  <a:lnTo>
                    <a:pt x="0" y="2974848"/>
                  </a:lnTo>
                  <a:close/>
                </a:path>
              </a:pathLst>
            </a:custGeom>
            <a:solidFill>
              <a:srgbClr val="1A8FFF"/>
            </a:solidFill>
          </p:spPr>
        </p:sp>
        <p:sp>
          <p:nvSpPr>
            <p:cNvPr name="Freeform 85" id="85"/>
            <p:cNvSpPr/>
            <p:nvPr/>
          </p:nvSpPr>
          <p:spPr>
            <a:xfrm flipH="false" flipV="false" rot="0">
              <a:off x="0" y="0"/>
              <a:ext cx="180086" cy="3008630"/>
            </a:xfrm>
            <a:custGeom>
              <a:avLst/>
              <a:gdLst/>
              <a:ahLst/>
              <a:cxnLst/>
              <a:rect r="r" b="b" t="t" l="l"/>
              <a:pathLst>
                <a:path h="3008630" w="180086">
                  <a:moveTo>
                    <a:pt x="16891" y="0"/>
                  </a:moveTo>
                  <a:lnTo>
                    <a:pt x="163195" y="0"/>
                  </a:lnTo>
                  <a:cubicBezTo>
                    <a:pt x="172593" y="0"/>
                    <a:pt x="180086" y="7620"/>
                    <a:pt x="180086" y="16891"/>
                  </a:cubicBezTo>
                  <a:lnTo>
                    <a:pt x="180086" y="2991739"/>
                  </a:lnTo>
                  <a:cubicBezTo>
                    <a:pt x="180086" y="3001137"/>
                    <a:pt x="172466" y="3008630"/>
                    <a:pt x="163195"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63195" y="2974848"/>
                  </a:lnTo>
                  <a:lnTo>
                    <a:pt x="163195" y="2991739"/>
                  </a:lnTo>
                  <a:lnTo>
                    <a:pt x="146304" y="2991739"/>
                  </a:lnTo>
                  <a:lnTo>
                    <a:pt x="146304" y="16891"/>
                  </a:lnTo>
                  <a:lnTo>
                    <a:pt x="163195" y="16891"/>
                  </a:lnTo>
                  <a:lnTo>
                    <a:pt x="163195" y="33909"/>
                  </a:lnTo>
                  <a:lnTo>
                    <a:pt x="16891" y="33909"/>
                  </a:lnTo>
                  <a:close/>
                </a:path>
              </a:pathLst>
            </a:custGeom>
            <a:solidFill>
              <a:srgbClr val="1A8FFF"/>
            </a:solidFill>
          </p:spPr>
        </p:sp>
      </p:grpSp>
      <p:grpSp>
        <p:nvGrpSpPr>
          <p:cNvPr name="Group 86" id="86"/>
          <p:cNvGrpSpPr/>
          <p:nvPr/>
        </p:nvGrpSpPr>
        <p:grpSpPr>
          <a:xfrm rot="0">
            <a:off x="1051184" y="7701286"/>
            <a:ext cx="665483" cy="665483"/>
            <a:chOff x="0" y="0"/>
            <a:chExt cx="887311" cy="887311"/>
          </a:xfrm>
        </p:grpSpPr>
        <p:sp>
          <p:nvSpPr>
            <p:cNvPr name="Freeform 87" id="87"/>
            <p:cNvSpPr/>
            <p:nvPr/>
          </p:nvSpPr>
          <p:spPr>
            <a:xfrm flipH="false" flipV="false" rot="0">
              <a:off x="16891" y="16891"/>
              <a:ext cx="853440" cy="853440"/>
            </a:xfrm>
            <a:custGeom>
              <a:avLst/>
              <a:gdLst/>
              <a:ahLst/>
              <a:cxnLst/>
              <a:rect r="r" b="b" t="t" l="l"/>
              <a:pathLst>
                <a:path h="853440" w="853440">
                  <a:moveTo>
                    <a:pt x="0" y="121920"/>
                  </a:moveTo>
                  <a:cubicBezTo>
                    <a:pt x="0" y="54610"/>
                    <a:pt x="54610" y="0"/>
                    <a:pt x="121920" y="0"/>
                  </a:cubicBezTo>
                  <a:lnTo>
                    <a:pt x="731520" y="0"/>
                  </a:lnTo>
                  <a:cubicBezTo>
                    <a:pt x="798830" y="0"/>
                    <a:pt x="853440" y="54610"/>
                    <a:pt x="853440" y="121920"/>
                  </a:cubicBezTo>
                  <a:lnTo>
                    <a:pt x="853440" y="731520"/>
                  </a:lnTo>
                  <a:cubicBezTo>
                    <a:pt x="853440" y="798830"/>
                    <a:pt x="798830" y="853440"/>
                    <a:pt x="731520" y="853440"/>
                  </a:cubicBezTo>
                  <a:lnTo>
                    <a:pt x="121920" y="853440"/>
                  </a:lnTo>
                  <a:cubicBezTo>
                    <a:pt x="54610" y="853440"/>
                    <a:pt x="0" y="798830"/>
                    <a:pt x="0" y="731520"/>
                  </a:cubicBezTo>
                  <a:close/>
                </a:path>
              </a:pathLst>
            </a:custGeom>
            <a:solidFill>
              <a:srgbClr val="1A8FFF">
                <a:alpha val="3922"/>
              </a:srgbClr>
            </a:solidFill>
          </p:spPr>
        </p:sp>
        <p:sp>
          <p:nvSpPr>
            <p:cNvPr name="Freeform 88" id="88"/>
            <p:cNvSpPr/>
            <p:nvPr/>
          </p:nvSpPr>
          <p:spPr>
            <a:xfrm flipH="false" flipV="false" rot="0">
              <a:off x="0" y="0"/>
              <a:ext cx="887222" cy="887222"/>
            </a:xfrm>
            <a:custGeom>
              <a:avLst/>
              <a:gdLst/>
              <a:ahLst/>
              <a:cxnLst/>
              <a:rect r="r" b="b" t="t" l="l"/>
              <a:pathLst>
                <a:path h="887222" w="887222">
                  <a:moveTo>
                    <a:pt x="0" y="138811"/>
                  </a:moveTo>
                  <a:cubicBezTo>
                    <a:pt x="0" y="62230"/>
                    <a:pt x="62230" y="0"/>
                    <a:pt x="138811" y="0"/>
                  </a:cubicBezTo>
                  <a:lnTo>
                    <a:pt x="748411" y="0"/>
                  </a:lnTo>
                  <a:lnTo>
                    <a:pt x="748411" y="16891"/>
                  </a:lnTo>
                  <a:lnTo>
                    <a:pt x="748411" y="0"/>
                  </a:lnTo>
                  <a:cubicBezTo>
                    <a:pt x="825119" y="0"/>
                    <a:pt x="887222" y="62230"/>
                    <a:pt x="887222" y="138811"/>
                  </a:cubicBezTo>
                  <a:lnTo>
                    <a:pt x="870331" y="138811"/>
                  </a:lnTo>
                  <a:lnTo>
                    <a:pt x="887222" y="138811"/>
                  </a:lnTo>
                  <a:lnTo>
                    <a:pt x="887222" y="748411"/>
                  </a:lnTo>
                  <a:lnTo>
                    <a:pt x="870331" y="748411"/>
                  </a:lnTo>
                  <a:lnTo>
                    <a:pt x="887222" y="748411"/>
                  </a:lnTo>
                  <a:cubicBezTo>
                    <a:pt x="887222" y="825119"/>
                    <a:pt x="824992" y="887222"/>
                    <a:pt x="748411" y="887222"/>
                  </a:cubicBezTo>
                  <a:lnTo>
                    <a:pt x="748411" y="870331"/>
                  </a:lnTo>
                  <a:lnTo>
                    <a:pt x="748411" y="887222"/>
                  </a:lnTo>
                  <a:lnTo>
                    <a:pt x="138811" y="887222"/>
                  </a:lnTo>
                  <a:lnTo>
                    <a:pt x="138811" y="870331"/>
                  </a:lnTo>
                  <a:lnTo>
                    <a:pt x="138811" y="887222"/>
                  </a:lnTo>
                  <a:cubicBezTo>
                    <a:pt x="62230" y="887349"/>
                    <a:pt x="0" y="825119"/>
                    <a:pt x="0" y="748411"/>
                  </a:cubicBezTo>
                  <a:lnTo>
                    <a:pt x="0" y="138811"/>
                  </a:lnTo>
                  <a:lnTo>
                    <a:pt x="16891" y="138811"/>
                  </a:lnTo>
                  <a:lnTo>
                    <a:pt x="0" y="138811"/>
                  </a:lnTo>
                  <a:moveTo>
                    <a:pt x="33909" y="138811"/>
                  </a:moveTo>
                  <a:lnTo>
                    <a:pt x="33909" y="748411"/>
                  </a:lnTo>
                  <a:lnTo>
                    <a:pt x="16891" y="748411"/>
                  </a:lnTo>
                  <a:lnTo>
                    <a:pt x="33909" y="748411"/>
                  </a:lnTo>
                  <a:cubicBezTo>
                    <a:pt x="33909" y="806450"/>
                    <a:pt x="80899" y="853440"/>
                    <a:pt x="138938" y="853440"/>
                  </a:cubicBezTo>
                  <a:lnTo>
                    <a:pt x="748538" y="853440"/>
                  </a:lnTo>
                  <a:cubicBezTo>
                    <a:pt x="806577" y="853440"/>
                    <a:pt x="853567" y="806450"/>
                    <a:pt x="853567" y="748411"/>
                  </a:cubicBezTo>
                  <a:lnTo>
                    <a:pt x="853567" y="138811"/>
                  </a:lnTo>
                  <a:cubicBezTo>
                    <a:pt x="853567" y="80772"/>
                    <a:pt x="806577" y="33782"/>
                    <a:pt x="748538" y="33782"/>
                  </a:cubicBezTo>
                  <a:lnTo>
                    <a:pt x="138938" y="33782"/>
                  </a:lnTo>
                  <a:lnTo>
                    <a:pt x="138938" y="16891"/>
                  </a:lnTo>
                  <a:lnTo>
                    <a:pt x="138938" y="33909"/>
                  </a:lnTo>
                  <a:cubicBezTo>
                    <a:pt x="80899" y="33909"/>
                    <a:pt x="33909" y="80899"/>
                    <a:pt x="33909" y="138938"/>
                  </a:cubicBezTo>
                  <a:close/>
                </a:path>
              </a:pathLst>
            </a:custGeom>
            <a:solidFill>
              <a:srgbClr val="1A8FFF"/>
            </a:solidFill>
          </p:spPr>
        </p:sp>
      </p:grpSp>
      <p:grpSp>
        <p:nvGrpSpPr>
          <p:cNvPr name="Group 89" id="89"/>
          <p:cNvGrpSpPr/>
          <p:nvPr/>
        </p:nvGrpSpPr>
        <p:grpSpPr>
          <a:xfrm rot="0">
            <a:off x="1063881" y="7713983"/>
            <a:ext cx="640080" cy="640080"/>
            <a:chOff x="0" y="0"/>
            <a:chExt cx="853440" cy="853440"/>
          </a:xfrm>
        </p:grpSpPr>
        <p:sp>
          <p:nvSpPr>
            <p:cNvPr name="Freeform 90" id="90"/>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91" id="91"/>
            <p:cNvSpPr txBox="true"/>
            <p:nvPr/>
          </p:nvSpPr>
          <p:spPr>
            <a:xfrm>
              <a:off x="0" y="-38100"/>
              <a:ext cx="853440" cy="891540"/>
            </a:xfrm>
            <a:prstGeom prst="rect">
              <a:avLst/>
            </a:prstGeom>
          </p:spPr>
          <p:txBody>
            <a:bodyPr anchor="ctr" rtlCol="false" tIns="0" lIns="0" bIns="0" rIns="0"/>
            <a:lstStyle/>
            <a:p>
              <a:pPr algn="ctr">
                <a:lnSpc>
                  <a:spcPts val="2879"/>
                </a:lnSpc>
              </a:pPr>
              <a:r>
                <a:rPr lang="en-US" sz="2400" b="true">
                  <a:solidFill>
                    <a:srgbClr val="1A8FFF"/>
                  </a:solidFill>
                  <a:latin typeface="Calibri (MS) Bold"/>
                  <a:ea typeface="Calibri (MS) Bold"/>
                  <a:cs typeface="Calibri (MS) Bold"/>
                  <a:sym typeface="Calibri (MS) Bold"/>
                </a:rPr>
                <a:t>1</a:t>
              </a:r>
            </a:p>
          </p:txBody>
        </p:sp>
      </p:grpSp>
      <p:grpSp>
        <p:nvGrpSpPr>
          <p:cNvPr name="Group 92" id="92"/>
          <p:cNvGrpSpPr/>
          <p:nvPr/>
        </p:nvGrpSpPr>
        <p:grpSpPr>
          <a:xfrm rot="0">
            <a:off x="1923417" y="7713983"/>
            <a:ext cx="6217920" cy="640080"/>
            <a:chOff x="0" y="0"/>
            <a:chExt cx="8290560" cy="853440"/>
          </a:xfrm>
        </p:grpSpPr>
        <p:sp>
          <p:nvSpPr>
            <p:cNvPr name="Freeform 93" id="93"/>
            <p:cNvSpPr/>
            <p:nvPr/>
          </p:nvSpPr>
          <p:spPr>
            <a:xfrm flipH="false" flipV="false" rot="0">
              <a:off x="0" y="0"/>
              <a:ext cx="8290560" cy="853440"/>
            </a:xfrm>
            <a:custGeom>
              <a:avLst/>
              <a:gdLst/>
              <a:ahLst/>
              <a:cxnLst/>
              <a:rect r="r" b="b" t="t" l="l"/>
              <a:pathLst>
                <a:path h="853440" w="8290560">
                  <a:moveTo>
                    <a:pt x="0" y="0"/>
                  </a:moveTo>
                  <a:lnTo>
                    <a:pt x="8290560" y="0"/>
                  </a:lnTo>
                  <a:lnTo>
                    <a:pt x="8290560" y="853440"/>
                  </a:lnTo>
                  <a:lnTo>
                    <a:pt x="0" y="853440"/>
                  </a:lnTo>
                  <a:close/>
                </a:path>
              </a:pathLst>
            </a:custGeom>
            <a:blipFill>
              <a:blip r:embed="rId3">
                <a:alphaModFix amt="0"/>
              </a:blip>
              <a:stretch>
                <a:fillRect l="0" t="-139283" r="0" b="-139283"/>
              </a:stretch>
            </a:blipFill>
          </p:spPr>
        </p:sp>
        <p:sp>
          <p:nvSpPr>
            <p:cNvPr name="TextBox 94" id="94"/>
            <p:cNvSpPr txBox="true"/>
            <p:nvPr/>
          </p:nvSpPr>
          <p:spPr>
            <a:xfrm>
              <a:off x="0" y="-47625"/>
              <a:ext cx="8290560" cy="90106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Acheteurs de Gros Volume</a:t>
              </a:r>
            </a:p>
          </p:txBody>
        </p:sp>
      </p:grpSp>
      <p:grpSp>
        <p:nvGrpSpPr>
          <p:cNvPr name="Group 95" id="95"/>
          <p:cNvGrpSpPr/>
          <p:nvPr/>
        </p:nvGrpSpPr>
        <p:grpSpPr>
          <a:xfrm rot="0">
            <a:off x="1923417" y="8372351"/>
            <a:ext cx="5486400" cy="822960"/>
            <a:chOff x="0" y="0"/>
            <a:chExt cx="7315200" cy="1097280"/>
          </a:xfrm>
        </p:grpSpPr>
        <p:sp>
          <p:nvSpPr>
            <p:cNvPr name="Freeform 96" id="96"/>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3">
                <a:alphaModFix amt="0"/>
              </a:blip>
              <a:stretch>
                <a:fillRect l="0" t="-79900" r="0" b="-79900"/>
              </a:stretch>
            </a:blipFill>
          </p:spPr>
        </p:sp>
        <p:sp>
          <p:nvSpPr>
            <p:cNvPr name="TextBox 97" id="97"/>
            <p:cNvSpPr txBox="true"/>
            <p:nvPr/>
          </p:nvSpPr>
          <p:spPr>
            <a:xfrm>
              <a:off x="0" y="-38100"/>
              <a:ext cx="7315200" cy="113538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Fort volume d'achat. Potentiel d'upselling élevé.</a:t>
              </a:r>
            </a:p>
          </p:txBody>
        </p:sp>
      </p:grpSp>
      <p:grpSp>
        <p:nvGrpSpPr>
          <p:cNvPr name="Group 98" id="98"/>
          <p:cNvGrpSpPr/>
          <p:nvPr/>
        </p:nvGrpSpPr>
        <p:grpSpPr>
          <a:xfrm rot="0">
            <a:off x="6952617" y="8372351"/>
            <a:ext cx="1554480" cy="822960"/>
            <a:chOff x="0" y="0"/>
            <a:chExt cx="2072640" cy="1097280"/>
          </a:xfrm>
        </p:grpSpPr>
        <p:sp>
          <p:nvSpPr>
            <p:cNvPr name="Freeform 99" id="99"/>
            <p:cNvSpPr/>
            <p:nvPr/>
          </p:nvSpPr>
          <p:spPr>
            <a:xfrm flipH="false" flipV="false" rot="0">
              <a:off x="0" y="0"/>
              <a:ext cx="2072640" cy="1097280"/>
            </a:xfrm>
            <a:custGeom>
              <a:avLst/>
              <a:gdLst/>
              <a:ahLst/>
              <a:cxnLst/>
              <a:rect r="r" b="b" t="t" l="l"/>
              <a:pathLst>
                <a:path h="1097280" w="2072640">
                  <a:moveTo>
                    <a:pt x="0" y="0"/>
                  </a:moveTo>
                  <a:lnTo>
                    <a:pt x="2072640" y="0"/>
                  </a:lnTo>
                  <a:lnTo>
                    <a:pt x="2072640" y="1097280"/>
                  </a:lnTo>
                  <a:lnTo>
                    <a:pt x="0" y="1097280"/>
                  </a:lnTo>
                  <a:close/>
                </a:path>
              </a:pathLst>
            </a:custGeom>
            <a:blipFill>
              <a:blip r:embed="rId3">
                <a:alphaModFix amt="0"/>
              </a:blip>
              <a:stretch>
                <a:fillRect l="-17925" t="0" r="-17925" b="0"/>
              </a:stretch>
            </a:blipFill>
          </p:spPr>
        </p:sp>
        <p:sp>
          <p:nvSpPr>
            <p:cNvPr name="TextBox 100" id="100"/>
            <p:cNvSpPr txBox="true"/>
            <p:nvPr/>
          </p:nvSpPr>
          <p:spPr>
            <a:xfrm>
              <a:off x="0" y="-66675"/>
              <a:ext cx="2072640" cy="1163955"/>
            </a:xfrm>
            <a:prstGeom prst="rect">
              <a:avLst/>
            </a:prstGeom>
          </p:spPr>
          <p:txBody>
            <a:bodyPr anchor="ctr" rtlCol="false" tIns="0" lIns="0" bIns="0" rIns="0"/>
            <a:lstStyle/>
            <a:p>
              <a:pPr algn="r">
                <a:lnSpc>
                  <a:spcPts val="4320"/>
                </a:lnSpc>
              </a:pPr>
              <a:r>
                <a:rPr lang="en-US" sz="3600" b="true">
                  <a:solidFill>
                    <a:srgbClr val="1A8FFF"/>
                  </a:solidFill>
                  <a:latin typeface="Calibri (MS) Bold"/>
                  <a:ea typeface="Calibri (MS) Bold"/>
                  <a:cs typeface="Calibri (MS) Bold"/>
                  <a:sym typeface="Calibri (MS) Bold"/>
                </a:rPr>
                <a:t>43.7%</a:t>
              </a:r>
            </a:p>
          </p:txBody>
        </p:sp>
      </p:grpSp>
      <p:grpSp>
        <p:nvGrpSpPr>
          <p:cNvPr name="Group 101" id="101"/>
          <p:cNvGrpSpPr/>
          <p:nvPr/>
        </p:nvGrpSpPr>
        <p:grpSpPr>
          <a:xfrm rot="0">
            <a:off x="9506583" y="4927854"/>
            <a:ext cx="8059417" cy="2243833"/>
            <a:chOff x="0" y="0"/>
            <a:chExt cx="10745889" cy="2991777"/>
          </a:xfrm>
        </p:grpSpPr>
        <p:sp>
          <p:nvSpPr>
            <p:cNvPr name="Freeform 102" id="102"/>
            <p:cNvSpPr/>
            <p:nvPr/>
          </p:nvSpPr>
          <p:spPr>
            <a:xfrm flipH="false" flipV="false" rot="0">
              <a:off x="8509" y="8509"/>
              <a:ext cx="10728960" cy="2974848"/>
            </a:xfrm>
            <a:custGeom>
              <a:avLst/>
              <a:gdLst/>
              <a:ahLst/>
              <a:cxnLst/>
              <a:rect r="r" b="b" t="t" l="l"/>
              <a:pathLst>
                <a:path h="2974848" w="10728960">
                  <a:moveTo>
                    <a:pt x="0" y="0"/>
                  </a:moveTo>
                  <a:lnTo>
                    <a:pt x="10728960" y="0"/>
                  </a:lnTo>
                  <a:lnTo>
                    <a:pt x="10728960" y="2974848"/>
                  </a:lnTo>
                  <a:lnTo>
                    <a:pt x="0" y="2974848"/>
                  </a:lnTo>
                  <a:close/>
                </a:path>
              </a:pathLst>
            </a:custGeom>
            <a:solidFill>
              <a:srgbClr val="122540"/>
            </a:solidFill>
          </p:spPr>
        </p:sp>
        <p:sp>
          <p:nvSpPr>
            <p:cNvPr name="Freeform 103" id="103"/>
            <p:cNvSpPr/>
            <p:nvPr/>
          </p:nvSpPr>
          <p:spPr>
            <a:xfrm flipH="false" flipV="false" rot="0">
              <a:off x="0" y="0"/>
              <a:ext cx="10745978" cy="2991866"/>
            </a:xfrm>
            <a:custGeom>
              <a:avLst/>
              <a:gdLst/>
              <a:ahLst/>
              <a:cxnLst/>
              <a:rect r="r" b="b" t="t" l="l"/>
              <a:pathLst>
                <a:path h="2991866" w="10745978">
                  <a:moveTo>
                    <a:pt x="8509" y="0"/>
                  </a:moveTo>
                  <a:lnTo>
                    <a:pt x="10737469" y="0"/>
                  </a:lnTo>
                  <a:cubicBezTo>
                    <a:pt x="10742168" y="0"/>
                    <a:pt x="10745978" y="3810"/>
                    <a:pt x="10745978" y="8509"/>
                  </a:cubicBezTo>
                  <a:lnTo>
                    <a:pt x="10745978" y="2983357"/>
                  </a:lnTo>
                  <a:cubicBezTo>
                    <a:pt x="10745978" y="2988056"/>
                    <a:pt x="10742168" y="2991866"/>
                    <a:pt x="10737469" y="2991866"/>
                  </a:cubicBezTo>
                  <a:lnTo>
                    <a:pt x="8509" y="2991866"/>
                  </a:lnTo>
                  <a:cubicBezTo>
                    <a:pt x="3810" y="2991866"/>
                    <a:pt x="0" y="2988056"/>
                    <a:pt x="0" y="2983357"/>
                  </a:cubicBezTo>
                  <a:lnTo>
                    <a:pt x="0" y="8509"/>
                  </a:lnTo>
                  <a:cubicBezTo>
                    <a:pt x="0" y="3810"/>
                    <a:pt x="3810" y="0"/>
                    <a:pt x="8509" y="0"/>
                  </a:cubicBezTo>
                  <a:moveTo>
                    <a:pt x="8509" y="16891"/>
                  </a:moveTo>
                  <a:lnTo>
                    <a:pt x="8509" y="8509"/>
                  </a:lnTo>
                  <a:lnTo>
                    <a:pt x="17018" y="8509"/>
                  </a:lnTo>
                  <a:lnTo>
                    <a:pt x="17018" y="2983357"/>
                  </a:lnTo>
                  <a:lnTo>
                    <a:pt x="8509" y="2983357"/>
                  </a:lnTo>
                  <a:lnTo>
                    <a:pt x="8509" y="2974848"/>
                  </a:lnTo>
                  <a:lnTo>
                    <a:pt x="10737469" y="2974848"/>
                  </a:lnTo>
                  <a:lnTo>
                    <a:pt x="10737469" y="2983357"/>
                  </a:lnTo>
                  <a:lnTo>
                    <a:pt x="10728960" y="2983357"/>
                  </a:lnTo>
                  <a:lnTo>
                    <a:pt x="10728960" y="8509"/>
                  </a:lnTo>
                  <a:lnTo>
                    <a:pt x="10737469" y="8509"/>
                  </a:lnTo>
                  <a:lnTo>
                    <a:pt x="10737469" y="17018"/>
                  </a:lnTo>
                  <a:lnTo>
                    <a:pt x="8509" y="17018"/>
                  </a:lnTo>
                  <a:close/>
                </a:path>
              </a:pathLst>
            </a:custGeom>
            <a:solidFill>
              <a:srgbClr val="1E3352"/>
            </a:solidFill>
          </p:spPr>
        </p:sp>
      </p:grpSp>
      <p:grpSp>
        <p:nvGrpSpPr>
          <p:cNvPr name="Group 104" id="104"/>
          <p:cNvGrpSpPr/>
          <p:nvPr/>
        </p:nvGrpSpPr>
        <p:grpSpPr>
          <a:xfrm rot="0">
            <a:off x="9500240" y="4921510"/>
            <a:ext cx="135131" cy="2256539"/>
            <a:chOff x="0" y="0"/>
            <a:chExt cx="180175" cy="3008719"/>
          </a:xfrm>
        </p:grpSpPr>
        <p:sp>
          <p:nvSpPr>
            <p:cNvPr name="Freeform 105" id="105"/>
            <p:cNvSpPr/>
            <p:nvPr/>
          </p:nvSpPr>
          <p:spPr>
            <a:xfrm flipH="false" flipV="false" rot="0">
              <a:off x="16891" y="16891"/>
              <a:ext cx="146304" cy="2974848"/>
            </a:xfrm>
            <a:custGeom>
              <a:avLst/>
              <a:gdLst/>
              <a:ahLst/>
              <a:cxnLst/>
              <a:rect r="r" b="b" t="t" l="l"/>
              <a:pathLst>
                <a:path h="2974848" w="146304">
                  <a:moveTo>
                    <a:pt x="0" y="0"/>
                  </a:moveTo>
                  <a:lnTo>
                    <a:pt x="146304" y="0"/>
                  </a:lnTo>
                  <a:lnTo>
                    <a:pt x="146304" y="2974848"/>
                  </a:lnTo>
                  <a:lnTo>
                    <a:pt x="0" y="2974848"/>
                  </a:lnTo>
                  <a:close/>
                </a:path>
              </a:pathLst>
            </a:custGeom>
            <a:solidFill>
              <a:srgbClr val="FFB800"/>
            </a:solidFill>
          </p:spPr>
        </p:sp>
        <p:sp>
          <p:nvSpPr>
            <p:cNvPr name="Freeform 106" id="106"/>
            <p:cNvSpPr/>
            <p:nvPr/>
          </p:nvSpPr>
          <p:spPr>
            <a:xfrm flipH="false" flipV="false" rot="0">
              <a:off x="0" y="0"/>
              <a:ext cx="180086" cy="3008630"/>
            </a:xfrm>
            <a:custGeom>
              <a:avLst/>
              <a:gdLst/>
              <a:ahLst/>
              <a:cxnLst/>
              <a:rect r="r" b="b" t="t" l="l"/>
              <a:pathLst>
                <a:path h="3008630" w="180086">
                  <a:moveTo>
                    <a:pt x="16891" y="0"/>
                  </a:moveTo>
                  <a:lnTo>
                    <a:pt x="163195" y="0"/>
                  </a:lnTo>
                  <a:cubicBezTo>
                    <a:pt x="172593" y="0"/>
                    <a:pt x="180086" y="7620"/>
                    <a:pt x="180086" y="16891"/>
                  </a:cubicBezTo>
                  <a:lnTo>
                    <a:pt x="180086" y="2991739"/>
                  </a:lnTo>
                  <a:cubicBezTo>
                    <a:pt x="180086" y="3001137"/>
                    <a:pt x="172466" y="3008630"/>
                    <a:pt x="163195"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63195" y="2974848"/>
                  </a:lnTo>
                  <a:lnTo>
                    <a:pt x="163195" y="2991739"/>
                  </a:lnTo>
                  <a:lnTo>
                    <a:pt x="146304" y="2991739"/>
                  </a:lnTo>
                  <a:lnTo>
                    <a:pt x="146304" y="16891"/>
                  </a:lnTo>
                  <a:lnTo>
                    <a:pt x="163195" y="16891"/>
                  </a:lnTo>
                  <a:lnTo>
                    <a:pt x="163195" y="33909"/>
                  </a:lnTo>
                  <a:lnTo>
                    <a:pt x="16891" y="33909"/>
                  </a:lnTo>
                  <a:close/>
                </a:path>
              </a:pathLst>
            </a:custGeom>
            <a:solidFill>
              <a:srgbClr val="FFB800"/>
            </a:solidFill>
          </p:spPr>
        </p:sp>
      </p:grpSp>
      <p:grpSp>
        <p:nvGrpSpPr>
          <p:cNvPr name="Group 107" id="107"/>
          <p:cNvGrpSpPr/>
          <p:nvPr/>
        </p:nvGrpSpPr>
        <p:grpSpPr>
          <a:xfrm rot="0">
            <a:off x="9829424" y="5104390"/>
            <a:ext cx="665483" cy="665483"/>
            <a:chOff x="0" y="0"/>
            <a:chExt cx="887311" cy="887311"/>
          </a:xfrm>
        </p:grpSpPr>
        <p:sp>
          <p:nvSpPr>
            <p:cNvPr name="Freeform 108" id="108"/>
            <p:cNvSpPr/>
            <p:nvPr/>
          </p:nvSpPr>
          <p:spPr>
            <a:xfrm flipH="false" flipV="false" rot="0">
              <a:off x="16891" y="16891"/>
              <a:ext cx="853440" cy="853440"/>
            </a:xfrm>
            <a:custGeom>
              <a:avLst/>
              <a:gdLst/>
              <a:ahLst/>
              <a:cxnLst/>
              <a:rect r="r" b="b" t="t" l="l"/>
              <a:pathLst>
                <a:path h="853440" w="853440">
                  <a:moveTo>
                    <a:pt x="0" y="121920"/>
                  </a:moveTo>
                  <a:cubicBezTo>
                    <a:pt x="0" y="54610"/>
                    <a:pt x="54610" y="0"/>
                    <a:pt x="121920" y="0"/>
                  </a:cubicBezTo>
                  <a:lnTo>
                    <a:pt x="731520" y="0"/>
                  </a:lnTo>
                  <a:cubicBezTo>
                    <a:pt x="798830" y="0"/>
                    <a:pt x="853440" y="54610"/>
                    <a:pt x="853440" y="121920"/>
                  </a:cubicBezTo>
                  <a:lnTo>
                    <a:pt x="853440" y="731520"/>
                  </a:lnTo>
                  <a:cubicBezTo>
                    <a:pt x="853440" y="798830"/>
                    <a:pt x="798830" y="853440"/>
                    <a:pt x="731520" y="853440"/>
                  </a:cubicBezTo>
                  <a:lnTo>
                    <a:pt x="121920" y="853440"/>
                  </a:lnTo>
                  <a:cubicBezTo>
                    <a:pt x="54610" y="853440"/>
                    <a:pt x="0" y="798830"/>
                    <a:pt x="0" y="731520"/>
                  </a:cubicBezTo>
                  <a:close/>
                </a:path>
              </a:pathLst>
            </a:custGeom>
            <a:solidFill>
              <a:srgbClr val="FFB800">
                <a:alpha val="3922"/>
              </a:srgbClr>
            </a:solidFill>
          </p:spPr>
        </p:sp>
        <p:sp>
          <p:nvSpPr>
            <p:cNvPr name="Freeform 109" id="109"/>
            <p:cNvSpPr/>
            <p:nvPr/>
          </p:nvSpPr>
          <p:spPr>
            <a:xfrm flipH="false" flipV="false" rot="0">
              <a:off x="0" y="0"/>
              <a:ext cx="887222" cy="887222"/>
            </a:xfrm>
            <a:custGeom>
              <a:avLst/>
              <a:gdLst/>
              <a:ahLst/>
              <a:cxnLst/>
              <a:rect r="r" b="b" t="t" l="l"/>
              <a:pathLst>
                <a:path h="887222" w="887222">
                  <a:moveTo>
                    <a:pt x="0" y="138811"/>
                  </a:moveTo>
                  <a:cubicBezTo>
                    <a:pt x="0" y="62230"/>
                    <a:pt x="62230" y="0"/>
                    <a:pt x="138811" y="0"/>
                  </a:cubicBezTo>
                  <a:lnTo>
                    <a:pt x="748411" y="0"/>
                  </a:lnTo>
                  <a:lnTo>
                    <a:pt x="748411" y="16891"/>
                  </a:lnTo>
                  <a:lnTo>
                    <a:pt x="748411" y="0"/>
                  </a:lnTo>
                  <a:cubicBezTo>
                    <a:pt x="825119" y="0"/>
                    <a:pt x="887222" y="62230"/>
                    <a:pt x="887222" y="138811"/>
                  </a:cubicBezTo>
                  <a:lnTo>
                    <a:pt x="870331" y="138811"/>
                  </a:lnTo>
                  <a:lnTo>
                    <a:pt x="887222" y="138811"/>
                  </a:lnTo>
                  <a:lnTo>
                    <a:pt x="887222" y="748411"/>
                  </a:lnTo>
                  <a:lnTo>
                    <a:pt x="870331" y="748411"/>
                  </a:lnTo>
                  <a:lnTo>
                    <a:pt x="887222" y="748411"/>
                  </a:lnTo>
                  <a:cubicBezTo>
                    <a:pt x="887222" y="825119"/>
                    <a:pt x="824992" y="887222"/>
                    <a:pt x="748411" y="887222"/>
                  </a:cubicBezTo>
                  <a:lnTo>
                    <a:pt x="748411" y="870331"/>
                  </a:lnTo>
                  <a:lnTo>
                    <a:pt x="748411" y="887222"/>
                  </a:lnTo>
                  <a:lnTo>
                    <a:pt x="138811" y="887222"/>
                  </a:lnTo>
                  <a:lnTo>
                    <a:pt x="138811" y="870331"/>
                  </a:lnTo>
                  <a:lnTo>
                    <a:pt x="138811" y="887222"/>
                  </a:lnTo>
                  <a:cubicBezTo>
                    <a:pt x="62230" y="887349"/>
                    <a:pt x="0" y="825119"/>
                    <a:pt x="0" y="748411"/>
                  </a:cubicBezTo>
                  <a:lnTo>
                    <a:pt x="0" y="138811"/>
                  </a:lnTo>
                  <a:lnTo>
                    <a:pt x="16891" y="138811"/>
                  </a:lnTo>
                  <a:lnTo>
                    <a:pt x="0" y="138811"/>
                  </a:lnTo>
                  <a:moveTo>
                    <a:pt x="33909" y="138811"/>
                  </a:moveTo>
                  <a:lnTo>
                    <a:pt x="33909" y="748411"/>
                  </a:lnTo>
                  <a:lnTo>
                    <a:pt x="16891" y="748411"/>
                  </a:lnTo>
                  <a:lnTo>
                    <a:pt x="33909" y="748411"/>
                  </a:lnTo>
                  <a:cubicBezTo>
                    <a:pt x="33909" y="806450"/>
                    <a:pt x="80899" y="853440"/>
                    <a:pt x="138938" y="853440"/>
                  </a:cubicBezTo>
                  <a:lnTo>
                    <a:pt x="748538" y="853440"/>
                  </a:lnTo>
                  <a:cubicBezTo>
                    <a:pt x="806577" y="853440"/>
                    <a:pt x="853567" y="806450"/>
                    <a:pt x="853567" y="748411"/>
                  </a:cubicBezTo>
                  <a:lnTo>
                    <a:pt x="853567" y="138811"/>
                  </a:lnTo>
                  <a:cubicBezTo>
                    <a:pt x="853567" y="80772"/>
                    <a:pt x="806577" y="33782"/>
                    <a:pt x="748538" y="33782"/>
                  </a:cubicBezTo>
                  <a:lnTo>
                    <a:pt x="138938" y="33782"/>
                  </a:lnTo>
                  <a:lnTo>
                    <a:pt x="138938" y="16891"/>
                  </a:lnTo>
                  <a:lnTo>
                    <a:pt x="138938" y="33909"/>
                  </a:lnTo>
                  <a:cubicBezTo>
                    <a:pt x="80899" y="33909"/>
                    <a:pt x="33909" y="80899"/>
                    <a:pt x="33909" y="138938"/>
                  </a:cubicBezTo>
                  <a:close/>
                </a:path>
              </a:pathLst>
            </a:custGeom>
            <a:solidFill>
              <a:srgbClr val="FFB800"/>
            </a:solidFill>
          </p:spPr>
        </p:sp>
      </p:grpSp>
      <p:grpSp>
        <p:nvGrpSpPr>
          <p:cNvPr name="Group 110" id="110"/>
          <p:cNvGrpSpPr/>
          <p:nvPr/>
        </p:nvGrpSpPr>
        <p:grpSpPr>
          <a:xfrm rot="0">
            <a:off x="9842121" y="5117087"/>
            <a:ext cx="640080" cy="640080"/>
            <a:chOff x="0" y="0"/>
            <a:chExt cx="853440" cy="853440"/>
          </a:xfrm>
        </p:grpSpPr>
        <p:sp>
          <p:nvSpPr>
            <p:cNvPr name="Freeform 111" id="111"/>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112" id="112"/>
            <p:cNvSpPr txBox="true"/>
            <p:nvPr/>
          </p:nvSpPr>
          <p:spPr>
            <a:xfrm>
              <a:off x="0" y="-38100"/>
              <a:ext cx="853440" cy="891540"/>
            </a:xfrm>
            <a:prstGeom prst="rect">
              <a:avLst/>
            </a:prstGeom>
          </p:spPr>
          <p:txBody>
            <a:bodyPr anchor="ctr" rtlCol="false" tIns="0" lIns="0" bIns="0" rIns="0"/>
            <a:lstStyle/>
            <a:p>
              <a:pPr algn="ctr">
                <a:lnSpc>
                  <a:spcPts val="2879"/>
                </a:lnSpc>
              </a:pPr>
              <a:r>
                <a:rPr lang="en-US" sz="2400" b="true">
                  <a:solidFill>
                    <a:srgbClr val="FFB800"/>
                  </a:solidFill>
                  <a:latin typeface="Calibri (MS) Bold"/>
                  <a:ea typeface="Calibri (MS) Bold"/>
                  <a:cs typeface="Calibri (MS) Bold"/>
                  <a:sym typeface="Calibri (MS) Bold"/>
                </a:rPr>
                <a:t>2</a:t>
              </a:r>
            </a:p>
          </p:txBody>
        </p:sp>
      </p:grpSp>
      <p:grpSp>
        <p:nvGrpSpPr>
          <p:cNvPr name="Group 113" id="113"/>
          <p:cNvGrpSpPr/>
          <p:nvPr/>
        </p:nvGrpSpPr>
        <p:grpSpPr>
          <a:xfrm rot="0">
            <a:off x="10701657" y="5117087"/>
            <a:ext cx="6217920" cy="640080"/>
            <a:chOff x="0" y="0"/>
            <a:chExt cx="8290560" cy="853440"/>
          </a:xfrm>
        </p:grpSpPr>
        <p:sp>
          <p:nvSpPr>
            <p:cNvPr name="Freeform 114" id="114"/>
            <p:cNvSpPr/>
            <p:nvPr/>
          </p:nvSpPr>
          <p:spPr>
            <a:xfrm flipH="false" flipV="false" rot="0">
              <a:off x="0" y="0"/>
              <a:ext cx="8290560" cy="853440"/>
            </a:xfrm>
            <a:custGeom>
              <a:avLst/>
              <a:gdLst/>
              <a:ahLst/>
              <a:cxnLst/>
              <a:rect r="r" b="b" t="t" l="l"/>
              <a:pathLst>
                <a:path h="853440" w="8290560">
                  <a:moveTo>
                    <a:pt x="0" y="0"/>
                  </a:moveTo>
                  <a:lnTo>
                    <a:pt x="8290560" y="0"/>
                  </a:lnTo>
                  <a:lnTo>
                    <a:pt x="8290560" y="853440"/>
                  </a:lnTo>
                  <a:lnTo>
                    <a:pt x="0" y="853440"/>
                  </a:lnTo>
                  <a:close/>
                </a:path>
              </a:pathLst>
            </a:custGeom>
            <a:blipFill>
              <a:blip r:embed="rId3">
                <a:alphaModFix amt="0"/>
              </a:blip>
              <a:stretch>
                <a:fillRect l="0" t="-139283" r="0" b="-139283"/>
              </a:stretch>
            </a:blipFill>
          </p:spPr>
        </p:sp>
        <p:sp>
          <p:nvSpPr>
            <p:cNvPr name="TextBox 115" id="115"/>
            <p:cNvSpPr txBox="true"/>
            <p:nvPr/>
          </p:nvSpPr>
          <p:spPr>
            <a:xfrm>
              <a:off x="0" y="-47625"/>
              <a:ext cx="8290560" cy="90106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Clients Actifs Standards</a:t>
              </a:r>
            </a:p>
          </p:txBody>
        </p:sp>
      </p:grpSp>
      <p:grpSp>
        <p:nvGrpSpPr>
          <p:cNvPr name="Group 116" id="116"/>
          <p:cNvGrpSpPr/>
          <p:nvPr/>
        </p:nvGrpSpPr>
        <p:grpSpPr>
          <a:xfrm rot="0">
            <a:off x="10701657" y="5775455"/>
            <a:ext cx="5486400" cy="822960"/>
            <a:chOff x="0" y="0"/>
            <a:chExt cx="7315200" cy="1097280"/>
          </a:xfrm>
        </p:grpSpPr>
        <p:sp>
          <p:nvSpPr>
            <p:cNvPr name="Freeform 117" id="117"/>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3">
                <a:alphaModFix amt="0"/>
              </a:blip>
              <a:stretch>
                <a:fillRect l="0" t="-79900" r="0" b="-79900"/>
              </a:stretch>
            </a:blipFill>
          </p:spPr>
        </p:sp>
        <p:sp>
          <p:nvSpPr>
            <p:cNvPr name="TextBox 118" id="118"/>
            <p:cNvSpPr txBox="true"/>
            <p:nvPr/>
          </p:nvSpPr>
          <p:spPr>
            <a:xfrm>
              <a:off x="0" y="-38100"/>
              <a:ext cx="7315200" cy="113538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Engagement régulier. Cœur de cible fidélisation.</a:t>
              </a:r>
            </a:p>
          </p:txBody>
        </p:sp>
      </p:grpSp>
      <p:grpSp>
        <p:nvGrpSpPr>
          <p:cNvPr name="Group 119" id="119"/>
          <p:cNvGrpSpPr/>
          <p:nvPr/>
        </p:nvGrpSpPr>
        <p:grpSpPr>
          <a:xfrm rot="0">
            <a:off x="15730857" y="5775455"/>
            <a:ext cx="1554480" cy="822960"/>
            <a:chOff x="0" y="0"/>
            <a:chExt cx="2072640" cy="1097280"/>
          </a:xfrm>
        </p:grpSpPr>
        <p:sp>
          <p:nvSpPr>
            <p:cNvPr name="Freeform 120" id="120"/>
            <p:cNvSpPr/>
            <p:nvPr/>
          </p:nvSpPr>
          <p:spPr>
            <a:xfrm flipH="false" flipV="false" rot="0">
              <a:off x="0" y="0"/>
              <a:ext cx="2072640" cy="1097280"/>
            </a:xfrm>
            <a:custGeom>
              <a:avLst/>
              <a:gdLst/>
              <a:ahLst/>
              <a:cxnLst/>
              <a:rect r="r" b="b" t="t" l="l"/>
              <a:pathLst>
                <a:path h="1097280" w="2072640">
                  <a:moveTo>
                    <a:pt x="0" y="0"/>
                  </a:moveTo>
                  <a:lnTo>
                    <a:pt x="2072640" y="0"/>
                  </a:lnTo>
                  <a:lnTo>
                    <a:pt x="2072640" y="1097280"/>
                  </a:lnTo>
                  <a:lnTo>
                    <a:pt x="0" y="1097280"/>
                  </a:lnTo>
                  <a:close/>
                </a:path>
              </a:pathLst>
            </a:custGeom>
            <a:blipFill>
              <a:blip r:embed="rId3">
                <a:alphaModFix amt="0"/>
              </a:blip>
              <a:stretch>
                <a:fillRect l="-17925" t="0" r="-17925" b="0"/>
              </a:stretch>
            </a:blipFill>
          </p:spPr>
        </p:sp>
        <p:sp>
          <p:nvSpPr>
            <p:cNvPr name="TextBox 121" id="121"/>
            <p:cNvSpPr txBox="true"/>
            <p:nvPr/>
          </p:nvSpPr>
          <p:spPr>
            <a:xfrm>
              <a:off x="0" y="-66675"/>
              <a:ext cx="2072640" cy="1163955"/>
            </a:xfrm>
            <a:prstGeom prst="rect">
              <a:avLst/>
            </a:prstGeom>
          </p:spPr>
          <p:txBody>
            <a:bodyPr anchor="ctr" rtlCol="false" tIns="0" lIns="0" bIns="0" rIns="0"/>
            <a:lstStyle/>
            <a:p>
              <a:pPr algn="r">
                <a:lnSpc>
                  <a:spcPts val="4320"/>
                </a:lnSpc>
              </a:pPr>
              <a:r>
                <a:rPr lang="en-US" sz="3600" b="true">
                  <a:solidFill>
                    <a:srgbClr val="FFB800"/>
                  </a:solidFill>
                  <a:latin typeface="Calibri (MS) Bold"/>
                  <a:ea typeface="Calibri (MS) Bold"/>
                  <a:cs typeface="Calibri (MS) Bold"/>
                  <a:sym typeface="Calibri (MS) Bold"/>
                </a:rPr>
                <a:t>11.1%</a:t>
              </a:r>
            </a:p>
          </p:txBody>
        </p:sp>
      </p:grpSp>
      <p:grpSp>
        <p:nvGrpSpPr>
          <p:cNvPr name="Group 122" id="122"/>
          <p:cNvGrpSpPr/>
          <p:nvPr/>
        </p:nvGrpSpPr>
        <p:grpSpPr>
          <a:xfrm rot="0">
            <a:off x="9506583" y="7524750"/>
            <a:ext cx="8059417" cy="2243833"/>
            <a:chOff x="0" y="0"/>
            <a:chExt cx="10745889" cy="2991777"/>
          </a:xfrm>
        </p:grpSpPr>
        <p:sp>
          <p:nvSpPr>
            <p:cNvPr name="Freeform 123" id="123"/>
            <p:cNvSpPr/>
            <p:nvPr/>
          </p:nvSpPr>
          <p:spPr>
            <a:xfrm flipH="false" flipV="false" rot="0">
              <a:off x="8509" y="8509"/>
              <a:ext cx="10728960" cy="2974848"/>
            </a:xfrm>
            <a:custGeom>
              <a:avLst/>
              <a:gdLst/>
              <a:ahLst/>
              <a:cxnLst/>
              <a:rect r="r" b="b" t="t" l="l"/>
              <a:pathLst>
                <a:path h="2974848" w="10728960">
                  <a:moveTo>
                    <a:pt x="0" y="0"/>
                  </a:moveTo>
                  <a:lnTo>
                    <a:pt x="10728960" y="0"/>
                  </a:lnTo>
                  <a:lnTo>
                    <a:pt x="10728960" y="2974848"/>
                  </a:lnTo>
                  <a:lnTo>
                    <a:pt x="0" y="2974848"/>
                  </a:lnTo>
                  <a:close/>
                </a:path>
              </a:pathLst>
            </a:custGeom>
            <a:solidFill>
              <a:srgbClr val="122540"/>
            </a:solidFill>
          </p:spPr>
        </p:sp>
        <p:sp>
          <p:nvSpPr>
            <p:cNvPr name="Freeform 124" id="124"/>
            <p:cNvSpPr/>
            <p:nvPr/>
          </p:nvSpPr>
          <p:spPr>
            <a:xfrm flipH="false" flipV="false" rot="0">
              <a:off x="0" y="0"/>
              <a:ext cx="10745978" cy="2991866"/>
            </a:xfrm>
            <a:custGeom>
              <a:avLst/>
              <a:gdLst/>
              <a:ahLst/>
              <a:cxnLst/>
              <a:rect r="r" b="b" t="t" l="l"/>
              <a:pathLst>
                <a:path h="2991866" w="10745978">
                  <a:moveTo>
                    <a:pt x="8509" y="0"/>
                  </a:moveTo>
                  <a:lnTo>
                    <a:pt x="10737469" y="0"/>
                  </a:lnTo>
                  <a:cubicBezTo>
                    <a:pt x="10742168" y="0"/>
                    <a:pt x="10745978" y="3810"/>
                    <a:pt x="10745978" y="8509"/>
                  </a:cubicBezTo>
                  <a:lnTo>
                    <a:pt x="10745978" y="2983357"/>
                  </a:lnTo>
                  <a:cubicBezTo>
                    <a:pt x="10745978" y="2988056"/>
                    <a:pt x="10742168" y="2991866"/>
                    <a:pt x="10737469" y="2991866"/>
                  </a:cubicBezTo>
                  <a:lnTo>
                    <a:pt x="8509" y="2991866"/>
                  </a:lnTo>
                  <a:cubicBezTo>
                    <a:pt x="3810" y="2991866"/>
                    <a:pt x="0" y="2988056"/>
                    <a:pt x="0" y="2983357"/>
                  </a:cubicBezTo>
                  <a:lnTo>
                    <a:pt x="0" y="8509"/>
                  </a:lnTo>
                  <a:cubicBezTo>
                    <a:pt x="0" y="3810"/>
                    <a:pt x="3810" y="0"/>
                    <a:pt x="8509" y="0"/>
                  </a:cubicBezTo>
                  <a:moveTo>
                    <a:pt x="8509" y="16891"/>
                  </a:moveTo>
                  <a:lnTo>
                    <a:pt x="8509" y="8509"/>
                  </a:lnTo>
                  <a:lnTo>
                    <a:pt x="17018" y="8509"/>
                  </a:lnTo>
                  <a:lnTo>
                    <a:pt x="17018" y="2983357"/>
                  </a:lnTo>
                  <a:lnTo>
                    <a:pt x="8509" y="2983357"/>
                  </a:lnTo>
                  <a:lnTo>
                    <a:pt x="8509" y="2974848"/>
                  </a:lnTo>
                  <a:lnTo>
                    <a:pt x="10737469" y="2974848"/>
                  </a:lnTo>
                  <a:lnTo>
                    <a:pt x="10737469" y="2983357"/>
                  </a:lnTo>
                  <a:lnTo>
                    <a:pt x="10728960" y="2983357"/>
                  </a:lnTo>
                  <a:lnTo>
                    <a:pt x="10728960" y="8509"/>
                  </a:lnTo>
                  <a:lnTo>
                    <a:pt x="10737469" y="8509"/>
                  </a:lnTo>
                  <a:lnTo>
                    <a:pt x="10737469" y="17018"/>
                  </a:lnTo>
                  <a:lnTo>
                    <a:pt x="8509" y="17018"/>
                  </a:lnTo>
                  <a:close/>
                </a:path>
              </a:pathLst>
            </a:custGeom>
            <a:solidFill>
              <a:srgbClr val="1E3352"/>
            </a:solidFill>
          </p:spPr>
        </p:sp>
      </p:grpSp>
      <p:grpSp>
        <p:nvGrpSpPr>
          <p:cNvPr name="Group 125" id="125"/>
          <p:cNvGrpSpPr/>
          <p:nvPr/>
        </p:nvGrpSpPr>
        <p:grpSpPr>
          <a:xfrm rot="0">
            <a:off x="9500240" y="7518406"/>
            <a:ext cx="135131" cy="2256539"/>
            <a:chOff x="0" y="0"/>
            <a:chExt cx="180175" cy="3008719"/>
          </a:xfrm>
        </p:grpSpPr>
        <p:sp>
          <p:nvSpPr>
            <p:cNvPr name="Freeform 126" id="126"/>
            <p:cNvSpPr/>
            <p:nvPr/>
          </p:nvSpPr>
          <p:spPr>
            <a:xfrm flipH="false" flipV="false" rot="0">
              <a:off x="16891" y="16891"/>
              <a:ext cx="146304" cy="2974848"/>
            </a:xfrm>
            <a:custGeom>
              <a:avLst/>
              <a:gdLst/>
              <a:ahLst/>
              <a:cxnLst/>
              <a:rect r="r" b="b" t="t" l="l"/>
              <a:pathLst>
                <a:path h="2974848" w="146304">
                  <a:moveTo>
                    <a:pt x="0" y="0"/>
                  </a:moveTo>
                  <a:lnTo>
                    <a:pt x="146304" y="0"/>
                  </a:lnTo>
                  <a:lnTo>
                    <a:pt x="146304" y="2974848"/>
                  </a:lnTo>
                  <a:lnTo>
                    <a:pt x="0" y="2974848"/>
                  </a:lnTo>
                  <a:close/>
                </a:path>
              </a:pathLst>
            </a:custGeom>
            <a:solidFill>
              <a:srgbClr val="FF4D6A"/>
            </a:solidFill>
          </p:spPr>
        </p:sp>
        <p:sp>
          <p:nvSpPr>
            <p:cNvPr name="Freeform 127" id="127"/>
            <p:cNvSpPr/>
            <p:nvPr/>
          </p:nvSpPr>
          <p:spPr>
            <a:xfrm flipH="false" flipV="false" rot="0">
              <a:off x="0" y="0"/>
              <a:ext cx="180086" cy="3008630"/>
            </a:xfrm>
            <a:custGeom>
              <a:avLst/>
              <a:gdLst/>
              <a:ahLst/>
              <a:cxnLst/>
              <a:rect r="r" b="b" t="t" l="l"/>
              <a:pathLst>
                <a:path h="3008630" w="180086">
                  <a:moveTo>
                    <a:pt x="16891" y="0"/>
                  </a:moveTo>
                  <a:lnTo>
                    <a:pt x="163195" y="0"/>
                  </a:lnTo>
                  <a:cubicBezTo>
                    <a:pt x="172593" y="0"/>
                    <a:pt x="180086" y="7620"/>
                    <a:pt x="180086" y="16891"/>
                  </a:cubicBezTo>
                  <a:lnTo>
                    <a:pt x="180086" y="2991739"/>
                  </a:lnTo>
                  <a:cubicBezTo>
                    <a:pt x="180086" y="3001137"/>
                    <a:pt x="172466" y="3008630"/>
                    <a:pt x="163195"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63195" y="2974848"/>
                  </a:lnTo>
                  <a:lnTo>
                    <a:pt x="163195" y="2991739"/>
                  </a:lnTo>
                  <a:lnTo>
                    <a:pt x="146304" y="2991739"/>
                  </a:lnTo>
                  <a:lnTo>
                    <a:pt x="146304" y="16891"/>
                  </a:lnTo>
                  <a:lnTo>
                    <a:pt x="163195" y="16891"/>
                  </a:lnTo>
                  <a:lnTo>
                    <a:pt x="163195" y="33909"/>
                  </a:lnTo>
                  <a:lnTo>
                    <a:pt x="16891" y="33909"/>
                  </a:lnTo>
                  <a:close/>
                </a:path>
              </a:pathLst>
            </a:custGeom>
            <a:solidFill>
              <a:srgbClr val="FF4D6A"/>
            </a:solidFill>
          </p:spPr>
        </p:sp>
      </p:grpSp>
      <p:grpSp>
        <p:nvGrpSpPr>
          <p:cNvPr name="Group 128" id="128"/>
          <p:cNvGrpSpPr/>
          <p:nvPr/>
        </p:nvGrpSpPr>
        <p:grpSpPr>
          <a:xfrm rot="0">
            <a:off x="9829424" y="7701286"/>
            <a:ext cx="665483" cy="665483"/>
            <a:chOff x="0" y="0"/>
            <a:chExt cx="887311" cy="887311"/>
          </a:xfrm>
        </p:grpSpPr>
        <p:sp>
          <p:nvSpPr>
            <p:cNvPr name="Freeform 129" id="129"/>
            <p:cNvSpPr/>
            <p:nvPr/>
          </p:nvSpPr>
          <p:spPr>
            <a:xfrm flipH="false" flipV="false" rot="0">
              <a:off x="16891" y="16891"/>
              <a:ext cx="853440" cy="853440"/>
            </a:xfrm>
            <a:custGeom>
              <a:avLst/>
              <a:gdLst/>
              <a:ahLst/>
              <a:cxnLst/>
              <a:rect r="r" b="b" t="t" l="l"/>
              <a:pathLst>
                <a:path h="853440" w="853440">
                  <a:moveTo>
                    <a:pt x="0" y="121920"/>
                  </a:moveTo>
                  <a:cubicBezTo>
                    <a:pt x="0" y="54610"/>
                    <a:pt x="54610" y="0"/>
                    <a:pt x="121920" y="0"/>
                  </a:cubicBezTo>
                  <a:lnTo>
                    <a:pt x="731520" y="0"/>
                  </a:lnTo>
                  <a:cubicBezTo>
                    <a:pt x="798830" y="0"/>
                    <a:pt x="853440" y="54610"/>
                    <a:pt x="853440" y="121920"/>
                  </a:cubicBezTo>
                  <a:lnTo>
                    <a:pt x="853440" y="731520"/>
                  </a:lnTo>
                  <a:cubicBezTo>
                    <a:pt x="853440" y="798830"/>
                    <a:pt x="798830" y="853440"/>
                    <a:pt x="731520" y="853440"/>
                  </a:cubicBezTo>
                  <a:lnTo>
                    <a:pt x="121920" y="853440"/>
                  </a:lnTo>
                  <a:cubicBezTo>
                    <a:pt x="54610" y="853440"/>
                    <a:pt x="0" y="798830"/>
                    <a:pt x="0" y="731520"/>
                  </a:cubicBezTo>
                  <a:close/>
                </a:path>
              </a:pathLst>
            </a:custGeom>
            <a:solidFill>
              <a:srgbClr val="FF4D6A">
                <a:alpha val="3922"/>
              </a:srgbClr>
            </a:solidFill>
          </p:spPr>
        </p:sp>
        <p:sp>
          <p:nvSpPr>
            <p:cNvPr name="Freeform 130" id="130"/>
            <p:cNvSpPr/>
            <p:nvPr/>
          </p:nvSpPr>
          <p:spPr>
            <a:xfrm flipH="false" flipV="false" rot="0">
              <a:off x="0" y="0"/>
              <a:ext cx="887222" cy="887222"/>
            </a:xfrm>
            <a:custGeom>
              <a:avLst/>
              <a:gdLst/>
              <a:ahLst/>
              <a:cxnLst/>
              <a:rect r="r" b="b" t="t" l="l"/>
              <a:pathLst>
                <a:path h="887222" w="887222">
                  <a:moveTo>
                    <a:pt x="0" y="138811"/>
                  </a:moveTo>
                  <a:cubicBezTo>
                    <a:pt x="0" y="62230"/>
                    <a:pt x="62230" y="0"/>
                    <a:pt x="138811" y="0"/>
                  </a:cubicBezTo>
                  <a:lnTo>
                    <a:pt x="748411" y="0"/>
                  </a:lnTo>
                  <a:lnTo>
                    <a:pt x="748411" y="16891"/>
                  </a:lnTo>
                  <a:lnTo>
                    <a:pt x="748411" y="0"/>
                  </a:lnTo>
                  <a:cubicBezTo>
                    <a:pt x="825119" y="0"/>
                    <a:pt x="887222" y="62230"/>
                    <a:pt x="887222" y="138811"/>
                  </a:cubicBezTo>
                  <a:lnTo>
                    <a:pt x="870331" y="138811"/>
                  </a:lnTo>
                  <a:lnTo>
                    <a:pt x="887222" y="138811"/>
                  </a:lnTo>
                  <a:lnTo>
                    <a:pt x="887222" y="748411"/>
                  </a:lnTo>
                  <a:lnTo>
                    <a:pt x="870331" y="748411"/>
                  </a:lnTo>
                  <a:lnTo>
                    <a:pt x="887222" y="748411"/>
                  </a:lnTo>
                  <a:cubicBezTo>
                    <a:pt x="887222" y="825119"/>
                    <a:pt x="824992" y="887222"/>
                    <a:pt x="748411" y="887222"/>
                  </a:cubicBezTo>
                  <a:lnTo>
                    <a:pt x="748411" y="870331"/>
                  </a:lnTo>
                  <a:lnTo>
                    <a:pt x="748411" y="887222"/>
                  </a:lnTo>
                  <a:lnTo>
                    <a:pt x="138811" y="887222"/>
                  </a:lnTo>
                  <a:lnTo>
                    <a:pt x="138811" y="870331"/>
                  </a:lnTo>
                  <a:lnTo>
                    <a:pt x="138811" y="887222"/>
                  </a:lnTo>
                  <a:cubicBezTo>
                    <a:pt x="62230" y="887349"/>
                    <a:pt x="0" y="825119"/>
                    <a:pt x="0" y="748411"/>
                  </a:cubicBezTo>
                  <a:lnTo>
                    <a:pt x="0" y="138811"/>
                  </a:lnTo>
                  <a:lnTo>
                    <a:pt x="16891" y="138811"/>
                  </a:lnTo>
                  <a:lnTo>
                    <a:pt x="0" y="138811"/>
                  </a:lnTo>
                  <a:moveTo>
                    <a:pt x="33909" y="138811"/>
                  </a:moveTo>
                  <a:lnTo>
                    <a:pt x="33909" y="748411"/>
                  </a:lnTo>
                  <a:lnTo>
                    <a:pt x="16891" y="748411"/>
                  </a:lnTo>
                  <a:lnTo>
                    <a:pt x="33909" y="748411"/>
                  </a:lnTo>
                  <a:cubicBezTo>
                    <a:pt x="33909" y="806450"/>
                    <a:pt x="80899" y="853440"/>
                    <a:pt x="138938" y="853440"/>
                  </a:cubicBezTo>
                  <a:lnTo>
                    <a:pt x="748538" y="853440"/>
                  </a:lnTo>
                  <a:cubicBezTo>
                    <a:pt x="806577" y="853440"/>
                    <a:pt x="853567" y="806450"/>
                    <a:pt x="853567" y="748411"/>
                  </a:cubicBezTo>
                  <a:lnTo>
                    <a:pt x="853567" y="138811"/>
                  </a:lnTo>
                  <a:cubicBezTo>
                    <a:pt x="853567" y="80772"/>
                    <a:pt x="806577" y="33782"/>
                    <a:pt x="748538" y="33782"/>
                  </a:cubicBezTo>
                  <a:lnTo>
                    <a:pt x="138938" y="33782"/>
                  </a:lnTo>
                  <a:lnTo>
                    <a:pt x="138938" y="16891"/>
                  </a:lnTo>
                  <a:lnTo>
                    <a:pt x="138938" y="33909"/>
                  </a:lnTo>
                  <a:cubicBezTo>
                    <a:pt x="80899" y="33909"/>
                    <a:pt x="33909" y="80899"/>
                    <a:pt x="33909" y="138938"/>
                  </a:cubicBezTo>
                  <a:close/>
                </a:path>
              </a:pathLst>
            </a:custGeom>
            <a:solidFill>
              <a:srgbClr val="FF4D6A"/>
            </a:solidFill>
          </p:spPr>
        </p:sp>
      </p:grpSp>
      <p:grpSp>
        <p:nvGrpSpPr>
          <p:cNvPr name="Group 131" id="131"/>
          <p:cNvGrpSpPr/>
          <p:nvPr/>
        </p:nvGrpSpPr>
        <p:grpSpPr>
          <a:xfrm rot="0">
            <a:off x="9842121" y="7713983"/>
            <a:ext cx="640080" cy="640080"/>
            <a:chOff x="0" y="0"/>
            <a:chExt cx="853440" cy="853440"/>
          </a:xfrm>
        </p:grpSpPr>
        <p:sp>
          <p:nvSpPr>
            <p:cNvPr name="Freeform 132" id="132"/>
            <p:cNvSpPr/>
            <p:nvPr/>
          </p:nvSpPr>
          <p:spPr>
            <a:xfrm flipH="false" flipV="false" rot="0">
              <a:off x="0" y="0"/>
              <a:ext cx="853440" cy="853440"/>
            </a:xfrm>
            <a:custGeom>
              <a:avLst/>
              <a:gdLst/>
              <a:ahLst/>
              <a:cxnLst/>
              <a:rect r="r" b="b" t="t" l="l"/>
              <a:pathLst>
                <a:path h="853440" w="853440">
                  <a:moveTo>
                    <a:pt x="0" y="0"/>
                  </a:moveTo>
                  <a:lnTo>
                    <a:pt x="853440" y="0"/>
                  </a:lnTo>
                  <a:lnTo>
                    <a:pt x="853440" y="853440"/>
                  </a:lnTo>
                  <a:lnTo>
                    <a:pt x="0" y="853440"/>
                  </a:lnTo>
                  <a:close/>
                </a:path>
              </a:pathLst>
            </a:custGeom>
            <a:blipFill>
              <a:blip r:embed="rId3">
                <a:alphaModFix amt="0"/>
              </a:blip>
              <a:stretch>
                <a:fillRect l="-78303" t="0" r="-78303" b="0"/>
              </a:stretch>
            </a:blipFill>
          </p:spPr>
        </p:sp>
        <p:sp>
          <p:nvSpPr>
            <p:cNvPr name="TextBox 133" id="133"/>
            <p:cNvSpPr txBox="true"/>
            <p:nvPr/>
          </p:nvSpPr>
          <p:spPr>
            <a:xfrm>
              <a:off x="0" y="-38100"/>
              <a:ext cx="853440" cy="891540"/>
            </a:xfrm>
            <a:prstGeom prst="rect">
              <a:avLst/>
            </a:prstGeom>
          </p:spPr>
          <p:txBody>
            <a:bodyPr anchor="ctr" rtlCol="false" tIns="0" lIns="0" bIns="0" rIns="0"/>
            <a:lstStyle/>
            <a:p>
              <a:pPr algn="ctr">
                <a:lnSpc>
                  <a:spcPts val="2879"/>
                </a:lnSpc>
              </a:pPr>
              <a:r>
                <a:rPr lang="en-US" sz="2400" b="true">
                  <a:solidFill>
                    <a:srgbClr val="FF4D6A"/>
                  </a:solidFill>
                  <a:latin typeface="Calibri (MS) Bold"/>
                  <a:ea typeface="Calibri (MS) Bold"/>
                  <a:cs typeface="Calibri (MS) Bold"/>
                  <a:sym typeface="Calibri (MS) Bold"/>
                </a:rPr>
                <a:t>3</a:t>
              </a:r>
            </a:p>
          </p:txBody>
        </p:sp>
      </p:grpSp>
      <p:grpSp>
        <p:nvGrpSpPr>
          <p:cNvPr name="Group 134" id="134"/>
          <p:cNvGrpSpPr/>
          <p:nvPr/>
        </p:nvGrpSpPr>
        <p:grpSpPr>
          <a:xfrm rot="0">
            <a:off x="10701657" y="7713983"/>
            <a:ext cx="6217920" cy="640080"/>
            <a:chOff x="0" y="0"/>
            <a:chExt cx="8290560" cy="853440"/>
          </a:xfrm>
        </p:grpSpPr>
        <p:sp>
          <p:nvSpPr>
            <p:cNvPr name="Freeform 135" id="135"/>
            <p:cNvSpPr/>
            <p:nvPr/>
          </p:nvSpPr>
          <p:spPr>
            <a:xfrm flipH="false" flipV="false" rot="0">
              <a:off x="0" y="0"/>
              <a:ext cx="8290560" cy="853440"/>
            </a:xfrm>
            <a:custGeom>
              <a:avLst/>
              <a:gdLst/>
              <a:ahLst/>
              <a:cxnLst/>
              <a:rect r="r" b="b" t="t" l="l"/>
              <a:pathLst>
                <a:path h="853440" w="8290560">
                  <a:moveTo>
                    <a:pt x="0" y="0"/>
                  </a:moveTo>
                  <a:lnTo>
                    <a:pt x="8290560" y="0"/>
                  </a:lnTo>
                  <a:lnTo>
                    <a:pt x="8290560" y="853440"/>
                  </a:lnTo>
                  <a:lnTo>
                    <a:pt x="0" y="853440"/>
                  </a:lnTo>
                  <a:close/>
                </a:path>
              </a:pathLst>
            </a:custGeom>
            <a:blipFill>
              <a:blip r:embed="rId3">
                <a:alphaModFix amt="0"/>
              </a:blip>
              <a:stretch>
                <a:fillRect l="0" t="-139283" r="0" b="-139283"/>
              </a:stretch>
            </a:blipFill>
          </p:spPr>
        </p:sp>
        <p:sp>
          <p:nvSpPr>
            <p:cNvPr name="TextBox 136" id="136"/>
            <p:cNvSpPr txBox="true"/>
            <p:nvPr/>
          </p:nvSpPr>
          <p:spPr>
            <a:xfrm>
              <a:off x="0" y="-47625"/>
              <a:ext cx="8290560" cy="90106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Nouveaux / À Risque</a:t>
              </a:r>
            </a:p>
          </p:txBody>
        </p:sp>
      </p:grpSp>
      <p:grpSp>
        <p:nvGrpSpPr>
          <p:cNvPr name="Group 137" id="137"/>
          <p:cNvGrpSpPr/>
          <p:nvPr/>
        </p:nvGrpSpPr>
        <p:grpSpPr>
          <a:xfrm rot="0">
            <a:off x="10701657" y="8372351"/>
            <a:ext cx="5486400" cy="822960"/>
            <a:chOff x="0" y="0"/>
            <a:chExt cx="7315200" cy="1097280"/>
          </a:xfrm>
        </p:grpSpPr>
        <p:sp>
          <p:nvSpPr>
            <p:cNvPr name="Freeform 138" id="138"/>
            <p:cNvSpPr/>
            <p:nvPr/>
          </p:nvSpPr>
          <p:spPr>
            <a:xfrm flipH="false" flipV="false" rot="0">
              <a:off x="0" y="0"/>
              <a:ext cx="7315200" cy="1097280"/>
            </a:xfrm>
            <a:custGeom>
              <a:avLst/>
              <a:gdLst/>
              <a:ahLst/>
              <a:cxnLst/>
              <a:rect r="r" b="b" t="t" l="l"/>
              <a:pathLst>
                <a:path h="1097280" w="7315200">
                  <a:moveTo>
                    <a:pt x="0" y="0"/>
                  </a:moveTo>
                  <a:lnTo>
                    <a:pt x="7315200" y="0"/>
                  </a:lnTo>
                  <a:lnTo>
                    <a:pt x="7315200" y="1097280"/>
                  </a:lnTo>
                  <a:lnTo>
                    <a:pt x="0" y="1097280"/>
                  </a:lnTo>
                  <a:close/>
                </a:path>
              </a:pathLst>
            </a:custGeom>
            <a:blipFill>
              <a:blip r:embed="rId3">
                <a:alphaModFix amt="0"/>
              </a:blip>
              <a:stretch>
                <a:fillRect l="0" t="-79900" r="0" b="-79900"/>
              </a:stretch>
            </a:blipFill>
          </p:spPr>
        </p:sp>
        <p:sp>
          <p:nvSpPr>
            <p:cNvPr name="TextBox 139" id="139"/>
            <p:cNvSpPr txBox="true"/>
            <p:nvPr/>
          </p:nvSpPr>
          <p:spPr>
            <a:xfrm>
              <a:off x="0" y="-38100"/>
              <a:ext cx="7315200" cy="113538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Nouveaux clients ou profils fragiles. Rétention prioritaire.</a:t>
              </a:r>
            </a:p>
          </p:txBody>
        </p:sp>
      </p:grpSp>
      <p:grpSp>
        <p:nvGrpSpPr>
          <p:cNvPr name="Group 140" id="140"/>
          <p:cNvGrpSpPr/>
          <p:nvPr/>
        </p:nvGrpSpPr>
        <p:grpSpPr>
          <a:xfrm rot="0">
            <a:off x="15730857" y="8372351"/>
            <a:ext cx="1554480" cy="822960"/>
            <a:chOff x="0" y="0"/>
            <a:chExt cx="2072640" cy="1097280"/>
          </a:xfrm>
        </p:grpSpPr>
        <p:sp>
          <p:nvSpPr>
            <p:cNvPr name="Freeform 141" id="141"/>
            <p:cNvSpPr/>
            <p:nvPr/>
          </p:nvSpPr>
          <p:spPr>
            <a:xfrm flipH="false" flipV="false" rot="0">
              <a:off x="0" y="0"/>
              <a:ext cx="2072640" cy="1097280"/>
            </a:xfrm>
            <a:custGeom>
              <a:avLst/>
              <a:gdLst/>
              <a:ahLst/>
              <a:cxnLst/>
              <a:rect r="r" b="b" t="t" l="l"/>
              <a:pathLst>
                <a:path h="1097280" w="2072640">
                  <a:moveTo>
                    <a:pt x="0" y="0"/>
                  </a:moveTo>
                  <a:lnTo>
                    <a:pt x="2072640" y="0"/>
                  </a:lnTo>
                  <a:lnTo>
                    <a:pt x="2072640" y="1097280"/>
                  </a:lnTo>
                  <a:lnTo>
                    <a:pt x="0" y="1097280"/>
                  </a:lnTo>
                  <a:close/>
                </a:path>
              </a:pathLst>
            </a:custGeom>
            <a:blipFill>
              <a:blip r:embed="rId3">
                <a:alphaModFix amt="0"/>
              </a:blip>
              <a:stretch>
                <a:fillRect l="-17925" t="0" r="-17925" b="0"/>
              </a:stretch>
            </a:blipFill>
          </p:spPr>
        </p:sp>
        <p:sp>
          <p:nvSpPr>
            <p:cNvPr name="TextBox 142" id="142"/>
            <p:cNvSpPr txBox="true"/>
            <p:nvPr/>
          </p:nvSpPr>
          <p:spPr>
            <a:xfrm>
              <a:off x="0" y="-66675"/>
              <a:ext cx="2072640" cy="1163955"/>
            </a:xfrm>
            <a:prstGeom prst="rect">
              <a:avLst/>
            </a:prstGeom>
          </p:spPr>
          <p:txBody>
            <a:bodyPr anchor="ctr" rtlCol="false" tIns="0" lIns="0" bIns="0" rIns="0"/>
            <a:lstStyle/>
            <a:p>
              <a:pPr algn="r">
                <a:lnSpc>
                  <a:spcPts val="4320"/>
                </a:lnSpc>
              </a:pPr>
              <a:r>
                <a:rPr lang="en-US" sz="3600" b="true">
                  <a:solidFill>
                    <a:srgbClr val="FF4D6A"/>
                  </a:solidFill>
                  <a:latin typeface="Calibri (MS) Bold"/>
                  <a:ea typeface="Calibri (MS) Bold"/>
                  <a:cs typeface="Calibri (MS) Bold"/>
                  <a:sym typeface="Calibri (MS) Bold"/>
                </a:rPr>
                <a:t>22.7%</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04237" y="392173"/>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914400" y="402336"/>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06 — SEGMENTS</a:t>
              </a:r>
            </a:p>
          </p:txBody>
        </p:sp>
      </p:grpSp>
      <p:grpSp>
        <p:nvGrpSpPr>
          <p:cNvPr name="Group 8" id="8"/>
          <p:cNvGrpSpPr/>
          <p:nvPr/>
        </p:nvGrpSpPr>
        <p:grpSpPr>
          <a:xfrm rot="0">
            <a:off x="5381525" y="27520"/>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Répartition des Segments Clients</a:t>
              </a:r>
            </a:p>
          </p:txBody>
        </p:sp>
      </p:grpSp>
      <p:pic>
        <p:nvPicPr>
          <p:cNvPr name="Picture 11" id="11"/>
          <p:cNvPicPr>
            <a:picLocks noChangeAspect="true"/>
          </p:cNvPicPr>
          <p:nvPr/>
        </p:nvPicPr>
        <p:blipFill>
          <a:blip r:embed="rId4"/>
          <a:stretch>
            <a:fillRect/>
          </a:stretch>
        </p:blipFill>
        <p:spPr>
          <a:xfrm rot="0">
            <a:off x="1178036" y="767166"/>
            <a:ext cx="8799010" cy="9996544"/>
          </a:xfrm>
          <a:prstGeom prst="rect">
            <a:avLst/>
          </a:prstGeom>
        </p:spPr>
      </p:pic>
      <p:grpSp>
        <p:nvGrpSpPr>
          <p:cNvPr name="Group 12" id="12"/>
          <p:cNvGrpSpPr/>
          <p:nvPr/>
        </p:nvGrpSpPr>
        <p:grpSpPr>
          <a:xfrm rot="0">
            <a:off x="11149332" y="2033768"/>
            <a:ext cx="6413497" cy="2170681"/>
            <a:chOff x="0" y="0"/>
            <a:chExt cx="8551329" cy="2894241"/>
          </a:xfrm>
        </p:grpSpPr>
        <p:sp>
          <p:nvSpPr>
            <p:cNvPr name="Freeform 13" id="13"/>
            <p:cNvSpPr/>
            <p:nvPr/>
          </p:nvSpPr>
          <p:spPr>
            <a:xfrm flipH="false" flipV="false" rot="0">
              <a:off x="8509" y="8509"/>
              <a:ext cx="8534400" cy="2877312"/>
            </a:xfrm>
            <a:custGeom>
              <a:avLst/>
              <a:gdLst/>
              <a:ahLst/>
              <a:cxnLst/>
              <a:rect r="r" b="b" t="t" l="l"/>
              <a:pathLst>
                <a:path h="2877312" w="8534400">
                  <a:moveTo>
                    <a:pt x="0" y="0"/>
                  </a:moveTo>
                  <a:lnTo>
                    <a:pt x="8534400" y="0"/>
                  </a:lnTo>
                  <a:lnTo>
                    <a:pt x="8534400" y="2877312"/>
                  </a:lnTo>
                  <a:lnTo>
                    <a:pt x="0" y="2877312"/>
                  </a:lnTo>
                  <a:close/>
                </a:path>
              </a:pathLst>
            </a:custGeom>
            <a:solidFill>
              <a:srgbClr val="0D1E35"/>
            </a:solidFill>
          </p:spPr>
        </p:sp>
        <p:sp>
          <p:nvSpPr>
            <p:cNvPr name="Freeform 14" id="14"/>
            <p:cNvSpPr/>
            <p:nvPr/>
          </p:nvSpPr>
          <p:spPr>
            <a:xfrm flipH="false" flipV="false" rot="0">
              <a:off x="0" y="0"/>
              <a:ext cx="8551418" cy="2894330"/>
            </a:xfrm>
            <a:custGeom>
              <a:avLst/>
              <a:gdLst/>
              <a:ahLst/>
              <a:cxnLst/>
              <a:rect r="r" b="b" t="t" l="l"/>
              <a:pathLst>
                <a:path h="2894330" w="8551418">
                  <a:moveTo>
                    <a:pt x="8509" y="0"/>
                  </a:moveTo>
                  <a:lnTo>
                    <a:pt x="8542909" y="0"/>
                  </a:lnTo>
                  <a:cubicBezTo>
                    <a:pt x="8547608" y="0"/>
                    <a:pt x="8551418" y="3810"/>
                    <a:pt x="8551418" y="8509"/>
                  </a:cubicBezTo>
                  <a:lnTo>
                    <a:pt x="8551418" y="2885821"/>
                  </a:lnTo>
                  <a:cubicBezTo>
                    <a:pt x="8551418" y="2890520"/>
                    <a:pt x="8547608" y="2894330"/>
                    <a:pt x="8542909" y="2894330"/>
                  </a:cubicBezTo>
                  <a:lnTo>
                    <a:pt x="8509" y="2894330"/>
                  </a:lnTo>
                  <a:cubicBezTo>
                    <a:pt x="3810" y="2894330"/>
                    <a:pt x="0" y="2890520"/>
                    <a:pt x="0" y="2885821"/>
                  </a:cubicBezTo>
                  <a:lnTo>
                    <a:pt x="0" y="8509"/>
                  </a:lnTo>
                  <a:cubicBezTo>
                    <a:pt x="0" y="3810"/>
                    <a:pt x="3810" y="0"/>
                    <a:pt x="8509" y="0"/>
                  </a:cubicBezTo>
                  <a:moveTo>
                    <a:pt x="8509" y="16891"/>
                  </a:moveTo>
                  <a:lnTo>
                    <a:pt x="8509" y="8509"/>
                  </a:lnTo>
                  <a:lnTo>
                    <a:pt x="17018" y="8509"/>
                  </a:lnTo>
                  <a:lnTo>
                    <a:pt x="17018" y="2885821"/>
                  </a:lnTo>
                  <a:lnTo>
                    <a:pt x="8509" y="2885821"/>
                  </a:lnTo>
                  <a:lnTo>
                    <a:pt x="8509" y="2877312"/>
                  </a:lnTo>
                  <a:lnTo>
                    <a:pt x="8542909" y="2877312"/>
                  </a:lnTo>
                  <a:lnTo>
                    <a:pt x="8542909" y="2885821"/>
                  </a:lnTo>
                  <a:lnTo>
                    <a:pt x="8534400" y="2885821"/>
                  </a:lnTo>
                  <a:lnTo>
                    <a:pt x="8534400" y="8509"/>
                  </a:lnTo>
                  <a:lnTo>
                    <a:pt x="8542909" y="8509"/>
                  </a:lnTo>
                  <a:lnTo>
                    <a:pt x="8542909" y="17018"/>
                  </a:lnTo>
                  <a:lnTo>
                    <a:pt x="8509" y="17018"/>
                  </a:lnTo>
                  <a:close/>
                </a:path>
              </a:pathLst>
            </a:custGeom>
            <a:solidFill>
              <a:srgbClr val="1E3352"/>
            </a:solidFill>
          </p:spPr>
        </p:sp>
      </p:grpSp>
      <p:grpSp>
        <p:nvGrpSpPr>
          <p:cNvPr name="Group 15" id="15"/>
          <p:cNvGrpSpPr/>
          <p:nvPr/>
        </p:nvGrpSpPr>
        <p:grpSpPr>
          <a:xfrm rot="0">
            <a:off x="11142988" y="2027425"/>
            <a:ext cx="135131" cy="2183387"/>
            <a:chOff x="0" y="0"/>
            <a:chExt cx="180175" cy="2911183"/>
          </a:xfrm>
        </p:grpSpPr>
        <p:sp>
          <p:nvSpPr>
            <p:cNvPr name="Freeform 16" id="16"/>
            <p:cNvSpPr/>
            <p:nvPr/>
          </p:nvSpPr>
          <p:spPr>
            <a:xfrm flipH="false" flipV="false" rot="0">
              <a:off x="16891" y="16891"/>
              <a:ext cx="146304" cy="2877312"/>
            </a:xfrm>
            <a:custGeom>
              <a:avLst/>
              <a:gdLst/>
              <a:ahLst/>
              <a:cxnLst/>
              <a:rect r="r" b="b" t="t" l="l"/>
              <a:pathLst>
                <a:path h="2877312" w="146304">
                  <a:moveTo>
                    <a:pt x="0" y="0"/>
                  </a:moveTo>
                  <a:lnTo>
                    <a:pt x="146304" y="0"/>
                  </a:lnTo>
                  <a:lnTo>
                    <a:pt x="146304" y="2877312"/>
                  </a:lnTo>
                  <a:lnTo>
                    <a:pt x="0" y="2877312"/>
                  </a:lnTo>
                  <a:close/>
                </a:path>
              </a:pathLst>
            </a:custGeom>
            <a:solidFill>
              <a:srgbClr val="1A8FFF"/>
            </a:solidFill>
          </p:spPr>
        </p:sp>
        <p:sp>
          <p:nvSpPr>
            <p:cNvPr name="Freeform 17" id="17"/>
            <p:cNvSpPr/>
            <p:nvPr/>
          </p:nvSpPr>
          <p:spPr>
            <a:xfrm flipH="false" flipV="false" rot="0">
              <a:off x="0" y="0"/>
              <a:ext cx="180086" cy="2911094"/>
            </a:xfrm>
            <a:custGeom>
              <a:avLst/>
              <a:gdLst/>
              <a:ahLst/>
              <a:cxnLst/>
              <a:rect r="r" b="b" t="t" l="l"/>
              <a:pathLst>
                <a:path h="2911094" w="180086">
                  <a:moveTo>
                    <a:pt x="16891" y="0"/>
                  </a:moveTo>
                  <a:lnTo>
                    <a:pt x="163195" y="0"/>
                  </a:lnTo>
                  <a:cubicBezTo>
                    <a:pt x="172593" y="0"/>
                    <a:pt x="180086" y="7620"/>
                    <a:pt x="180086" y="16891"/>
                  </a:cubicBezTo>
                  <a:lnTo>
                    <a:pt x="180086" y="2894203"/>
                  </a:lnTo>
                  <a:cubicBezTo>
                    <a:pt x="180086" y="2903601"/>
                    <a:pt x="172466" y="2911094"/>
                    <a:pt x="163195"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163195" y="2877312"/>
                  </a:lnTo>
                  <a:lnTo>
                    <a:pt x="163195" y="2894203"/>
                  </a:lnTo>
                  <a:lnTo>
                    <a:pt x="146304" y="2894203"/>
                  </a:lnTo>
                  <a:lnTo>
                    <a:pt x="146304" y="16891"/>
                  </a:lnTo>
                  <a:lnTo>
                    <a:pt x="163195" y="16891"/>
                  </a:lnTo>
                  <a:lnTo>
                    <a:pt x="163195" y="33909"/>
                  </a:lnTo>
                  <a:lnTo>
                    <a:pt x="16891" y="33909"/>
                  </a:lnTo>
                  <a:close/>
                </a:path>
              </a:pathLst>
            </a:custGeom>
            <a:solidFill>
              <a:srgbClr val="1A8FFF"/>
            </a:solidFill>
          </p:spPr>
        </p:sp>
      </p:grpSp>
      <p:grpSp>
        <p:nvGrpSpPr>
          <p:cNvPr name="Group 18" id="18"/>
          <p:cNvGrpSpPr/>
          <p:nvPr/>
        </p:nvGrpSpPr>
        <p:grpSpPr>
          <a:xfrm rot="0">
            <a:off x="11430005" y="2186426"/>
            <a:ext cx="5852160" cy="914400"/>
            <a:chOff x="0" y="0"/>
            <a:chExt cx="7802880" cy="1219200"/>
          </a:xfrm>
        </p:grpSpPr>
        <p:sp>
          <p:nvSpPr>
            <p:cNvPr name="Freeform 19" id="19"/>
            <p:cNvSpPr/>
            <p:nvPr/>
          </p:nvSpPr>
          <p:spPr>
            <a:xfrm flipH="false" flipV="false" rot="0">
              <a:off x="0" y="0"/>
              <a:ext cx="7802880" cy="1219200"/>
            </a:xfrm>
            <a:custGeom>
              <a:avLst/>
              <a:gdLst/>
              <a:ahLst/>
              <a:cxnLst/>
              <a:rect r="r" b="b" t="t" l="l"/>
              <a:pathLst>
                <a:path h="1219200" w="7802880">
                  <a:moveTo>
                    <a:pt x="0" y="0"/>
                  </a:moveTo>
                  <a:lnTo>
                    <a:pt x="7802880" y="0"/>
                  </a:lnTo>
                  <a:lnTo>
                    <a:pt x="7802880" y="1219200"/>
                  </a:lnTo>
                  <a:lnTo>
                    <a:pt x="0" y="1219200"/>
                  </a:lnTo>
                  <a:close/>
                </a:path>
              </a:pathLst>
            </a:custGeom>
            <a:blipFill>
              <a:blip r:embed="rId3">
                <a:alphaModFix amt="0"/>
              </a:blip>
              <a:stretch>
                <a:fillRect l="0" t="-74704" r="0" b="-74704"/>
              </a:stretch>
            </a:blipFill>
          </p:spPr>
        </p:sp>
        <p:sp>
          <p:nvSpPr>
            <p:cNvPr name="TextBox 20" id="20"/>
            <p:cNvSpPr txBox="true"/>
            <p:nvPr/>
          </p:nvSpPr>
          <p:spPr>
            <a:xfrm>
              <a:off x="0" y="-114300"/>
              <a:ext cx="7802880" cy="1333500"/>
            </a:xfrm>
            <a:prstGeom prst="rect">
              <a:avLst/>
            </a:prstGeom>
          </p:spPr>
          <p:txBody>
            <a:bodyPr anchor="ctr" rtlCol="false" tIns="0" lIns="0" bIns="0" rIns="0"/>
            <a:lstStyle/>
            <a:p>
              <a:pPr algn="l">
                <a:lnSpc>
                  <a:spcPts val="6719"/>
                </a:lnSpc>
              </a:pPr>
              <a:r>
                <a:rPr lang="en-US" sz="5599" b="true">
                  <a:solidFill>
                    <a:srgbClr val="1A8FFF"/>
                  </a:solidFill>
                  <a:latin typeface="Calibri (MS) Bold"/>
                  <a:ea typeface="Calibri (MS) Bold"/>
                  <a:cs typeface="Calibri (MS) Bold"/>
                  <a:sym typeface="Calibri (MS) Bold"/>
                </a:rPr>
                <a:t>43.7%</a:t>
              </a:r>
            </a:p>
          </p:txBody>
        </p:sp>
      </p:grpSp>
      <p:grpSp>
        <p:nvGrpSpPr>
          <p:cNvPr name="Group 21" id="21"/>
          <p:cNvGrpSpPr/>
          <p:nvPr/>
        </p:nvGrpSpPr>
        <p:grpSpPr>
          <a:xfrm rot="0">
            <a:off x="11430005" y="3100826"/>
            <a:ext cx="5852160" cy="548640"/>
            <a:chOff x="0" y="0"/>
            <a:chExt cx="7802880" cy="731520"/>
          </a:xfrm>
        </p:grpSpPr>
        <p:sp>
          <p:nvSpPr>
            <p:cNvPr name="Freeform 22" id="22"/>
            <p:cNvSpPr/>
            <p:nvPr/>
          </p:nvSpPr>
          <p:spPr>
            <a:xfrm flipH="false" flipV="false" rot="0">
              <a:off x="0" y="0"/>
              <a:ext cx="7802880" cy="731520"/>
            </a:xfrm>
            <a:custGeom>
              <a:avLst/>
              <a:gdLst/>
              <a:ahLst/>
              <a:cxnLst/>
              <a:rect r="r" b="b" t="t" l="l"/>
              <a:pathLst>
                <a:path h="731520" w="7802880">
                  <a:moveTo>
                    <a:pt x="0" y="0"/>
                  </a:moveTo>
                  <a:lnTo>
                    <a:pt x="7802880" y="0"/>
                  </a:lnTo>
                  <a:lnTo>
                    <a:pt x="7802880" y="731520"/>
                  </a:lnTo>
                  <a:lnTo>
                    <a:pt x="0" y="731520"/>
                  </a:lnTo>
                  <a:close/>
                </a:path>
              </a:pathLst>
            </a:custGeom>
            <a:blipFill>
              <a:blip r:embed="rId3">
                <a:alphaModFix amt="0"/>
              </a:blip>
              <a:stretch>
                <a:fillRect l="0" t="-157840" r="0" b="-157840"/>
              </a:stretch>
            </a:blipFill>
          </p:spPr>
        </p:sp>
        <p:sp>
          <p:nvSpPr>
            <p:cNvPr name="TextBox 23" id="23"/>
            <p:cNvSpPr txBox="true"/>
            <p:nvPr/>
          </p:nvSpPr>
          <p:spPr>
            <a:xfrm>
              <a:off x="0" y="-47625"/>
              <a:ext cx="780288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Acheteurs Gros Volume</a:t>
              </a:r>
            </a:p>
          </p:txBody>
        </p:sp>
      </p:grpSp>
      <p:grpSp>
        <p:nvGrpSpPr>
          <p:cNvPr name="Group 24" id="24"/>
          <p:cNvGrpSpPr/>
          <p:nvPr/>
        </p:nvGrpSpPr>
        <p:grpSpPr>
          <a:xfrm rot="0">
            <a:off x="11430005" y="3649466"/>
            <a:ext cx="5852160" cy="438912"/>
            <a:chOff x="0" y="0"/>
            <a:chExt cx="7802880" cy="585216"/>
          </a:xfrm>
        </p:grpSpPr>
        <p:sp>
          <p:nvSpPr>
            <p:cNvPr name="Freeform 25" id="25"/>
            <p:cNvSpPr/>
            <p:nvPr/>
          </p:nvSpPr>
          <p:spPr>
            <a:xfrm flipH="false" flipV="false" rot="0">
              <a:off x="0" y="0"/>
              <a:ext cx="7802880" cy="585216"/>
            </a:xfrm>
            <a:custGeom>
              <a:avLst/>
              <a:gdLst/>
              <a:ahLst/>
              <a:cxnLst/>
              <a:rect r="r" b="b" t="t" l="l"/>
              <a:pathLst>
                <a:path h="585216" w="7802880">
                  <a:moveTo>
                    <a:pt x="0" y="0"/>
                  </a:moveTo>
                  <a:lnTo>
                    <a:pt x="7802880" y="0"/>
                  </a:lnTo>
                  <a:lnTo>
                    <a:pt x="7802880" y="585216"/>
                  </a:lnTo>
                  <a:lnTo>
                    <a:pt x="0" y="585216"/>
                  </a:lnTo>
                  <a:close/>
                </a:path>
              </a:pathLst>
            </a:custGeom>
            <a:blipFill>
              <a:blip r:embed="rId3">
                <a:alphaModFix amt="0"/>
              </a:blip>
              <a:stretch>
                <a:fillRect l="0" t="-209800" r="0" b="-209800"/>
              </a:stretch>
            </a:blipFill>
          </p:spPr>
        </p:sp>
        <p:sp>
          <p:nvSpPr>
            <p:cNvPr name="TextBox 26" id="26"/>
            <p:cNvSpPr txBox="true"/>
            <p:nvPr/>
          </p:nvSpPr>
          <p:spPr>
            <a:xfrm>
              <a:off x="0" y="-38100"/>
              <a:ext cx="7802880" cy="623316"/>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segment dominant</a:t>
              </a:r>
            </a:p>
          </p:txBody>
        </p:sp>
      </p:grpSp>
      <p:grpSp>
        <p:nvGrpSpPr>
          <p:cNvPr name="Group 27" id="27"/>
          <p:cNvGrpSpPr/>
          <p:nvPr/>
        </p:nvGrpSpPr>
        <p:grpSpPr>
          <a:xfrm rot="0">
            <a:off x="11149332" y="4557512"/>
            <a:ext cx="6413497" cy="2170681"/>
            <a:chOff x="0" y="0"/>
            <a:chExt cx="8551329" cy="2894241"/>
          </a:xfrm>
        </p:grpSpPr>
        <p:sp>
          <p:nvSpPr>
            <p:cNvPr name="Freeform 28" id="28"/>
            <p:cNvSpPr/>
            <p:nvPr/>
          </p:nvSpPr>
          <p:spPr>
            <a:xfrm flipH="false" flipV="false" rot="0">
              <a:off x="8509" y="8509"/>
              <a:ext cx="8534400" cy="2877312"/>
            </a:xfrm>
            <a:custGeom>
              <a:avLst/>
              <a:gdLst/>
              <a:ahLst/>
              <a:cxnLst/>
              <a:rect r="r" b="b" t="t" l="l"/>
              <a:pathLst>
                <a:path h="2877312" w="8534400">
                  <a:moveTo>
                    <a:pt x="0" y="0"/>
                  </a:moveTo>
                  <a:lnTo>
                    <a:pt x="8534400" y="0"/>
                  </a:lnTo>
                  <a:lnTo>
                    <a:pt x="8534400" y="2877312"/>
                  </a:lnTo>
                  <a:lnTo>
                    <a:pt x="0" y="2877312"/>
                  </a:lnTo>
                  <a:close/>
                </a:path>
              </a:pathLst>
            </a:custGeom>
            <a:solidFill>
              <a:srgbClr val="0D1E35"/>
            </a:solidFill>
          </p:spPr>
        </p:sp>
        <p:sp>
          <p:nvSpPr>
            <p:cNvPr name="Freeform 29" id="29"/>
            <p:cNvSpPr/>
            <p:nvPr/>
          </p:nvSpPr>
          <p:spPr>
            <a:xfrm flipH="false" flipV="false" rot="0">
              <a:off x="0" y="0"/>
              <a:ext cx="8551418" cy="2894330"/>
            </a:xfrm>
            <a:custGeom>
              <a:avLst/>
              <a:gdLst/>
              <a:ahLst/>
              <a:cxnLst/>
              <a:rect r="r" b="b" t="t" l="l"/>
              <a:pathLst>
                <a:path h="2894330" w="8551418">
                  <a:moveTo>
                    <a:pt x="8509" y="0"/>
                  </a:moveTo>
                  <a:lnTo>
                    <a:pt x="8542909" y="0"/>
                  </a:lnTo>
                  <a:cubicBezTo>
                    <a:pt x="8547608" y="0"/>
                    <a:pt x="8551418" y="3810"/>
                    <a:pt x="8551418" y="8509"/>
                  </a:cubicBezTo>
                  <a:lnTo>
                    <a:pt x="8551418" y="2885821"/>
                  </a:lnTo>
                  <a:cubicBezTo>
                    <a:pt x="8551418" y="2890520"/>
                    <a:pt x="8547608" y="2894330"/>
                    <a:pt x="8542909" y="2894330"/>
                  </a:cubicBezTo>
                  <a:lnTo>
                    <a:pt x="8509" y="2894330"/>
                  </a:lnTo>
                  <a:cubicBezTo>
                    <a:pt x="3810" y="2894330"/>
                    <a:pt x="0" y="2890520"/>
                    <a:pt x="0" y="2885821"/>
                  </a:cubicBezTo>
                  <a:lnTo>
                    <a:pt x="0" y="8509"/>
                  </a:lnTo>
                  <a:cubicBezTo>
                    <a:pt x="0" y="3810"/>
                    <a:pt x="3810" y="0"/>
                    <a:pt x="8509" y="0"/>
                  </a:cubicBezTo>
                  <a:moveTo>
                    <a:pt x="8509" y="16891"/>
                  </a:moveTo>
                  <a:lnTo>
                    <a:pt x="8509" y="8509"/>
                  </a:lnTo>
                  <a:lnTo>
                    <a:pt x="17018" y="8509"/>
                  </a:lnTo>
                  <a:lnTo>
                    <a:pt x="17018" y="2885821"/>
                  </a:lnTo>
                  <a:lnTo>
                    <a:pt x="8509" y="2885821"/>
                  </a:lnTo>
                  <a:lnTo>
                    <a:pt x="8509" y="2877312"/>
                  </a:lnTo>
                  <a:lnTo>
                    <a:pt x="8542909" y="2877312"/>
                  </a:lnTo>
                  <a:lnTo>
                    <a:pt x="8542909" y="2885821"/>
                  </a:lnTo>
                  <a:lnTo>
                    <a:pt x="8534400" y="2885821"/>
                  </a:lnTo>
                  <a:lnTo>
                    <a:pt x="8534400" y="8509"/>
                  </a:lnTo>
                  <a:lnTo>
                    <a:pt x="8542909" y="8509"/>
                  </a:lnTo>
                  <a:lnTo>
                    <a:pt x="8542909" y="17018"/>
                  </a:lnTo>
                  <a:lnTo>
                    <a:pt x="8509" y="17018"/>
                  </a:lnTo>
                  <a:close/>
                </a:path>
              </a:pathLst>
            </a:custGeom>
            <a:solidFill>
              <a:srgbClr val="1E3352"/>
            </a:solidFill>
          </p:spPr>
        </p:sp>
      </p:grpSp>
      <p:grpSp>
        <p:nvGrpSpPr>
          <p:cNvPr name="Group 30" id="30"/>
          <p:cNvGrpSpPr/>
          <p:nvPr/>
        </p:nvGrpSpPr>
        <p:grpSpPr>
          <a:xfrm rot="0">
            <a:off x="11142988" y="4551169"/>
            <a:ext cx="135131" cy="2183387"/>
            <a:chOff x="0" y="0"/>
            <a:chExt cx="180175" cy="2911183"/>
          </a:xfrm>
        </p:grpSpPr>
        <p:sp>
          <p:nvSpPr>
            <p:cNvPr name="Freeform 31" id="31"/>
            <p:cNvSpPr/>
            <p:nvPr/>
          </p:nvSpPr>
          <p:spPr>
            <a:xfrm flipH="false" flipV="false" rot="0">
              <a:off x="16891" y="16891"/>
              <a:ext cx="146304" cy="2877312"/>
            </a:xfrm>
            <a:custGeom>
              <a:avLst/>
              <a:gdLst/>
              <a:ahLst/>
              <a:cxnLst/>
              <a:rect r="r" b="b" t="t" l="l"/>
              <a:pathLst>
                <a:path h="2877312" w="146304">
                  <a:moveTo>
                    <a:pt x="0" y="0"/>
                  </a:moveTo>
                  <a:lnTo>
                    <a:pt x="146304" y="0"/>
                  </a:lnTo>
                  <a:lnTo>
                    <a:pt x="146304" y="2877312"/>
                  </a:lnTo>
                  <a:lnTo>
                    <a:pt x="0" y="2877312"/>
                  </a:lnTo>
                  <a:close/>
                </a:path>
              </a:pathLst>
            </a:custGeom>
            <a:solidFill>
              <a:srgbClr val="00E5A0"/>
            </a:solidFill>
          </p:spPr>
        </p:sp>
        <p:sp>
          <p:nvSpPr>
            <p:cNvPr name="Freeform 32" id="32"/>
            <p:cNvSpPr/>
            <p:nvPr/>
          </p:nvSpPr>
          <p:spPr>
            <a:xfrm flipH="false" flipV="false" rot="0">
              <a:off x="0" y="0"/>
              <a:ext cx="180086" cy="2911094"/>
            </a:xfrm>
            <a:custGeom>
              <a:avLst/>
              <a:gdLst/>
              <a:ahLst/>
              <a:cxnLst/>
              <a:rect r="r" b="b" t="t" l="l"/>
              <a:pathLst>
                <a:path h="2911094" w="180086">
                  <a:moveTo>
                    <a:pt x="16891" y="0"/>
                  </a:moveTo>
                  <a:lnTo>
                    <a:pt x="163195" y="0"/>
                  </a:lnTo>
                  <a:cubicBezTo>
                    <a:pt x="172593" y="0"/>
                    <a:pt x="180086" y="7620"/>
                    <a:pt x="180086" y="16891"/>
                  </a:cubicBezTo>
                  <a:lnTo>
                    <a:pt x="180086" y="2894203"/>
                  </a:lnTo>
                  <a:cubicBezTo>
                    <a:pt x="180086" y="2903601"/>
                    <a:pt x="172466" y="2911094"/>
                    <a:pt x="163195"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163195" y="2877312"/>
                  </a:lnTo>
                  <a:lnTo>
                    <a:pt x="163195" y="2894203"/>
                  </a:lnTo>
                  <a:lnTo>
                    <a:pt x="146304" y="2894203"/>
                  </a:lnTo>
                  <a:lnTo>
                    <a:pt x="146304" y="16891"/>
                  </a:lnTo>
                  <a:lnTo>
                    <a:pt x="163195" y="16891"/>
                  </a:lnTo>
                  <a:lnTo>
                    <a:pt x="163195" y="33909"/>
                  </a:lnTo>
                  <a:lnTo>
                    <a:pt x="16891" y="33909"/>
                  </a:lnTo>
                  <a:close/>
                </a:path>
              </a:pathLst>
            </a:custGeom>
            <a:solidFill>
              <a:srgbClr val="00E5A0"/>
            </a:solidFill>
          </p:spPr>
        </p:sp>
      </p:grpSp>
      <p:grpSp>
        <p:nvGrpSpPr>
          <p:cNvPr name="Group 33" id="33"/>
          <p:cNvGrpSpPr/>
          <p:nvPr/>
        </p:nvGrpSpPr>
        <p:grpSpPr>
          <a:xfrm rot="0">
            <a:off x="11430005" y="4710170"/>
            <a:ext cx="5852160" cy="914400"/>
            <a:chOff x="0" y="0"/>
            <a:chExt cx="7802880" cy="1219200"/>
          </a:xfrm>
        </p:grpSpPr>
        <p:sp>
          <p:nvSpPr>
            <p:cNvPr name="Freeform 34" id="34"/>
            <p:cNvSpPr/>
            <p:nvPr/>
          </p:nvSpPr>
          <p:spPr>
            <a:xfrm flipH="false" flipV="false" rot="0">
              <a:off x="0" y="0"/>
              <a:ext cx="7802880" cy="1219200"/>
            </a:xfrm>
            <a:custGeom>
              <a:avLst/>
              <a:gdLst/>
              <a:ahLst/>
              <a:cxnLst/>
              <a:rect r="r" b="b" t="t" l="l"/>
              <a:pathLst>
                <a:path h="1219200" w="7802880">
                  <a:moveTo>
                    <a:pt x="0" y="0"/>
                  </a:moveTo>
                  <a:lnTo>
                    <a:pt x="7802880" y="0"/>
                  </a:lnTo>
                  <a:lnTo>
                    <a:pt x="7802880" y="1219200"/>
                  </a:lnTo>
                  <a:lnTo>
                    <a:pt x="0" y="1219200"/>
                  </a:lnTo>
                  <a:close/>
                </a:path>
              </a:pathLst>
            </a:custGeom>
            <a:blipFill>
              <a:blip r:embed="rId3">
                <a:alphaModFix amt="0"/>
              </a:blip>
              <a:stretch>
                <a:fillRect l="0" t="-74704" r="0" b="-74704"/>
              </a:stretch>
            </a:blipFill>
          </p:spPr>
        </p:sp>
        <p:sp>
          <p:nvSpPr>
            <p:cNvPr name="TextBox 35" id="35"/>
            <p:cNvSpPr txBox="true"/>
            <p:nvPr/>
          </p:nvSpPr>
          <p:spPr>
            <a:xfrm>
              <a:off x="0" y="-114300"/>
              <a:ext cx="7802880" cy="1333500"/>
            </a:xfrm>
            <a:prstGeom prst="rect">
              <a:avLst/>
            </a:prstGeom>
          </p:spPr>
          <p:txBody>
            <a:bodyPr anchor="ctr" rtlCol="false" tIns="0" lIns="0" bIns="0" rIns="0"/>
            <a:lstStyle/>
            <a:p>
              <a:pPr algn="l">
                <a:lnSpc>
                  <a:spcPts val="6719"/>
                </a:lnSpc>
              </a:pPr>
              <a:r>
                <a:rPr lang="en-US" sz="5599" b="true">
                  <a:solidFill>
                    <a:srgbClr val="00E5A0"/>
                  </a:solidFill>
                  <a:latin typeface="Calibri (MS) Bold"/>
                  <a:ea typeface="Calibri (MS) Bold"/>
                  <a:cs typeface="Calibri (MS) Bold"/>
                  <a:sym typeface="Calibri (MS) Bold"/>
                </a:rPr>
                <a:t>22.5%</a:t>
              </a:r>
            </a:p>
          </p:txBody>
        </p:sp>
      </p:grpSp>
      <p:grpSp>
        <p:nvGrpSpPr>
          <p:cNvPr name="Group 36" id="36"/>
          <p:cNvGrpSpPr/>
          <p:nvPr/>
        </p:nvGrpSpPr>
        <p:grpSpPr>
          <a:xfrm rot="0">
            <a:off x="11430005" y="5624570"/>
            <a:ext cx="5852160" cy="548640"/>
            <a:chOff x="0" y="0"/>
            <a:chExt cx="7802880" cy="731520"/>
          </a:xfrm>
        </p:grpSpPr>
        <p:sp>
          <p:nvSpPr>
            <p:cNvPr name="Freeform 37" id="37"/>
            <p:cNvSpPr/>
            <p:nvPr/>
          </p:nvSpPr>
          <p:spPr>
            <a:xfrm flipH="false" flipV="false" rot="0">
              <a:off x="0" y="0"/>
              <a:ext cx="7802880" cy="731520"/>
            </a:xfrm>
            <a:custGeom>
              <a:avLst/>
              <a:gdLst/>
              <a:ahLst/>
              <a:cxnLst/>
              <a:rect r="r" b="b" t="t" l="l"/>
              <a:pathLst>
                <a:path h="731520" w="7802880">
                  <a:moveTo>
                    <a:pt x="0" y="0"/>
                  </a:moveTo>
                  <a:lnTo>
                    <a:pt x="7802880" y="0"/>
                  </a:lnTo>
                  <a:lnTo>
                    <a:pt x="7802880" y="731520"/>
                  </a:lnTo>
                  <a:lnTo>
                    <a:pt x="0" y="731520"/>
                  </a:lnTo>
                  <a:close/>
                </a:path>
              </a:pathLst>
            </a:custGeom>
            <a:blipFill>
              <a:blip r:embed="rId3">
                <a:alphaModFix amt="0"/>
              </a:blip>
              <a:stretch>
                <a:fillRect l="0" t="-157840" r="0" b="-157840"/>
              </a:stretch>
            </a:blipFill>
          </p:spPr>
        </p:sp>
        <p:sp>
          <p:nvSpPr>
            <p:cNvPr name="TextBox 38" id="38"/>
            <p:cNvSpPr txBox="true"/>
            <p:nvPr/>
          </p:nvSpPr>
          <p:spPr>
            <a:xfrm>
              <a:off x="0" y="-47625"/>
              <a:ext cx="780288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Ambassadeurs VIP</a:t>
              </a:r>
            </a:p>
          </p:txBody>
        </p:sp>
      </p:grpSp>
      <p:grpSp>
        <p:nvGrpSpPr>
          <p:cNvPr name="Group 39" id="39"/>
          <p:cNvGrpSpPr/>
          <p:nvPr/>
        </p:nvGrpSpPr>
        <p:grpSpPr>
          <a:xfrm rot="0">
            <a:off x="11430005" y="6173210"/>
            <a:ext cx="5852160" cy="438912"/>
            <a:chOff x="0" y="0"/>
            <a:chExt cx="7802880" cy="585216"/>
          </a:xfrm>
        </p:grpSpPr>
        <p:sp>
          <p:nvSpPr>
            <p:cNvPr name="Freeform 40" id="40"/>
            <p:cNvSpPr/>
            <p:nvPr/>
          </p:nvSpPr>
          <p:spPr>
            <a:xfrm flipH="false" flipV="false" rot="0">
              <a:off x="0" y="0"/>
              <a:ext cx="7802880" cy="585216"/>
            </a:xfrm>
            <a:custGeom>
              <a:avLst/>
              <a:gdLst/>
              <a:ahLst/>
              <a:cxnLst/>
              <a:rect r="r" b="b" t="t" l="l"/>
              <a:pathLst>
                <a:path h="585216" w="7802880">
                  <a:moveTo>
                    <a:pt x="0" y="0"/>
                  </a:moveTo>
                  <a:lnTo>
                    <a:pt x="7802880" y="0"/>
                  </a:lnTo>
                  <a:lnTo>
                    <a:pt x="7802880" y="585216"/>
                  </a:lnTo>
                  <a:lnTo>
                    <a:pt x="0" y="585216"/>
                  </a:lnTo>
                  <a:close/>
                </a:path>
              </a:pathLst>
            </a:custGeom>
            <a:blipFill>
              <a:blip r:embed="rId3">
                <a:alphaModFix amt="0"/>
              </a:blip>
              <a:stretch>
                <a:fillRect l="0" t="-209800" r="0" b="-209800"/>
              </a:stretch>
            </a:blipFill>
          </p:spPr>
        </p:sp>
        <p:sp>
          <p:nvSpPr>
            <p:cNvPr name="TextBox 41" id="41"/>
            <p:cNvSpPr txBox="true"/>
            <p:nvPr/>
          </p:nvSpPr>
          <p:spPr>
            <a:xfrm>
              <a:off x="0" y="-38100"/>
              <a:ext cx="7802880" cy="623316"/>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haute valeur</a:t>
              </a:r>
            </a:p>
          </p:txBody>
        </p:sp>
      </p:grpSp>
      <p:grpSp>
        <p:nvGrpSpPr>
          <p:cNvPr name="Group 42" id="42"/>
          <p:cNvGrpSpPr/>
          <p:nvPr/>
        </p:nvGrpSpPr>
        <p:grpSpPr>
          <a:xfrm rot="0">
            <a:off x="11149332" y="7081256"/>
            <a:ext cx="6413497" cy="2170681"/>
            <a:chOff x="0" y="0"/>
            <a:chExt cx="8551329" cy="2894241"/>
          </a:xfrm>
        </p:grpSpPr>
        <p:sp>
          <p:nvSpPr>
            <p:cNvPr name="Freeform 43" id="43"/>
            <p:cNvSpPr/>
            <p:nvPr/>
          </p:nvSpPr>
          <p:spPr>
            <a:xfrm flipH="false" flipV="false" rot="0">
              <a:off x="8509" y="8509"/>
              <a:ext cx="8534400" cy="2877312"/>
            </a:xfrm>
            <a:custGeom>
              <a:avLst/>
              <a:gdLst/>
              <a:ahLst/>
              <a:cxnLst/>
              <a:rect r="r" b="b" t="t" l="l"/>
              <a:pathLst>
                <a:path h="2877312" w="8534400">
                  <a:moveTo>
                    <a:pt x="0" y="0"/>
                  </a:moveTo>
                  <a:lnTo>
                    <a:pt x="8534400" y="0"/>
                  </a:lnTo>
                  <a:lnTo>
                    <a:pt x="8534400" y="2877312"/>
                  </a:lnTo>
                  <a:lnTo>
                    <a:pt x="0" y="2877312"/>
                  </a:lnTo>
                  <a:close/>
                </a:path>
              </a:pathLst>
            </a:custGeom>
            <a:solidFill>
              <a:srgbClr val="0D1E35"/>
            </a:solidFill>
          </p:spPr>
        </p:sp>
        <p:sp>
          <p:nvSpPr>
            <p:cNvPr name="Freeform 44" id="44"/>
            <p:cNvSpPr/>
            <p:nvPr/>
          </p:nvSpPr>
          <p:spPr>
            <a:xfrm flipH="false" flipV="false" rot="0">
              <a:off x="0" y="0"/>
              <a:ext cx="8551418" cy="2894330"/>
            </a:xfrm>
            <a:custGeom>
              <a:avLst/>
              <a:gdLst/>
              <a:ahLst/>
              <a:cxnLst/>
              <a:rect r="r" b="b" t="t" l="l"/>
              <a:pathLst>
                <a:path h="2894330" w="8551418">
                  <a:moveTo>
                    <a:pt x="8509" y="0"/>
                  </a:moveTo>
                  <a:lnTo>
                    <a:pt x="8542909" y="0"/>
                  </a:lnTo>
                  <a:cubicBezTo>
                    <a:pt x="8547608" y="0"/>
                    <a:pt x="8551418" y="3810"/>
                    <a:pt x="8551418" y="8509"/>
                  </a:cubicBezTo>
                  <a:lnTo>
                    <a:pt x="8551418" y="2885821"/>
                  </a:lnTo>
                  <a:cubicBezTo>
                    <a:pt x="8551418" y="2890520"/>
                    <a:pt x="8547608" y="2894330"/>
                    <a:pt x="8542909" y="2894330"/>
                  </a:cubicBezTo>
                  <a:lnTo>
                    <a:pt x="8509" y="2894330"/>
                  </a:lnTo>
                  <a:cubicBezTo>
                    <a:pt x="3810" y="2894330"/>
                    <a:pt x="0" y="2890520"/>
                    <a:pt x="0" y="2885821"/>
                  </a:cubicBezTo>
                  <a:lnTo>
                    <a:pt x="0" y="8509"/>
                  </a:lnTo>
                  <a:cubicBezTo>
                    <a:pt x="0" y="3810"/>
                    <a:pt x="3810" y="0"/>
                    <a:pt x="8509" y="0"/>
                  </a:cubicBezTo>
                  <a:moveTo>
                    <a:pt x="8509" y="16891"/>
                  </a:moveTo>
                  <a:lnTo>
                    <a:pt x="8509" y="8509"/>
                  </a:lnTo>
                  <a:lnTo>
                    <a:pt x="17018" y="8509"/>
                  </a:lnTo>
                  <a:lnTo>
                    <a:pt x="17018" y="2885821"/>
                  </a:lnTo>
                  <a:lnTo>
                    <a:pt x="8509" y="2885821"/>
                  </a:lnTo>
                  <a:lnTo>
                    <a:pt x="8509" y="2877312"/>
                  </a:lnTo>
                  <a:lnTo>
                    <a:pt x="8542909" y="2877312"/>
                  </a:lnTo>
                  <a:lnTo>
                    <a:pt x="8542909" y="2885821"/>
                  </a:lnTo>
                  <a:lnTo>
                    <a:pt x="8534400" y="2885821"/>
                  </a:lnTo>
                  <a:lnTo>
                    <a:pt x="8534400" y="8509"/>
                  </a:lnTo>
                  <a:lnTo>
                    <a:pt x="8542909" y="8509"/>
                  </a:lnTo>
                  <a:lnTo>
                    <a:pt x="8542909" y="17018"/>
                  </a:lnTo>
                  <a:lnTo>
                    <a:pt x="8509" y="17018"/>
                  </a:lnTo>
                  <a:close/>
                </a:path>
              </a:pathLst>
            </a:custGeom>
            <a:solidFill>
              <a:srgbClr val="1E3352"/>
            </a:solidFill>
          </p:spPr>
        </p:sp>
      </p:grpSp>
      <p:grpSp>
        <p:nvGrpSpPr>
          <p:cNvPr name="Group 45" id="45"/>
          <p:cNvGrpSpPr/>
          <p:nvPr/>
        </p:nvGrpSpPr>
        <p:grpSpPr>
          <a:xfrm rot="0">
            <a:off x="11142988" y="7074913"/>
            <a:ext cx="135131" cy="2183387"/>
            <a:chOff x="0" y="0"/>
            <a:chExt cx="180175" cy="2911183"/>
          </a:xfrm>
        </p:grpSpPr>
        <p:sp>
          <p:nvSpPr>
            <p:cNvPr name="Freeform 46" id="46"/>
            <p:cNvSpPr/>
            <p:nvPr/>
          </p:nvSpPr>
          <p:spPr>
            <a:xfrm flipH="false" flipV="false" rot="0">
              <a:off x="16891" y="16891"/>
              <a:ext cx="146304" cy="2877312"/>
            </a:xfrm>
            <a:custGeom>
              <a:avLst/>
              <a:gdLst/>
              <a:ahLst/>
              <a:cxnLst/>
              <a:rect r="r" b="b" t="t" l="l"/>
              <a:pathLst>
                <a:path h="2877312" w="146304">
                  <a:moveTo>
                    <a:pt x="0" y="0"/>
                  </a:moveTo>
                  <a:lnTo>
                    <a:pt x="146304" y="0"/>
                  </a:lnTo>
                  <a:lnTo>
                    <a:pt x="146304" y="2877312"/>
                  </a:lnTo>
                  <a:lnTo>
                    <a:pt x="0" y="2877312"/>
                  </a:lnTo>
                  <a:close/>
                </a:path>
              </a:pathLst>
            </a:custGeom>
            <a:solidFill>
              <a:srgbClr val="FF4D6A"/>
            </a:solidFill>
          </p:spPr>
        </p:sp>
        <p:sp>
          <p:nvSpPr>
            <p:cNvPr name="Freeform 47" id="47"/>
            <p:cNvSpPr/>
            <p:nvPr/>
          </p:nvSpPr>
          <p:spPr>
            <a:xfrm flipH="false" flipV="false" rot="0">
              <a:off x="0" y="0"/>
              <a:ext cx="180086" cy="2911094"/>
            </a:xfrm>
            <a:custGeom>
              <a:avLst/>
              <a:gdLst/>
              <a:ahLst/>
              <a:cxnLst/>
              <a:rect r="r" b="b" t="t" l="l"/>
              <a:pathLst>
                <a:path h="2911094" w="180086">
                  <a:moveTo>
                    <a:pt x="16891" y="0"/>
                  </a:moveTo>
                  <a:lnTo>
                    <a:pt x="163195" y="0"/>
                  </a:lnTo>
                  <a:cubicBezTo>
                    <a:pt x="172593" y="0"/>
                    <a:pt x="180086" y="7620"/>
                    <a:pt x="180086" y="16891"/>
                  </a:cubicBezTo>
                  <a:lnTo>
                    <a:pt x="180086" y="2894203"/>
                  </a:lnTo>
                  <a:cubicBezTo>
                    <a:pt x="180086" y="2903601"/>
                    <a:pt x="172466" y="2911094"/>
                    <a:pt x="163195" y="2911094"/>
                  </a:cubicBezTo>
                  <a:lnTo>
                    <a:pt x="16891" y="2911094"/>
                  </a:lnTo>
                  <a:cubicBezTo>
                    <a:pt x="7493" y="2911094"/>
                    <a:pt x="0" y="2903474"/>
                    <a:pt x="0" y="2894203"/>
                  </a:cubicBezTo>
                  <a:lnTo>
                    <a:pt x="0" y="16891"/>
                  </a:lnTo>
                  <a:cubicBezTo>
                    <a:pt x="0" y="7620"/>
                    <a:pt x="7620" y="0"/>
                    <a:pt x="16891" y="0"/>
                  </a:cubicBezTo>
                  <a:moveTo>
                    <a:pt x="16891" y="33909"/>
                  </a:moveTo>
                  <a:lnTo>
                    <a:pt x="16891" y="16891"/>
                  </a:lnTo>
                  <a:lnTo>
                    <a:pt x="33909" y="16891"/>
                  </a:lnTo>
                  <a:lnTo>
                    <a:pt x="33909" y="2894203"/>
                  </a:lnTo>
                  <a:lnTo>
                    <a:pt x="16891" y="2894203"/>
                  </a:lnTo>
                  <a:lnTo>
                    <a:pt x="16891" y="2877312"/>
                  </a:lnTo>
                  <a:lnTo>
                    <a:pt x="163195" y="2877312"/>
                  </a:lnTo>
                  <a:lnTo>
                    <a:pt x="163195" y="2894203"/>
                  </a:lnTo>
                  <a:lnTo>
                    <a:pt x="146304" y="2894203"/>
                  </a:lnTo>
                  <a:lnTo>
                    <a:pt x="146304" y="16891"/>
                  </a:lnTo>
                  <a:lnTo>
                    <a:pt x="163195" y="16891"/>
                  </a:lnTo>
                  <a:lnTo>
                    <a:pt x="163195" y="33909"/>
                  </a:lnTo>
                  <a:lnTo>
                    <a:pt x="16891" y="33909"/>
                  </a:lnTo>
                  <a:close/>
                </a:path>
              </a:pathLst>
            </a:custGeom>
            <a:solidFill>
              <a:srgbClr val="FF4D6A"/>
            </a:solidFill>
          </p:spPr>
        </p:sp>
      </p:grpSp>
      <p:grpSp>
        <p:nvGrpSpPr>
          <p:cNvPr name="Group 48" id="48"/>
          <p:cNvGrpSpPr/>
          <p:nvPr/>
        </p:nvGrpSpPr>
        <p:grpSpPr>
          <a:xfrm rot="0">
            <a:off x="11430005" y="7233914"/>
            <a:ext cx="5852160" cy="914400"/>
            <a:chOff x="0" y="0"/>
            <a:chExt cx="7802880" cy="1219200"/>
          </a:xfrm>
        </p:grpSpPr>
        <p:sp>
          <p:nvSpPr>
            <p:cNvPr name="Freeform 49" id="49"/>
            <p:cNvSpPr/>
            <p:nvPr/>
          </p:nvSpPr>
          <p:spPr>
            <a:xfrm flipH="false" flipV="false" rot="0">
              <a:off x="0" y="0"/>
              <a:ext cx="7802880" cy="1219200"/>
            </a:xfrm>
            <a:custGeom>
              <a:avLst/>
              <a:gdLst/>
              <a:ahLst/>
              <a:cxnLst/>
              <a:rect r="r" b="b" t="t" l="l"/>
              <a:pathLst>
                <a:path h="1219200" w="7802880">
                  <a:moveTo>
                    <a:pt x="0" y="0"/>
                  </a:moveTo>
                  <a:lnTo>
                    <a:pt x="7802880" y="0"/>
                  </a:lnTo>
                  <a:lnTo>
                    <a:pt x="7802880" y="1219200"/>
                  </a:lnTo>
                  <a:lnTo>
                    <a:pt x="0" y="1219200"/>
                  </a:lnTo>
                  <a:close/>
                </a:path>
              </a:pathLst>
            </a:custGeom>
            <a:blipFill>
              <a:blip r:embed="rId3">
                <a:alphaModFix amt="0"/>
              </a:blip>
              <a:stretch>
                <a:fillRect l="0" t="-74704" r="0" b="-74704"/>
              </a:stretch>
            </a:blipFill>
          </p:spPr>
        </p:sp>
        <p:sp>
          <p:nvSpPr>
            <p:cNvPr name="TextBox 50" id="50"/>
            <p:cNvSpPr txBox="true"/>
            <p:nvPr/>
          </p:nvSpPr>
          <p:spPr>
            <a:xfrm>
              <a:off x="0" y="-114300"/>
              <a:ext cx="7802880" cy="1333500"/>
            </a:xfrm>
            <a:prstGeom prst="rect">
              <a:avLst/>
            </a:prstGeom>
          </p:spPr>
          <p:txBody>
            <a:bodyPr anchor="ctr" rtlCol="false" tIns="0" lIns="0" bIns="0" rIns="0"/>
            <a:lstStyle/>
            <a:p>
              <a:pPr algn="l">
                <a:lnSpc>
                  <a:spcPts val="6719"/>
                </a:lnSpc>
              </a:pPr>
              <a:r>
                <a:rPr lang="en-US" sz="5599" b="true">
                  <a:solidFill>
                    <a:srgbClr val="FF4D6A"/>
                  </a:solidFill>
                  <a:latin typeface="Calibri (MS) Bold"/>
                  <a:ea typeface="Calibri (MS) Bold"/>
                  <a:cs typeface="Calibri (MS) Bold"/>
                  <a:sym typeface="Calibri (MS) Bold"/>
                </a:rPr>
                <a:t>22.7%</a:t>
              </a:r>
            </a:p>
          </p:txBody>
        </p:sp>
      </p:grpSp>
      <p:grpSp>
        <p:nvGrpSpPr>
          <p:cNvPr name="Group 51" id="51"/>
          <p:cNvGrpSpPr/>
          <p:nvPr/>
        </p:nvGrpSpPr>
        <p:grpSpPr>
          <a:xfrm rot="0">
            <a:off x="11430005" y="8148314"/>
            <a:ext cx="5852160" cy="548640"/>
            <a:chOff x="0" y="0"/>
            <a:chExt cx="7802880" cy="731520"/>
          </a:xfrm>
        </p:grpSpPr>
        <p:sp>
          <p:nvSpPr>
            <p:cNvPr name="Freeform 52" id="52"/>
            <p:cNvSpPr/>
            <p:nvPr/>
          </p:nvSpPr>
          <p:spPr>
            <a:xfrm flipH="false" flipV="false" rot="0">
              <a:off x="0" y="0"/>
              <a:ext cx="7802880" cy="731520"/>
            </a:xfrm>
            <a:custGeom>
              <a:avLst/>
              <a:gdLst/>
              <a:ahLst/>
              <a:cxnLst/>
              <a:rect r="r" b="b" t="t" l="l"/>
              <a:pathLst>
                <a:path h="731520" w="7802880">
                  <a:moveTo>
                    <a:pt x="0" y="0"/>
                  </a:moveTo>
                  <a:lnTo>
                    <a:pt x="7802880" y="0"/>
                  </a:lnTo>
                  <a:lnTo>
                    <a:pt x="7802880" y="731520"/>
                  </a:lnTo>
                  <a:lnTo>
                    <a:pt x="0" y="731520"/>
                  </a:lnTo>
                  <a:close/>
                </a:path>
              </a:pathLst>
            </a:custGeom>
            <a:blipFill>
              <a:blip r:embed="rId3">
                <a:alphaModFix amt="0"/>
              </a:blip>
              <a:stretch>
                <a:fillRect l="0" t="-157840" r="0" b="-157840"/>
              </a:stretch>
            </a:blipFill>
          </p:spPr>
        </p:sp>
        <p:sp>
          <p:nvSpPr>
            <p:cNvPr name="TextBox 53" id="53"/>
            <p:cNvSpPr txBox="true"/>
            <p:nvPr/>
          </p:nvSpPr>
          <p:spPr>
            <a:xfrm>
              <a:off x="0" y="-47625"/>
              <a:ext cx="780288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Nouveaux / À Risque</a:t>
              </a:r>
            </a:p>
          </p:txBody>
        </p:sp>
      </p:grpSp>
      <p:grpSp>
        <p:nvGrpSpPr>
          <p:cNvPr name="Group 54" id="54"/>
          <p:cNvGrpSpPr/>
          <p:nvPr/>
        </p:nvGrpSpPr>
        <p:grpSpPr>
          <a:xfrm rot="0">
            <a:off x="11426828" y="8526780"/>
            <a:ext cx="5852160" cy="438912"/>
            <a:chOff x="0" y="0"/>
            <a:chExt cx="7802880" cy="585216"/>
          </a:xfrm>
        </p:grpSpPr>
        <p:sp>
          <p:nvSpPr>
            <p:cNvPr name="Freeform 55" id="55"/>
            <p:cNvSpPr/>
            <p:nvPr/>
          </p:nvSpPr>
          <p:spPr>
            <a:xfrm flipH="false" flipV="false" rot="0">
              <a:off x="0" y="0"/>
              <a:ext cx="7802880" cy="585216"/>
            </a:xfrm>
            <a:custGeom>
              <a:avLst/>
              <a:gdLst/>
              <a:ahLst/>
              <a:cxnLst/>
              <a:rect r="r" b="b" t="t" l="l"/>
              <a:pathLst>
                <a:path h="585216" w="7802880">
                  <a:moveTo>
                    <a:pt x="0" y="0"/>
                  </a:moveTo>
                  <a:lnTo>
                    <a:pt x="7802880" y="0"/>
                  </a:lnTo>
                  <a:lnTo>
                    <a:pt x="7802880" y="585216"/>
                  </a:lnTo>
                  <a:lnTo>
                    <a:pt x="0" y="585216"/>
                  </a:lnTo>
                  <a:close/>
                </a:path>
              </a:pathLst>
            </a:custGeom>
            <a:blipFill>
              <a:blip r:embed="rId3">
                <a:alphaModFix amt="0"/>
              </a:blip>
              <a:stretch>
                <a:fillRect l="0" t="-209800" r="0" b="-209800"/>
              </a:stretch>
            </a:blipFill>
          </p:spPr>
        </p:sp>
        <p:sp>
          <p:nvSpPr>
            <p:cNvPr name="TextBox 56" id="56"/>
            <p:cNvSpPr txBox="true"/>
            <p:nvPr/>
          </p:nvSpPr>
          <p:spPr>
            <a:xfrm>
              <a:off x="0" y="-38100"/>
              <a:ext cx="7802880" cy="623316"/>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surveillance prioritaire</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734697" y="328674"/>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744860" y="338838"/>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07 — DÉPLOIEMENT</a:t>
              </a:r>
            </a:p>
          </p:txBody>
        </p:sp>
      </p:grpSp>
      <p:grpSp>
        <p:nvGrpSpPr>
          <p:cNvPr name="Group 8" id="8"/>
          <p:cNvGrpSpPr/>
          <p:nvPr/>
        </p:nvGrpSpPr>
        <p:grpSpPr>
          <a:xfrm rot="0">
            <a:off x="744860" y="895706"/>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Application Flask — Retail Intelligence</a:t>
              </a:r>
            </a:p>
          </p:txBody>
        </p:sp>
      </p:grpSp>
      <p:grpSp>
        <p:nvGrpSpPr>
          <p:cNvPr name="Group 11" id="11"/>
          <p:cNvGrpSpPr/>
          <p:nvPr/>
        </p:nvGrpSpPr>
        <p:grpSpPr>
          <a:xfrm rot="0">
            <a:off x="734697" y="2071729"/>
            <a:ext cx="16459200" cy="640080"/>
            <a:chOff x="0" y="0"/>
            <a:chExt cx="21945600" cy="853440"/>
          </a:xfrm>
        </p:grpSpPr>
        <p:sp>
          <p:nvSpPr>
            <p:cNvPr name="Freeform 12" id="12"/>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13" id="13"/>
            <p:cNvSpPr txBox="true"/>
            <p:nvPr/>
          </p:nvSpPr>
          <p:spPr>
            <a:xfrm>
              <a:off x="0" y="-38100"/>
              <a:ext cx="21945600" cy="891540"/>
            </a:xfrm>
            <a:prstGeom prst="rect">
              <a:avLst/>
            </a:prstGeom>
          </p:spPr>
          <p:txBody>
            <a:bodyPr anchor="ctr" rtlCol="false" tIns="0" lIns="0" bIns="0" rIns="0"/>
            <a:lstStyle/>
            <a:p>
              <a:pPr algn="l">
                <a:lnSpc>
                  <a:spcPts val="2879"/>
                </a:lnSpc>
              </a:pPr>
              <a:r>
                <a:rPr lang="en-US" sz="2400">
                  <a:solidFill>
                    <a:srgbClr val="6B8BAA"/>
                  </a:solidFill>
                  <a:latin typeface="Calibri (MS)"/>
                  <a:ea typeface="Calibri (MS)"/>
                  <a:cs typeface="Calibri (MS)"/>
                  <a:sym typeface="Calibri (MS)"/>
                </a:rPr>
                <a:t>Interface de démonstration interactive</a:t>
              </a:r>
            </a:p>
          </p:txBody>
        </p:sp>
      </p:grpSp>
      <p:grpSp>
        <p:nvGrpSpPr>
          <p:cNvPr name="Group 14" id="14"/>
          <p:cNvGrpSpPr/>
          <p:nvPr/>
        </p:nvGrpSpPr>
        <p:grpSpPr>
          <a:xfrm rot="0">
            <a:off x="728343" y="2614016"/>
            <a:ext cx="3121657" cy="2060953"/>
            <a:chOff x="0" y="0"/>
            <a:chExt cx="4162209" cy="2747937"/>
          </a:xfrm>
        </p:grpSpPr>
        <p:sp>
          <p:nvSpPr>
            <p:cNvPr name="Freeform 15" id="15"/>
            <p:cNvSpPr/>
            <p:nvPr/>
          </p:nvSpPr>
          <p:spPr>
            <a:xfrm flipH="false" flipV="false" rot="0">
              <a:off x="8509" y="8509"/>
              <a:ext cx="4145280" cy="2731008"/>
            </a:xfrm>
            <a:custGeom>
              <a:avLst/>
              <a:gdLst/>
              <a:ahLst/>
              <a:cxnLst/>
              <a:rect r="r" b="b" t="t" l="l"/>
              <a:pathLst>
                <a:path h="2731008" w="4145280">
                  <a:moveTo>
                    <a:pt x="0" y="0"/>
                  </a:moveTo>
                  <a:lnTo>
                    <a:pt x="4145280" y="0"/>
                  </a:lnTo>
                  <a:lnTo>
                    <a:pt x="4145280" y="2731008"/>
                  </a:lnTo>
                  <a:lnTo>
                    <a:pt x="0" y="2731008"/>
                  </a:lnTo>
                  <a:close/>
                </a:path>
              </a:pathLst>
            </a:custGeom>
            <a:solidFill>
              <a:srgbClr val="122540"/>
            </a:solidFill>
          </p:spPr>
        </p:sp>
        <p:sp>
          <p:nvSpPr>
            <p:cNvPr name="Freeform 16" id="16"/>
            <p:cNvSpPr/>
            <p:nvPr/>
          </p:nvSpPr>
          <p:spPr>
            <a:xfrm flipH="false" flipV="false" rot="0">
              <a:off x="0" y="0"/>
              <a:ext cx="4162298" cy="2748026"/>
            </a:xfrm>
            <a:custGeom>
              <a:avLst/>
              <a:gdLst/>
              <a:ahLst/>
              <a:cxnLst/>
              <a:rect r="r" b="b" t="t" l="l"/>
              <a:pathLst>
                <a:path h="2748026" w="4162298">
                  <a:moveTo>
                    <a:pt x="8509" y="0"/>
                  </a:moveTo>
                  <a:lnTo>
                    <a:pt x="4153789" y="0"/>
                  </a:lnTo>
                  <a:cubicBezTo>
                    <a:pt x="4158488" y="0"/>
                    <a:pt x="4162298" y="3810"/>
                    <a:pt x="4162298" y="8509"/>
                  </a:cubicBezTo>
                  <a:lnTo>
                    <a:pt x="4162298" y="2739517"/>
                  </a:lnTo>
                  <a:cubicBezTo>
                    <a:pt x="4162298" y="2744216"/>
                    <a:pt x="4158488" y="2748026"/>
                    <a:pt x="4153789" y="2748026"/>
                  </a:cubicBezTo>
                  <a:lnTo>
                    <a:pt x="8509" y="2748026"/>
                  </a:lnTo>
                  <a:cubicBezTo>
                    <a:pt x="3810" y="2748026"/>
                    <a:pt x="0" y="2744216"/>
                    <a:pt x="0" y="2739517"/>
                  </a:cubicBezTo>
                  <a:lnTo>
                    <a:pt x="0" y="8509"/>
                  </a:lnTo>
                  <a:cubicBezTo>
                    <a:pt x="0" y="3810"/>
                    <a:pt x="3810" y="0"/>
                    <a:pt x="8509" y="0"/>
                  </a:cubicBezTo>
                  <a:moveTo>
                    <a:pt x="8509" y="16891"/>
                  </a:moveTo>
                  <a:lnTo>
                    <a:pt x="8509" y="8509"/>
                  </a:lnTo>
                  <a:lnTo>
                    <a:pt x="17018" y="8509"/>
                  </a:lnTo>
                  <a:lnTo>
                    <a:pt x="17018" y="2739517"/>
                  </a:lnTo>
                  <a:lnTo>
                    <a:pt x="8509" y="2739517"/>
                  </a:lnTo>
                  <a:lnTo>
                    <a:pt x="8509" y="2731008"/>
                  </a:lnTo>
                  <a:lnTo>
                    <a:pt x="4153789" y="2731008"/>
                  </a:lnTo>
                  <a:lnTo>
                    <a:pt x="4153789" y="2739517"/>
                  </a:lnTo>
                  <a:lnTo>
                    <a:pt x="4145280" y="2739517"/>
                  </a:lnTo>
                  <a:lnTo>
                    <a:pt x="4145280" y="8509"/>
                  </a:lnTo>
                  <a:lnTo>
                    <a:pt x="4153789" y="8509"/>
                  </a:lnTo>
                  <a:lnTo>
                    <a:pt x="4153789" y="17018"/>
                  </a:lnTo>
                  <a:lnTo>
                    <a:pt x="8509" y="17018"/>
                  </a:lnTo>
                  <a:close/>
                </a:path>
              </a:pathLst>
            </a:custGeom>
            <a:solidFill>
              <a:srgbClr val="1E3352"/>
            </a:solidFill>
          </p:spPr>
        </p:sp>
      </p:grpSp>
      <p:grpSp>
        <p:nvGrpSpPr>
          <p:cNvPr name="Group 17" id="17"/>
          <p:cNvGrpSpPr/>
          <p:nvPr/>
        </p:nvGrpSpPr>
        <p:grpSpPr>
          <a:xfrm rot="0">
            <a:off x="722000" y="4546200"/>
            <a:ext cx="3134363" cy="135131"/>
            <a:chOff x="0" y="0"/>
            <a:chExt cx="4179151" cy="180175"/>
          </a:xfrm>
        </p:grpSpPr>
        <p:sp>
          <p:nvSpPr>
            <p:cNvPr name="Freeform 18" id="18"/>
            <p:cNvSpPr/>
            <p:nvPr/>
          </p:nvSpPr>
          <p:spPr>
            <a:xfrm flipH="false" flipV="false" rot="0">
              <a:off x="16891" y="16891"/>
              <a:ext cx="4145280" cy="146304"/>
            </a:xfrm>
            <a:custGeom>
              <a:avLst/>
              <a:gdLst/>
              <a:ahLst/>
              <a:cxnLst/>
              <a:rect r="r" b="b" t="t" l="l"/>
              <a:pathLst>
                <a:path h="146304" w="4145280">
                  <a:moveTo>
                    <a:pt x="0" y="0"/>
                  </a:moveTo>
                  <a:lnTo>
                    <a:pt x="4145280" y="0"/>
                  </a:lnTo>
                  <a:lnTo>
                    <a:pt x="4145280" y="146304"/>
                  </a:lnTo>
                  <a:lnTo>
                    <a:pt x="0" y="146304"/>
                  </a:lnTo>
                  <a:close/>
                </a:path>
              </a:pathLst>
            </a:custGeom>
            <a:solidFill>
              <a:srgbClr val="1A8FFF"/>
            </a:solidFill>
          </p:spPr>
        </p:sp>
        <p:sp>
          <p:nvSpPr>
            <p:cNvPr name="Freeform 19" id="19"/>
            <p:cNvSpPr/>
            <p:nvPr/>
          </p:nvSpPr>
          <p:spPr>
            <a:xfrm flipH="false" flipV="false" rot="0">
              <a:off x="0" y="0"/>
              <a:ext cx="4179062" cy="180088"/>
            </a:xfrm>
            <a:custGeom>
              <a:avLst/>
              <a:gdLst/>
              <a:ahLst/>
              <a:cxnLst/>
              <a:rect r="r" b="b" t="t" l="l"/>
              <a:pathLst>
                <a:path h="180088" w="4179062">
                  <a:moveTo>
                    <a:pt x="16891" y="0"/>
                  </a:moveTo>
                  <a:lnTo>
                    <a:pt x="4162171" y="0"/>
                  </a:lnTo>
                  <a:cubicBezTo>
                    <a:pt x="4171569" y="0"/>
                    <a:pt x="4179062" y="7620"/>
                    <a:pt x="4179062" y="16891"/>
                  </a:cubicBezTo>
                  <a:lnTo>
                    <a:pt x="4179062" y="163195"/>
                  </a:lnTo>
                  <a:cubicBezTo>
                    <a:pt x="4179062" y="172593"/>
                    <a:pt x="4171442" y="180086"/>
                    <a:pt x="416217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162171" y="146304"/>
                  </a:lnTo>
                  <a:lnTo>
                    <a:pt x="4162171" y="163195"/>
                  </a:lnTo>
                  <a:lnTo>
                    <a:pt x="4145280" y="163195"/>
                  </a:lnTo>
                  <a:lnTo>
                    <a:pt x="4145280" y="16891"/>
                  </a:lnTo>
                  <a:lnTo>
                    <a:pt x="4162171" y="16891"/>
                  </a:lnTo>
                  <a:lnTo>
                    <a:pt x="4162171" y="33909"/>
                  </a:lnTo>
                  <a:lnTo>
                    <a:pt x="16891" y="33909"/>
                  </a:lnTo>
                  <a:close/>
                </a:path>
              </a:pathLst>
            </a:custGeom>
            <a:solidFill>
              <a:srgbClr val="1A8FFF"/>
            </a:solidFill>
          </p:spPr>
        </p:sp>
      </p:grpSp>
      <p:grpSp>
        <p:nvGrpSpPr>
          <p:cNvPr name="Group 20" id="20"/>
          <p:cNvGrpSpPr/>
          <p:nvPr/>
        </p:nvGrpSpPr>
        <p:grpSpPr>
          <a:xfrm rot="0">
            <a:off x="734697" y="2730097"/>
            <a:ext cx="3108960" cy="694944"/>
            <a:chOff x="0" y="0"/>
            <a:chExt cx="4145280" cy="926592"/>
          </a:xfrm>
        </p:grpSpPr>
        <p:sp>
          <p:nvSpPr>
            <p:cNvPr name="Freeform 21" id="21"/>
            <p:cNvSpPr/>
            <p:nvPr/>
          </p:nvSpPr>
          <p:spPr>
            <a:xfrm flipH="false" flipV="false" rot="0">
              <a:off x="0" y="0"/>
              <a:ext cx="4145280" cy="926592"/>
            </a:xfrm>
            <a:custGeom>
              <a:avLst/>
              <a:gdLst/>
              <a:ahLst/>
              <a:cxnLst/>
              <a:rect r="r" b="b" t="t" l="l"/>
              <a:pathLst>
                <a:path h="926592" w="4145280">
                  <a:moveTo>
                    <a:pt x="0" y="0"/>
                  </a:moveTo>
                  <a:lnTo>
                    <a:pt x="4145280" y="0"/>
                  </a:lnTo>
                  <a:lnTo>
                    <a:pt x="4145280" y="926592"/>
                  </a:lnTo>
                  <a:lnTo>
                    <a:pt x="0" y="926592"/>
                  </a:lnTo>
                  <a:close/>
                </a:path>
              </a:pathLst>
            </a:custGeom>
            <a:blipFill>
              <a:blip r:embed="rId3">
                <a:alphaModFix amt="0"/>
              </a:blip>
              <a:stretch>
                <a:fillRect l="0" t="-37169" r="0" b="-37169"/>
              </a:stretch>
            </a:blipFill>
          </p:spPr>
        </p:sp>
        <p:sp>
          <p:nvSpPr>
            <p:cNvPr name="TextBox 22" id="22"/>
            <p:cNvSpPr txBox="true"/>
            <p:nvPr/>
          </p:nvSpPr>
          <p:spPr>
            <a:xfrm>
              <a:off x="0" y="-66675"/>
              <a:ext cx="4145280" cy="993267"/>
            </a:xfrm>
            <a:prstGeom prst="rect">
              <a:avLst/>
            </a:prstGeom>
          </p:spPr>
          <p:txBody>
            <a:bodyPr anchor="ctr" rtlCol="false" tIns="0" lIns="0" bIns="0" rIns="0"/>
            <a:lstStyle/>
            <a:p>
              <a:pPr algn="ctr">
                <a:lnSpc>
                  <a:spcPts val="4320"/>
                </a:lnSpc>
              </a:pPr>
              <a:r>
                <a:rPr lang="en-US" sz="3600" b="true">
                  <a:solidFill>
                    <a:srgbClr val="1A8FFF"/>
                  </a:solidFill>
                  <a:latin typeface="Calibri (MS) Bold"/>
                  <a:ea typeface="Calibri (MS) Bold"/>
                  <a:cs typeface="Calibri (MS) Bold"/>
                  <a:sym typeface="Calibri (MS) Bold"/>
                </a:rPr>
                <a:t>1</a:t>
              </a:r>
            </a:p>
          </p:txBody>
        </p:sp>
      </p:grpSp>
      <p:grpSp>
        <p:nvGrpSpPr>
          <p:cNvPr name="Group 23" id="23"/>
          <p:cNvGrpSpPr/>
          <p:nvPr/>
        </p:nvGrpSpPr>
        <p:grpSpPr>
          <a:xfrm rot="0">
            <a:off x="734697" y="3406753"/>
            <a:ext cx="3108960" cy="548640"/>
            <a:chOff x="0" y="0"/>
            <a:chExt cx="4145280" cy="731520"/>
          </a:xfrm>
        </p:grpSpPr>
        <p:sp>
          <p:nvSpPr>
            <p:cNvPr name="Freeform 24" id="24"/>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25" id="25"/>
            <p:cNvSpPr txBox="true"/>
            <p:nvPr/>
          </p:nvSpPr>
          <p:spPr>
            <a:xfrm>
              <a:off x="0" y="-38100"/>
              <a:ext cx="414528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Upload CSV</a:t>
              </a:r>
            </a:p>
          </p:txBody>
        </p:sp>
      </p:grpSp>
      <p:grpSp>
        <p:nvGrpSpPr>
          <p:cNvPr name="Group 26" id="26"/>
          <p:cNvGrpSpPr/>
          <p:nvPr/>
        </p:nvGrpSpPr>
        <p:grpSpPr>
          <a:xfrm rot="0">
            <a:off x="734697" y="3955393"/>
            <a:ext cx="3108960" cy="512064"/>
            <a:chOff x="0" y="0"/>
            <a:chExt cx="4145280" cy="682752"/>
          </a:xfrm>
        </p:grpSpPr>
        <p:sp>
          <p:nvSpPr>
            <p:cNvPr name="Freeform 27" id="27"/>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28" id="28"/>
            <p:cNvSpPr txBox="true"/>
            <p:nvPr/>
          </p:nvSpPr>
          <p:spPr>
            <a:xfrm>
              <a:off x="0" y="-28575"/>
              <a:ext cx="4145280" cy="711327"/>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Drag &amp; drop ou parcourir</a:t>
              </a:r>
            </a:p>
          </p:txBody>
        </p:sp>
      </p:grpSp>
      <p:grpSp>
        <p:nvGrpSpPr>
          <p:cNvPr name="Group 29" id="29"/>
          <p:cNvGrpSpPr/>
          <p:nvPr/>
        </p:nvGrpSpPr>
        <p:grpSpPr>
          <a:xfrm rot="0">
            <a:off x="4056759" y="2614016"/>
            <a:ext cx="3121657" cy="2060953"/>
            <a:chOff x="0" y="0"/>
            <a:chExt cx="4162209" cy="2747937"/>
          </a:xfrm>
        </p:grpSpPr>
        <p:sp>
          <p:nvSpPr>
            <p:cNvPr name="Freeform 30" id="30"/>
            <p:cNvSpPr/>
            <p:nvPr/>
          </p:nvSpPr>
          <p:spPr>
            <a:xfrm flipH="false" flipV="false" rot="0">
              <a:off x="8509" y="8509"/>
              <a:ext cx="4145280" cy="2731008"/>
            </a:xfrm>
            <a:custGeom>
              <a:avLst/>
              <a:gdLst/>
              <a:ahLst/>
              <a:cxnLst/>
              <a:rect r="r" b="b" t="t" l="l"/>
              <a:pathLst>
                <a:path h="2731008" w="4145280">
                  <a:moveTo>
                    <a:pt x="0" y="0"/>
                  </a:moveTo>
                  <a:lnTo>
                    <a:pt x="4145280" y="0"/>
                  </a:lnTo>
                  <a:lnTo>
                    <a:pt x="4145280" y="2731008"/>
                  </a:lnTo>
                  <a:lnTo>
                    <a:pt x="0" y="2731008"/>
                  </a:lnTo>
                  <a:close/>
                </a:path>
              </a:pathLst>
            </a:custGeom>
            <a:solidFill>
              <a:srgbClr val="122540"/>
            </a:solidFill>
          </p:spPr>
        </p:sp>
        <p:sp>
          <p:nvSpPr>
            <p:cNvPr name="Freeform 31" id="31"/>
            <p:cNvSpPr/>
            <p:nvPr/>
          </p:nvSpPr>
          <p:spPr>
            <a:xfrm flipH="false" flipV="false" rot="0">
              <a:off x="0" y="0"/>
              <a:ext cx="4162298" cy="2748026"/>
            </a:xfrm>
            <a:custGeom>
              <a:avLst/>
              <a:gdLst/>
              <a:ahLst/>
              <a:cxnLst/>
              <a:rect r="r" b="b" t="t" l="l"/>
              <a:pathLst>
                <a:path h="2748026" w="4162298">
                  <a:moveTo>
                    <a:pt x="8509" y="0"/>
                  </a:moveTo>
                  <a:lnTo>
                    <a:pt x="4153789" y="0"/>
                  </a:lnTo>
                  <a:cubicBezTo>
                    <a:pt x="4158488" y="0"/>
                    <a:pt x="4162298" y="3810"/>
                    <a:pt x="4162298" y="8509"/>
                  </a:cubicBezTo>
                  <a:lnTo>
                    <a:pt x="4162298" y="2739517"/>
                  </a:lnTo>
                  <a:cubicBezTo>
                    <a:pt x="4162298" y="2744216"/>
                    <a:pt x="4158488" y="2748026"/>
                    <a:pt x="4153789" y="2748026"/>
                  </a:cubicBezTo>
                  <a:lnTo>
                    <a:pt x="8509" y="2748026"/>
                  </a:lnTo>
                  <a:cubicBezTo>
                    <a:pt x="3810" y="2748026"/>
                    <a:pt x="0" y="2744216"/>
                    <a:pt x="0" y="2739517"/>
                  </a:cubicBezTo>
                  <a:lnTo>
                    <a:pt x="0" y="8509"/>
                  </a:lnTo>
                  <a:cubicBezTo>
                    <a:pt x="0" y="3810"/>
                    <a:pt x="3810" y="0"/>
                    <a:pt x="8509" y="0"/>
                  </a:cubicBezTo>
                  <a:moveTo>
                    <a:pt x="8509" y="16891"/>
                  </a:moveTo>
                  <a:lnTo>
                    <a:pt x="8509" y="8509"/>
                  </a:lnTo>
                  <a:lnTo>
                    <a:pt x="17018" y="8509"/>
                  </a:lnTo>
                  <a:lnTo>
                    <a:pt x="17018" y="2739517"/>
                  </a:lnTo>
                  <a:lnTo>
                    <a:pt x="8509" y="2739517"/>
                  </a:lnTo>
                  <a:lnTo>
                    <a:pt x="8509" y="2731008"/>
                  </a:lnTo>
                  <a:lnTo>
                    <a:pt x="4153789" y="2731008"/>
                  </a:lnTo>
                  <a:lnTo>
                    <a:pt x="4153789" y="2739517"/>
                  </a:lnTo>
                  <a:lnTo>
                    <a:pt x="4145280" y="2739517"/>
                  </a:lnTo>
                  <a:lnTo>
                    <a:pt x="4145280" y="8509"/>
                  </a:lnTo>
                  <a:lnTo>
                    <a:pt x="4153789" y="8509"/>
                  </a:lnTo>
                  <a:lnTo>
                    <a:pt x="4153789" y="17018"/>
                  </a:lnTo>
                  <a:lnTo>
                    <a:pt x="8509" y="17018"/>
                  </a:lnTo>
                  <a:close/>
                </a:path>
              </a:pathLst>
            </a:custGeom>
            <a:solidFill>
              <a:srgbClr val="1E3352"/>
            </a:solidFill>
          </p:spPr>
        </p:sp>
      </p:grpSp>
      <p:grpSp>
        <p:nvGrpSpPr>
          <p:cNvPr name="Group 32" id="32"/>
          <p:cNvGrpSpPr/>
          <p:nvPr/>
        </p:nvGrpSpPr>
        <p:grpSpPr>
          <a:xfrm rot="0">
            <a:off x="4050416" y="4546200"/>
            <a:ext cx="3134363" cy="135131"/>
            <a:chOff x="0" y="0"/>
            <a:chExt cx="4179151" cy="180175"/>
          </a:xfrm>
        </p:grpSpPr>
        <p:sp>
          <p:nvSpPr>
            <p:cNvPr name="Freeform 33" id="33"/>
            <p:cNvSpPr/>
            <p:nvPr/>
          </p:nvSpPr>
          <p:spPr>
            <a:xfrm flipH="false" flipV="false" rot="0">
              <a:off x="16891" y="16891"/>
              <a:ext cx="4145280" cy="146304"/>
            </a:xfrm>
            <a:custGeom>
              <a:avLst/>
              <a:gdLst/>
              <a:ahLst/>
              <a:cxnLst/>
              <a:rect r="r" b="b" t="t" l="l"/>
              <a:pathLst>
                <a:path h="146304" w="4145280">
                  <a:moveTo>
                    <a:pt x="0" y="0"/>
                  </a:moveTo>
                  <a:lnTo>
                    <a:pt x="4145280" y="0"/>
                  </a:lnTo>
                  <a:lnTo>
                    <a:pt x="4145280" y="146304"/>
                  </a:lnTo>
                  <a:lnTo>
                    <a:pt x="0" y="146304"/>
                  </a:lnTo>
                  <a:close/>
                </a:path>
              </a:pathLst>
            </a:custGeom>
            <a:solidFill>
              <a:srgbClr val="FFB800"/>
            </a:solidFill>
          </p:spPr>
        </p:sp>
        <p:sp>
          <p:nvSpPr>
            <p:cNvPr name="Freeform 34" id="34"/>
            <p:cNvSpPr/>
            <p:nvPr/>
          </p:nvSpPr>
          <p:spPr>
            <a:xfrm flipH="false" flipV="false" rot="0">
              <a:off x="0" y="0"/>
              <a:ext cx="4179062" cy="180088"/>
            </a:xfrm>
            <a:custGeom>
              <a:avLst/>
              <a:gdLst/>
              <a:ahLst/>
              <a:cxnLst/>
              <a:rect r="r" b="b" t="t" l="l"/>
              <a:pathLst>
                <a:path h="180088" w="4179062">
                  <a:moveTo>
                    <a:pt x="16891" y="0"/>
                  </a:moveTo>
                  <a:lnTo>
                    <a:pt x="4162171" y="0"/>
                  </a:lnTo>
                  <a:cubicBezTo>
                    <a:pt x="4171569" y="0"/>
                    <a:pt x="4179062" y="7620"/>
                    <a:pt x="4179062" y="16891"/>
                  </a:cubicBezTo>
                  <a:lnTo>
                    <a:pt x="4179062" y="163195"/>
                  </a:lnTo>
                  <a:cubicBezTo>
                    <a:pt x="4179062" y="172593"/>
                    <a:pt x="4171442" y="180086"/>
                    <a:pt x="416217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162171" y="146304"/>
                  </a:lnTo>
                  <a:lnTo>
                    <a:pt x="4162171" y="163195"/>
                  </a:lnTo>
                  <a:lnTo>
                    <a:pt x="4145280" y="163195"/>
                  </a:lnTo>
                  <a:lnTo>
                    <a:pt x="4145280" y="16891"/>
                  </a:lnTo>
                  <a:lnTo>
                    <a:pt x="4162171" y="16891"/>
                  </a:lnTo>
                  <a:lnTo>
                    <a:pt x="4162171" y="33909"/>
                  </a:lnTo>
                  <a:lnTo>
                    <a:pt x="16891" y="33909"/>
                  </a:lnTo>
                  <a:close/>
                </a:path>
              </a:pathLst>
            </a:custGeom>
            <a:solidFill>
              <a:srgbClr val="FFB800"/>
            </a:solidFill>
          </p:spPr>
        </p:sp>
      </p:grpSp>
      <p:grpSp>
        <p:nvGrpSpPr>
          <p:cNvPr name="Group 35" id="35"/>
          <p:cNvGrpSpPr/>
          <p:nvPr/>
        </p:nvGrpSpPr>
        <p:grpSpPr>
          <a:xfrm rot="0">
            <a:off x="4063113" y="2730097"/>
            <a:ext cx="3108960" cy="694944"/>
            <a:chOff x="0" y="0"/>
            <a:chExt cx="4145280" cy="926592"/>
          </a:xfrm>
        </p:grpSpPr>
        <p:sp>
          <p:nvSpPr>
            <p:cNvPr name="Freeform 36" id="36"/>
            <p:cNvSpPr/>
            <p:nvPr/>
          </p:nvSpPr>
          <p:spPr>
            <a:xfrm flipH="false" flipV="false" rot="0">
              <a:off x="0" y="0"/>
              <a:ext cx="4145280" cy="926592"/>
            </a:xfrm>
            <a:custGeom>
              <a:avLst/>
              <a:gdLst/>
              <a:ahLst/>
              <a:cxnLst/>
              <a:rect r="r" b="b" t="t" l="l"/>
              <a:pathLst>
                <a:path h="926592" w="4145280">
                  <a:moveTo>
                    <a:pt x="0" y="0"/>
                  </a:moveTo>
                  <a:lnTo>
                    <a:pt x="4145280" y="0"/>
                  </a:lnTo>
                  <a:lnTo>
                    <a:pt x="4145280" y="926592"/>
                  </a:lnTo>
                  <a:lnTo>
                    <a:pt x="0" y="926592"/>
                  </a:lnTo>
                  <a:close/>
                </a:path>
              </a:pathLst>
            </a:custGeom>
            <a:blipFill>
              <a:blip r:embed="rId3">
                <a:alphaModFix amt="0"/>
              </a:blip>
              <a:stretch>
                <a:fillRect l="0" t="-37169" r="0" b="-37169"/>
              </a:stretch>
            </a:blipFill>
          </p:spPr>
        </p:sp>
        <p:sp>
          <p:nvSpPr>
            <p:cNvPr name="TextBox 37" id="37"/>
            <p:cNvSpPr txBox="true"/>
            <p:nvPr/>
          </p:nvSpPr>
          <p:spPr>
            <a:xfrm>
              <a:off x="0" y="-66675"/>
              <a:ext cx="4145280" cy="993267"/>
            </a:xfrm>
            <a:prstGeom prst="rect">
              <a:avLst/>
            </a:prstGeom>
          </p:spPr>
          <p:txBody>
            <a:bodyPr anchor="ctr" rtlCol="false" tIns="0" lIns="0" bIns="0" rIns="0"/>
            <a:lstStyle/>
            <a:p>
              <a:pPr algn="ctr">
                <a:lnSpc>
                  <a:spcPts val="4320"/>
                </a:lnSpc>
              </a:pPr>
              <a:r>
                <a:rPr lang="en-US" sz="3600" b="true">
                  <a:solidFill>
                    <a:srgbClr val="FFB800"/>
                  </a:solidFill>
                  <a:latin typeface="Calibri (MS) Bold"/>
                  <a:ea typeface="Calibri (MS) Bold"/>
                  <a:cs typeface="Calibri (MS) Bold"/>
                  <a:sym typeface="Calibri (MS) Bold"/>
                </a:rPr>
                <a:t>2</a:t>
              </a:r>
            </a:p>
          </p:txBody>
        </p:sp>
      </p:grpSp>
      <p:grpSp>
        <p:nvGrpSpPr>
          <p:cNvPr name="Group 38" id="38"/>
          <p:cNvGrpSpPr/>
          <p:nvPr/>
        </p:nvGrpSpPr>
        <p:grpSpPr>
          <a:xfrm rot="0">
            <a:off x="4063113" y="3406753"/>
            <a:ext cx="3108960" cy="548640"/>
            <a:chOff x="0" y="0"/>
            <a:chExt cx="4145280" cy="731520"/>
          </a:xfrm>
        </p:grpSpPr>
        <p:sp>
          <p:nvSpPr>
            <p:cNvPr name="Freeform 39" id="39"/>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40" id="40"/>
            <p:cNvSpPr txBox="true"/>
            <p:nvPr/>
          </p:nvSpPr>
          <p:spPr>
            <a:xfrm>
              <a:off x="0" y="-38100"/>
              <a:ext cx="414528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Preprocessing</a:t>
              </a:r>
            </a:p>
          </p:txBody>
        </p:sp>
      </p:grpSp>
      <p:grpSp>
        <p:nvGrpSpPr>
          <p:cNvPr name="Group 41" id="41"/>
          <p:cNvGrpSpPr/>
          <p:nvPr/>
        </p:nvGrpSpPr>
        <p:grpSpPr>
          <a:xfrm rot="0">
            <a:off x="4063113" y="3955393"/>
            <a:ext cx="3108960" cy="512064"/>
            <a:chOff x="0" y="0"/>
            <a:chExt cx="4145280" cy="682752"/>
          </a:xfrm>
        </p:grpSpPr>
        <p:sp>
          <p:nvSpPr>
            <p:cNvPr name="Freeform 42" id="42"/>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43" id="43"/>
            <p:cNvSpPr txBox="true"/>
            <p:nvPr/>
          </p:nvSpPr>
          <p:spPr>
            <a:xfrm>
              <a:off x="0" y="-28575"/>
              <a:ext cx="4145280" cy="711327"/>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Encodage · Scaling · PCA</a:t>
              </a:r>
            </a:p>
          </p:txBody>
        </p:sp>
      </p:grpSp>
      <p:grpSp>
        <p:nvGrpSpPr>
          <p:cNvPr name="Group 44" id="44"/>
          <p:cNvGrpSpPr/>
          <p:nvPr/>
        </p:nvGrpSpPr>
        <p:grpSpPr>
          <a:xfrm rot="0">
            <a:off x="7385175" y="2614016"/>
            <a:ext cx="3121657" cy="2060953"/>
            <a:chOff x="0" y="0"/>
            <a:chExt cx="4162209" cy="2747937"/>
          </a:xfrm>
        </p:grpSpPr>
        <p:sp>
          <p:nvSpPr>
            <p:cNvPr name="Freeform 45" id="45"/>
            <p:cNvSpPr/>
            <p:nvPr/>
          </p:nvSpPr>
          <p:spPr>
            <a:xfrm flipH="false" flipV="false" rot="0">
              <a:off x="8509" y="8509"/>
              <a:ext cx="4145280" cy="2731008"/>
            </a:xfrm>
            <a:custGeom>
              <a:avLst/>
              <a:gdLst/>
              <a:ahLst/>
              <a:cxnLst/>
              <a:rect r="r" b="b" t="t" l="l"/>
              <a:pathLst>
                <a:path h="2731008" w="4145280">
                  <a:moveTo>
                    <a:pt x="0" y="0"/>
                  </a:moveTo>
                  <a:lnTo>
                    <a:pt x="4145280" y="0"/>
                  </a:lnTo>
                  <a:lnTo>
                    <a:pt x="4145280" y="2731008"/>
                  </a:lnTo>
                  <a:lnTo>
                    <a:pt x="0" y="2731008"/>
                  </a:lnTo>
                  <a:close/>
                </a:path>
              </a:pathLst>
            </a:custGeom>
            <a:solidFill>
              <a:srgbClr val="122540"/>
            </a:solidFill>
          </p:spPr>
        </p:sp>
        <p:sp>
          <p:nvSpPr>
            <p:cNvPr name="Freeform 46" id="46"/>
            <p:cNvSpPr/>
            <p:nvPr/>
          </p:nvSpPr>
          <p:spPr>
            <a:xfrm flipH="false" flipV="false" rot="0">
              <a:off x="0" y="0"/>
              <a:ext cx="4162298" cy="2748026"/>
            </a:xfrm>
            <a:custGeom>
              <a:avLst/>
              <a:gdLst/>
              <a:ahLst/>
              <a:cxnLst/>
              <a:rect r="r" b="b" t="t" l="l"/>
              <a:pathLst>
                <a:path h="2748026" w="4162298">
                  <a:moveTo>
                    <a:pt x="8509" y="0"/>
                  </a:moveTo>
                  <a:lnTo>
                    <a:pt x="4153789" y="0"/>
                  </a:lnTo>
                  <a:cubicBezTo>
                    <a:pt x="4158488" y="0"/>
                    <a:pt x="4162298" y="3810"/>
                    <a:pt x="4162298" y="8509"/>
                  </a:cubicBezTo>
                  <a:lnTo>
                    <a:pt x="4162298" y="2739517"/>
                  </a:lnTo>
                  <a:cubicBezTo>
                    <a:pt x="4162298" y="2744216"/>
                    <a:pt x="4158488" y="2748026"/>
                    <a:pt x="4153789" y="2748026"/>
                  </a:cubicBezTo>
                  <a:lnTo>
                    <a:pt x="8509" y="2748026"/>
                  </a:lnTo>
                  <a:cubicBezTo>
                    <a:pt x="3810" y="2748026"/>
                    <a:pt x="0" y="2744216"/>
                    <a:pt x="0" y="2739517"/>
                  </a:cubicBezTo>
                  <a:lnTo>
                    <a:pt x="0" y="8509"/>
                  </a:lnTo>
                  <a:cubicBezTo>
                    <a:pt x="0" y="3810"/>
                    <a:pt x="3810" y="0"/>
                    <a:pt x="8509" y="0"/>
                  </a:cubicBezTo>
                  <a:moveTo>
                    <a:pt x="8509" y="16891"/>
                  </a:moveTo>
                  <a:lnTo>
                    <a:pt x="8509" y="8509"/>
                  </a:lnTo>
                  <a:lnTo>
                    <a:pt x="17018" y="8509"/>
                  </a:lnTo>
                  <a:lnTo>
                    <a:pt x="17018" y="2739517"/>
                  </a:lnTo>
                  <a:lnTo>
                    <a:pt x="8509" y="2739517"/>
                  </a:lnTo>
                  <a:lnTo>
                    <a:pt x="8509" y="2731008"/>
                  </a:lnTo>
                  <a:lnTo>
                    <a:pt x="4153789" y="2731008"/>
                  </a:lnTo>
                  <a:lnTo>
                    <a:pt x="4153789" y="2739517"/>
                  </a:lnTo>
                  <a:lnTo>
                    <a:pt x="4145280" y="2739517"/>
                  </a:lnTo>
                  <a:lnTo>
                    <a:pt x="4145280" y="8509"/>
                  </a:lnTo>
                  <a:lnTo>
                    <a:pt x="4153789" y="8509"/>
                  </a:lnTo>
                  <a:lnTo>
                    <a:pt x="4153789" y="17018"/>
                  </a:lnTo>
                  <a:lnTo>
                    <a:pt x="8509" y="17018"/>
                  </a:lnTo>
                  <a:close/>
                </a:path>
              </a:pathLst>
            </a:custGeom>
            <a:solidFill>
              <a:srgbClr val="1E3352"/>
            </a:solidFill>
          </p:spPr>
        </p:sp>
      </p:grpSp>
      <p:grpSp>
        <p:nvGrpSpPr>
          <p:cNvPr name="Group 47" id="47"/>
          <p:cNvGrpSpPr/>
          <p:nvPr/>
        </p:nvGrpSpPr>
        <p:grpSpPr>
          <a:xfrm rot="0">
            <a:off x="7378832" y="4546200"/>
            <a:ext cx="3134363" cy="135131"/>
            <a:chOff x="0" y="0"/>
            <a:chExt cx="4179151" cy="180175"/>
          </a:xfrm>
        </p:grpSpPr>
        <p:sp>
          <p:nvSpPr>
            <p:cNvPr name="Freeform 48" id="48"/>
            <p:cNvSpPr/>
            <p:nvPr/>
          </p:nvSpPr>
          <p:spPr>
            <a:xfrm flipH="false" flipV="false" rot="0">
              <a:off x="16891" y="16891"/>
              <a:ext cx="4145280" cy="146304"/>
            </a:xfrm>
            <a:custGeom>
              <a:avLst/>
              <a:gdLst/>
              <a:ahLst/>
              <a:cxnLst/>
              <a:rect r="r" b="b" t="t" l="l"/>
              <a:pathLst>
                <a:path h="146304" w="4145280">
                  <a:moveTo>
                    <a:pt x="0" y="0"/>
                  </a:moveTo>
                  <a:lnTo>
                    <a:pt x="4145280" y="0"/>
                  </a:lnTo>
                  <a:lnTo>
                    <a:pt x="4145280" y="146304"/>
                  </a:lnTo>
                  <a:lnTo>
                    <a:pt x="0" y="146304"/>
                  </a:lnTo>
                  <a:close/>
                </a:path>
              </a:pathLst>
            </a:custGeom>
            <a:solidFill>
              <a:srgbClr val="00E5A0"/>
            </a:solidFill>
          </p:spPr>
        </p:sp>
        <p:sp>
          <p:nvSpPr>
            <p:cNvPr name="Freeform 49" id="49"/>
            <p:cNvSpPr/>
            <p:nvPr/>
          </p:nvSpPr>
          <p:spPr>
            <a:xfrm flipH="false" flipV="false" rot="0">
              <a:off x="0" y="0"/>
              <a:ext cx="4179062" cy="180088"/>
            </a:xfrm>
            <a:custGeom>
              <a:avLst/>
              <a:gdLst/>
              <a:ahLst/>
              <a:cxnLst/>
              <a:rect r="r" b="b" t="t" l="l"/>
              <a:pathLst>
                <a:path h="180088" w="4179062">
                  <a:moveTo>
                    <a:pt x="16891" y="0"/>
                  </a:moveTo>
                  <a:lnTo>
                    <a:pt x="4162171" y="0"/>
                  </a:lnTo>
                  <a:cubicBezTo>
                    <a:pt x="4171569" y="0"/>
                    <a:pt x="4179062" y="7620"/>
                    <a:pt x="4179062" y="16891"/>
                  </a:cubicBezTo>
                  <a:lnTo>
                    <a:pt x="4179062" y="163195"/>
                  </a:lnTo>
                  <a:cubicBezTo>
                    <a:pt x="4179062" y="172593"/>
                    <a:pt x="4171442" y="180086"/>
                    <a:pt x="416217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162171" y="146304"/>
                  </a:lnTo>
                  <a:lnTo>
                    <a:pt x="4162171" y="163195"/>
                  </a:lnTo>
                  <a:lnTo>
                    <a:pt x="4145280" y="163195"/>
                  </a:lnTo>
                  <a:lnTo>
                    <a:pt x="4145280" y="16891"/>
                  </a:lnTo>
                  <a:lnTo>
                    <a:pt x="4162171" y="16891"/>
                  </a:lnTo>
                  <a:lnTo>
                    <a:pt x="4162171" y="33909"/>
                  </a:lnTo>
                  <a:lnTo>
                    <a:pt x="16891" y="33909"/>
                  </a:lnTo>
                  <a:close/>
                </a:path>
              </a:pathLst>
            </a:custGeom>
            <a:solidFill>
              <a:srgbClr val="00E5A0"/>
            </a:solidFill>
          </p:spPr>
        </p:sp>
      </p:grpSp>
      <p:grpSp>
        <p:nvGrpSpPr>
          <p:cNvPr name="Group 50" id="50"/>
          <p:cNvGrpSpPr/>
          <p:nvPr/>
        </p:nvGrpSpPr>
        <p:grpSpPr>
          <a:xfrm rot="0">
            <a:off x="7391529" y="2730097"/>
            <a:ext cx="3108960" cy="694944"/>
            <a:chOff x="0" y="0"/>
            <a:chExt cx="4145280" cy="926592"/>
          </a:xfrm>
        </p:grpSpPr>
        <p:sp>
          <p:nvSpPr>
            <p:cNvPr name="Freeform 51" id="51"/>
            <p:cNvSpPr/>
            <p:nvPr/>
          </p:nvSpPr>
          <p:spPr>
            <a:xfrm flipH="false" flipV="false" rot="0">
              <a:off x="0" y="0"/>
              <a:ext cx="4145280" cy="926592"/>
            </a:xfrm>
            <a:custGeom>
              <a:avLst/>
              <a:gdLst/>
              <a:ahLst/>
              <a:cxnLst/>
              <a:rect r="r" b="b" t="t" l="l"/>
              <a:pathLst>
                <a:path h="926592" w="4145280">
                  <a:moveTo>
                    <a:pt x="0" y="0"/>
                  </a:moveTo>
                  <a:lnTo>
                    <a:pt x="4145280" y="0"/>
                  </a:lnTo>
                  <a:lnTo>
                    <a:pt x="4145280" y="926592"/>
                  </a:lnTo>
                  <a:lnTo>
                    <a:pt x="0" y="926592"/>
                  </a:lnTo>
                  <a:close/>
                </a:path>
              </a:pathLst>
            </a:custGeom>
            <a:blipFill>
              <a:blip r:embed="rId3">
                <a:alphaModFix amt="0"/>
              </a:blip>
              <a:stretch>
                <a:fillRect l="0" t="-37169" r="0" b="-37169"/>
              </a:stretch>
            </a:blipFill>
          </p:spPr>
        </p:sp>
        <p:sp>
          <p:nvSpPr>
            <p:cNvPr name="TextBox 52" id="52"/>
            <p:cNvSpPr txBox="true"/>
            <p:nvPr/>
          </p:nvSpPr>
          <p:spPr>
            <a:xfrm>
              <a:off x="0" y="-66675"/>
              <a:ext cx="4145280" cy="993267"/>
            </a:xfrm>
            <a:prstGeom prst="rect">
              <a:avLst/>
            </a:prstGeom>
          </p:spPr>
          <p:txBody>
            <a:bodyPr anchor="ctr" rtlCol="false" tIns="0" lIns="0" bIns="0" rIns="0"/>
            <a:lstStyle/>
            <a:p>
              <a:pPr algn="ctr">
                <a:lnSpc>
                  <a:spcPts val="4320"/>
                </a:lnSpc>
              </a:pPr>
              <a:r>
                <a:rPr lang="en-US" sz="3600" b="true">
                  <a:solidFill>
                    <a:srgbClr val="00E5A0"/>
                  </a:solidFill>
                  <a:latin typeface="Calibri (MS) Bold"/>
                  <a:ea typeface="Calibri (MS) Bold"/>
                  <a:cs typeface="Calibri (MS) Bold"/>
                  <a:sym typeface="Calibri (MS) Bold"/>
                </a:rPr>
                <a:t>3</a:t>
              </a:r>
            </a:p>
          </p:txBody>
        </p:sp>
      </p:grpSp>
      <p:grpSp>
        <p:nvGrpSpPr>
          <p:cNvPr name="Group 53" id="53"/>
          <p:cNvGrpSpPr/>
          <p:nvPr/>
        </p:nvGrpSpPr>
        <p:grpSpPr>
          <a:xfrm rot="0">
            <a:off x="7391529" y="3406753"/>
            <a:ext cx="3108960" cy="548640"/>
            <a:chOff x="0" y="0"/>
            <a:chExt cx="4145280" cy="731520"/>
          </a:xfrm>
        </p:grpSpPr>
        <p:sp>
          <p:nvSpPr>
            <p:cNvPr name="Freeform 54" id="54"/>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55" id="55"/>
            <p:cNvSpPr txBox="true"/>
            <p:nvPr/>
          </p:nvSpPr>
          <p:spPr>
            <a:xfrm>
              <a:off x="0" y="-38100"/>
              <a:ext cx="414528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Prédiction</a:t>
              </a:r>
            </a:p>
          </p:txBody>
        </p:sp>
      </p:grpSp>
      <p:grpSp>
        <p:nvGrpSpPr>
          <p:cNvPr name="Group 56" id="56"/>
          <p:cNvGrpSpPr/>
          <p:nvPr/>
        </p:nvGrpSpPr>
        <p:grpSpPr>
          <a:xfrm rot="0">
            <a:off x="7391529" y="3955393"/>
            <a:ext cx="3108960" cy="512064"/>
            <a:chOff x="0" y="0"/>
            <a:chExt cx="4145280" cy="682752"/>
          </a:xfrm>
        </p:grpSpPr>
        <p:sp>
          <p:nvSpPr>
            <p:cNvPr name="Freeform 57" id="57"/>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58" id="58"/>
            <p:cNvSpPr txBox="true"/>
            <p:nvPr/>
          </p:nvSpPr>
          <p:spPr>
            <a:xfrm>
              <a:off x="0" y="-28575"/>
              <a:ext cx="4145280" cy="711327"/>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Churn · Clustering · Régression</a:t>
              </a:r>
            </a:p>
          </p:txBody>
        </p:sp>
      </p:grpSp>
      <p:grpSp>
        <p:nvGrpSpPr>
          <p:cNvPr name="Group 59" id="59"/>
          <p:cNvGrpSpPr/>
          <p:nvPr/>
        </p:nvGrpSpPr>
        <p:grpSpPr>
          <a:xfrm rot="0">
            <a:off x="10713591" y="2614016"/>
            <a:ext cx="3121657" cy="2060953"/>
            <a:chOff x="0" y="0"/>
            <a:chExt cx="4162209" cy="2747937"/>
          </a:xfrm>
        </p:grpSpPr>
        <p:sp>
          <p:nvSpPr>
            <p:cNvPr name="Freeform 60" id="60"/>
            <p:cNvSpPr/>
            <p:nvPr/>
          </p:nvSpPr>
          <p:spPr>
            <a:xfrm flipH="false" flipV="false" rot="0">
              <a:off x="8509" y="8509"/>
              <a:ext cx="4145280" cy="2731008"/>
            </a:xfrm>
            <a:custGeom>
              <a:avLst/>
              <a:gdLst/>
              <a:ahLst/>
              <a:cxnLst/>
              <a:rect r="r" b="b" t="t" l="l"/>
              <a:pathLst>
                <a:path h="2731008" w="4145280">
                  <a:moveTo>
                    <a:pt x="0" y="0"/>
                  </a:moveTo>
                  <a:lnTo>
                    <a:pt x="4145280" y="0"/>
                  </a:lnTo>
                  <a:lnTo>
                    <a:pt x="4145280" y="2731008"/>
                  </a:lnTo>
                  <a:lnTo>
                    <a:pt x="0" y="2731008"/>
                  </a:lnTo>
                  <a:close/>
                </a:path>
              </a:pathLst>
            </a:custGeom>
            <a:solidFill>
              <a:srgbClr val="122540"/>
            </a:solidFill>
          </p:spPr>
        </p:sp>
        <p:sp>
          <p:nvSpPr>
            <p:cNvPr name="Freeform 61" id="61"/>
            <p:cNvSpPr/>
            <p:nvPr/>
          </p:nvSpPr>
          <p:spPr>
            <a:xfrm flipH="false" flipV="false" rot="0">
              <a:off x="0" y="0"/>
              <a:ext cx="4162298" cy="2748026"/>
            </a:xfrm>
            <a:custGeom>
              <a:avLst/>
              <a:gdLst/>
              <a:ahLst/>
              <a:cxnLst/>
              <a:rect r="r" b="b" t="t" l="l"/>
              <a:pathLst>
                <a:path h="2748026" w="4162298">
                  <a:moveTo>
                    <a:pt x="8509" y="0"/>
                  </a:moveTo>
                  <a:lnTo>
                    <a:pt x="4153789" y="0"/>
                  </a:lnTo>
                  <a:cubicBezTo>
                    <a:pt x="4158488" y="0"/>
                    <a:pt x="4162298" y="3810"/>
                    <a:pt x="4162298" y="8509"/>
                  </a:cubicBezTo>
                  <a:lnTo>
                    <a:pt x="4162298" y="2739517"/>
                  </a:lnTo>
                  <a:cubicBezTo>
                    <a:pt x="4162298" y="2744216"/>
                    <a:pt x="4158488" y="2748026"/>
                    <a:pt x="4153789" y="2748026"/>
                  </a:cubicBezTo>
                  <a:lnTo>
                    <a:pt x="8509" y="2748026"/>
                  </a:lnTo>
                  <a:cubicBezTo>
                    <a:pt x="3810" y="2748026"/>
                    <a:pt x="0" y="2744216"/>
                    <a:pt x="0" y="2739517"/>
                  </a:cubicBezTo>
                  <a:lnTo>
                    <a:pt x="0" y="8509"/>
                  </a:lnTo>
                  <a:cubicBezTo>
                    <a:pt x="0" y="3810"/>
                    <a:pt x="3810" y="0"/>
                    <a:pt x="8509" y="0"/>
                  </a:cubicBezTo>
                  <a:moveTo>
                    <a:pt x="8509" y="16891"/>
                  </a:moveTo>
                  <a:lnTo>
                    <a:pt x="8509" y="8509"/>
                  </a:lnTo>
                  <a:lnTo>
                    <a:pt x="17018" y="8509"/>
                  </a:lnTo>
                  <a:lnTo>
                    <a:pt x="17018" y="2739517"/>
                  </a:lnTo>
                  <a:lnTo>
                    <a:pt x="8509" y="2739517"/>
                  </a:lnTo>
                  <a:lnTo>
                    <a:pt x="8509" y="2731008"/>
                  </a:lnTo>
                  <a:lnTo>
                    <a:pt x="4153789" y="2731008"/>
                  </a:lnTo>
                  <a:lnTo>
                    <a:pt x="4153789" y="2739517"/>
                  </a:lnTo>
                  <a:lnTo>
                    <a:pt x="4145280" y="2739517"/>
                  </a:lnTo>
                  <a:lnTo>
                    <a:pt x="4145280" y="8509"/>
                  </a:lnTo>
                  <a:lnTo>
                    <a:pt x="4153789" y="8509"/>
                  </a:lnTo>
                  <a:lnTo>
                    <a:pt x="4153789" y="17018"/>
                  </a:lnTo>
                  <a:lnTo>
                    <a:pt x="8509" y="17018"/>
                  </a:lnTo>
                  <a:close/>
                </a:path>
              </a:pathLst>
            </a:custGeom>
            <a:solidFill>
              <a:srgbClr val="1E3352"/>
            </a:solidFill>
          </p:spPr>
        </p:sp>
      </p:grpSp>
      <p:grpSp>
        <p:nvGrpSpPr>
          <p:cNvPr name="Group 62" id="62"/>
          <p:cNvGrpSpPr/>
          <p:nvPr/>
        </p:nvGrpSpPr>
        <p:grpSpPr>
          <a:xfrm rot="0">
            <a:off x="10707248" y="4546200"/>
            <a:ext cx="3134363" cy="135131"/>
            <a:chOff x="0" y="0"/>
            <a:chExt cx="4179151" cy="180175"/>
          </a:xfrm>
        </p:grpSpPr>
        <p:sp>
          <p:nvSpPr>
            <p:cNvPr name="Freeform 63" id="63"/>
            <p:cNvSpPr/>
            <p:nvPr/>
          </p:nvSpPr>
          <p:spPr>
            <a:xfrm flipH="false" flipV="false" rot="0">
              <a:off x="16891" y="16891"/>
              <a:ext cx="4145280" cy="146304"/>
            </a:xfrm>
            <a:custGeom>
              <a:avLst/>
              <a:gdLst/>
              <a:ahLst/>
              <a:cxnLst/>
              <a:rect r="r" b="b" t="t" l="l"/>
              <a:pathLst>
                <a:path h="146304" w="4145280">
                  <a:moveTo>
                    <a:pt x="0" y="0"/>
                  </a:moveTo>
                  <a:lnTo>
                    <a:pt x="4145280" y="0"/>
                  </a:lnTo>
                  <a:lnTo>
                    <a:pt x="4145280" y="146304"/>
                  </a:lnTo>
                  <a:lnTo>
                    <a:pt x="0" y="146304"/>
                  </a:lnTo>
                  <a:close/>
                </a:path>
              </a:pathLst>
            </a:custGeom>
            <a:solidFill>
              <a:srgbClr val="FF4D6A"/>
            </a:solidFill>
          </p:spPr>
        </p:sp>
        <p:sp>
          <p:nvSpPr>
            <p:cNvPr name="Freeform 64" id="64"/>
            <p:cNvSpPr/>
            <p:nvPr/>
          </p:nvSpPr>
          <p:spPr>
            <a:xfrm flipH="false" flipV="false" rot="0">
              <a:off x="0" y="0"/>
              <a:ext cx="4179062" cy="180088"/>
            </a:xfrm>
            <a:custGeom>
              <a:avLst/>
              <a:gdLst/>
              <a:ahLst/>
              <a:cxnLst/>
              <a:rect r="r" b="b" t="t" l="l"/>
              <a:pathLst>
                <a:path h="180088" w="4179062">
                  <a:moveTo>
                    <a:pt x="16891" y="0"/>
                  </a:moveTo>
                  <a:lnTo>
                    <a:pt x="4162171" y="0"/>
                  </a:lnTo>
                  <a:cubicBezTo>
                    <a:pt x="4171569" y="0"/>
                    <a:pt x="4179062" y="7620"/>
                    <a:pt x="4179062" y="16891"/>
                  </a:cubicBezTo>
                  <a:lnTo>
                    <a:pt x="4179062" y="163195"/>
                  </a:lnTo>
                  <a:cubicBezTo>
                    <a:pt x="4179062" y="172593"/>
                    <a:pt x="4171442" y="180086"/>
                    <a:pt x="416217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162171" y="146304"/>
                  </a:lnTo>
                  <a:lnTo>
                    <a:pt x="4162171" y="163195"/>
                  </a:lnTo>
                  <a:lnTo>
                    <a:pt x="4145280" y="163195"/>
                  </a:lnTo>
                  <a:lnTo>
                    <a:pt x="4145280" y="16891"/>
                  </a:lnTo>
                  <a:lnTo>
                    <a:pt x="4162171" y="16891"/>
                  </a:lnTo>
                  <a:lnTo>
                    <a:pt x="4162171" y="33909"/>
                  </a:lnTo>
                  <a:lnTo>
                    <a:pt x="16891" y="33909"/>
                  </a:lnTo>
                  <a:close/>
                </a:path>
              </a:pathLst>
            </a:custGeom>
            <a:solidFill>
              <a:srgbClr val="FF4D6A"/>
            </a:solidFill>
          </p:spPr>
        </p:sp>
      </p:grpSp>
      <p:grpSp>
        <p:nvGrpSpPr>
          <p:cNvPr name="Group 65" id="65"/>
          <p:cNvGrpSpPr/>
          <p:nvPr/>
        </p:nvGrpSpPr>
        <p:grpSpPr>
          <a:xfrm rot="0">
            <a:off x="10719945" y="2730097"/>
            <a:ext cx="3108960" cy="694944"/>
            <a:chOff x="0" y="0"/>
            <a:chExt cx="4145280" cy="926592"/>
          </a:xfrm>
        </p:grpSpPr>
        <p:sp>
          <p:nvSpPr>
            <p:cNvPr name="Freeform 66" id="66"/>
            <p:cNvSpPr/>
            <p:nvPr/>
          </p:nvSpPr>
          <p:spPr>
            <a:xfrm flipH="false" flipV="false" rot="0">
              <a:off x="0" y="0"/>
              <a:ext cx="4145280" cy="926592"/>
            </a:xfrm>
            <a:custGeom>
              <a:avLst/>
              <a:gdLst/>
              <a:ahLst/>
              <a:cxnLst/>
              <a:rect r="r" b="b" t="t" l="l"/>
              <a:pathLst>
                <a:path h="926592" w="4145280">
                  <a:moveTo>
                    <a:pt x="0" y="0"/>
                  </a:moveTo>
                  <a:lnTo>
                    <a:pt x="4145280" y="0"/>
                  </a:lnTo>
                  <a:lnTo>
                    <a:pt x="4145280" y="926592"/>
                  </a:lnTo>
                  <a:lnTo>
                    <a:pt x="0" y="926592"/>
                  </a:lnTo>
                  <a:close/>
                </a:path>
              </a:pathLst>
            </a:custGeom>
            <a:blipFill>
              <a:blip r:embed="rId3">
                <a:alphaModFix amt="0"/>
              </a:blip>
              <a:stretch>
                <a:fillRect l="0" t="-37169" r="0" b="-37169"/>
              </a:stretch>
            </a:blipFill>
          </p:spPr>
        </p:sp>
        <p:sp>
          <p:nvSpPr>
            <p:cNvPr name="TextBox 67" id="67"/>
            <p:cNvSpPr txBox="true"/>
            <p:nvPr/>
          </p:nvSpPr>
          <p:spPr>
            <a:xfrm>
              <a:off x="0" y="-66675"/>
              <a:ext cx="4145280" cy="993267"/>
            </a:xfrm>
            <a:prstGeom prst="rect">
              <a:avLst/>
            </a:prstGeom>
          </p:spPr>
          <p:txBody>
            <a:bodyPr anchor="ctr" rtlCol="false" tIns="0" lIns="0" bIns="0" rIns="0"/>
            <a:lstStyle/>
            <a:p>
              <a:pPr algn="ctr">
                <a:lnSpc>
                  <a:spcPts val="4320"/>
                </a:lnSpc>
              </a:pPr>
              <a:r>
                <a:rPr lang="en-US" sz="3600" b="true">
                  <a:solidFill>
                    <a:srgbClr val="FF4D6A"/>
                  </a:solidFill>
                  <a:latin typeface="Calibri (MS) Bold"/>
                  <a:ea typeface="Calibri (MS) Bold"/>
                  <a:cs typeface="Calibri (MS) Bold"/>
                  <a:sym typeface="Calibri (MS) Bold"/>
                </a:rPr>
                <a:t>4</a:t>
              </a:r>
            </a:p>
          </p:txBody>
        </p:sp>
      </p:grpSp>
      <p:grpSp>
        <p:nvGrpSpPr>
          <p:cNvPr name="Group 68" id="68"/>
          <p:cNvGrpSpPr/>
          <p:nvPr/>
        </p:nvGrpSpPr>
        <p:grpSpPr>
          <a:xfrm rot="0">
            <a:off x="10719945" y="3406753"/>
            <a:ext cx="3108960" cy="548640"/>
            <a:chOff x="0" y="0"/>
            <a:chExt cx="4145280" cy="731520"/>
          </a:xfrm>
        </p:grpSpPr>
        <p:sp>
          <p:nvSpPr>
            <p:cNvPr name="Freeform 69" id="69"/>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70" id="70"/>
            <p:cNvSpPr txBox="true"/>
            <p:nvPr/>
          </p:nvSpPr>
          <p:spPr>
            <a:xfrm>
              <a:off x="0" y="-38100"/>
              <a:ext cx="414528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Dashboard</a:t>
              </a:r>
            </a:p>
          </p:txBody>
        </p:sp>
      </p:grpSp>
      <p:grpSp>
        <p:nvGrpSpPr>
          <p:cNvPr name="Group 71" id="71"/>
          <p:cNvGrpSpPr/>
          <p:nvPr/>
        </p:nvGrpSpPr>
        <p:grpSpPr>
          <a:xfrm rot="0">
            <a:off x="10719945" y="3955393"/>
            <a:ext cx="3108960" cy="512064"/>
            <a:chOff x="0" y="0"/>
            <a:chExt cx="4145280" cy="682752"/>
          </a:xfrm>
        </p:grpSpPr>
        <p:sp>
          <p:nvSpPr>
            <p:cNvPr name="Freeform 72" id="72"/>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73" id="73"/>
            <p:cNvSpPr txBox="true"/>
            <p:nvPr/>
          </p:nvSpPr>
          <p:spPr>
            <a:xfrm>
              <a:off x="0" y="-28575"/>
              <a:ext cx="4145280" cy="711327"/>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Visualisations interactives</a:t>
              </a:r>
            </a:p>
          </p:txBody>
        </p:sp>
      </p:grpSp>
      <p:grpSp>
        <p:nvGrpSpPr>
          <p:cNvPr name="Group 74" id="74"/>
          <p:cNvGrpSpPr/>
          <p:nvPr/>
        </p:nvGrpSpPr>
        <p:grpSpPr>
          <a:xfrm rot="0">
            <a:off x="14042007" y="2614016"/>
            <a:ext cx="3121657" cy="2060953"/>
            <a:chOff x="0" y="0"/>
            <a:chExt cx="4162209" cy="2747937"/>
          </a:xfrm>
        </p:grpSpPr>
        <p:sp>
          <p:nvSpPr>
            <p:cNvPr name="Freeform 75" id="75"/>
            <p:cNvSpPr/>
            <p:nvPr/>
          </p:nvSpPr>
          <p:spPr>
            <a:xfrm flipH="false" flipV="false" rot="0">
              <a:off x="8509" y="8509"/>
              <a:ext cx="4145280" cy="2731008"/>
            </a:xfrm>
            <a:custGeom>
              <a:avLst/>
              <a:gdLst/>
              <a:ahLst/>
              <a:cxnLst/>
              <a:rect r="r" b="b" t="t" l="l"/>
              <a:pathLst>
                <a:path h="2731008" w="4145280">
                  <a:moveTo>
                    <a:pt x="0" y="0"/>
                  </a:moveTo>
                  <a:lnTo>
                    <a:pt x="4145280" y="0"/>
                  </a:lnTo>
                  <a:lnTo>
                    <a:pt x="4145280" y="2731008"/>
                  </a:lnTo>
                  <a:lnTo>
                    <a:pt x="0" y="2731008"/>
                  </a:lnTo>
                  <a:close/>
                </a:path>
              </a:pathLst>
            </a:custGeom>
            <a:solidFill>
              <a:srgbClr val="122540"/>
            </a:solidFill>
          </p:spPr>
        </p:sp>
        <p:sp>
          <p:nvSpPr>
            <p:cNvPr name="Freeform 76" id="76"/>
            <p:cNvSpPr/>
            <p:nvPr/>
          </p:nvSpPr>
          <p:spPr>
            <a:xfrm flipH="false" flipV="false" rot="0">
              <a:off x="0" y="0"/>
              <a:ext cx="4162298" cy="2748026"/>
            </a:xfrm>
            <a:custGeom>
              <a:avLst/>
              <a:gdLst/>
              <a:ahLst/>
              <a:cxnLst/>
              <a:rect r="r" b="b" t="t" l="l"/>
              <a:pathLst>
                <a:path h="2748026" w="4162298">
                  <a:moveTo>
                    <a:pt x="8509" y="0"/>
                  </a:moveTo>
                  <a:lnTo>
                    <a:pt x="4153789" y="0"/>
                  </a:lnTo>
                  <a:cubicBezTo>
                    <a:pt x="4158488" y="0"/>
                    <a:pt x="4162298" y="3810"/>
                    <a:pt x="4162298" y="8509"/>
                  </a:cubicBezTo>
                  <a:lnTo>
                    <a:pt x="4162298" y="2739517"/>
                  </a:lnTo>
                  <a:cubicBezTo>
                    <a:pt x="4162298" y="2744216"/>
                    <a:pt x="4158488" y="2748026"/>
                    <a:pt x="4153789" y="2748026"/>
                  </a:cubicBezTo>
                  <a:lnTo>
                    <a:pt x="8509" y="2748026"/>
                  </a:lnTo>
                  <a:cubicBezTo>
                    <a:pt x="3810" y="2748026"/>
                    <a:pt x="0" y="2744216"/>
                    <a:pt x="0" y="2739517"/>
                  </a:cubicBezTo>
                  <a:lnTo>
                    <a:pt x="0" y="8509"/>
                  </a:lnTo>
                  <a:cubicBezTo>
                    <a:pt x="0" y="3810"/>
                    <a:pt x="3810" y="0"/>
                    <a:pt x="8509" y="0"/>
                  </a:cubicBezTo>
                  <a:moveTo>
                    <a:pt x="8509" y="16891"/>
                  </a:moveTo>
                  <a:lnTo>
                    <a:pt x="8509" y="8509"/>
                  </a:lnTo>
                  <a:lnTo>
                    <a:pt x="17018" y="8509"/>
                  </a:lnTo>
                  <a:lnTo>
                    <a:pt x="17018" y="2739517"/>
                  </a:lnTo>
                  <a:lnTo>
                    <a:pt x="8509" y="2739517"/>
                  </a:lnTo>
                  <a:lnTo>
                    <a:pt x="8509" y="2731008"/>
                  </a:lnTo>
                  <a:lnTo>
                    <a:pt x="4153789" y="2731008"/>
                  </a:lnTo>
                  <a:lnTo>
                    <a:pt x="4153789" y="2739517"/>
                  </a:lnTo>
                  <a:lnTo>
                    <a:pt x="4145280" y="2739517"/>
                  </a:lnTo>
                  <a:lnTo>
                    <a:pt x="4145280" y="8509"/>
                  </a:lnTo>
                  <a:lnTo>
                    <a:pt x="4153789" y="8509"/>
                  </a:lnTo>
                  <a:lnTo>
                    <a:pt x="4153789" y="17018"/>
                  </a:lnTo>
                  <a:lnTo>
                    <a:pt x="8509" y="17018"/>
                  </a:lnTo>
                  <a:close/>
                </a:path>
              </a:pathLst>
            </a:custGeom>
            <a:solidFill>
              <a:srgbClr val="1E3352"/>
            </a:solidFill>
          </p:spPr>
        </p:sp>
      </p:grpSp>
      <p:grpSp>
        <p:nvGrpSpPr>
          <p:cNvPr name="Group 77" id="77"/>
          <p:cNvGrpSpPr/>
          <p:nvPr/>
        </p:nvGrpSpPr>
        <p:grpSpPr>
          <a:xfrm rot="0">
            <a:off x="14035664" y="4546200"/>
            <a:ext cx="3134363" cy="135131"/>
            <a:chOff x="0" y="0"/>
            <a:chExt cx="4179151" cy="180175"/>
          </a:xfrm>
        </p:grpSpPr>
        <p:sp>
          <p:nvSpPr>
            <p:cNvPr name="Freeform 78" id="78"/>
            <p:cNvSpPr/>
            <p:nvPr/>
          </p:nvSpPr>
          <p:spPr>
            <a:xfrm flipH="false" flipV="false" rot="0">
              <a:off x="16891" y="16891"/>
              <a:ext cx="4145280" cy="146304"/>
            </a:xfrm>
            <a:custGeom>
              <a:avLst/>
              <a:gdLst/>
              <a:ahLst/>
              <a:cxnLst/>
              <a:rect r="r" b="b" t="t" l="l"/>
              <a:pathLst>
                <a:path h="146304" w="4145280">
                  <a:moveTo>
                    <a:pt x="0" y="0"/>
                  </a:moveTo>
                  <a:lnTo>
                    <a:pt x="4145280" y="0"/>
                  </a:lnTo>
                  <a:lnTo>
                    <a:pt x="4145280" y="146304"/>
                  </a:lnTo>
                  <a:lnTo>
                    <a:pt x="0" y="146304"/>
                  </a:lnTo>
                  <a:close/>
                </a:path>
              </a:pathLst>
            </a:custGeom>
            <a:solidFill>
              <a:srgbClr val="A855F7"/>
            </a:solidFill>
          </p:spPr>
        </p:sp>
        <p:sp>
          <p:nvSpPr>
            <p:cNvPr name="Freeform 79" id="79"/>
            <p:cNvSpPr/>
            <p:nvPr/>
          </p:nvSpPr>
          <p:spPr>
            <a:xfrm flipH="false" flipV="false" rot="0">
              <a:off x="0" y="0"/>
              <a:ext cx="4179062" cy="180088"/>
            </a:xfrm>
            <a:custGeom>
              <a:avLst/>
              <a:gdLst/>
              <a:ahLst/>
              <a:cxnLst/>
              <a:rect r="r" b="b" t="t" l="l"/>
              <a:pathLst>
                <a:path h="180088" w="4179062">
                  <a:moveTo>
                    <a:pt x="16891" y="0"/>
                  </a:moveTo>
                  <a:lnTo>
                    <a:pt x="4162171" y="0"/>
                  </a:lnTo>
                  <a:cubicBezTo>
                    <a:pt x="4171569" y="0"/>
                    <a:pt x="4179062" y="7620"/>
                    <a:pt x="4179062" y="16891"/>
                  </a:cubicBezTo>
                  <a:lnTo>
                    <a:pt x="4179062" y="163195"/>
                  </a:lnTo>
                  <a:cubicBezTo>
                    <a:pt x="4179062" y="172593"/>
                    <a:pt x="4171442" y="180086"/>
                    <a:pt x="416217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162171" y="146304"/>
                  </a:lnTo>
                  <a:lnTo>
                    <a:pt x="4162171" y="163195"/>
                  </a:lnTo>
                  <a:lnTo>
                    <a:pt x="4145280" y="163195"/>
                  </a:lnTo>
                  <a:lnTo>
                    <a:pt x="4145280" y="16891"/>
                  </a:lnTo>
                  <a:lnTo>
                    <a:pt x="4162171" y="16891"/>
                  </a:lnTo>
                  <a:lnTo>
                    <a:pt x="4162171" y="33909"/>
                  </a:lnTo>
                  <a:lnTo>
                    <a:pt x="16891" y="33909"/>
                  </a:lnTo>
                  <a:close/>
                </a:path>
              </a:pathLst>
            </a:custGeom>
            <a:solidFill>
              <a:srgbClr val="A855F7"/>
            </a:solidFill>
          </p:spPr>
        </p:sp>
      </p:grpSp>
      <p:grpSp>
        <p:nvGrpSpPr>
          <p:cNvPr name="Group 80" id="80"/>
          <p:cNvGrpSpPr/>
          <p:nvPr/>
        </p:nvGrpSpPr>
        <p:grpSpPr>
          <a:xfrm rot="0">
            <a:off x="14048361" y="2730097"/>
            <a:ext cx="3108960" cy="694944"/>
            <a:chOff x="0" y="0"/>
            <a:chExt cx="4145280" cy="926592"/>
          </a:xfrm>
        </p:grpSpPr>
        <p:sp>
          <p:nvSpPr>
            <p:cNvPr name="Freeform 81" id="81"/>
            <p:cNvSpPr/>
            <p:nvPr/>
          </p:nvSpPr>
          <p:spPr>
            <a:xfrm flipH="false" flipV="false" rot="0">
              <a:off x="0" y="0"/>
              <a:ext cx="4145280" cy="926592"/>
            </a:xfrm>
            <a:custGeom>
              <a:avLst/>
              <a:gdLst/>
              <a:ahLst/>
              <a:cxnLst/>
              <a:rect r="r" b="b" t="t" l="l"/>
              <a:pathLst>
                <a:path h="926592" w="4145280">
                  <a:moveTo>
                    <a:pt x="0" y="0"/>
                  </a:moveTo>
                  <a:lnTo>
                    <a:pt x="4145280" y="0"/>
                  </a:lnTo>
                  <a:lnTo>
                    <a:pt x="4145280" y="926592"/>
                  </a:lnTo>
                  <a:lnTo>
                    <a:pt x="0" y="926592"/>
                  </a:lnTo>
                  <a:close/>
                </a:path>
              </a:pathLst>
            </a:custGeom>
            <a:blipFill>
              <a:blip r:embed="rId3">
                <a:alphaModFix amt="0"/>
              </a:blip>
              <a:stretch>
                <a:fillRect l="0" t="-37169" r="0" b="-37169"/>
              </a:stretch>
            </a:blipFill>
          </p:spPr>
        </p:sp>
        <p:sp>
          <p:nvSpPr>
            <p:cNvPr name="TextBox 82" id="82"/>
            <p:cNvSpPr txBox="true"/>
            <p:nvPr/>
          </p:nvSpPr>
          <p:spPr>
            <a:xfrm>
              <a:off x="0" y="-66675"/>
              <a:ext cx="4145280" cy="993267"/>
            </a:xfrm>
            <a:prstGeom prst="rect">
              <a:avLst/>
            </a:prstGeom>
          </p:spPr>
          <p:txBody>
            <a:bodyPr anchor="ctr" rtlCol="false" tIns="0" lIns="0" bIns="0" rIns="0"/>
            <a:lstStyle/>
            <a:p>
              <a:pPr algn="ctr">
                <a:lnSpc>
                  <a:spcPts val="4320"/>
                </a:lnSpc>
              </a:pPr>
              <a:r>
                <a:rPr lang="en-US" sz="3600" b="true">
                  <a:solidFill>
                    <a:srgbClr val="A855F7"/>
                  </a:solidFill>
                  <a:latin typeface="Calibri (MS) Bold"/>
                  <a:ea typeface="Calibri (MS) Bold"/>
                  <a:cs typeface="Calibri (MS) Bold"/>
                  <a:sym typeface="Calibri (MS) Bold"/>
                </a:rPr>
                <a:t>5</a:t>
              </a:r>
            </a:p>
          </p:txBody>
        </p:sp>
      </p:grpSp>
      <p:grpSp>
        <p:nvGrpSpPr>
          <p:cNvPr name="Group 83" id="83"/>
          <p:cNvGrpSpPr/>
          <p:nvPr/>
        </p:nvGrpSpPr>
        <p:grpSpPr>
          <a:xfrm rot="0">
            <a:off x="14048361" y="3406753"/>
            <a:ext cx="3108960" cy="548640"/>
            <a:chOff x="0" y="0"/>
            <a:chExt cx="4145280" cy="731520"/>
          </a:xfrm>
        </p:grpSpPr>
        <p:sp>
          <p:nvSpPr>
            <p:cNvPr name="Freeform 84" id="84"/>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85" id="85"/>
            <p:cNvSpPr txBox="true"/>
            <p:nvPr/>
          </p:nvSpPr>
          <p:spPr>
            <a:xfrm>
              <a:off x="0" y="-38100"/>
              <a:ext cx="414528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Export</a:t>
              </a:r>
            </a:p>
          </p:txBody>
        </p:sp>
      </p:grpSp>
      <p:grpSp>
        <p:nvGrpSpPr>
          <p:cNvPr name="Group 86" id="86"/>
          <p:cNvGrpSpPr/>
          <p:nvPr/>
        </p:nvGrpSpPr>
        <p:grpSpPr>
          <a:xfrm rot="0">
            <a:off x="14048361" y="3955393"/>
            <a:ext cx="3108960" cy="512064"/>
            <a:chOff x="0" y="0"/>
            <a:chExt cx="4145280" cy="682752"/>
          </a:xfrm>
        </p:grpSpPr>
        <p:sp>
          <p:nvSpPr>
            <p:cNvPr name="Freeform 87" id="87"/>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88" id="88"/>
            <p:cNvSpPr txBox="true"/>
            <p:nvPr/>
          </p:nvSpPr>
          <p:spPr>
            <a:xfrm>
              <a:off x="0" y="-28575"/>
              <a:ext cx="4145280" cy="711327"/>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CSV + JSON complets</a:t>
              </a:r>
            </a:p>
          </p:txBody>
        </p:sp>
      </p:grpSp>
      <p:grpSp>
        <p:nvGrpSpPr>
          <p:cNvPr name="Group 89" id="89"/>
          <p:cNvGrpSpPr/>
          <p:nvPr/>
        </p:nvGrpSpPr>
        <p:grpSpPr>
          <a:xfrm rot="0">
            <a:off x="728343" y="5046320"/>
            <a:ext cx="8059417" cy="1439161"/>
            <a:chOff x="0" y="0"/>
            <a:chExt cx="10745889" cy="1918881"/>
          </a:xfrm>
        </p:grpSpPr>
        <p:sp>
          <p:nvSpPr>
            <p:cNvPr name="Freeform 90" id="90"/>
            <p:cNvSpPr/>
            <p:nvPr/>
          </p:nvSpPr>
          <p:spPr>
            <a:xfrm flipH="false" flipV="false" rot="0">
              <a:off x="8509" y="8509"/>
              <a:ext cx="10728960" cy="1901952"/>
            </a:xfrm>
            <a:custGeom>
              <a:avLst/>
              <a:gdLst/>
              <a:ahLst/>
              <a:cxnLst/>
              <a:rect r="r" b="b" t="t" l="l"/>
              <a:pathLst>
                <a:path h="1901952" w="10728960">
                  <a:moveTo>
                    <a:pt x="0" y="0"/>
                  </a:moveTo>
                  <a:lnTo>
                    <a:pt x="10728960" y="0"/>
                  </a:lnTo>
                  <a:lnTo>
                    <a:pt x="10728960" y="1901952"/>
                  </a:lnTo>
                  <a:lnTo>
                    <a:pt x="0" y="1901952"/>
                  </a:lnTo>
                  <a:close/>
                </a:path>
              </a:pathLst>
            </a:custGeom>
            <a:solidFill>
              <a:srgbClr val="0D1E35"/>
            </a:solidFill>
          </p:spPr>
        </p:sp>
        <p:sp>
          <p:nvSpPr>
            <p:cNvPr name="Freeform 91" id="91"/>
            <p:cNvSpPr/>
            <p:nvPr/>
          </p:nvSpPr>
          <p:spPr>
            <a:xfrm flipH="false" flipV="false" rot="0">
              <a:off x="0" y="0"/>
              <a:ext cx="10745978" cy="1918970"/>
            </a:xfrm>
            <a:custGeom>
              <a:avLst/>
              <a:gdLst/>
              <a:ahLst/>
              <a:cxnLst/>
              <a:rect r="r" b="b" t="t" l="l"/>
              <a:pathLst>
                <a:path h="1918970" w="10745978">
                  <a:moveTo>
                    <a:pt x="8509" y="0"/>
                  </a:moveTo>
                  <a:lnTo>
                    <a:pt x="10737469" y="0"/>
                  </a:lnTo>
                  <a:cubicBezTo>
                    <a:pt x="10742168" y="0"/>
                    <a:pt x="10745978" y="3810"/>
                    <a:pt x="10745978" y="8509"/>
                  </a:cubicBezTo>
                  <a:lnTo>
                    <a:pt x="10745978" y="1910461"/>
                  </a:lnTo>
                  <a:cubicBezTo>
                    <a:pt x="10745978" y="1915160"/>
                    <a:pt x="10742168" y="1918970"/>
                    <a:pt x="10737469" y="1918970"/>
                  </a:cubicBezTo>
                  <a:lnTo>
                    <a:pt x="8509" y="1918970"/>
                  </a:lnTo>
                  <a:cubicBezTo>
                    <a:pt x="3810" y="1918970"/>
                    <a:pt x="0" y="1915160"/>
                    <a:pt x="0" y="1910461"/>
                  </a:cubicBezTo>
                  <a:lnTo>
                    <a:pt x="0" y="8509"/>
                  </a:lnTo>
                  <a:cubicBezTo>
                    <a:pt x="0" y="3810"/>
                    <a:pt x="3810" y="0"/>
                    <a:pt x="8509" y="0"/>
                  </a:cubicBezTo>
                  <a:moveTo>
                    <a:pt x="8509" y="16891"/>
                  </a:moveTo>
                  <a:lnTo>
                    <a:pt x="8509" y="8509"/>
                  </a:lnTo>
                  <a:lnTo>
                    <a:pt x="17018" y="8509"/>
                  </a:lnTo>
                  <a:lnTo>
                    <a:pt x="17018" y="1910461"/>
                  </a:lnTo>
                  <a:lnTo>
                    <a:pt x="8509" y="1910461"/>
                  </a:lnTo>
                  <a:lnTo>
                    <a:pt x="8509" y="1901952"/>
                  </a:lnTo>
                  <a:lnTo>
                    <a:pt x="10737469" y="1901952"/>
                  </a:lnTo>
                  <a:lnTo>
                    <a:pt x="10737469" y="1910461"/>
                  </a:lnTo>
                  <a:lnTo>
                    <a:pt x="10728960" y="1910461"/>
                  </a:lnTo>
                  <a:lnTo>
                    <a:pt x="10728960" y="8509"/>
                  </a:lnTo>
                  <a:lnTo>
                    <a:pt x="10737469" y="8509"/>
                  </a:lnTo>
                  <a:lnTo>
                    <a:pt x="10737469" y="17018"/>
                  </a:lnTo>
                  <a:lnTo>
                    <a:pt x="8509" y="17018"/>
                  </a:lnTo>
                  <a:close/>
                </a:path>
              </a:pathLst>
            </a:custGeom>
            <a:solidFill>
              <a:srgbClr val="1E3352"/>
            </a:solidFill>
          </p:spPr>
        </p:sp>
      </p:grpSp>
      <p:grpSp>
        <p:nvGrpSpPr>
          <p:cNvPr name="Group 92" id="92"/>
          <p:cNvGrpSpPr/>
          <p:nvPr/>
        </p:nvGrpSpPr>
        <p:grpSpPr>
          <a:xfrm rot="0">
            <a:off x="722000" y="5039976"/>
            <a:ext cx="135131" cy="1451867"/>
            <a:chOff x="0" y="0"/>
            <a:chExt cx="180175" cy="1935823"/>
          </a:xfrm>
        </p:grpSpPr>
        <p:sp>
          <p:nvSpPr>
            <p:cNvPr name="Freeform 93" id="93"/>
            <p:cNvSpPr/>
            <p:nvPr/>
          </p:nvSpPr>
          <p:spPr>
            <a:xfrm flipH="false" flipV="false" rot="0">
              <a:off x="16891" y="16891"/>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00E5A0"/>
            </a:solidFill>
          </p:spPr>
        </p:sp>
        <p:sp>
          <p:nvSpPr>
            <p:cNvPr name="Freeform 94" id="94"/>
            <p:cNvSpPr/>
            <p:nvPr/>
          </p:nvSpPr>
          <p:spPr>
            <a:xfrm flipH="false" flipV="false" rot="0">
              <a:off x="0" y="0"/>
              <a:ext cx="180086" cy="1935734"/>
            </a:xfrm>
            <a:custGeom>
              <a:avLst/>
              <a:gdLst/>
              <a:ahLst/>
              <a:cxnLst/>
              <a:rect r="r" b="b" t="t" l="l"/>
              <a:pathLst>
                <a:path h="1935734" w="180086">
                  <a:moveTo>
                    <a:pt x="16891" y="0"/>
                  </a:moveTo>
                  <a:lnTo>
                    <a:pt x="163195" y="0"/>
                  </a:lnTo>
                  <a:cubicBezTo>
                    <a:pt x="172593" y="0"/>
                    <a:pt x="180086" y="7620"/>
                    <a:pt x="180086" y="16891"/>
                  </a:cubicBezTo>
                  <a:lnTo>
                    <a:pt x="180086" y="1918843"/>
                  </a:lnTo>
                  <a:cubicBezTo>
                    <a:pt x="180086" y="1928241"/>
                    <a:pt x="172466" y="1935734"/>
                    <a:pt x="163195"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63195" y="1901952"/>
                  </a:lnTo>
                  <a:lnTo>
                    <a:pt x="163195" y="1918843"/>
                  </a:lnTo>
                  <a:lnTo>
                    <a:pt x="146304" y="1918843"/>
                  </a:lnTo>
                  <a:lnTo>
                    <a:pt x="146304" y="16891"/>
                  </a:lnTo>
                  <a:lnTo>
                    <a:pt x="163195" y="16891"/>
                  </a:lnTo>
                  <a:lnTo>
                    <a:pt x="163195" y="33909"/>
                  </a:lnTo>
                  <a:lnTo>
                    <a:pt x="16891" y="33909"/>
                  </a:lnTo>
                  <a:close/>
                </a:path>
              </a:pathLst>
            </a:custGeom>
            <a:solidFill>
              <a:srgbClr val="00E5A0"/>
            </a:solidFill>
          </p:spPr>
        </p:sp>
      </p:grpSp>
      <p:grpSp>
        <p:nvGrpSpPr>
          <p:cNvPr name="Group 95" id="95"/>
          <p:cNvGrpSpPr/>
          <p:nvPr/>
        </p:nvGrpSpPr>
        <p:grpSpPr>
          <a:xfrm rot="0">
            <a:off x="1063881" y="5198977"/>
            <a:ext cx="7315200" cy="548640"/>
            <a:chOff x="0" y="0"/>
            <a:chExt cx="9753600" cy="731520"/>
          </a:xfrm>
        </p:grpSpPr>
        <p:sp>
          <p:nvSpPr>
            <p:cNvPr name="Freeform 96" id="96"/>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97" id="97"/>
            <p:cNvSpPr txBox="true"/>
            <p:nvPr/>
          </p:nvSpPr>
          <p:spPr>
            <a:xfrm>
              <a:off x="0" y="-47625"/>
              <a:ext cx="975360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4 Tabs de navigation</a:t>
              </a:r>
            </a:p>
          </p:txBody>
        </p:sp>
      </p:grpSp>
      <p:grpSp>
        <p:nvGrpSpPr>
          <p:cNvPr name="Group 98" id="98"/>
          <p:cNvGrpSpPr/>
          <p:nvPr/>
        </p:nvGrpSpPr>
        <p:grpSpPr>
          <a:xfrm rot="0">
            <a:off x="1063881" y="5784193"/>
            <a:ext cx="7315200" cy="548640"/>
            <a:chOff x="0" y="0"/>
            <a:chExt cx="9753600" cy="731520"/>
          </a:xfrm>
        </p:grpSpPr>
        <p:sp>
          <p:nvSpPr>
            <p:cNvPr name="Freeform 99" id="99"/>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00" id="100"/>
            <p:cNvSpPr txBox="true"/>
            <p:nvPr/>
          </p:nvSpPr>
          <p:spPr>
            <a:xfrm>
              <a:off x="0" y="-38100"/>
              <a:ext cx="975360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Vue générale · Churn · Segments · Données</a:t>
              </a:r>
            </a:p>
          </p:txBody>
        </p:sp>
      </p:grpSp>
      <p:grpSp>
        <p:nvGrpSpPr>
          <p:cNvPr name="Group 101" id="101"/>
          <p:cNvGrpSpPr/>
          <p:nvPr/>
        </p:nvGrpSpPr>
        <p:grpSpPr>
          <a:xfrm rot="0">
            <a:off x="9506583" y="5046320"/>
            <a:ext cx="8059417" cy="1439161"/>
            <a:chOff x="0" y="0"/>
            <a:chExt cx="10745889" cy="1918881"/>
          </a:xfrm>
        </p:grpSpPr>
        <p:sp>
          <p:nvSpPr>
            <p:cNvPr name="Freeform 102" id="102"/>
            <p:cNvSpPr/>
            <p:nvPr/>
          </p:nvSpPr>
          <p:spPr>
            <a:xfrm flipH="false" flipV="false" rot="0">
              <a:off x="8509" y="8509"/>
              <a:ext cx="10728960" cy="1901952"/>
            </a:xfrm>
            <a:custGeom>
              <a:avLst/>
              <a:gdLst/>
              <a:ahLst/>
              <a:cxnLst/>
              <a:rect r="r" b="b" t="t" l="l"/>
              <a:pathLst>
                <a:path h="1901952" w="10728960">
                  <a:moveTo>
                    <a:pt x="0" y="0"/>
                  </a:moveTo>
                  <a:lnTo>
                    <a:pt x="10728960" y="0"/>
                  </a:lnTo>
                  <a:lnTo>
                    <a:pt x="10728960" y="1901952"/>
                  </a:lnTo>
                  <a:lnTo>
                    <a:pt x="0" y="1901952"/>
                  </a:lnTo>
                  <a:close/>
                </a:path>
              </a:pathLst>
            </a:custGeom>
            <a:solidFill>
              <a:srgbClr val="0D1E35"/>
            </a:solidFill>
          </p:spPr>
        </p:sp>
        <p:sp>
          <p:nvSpPr>
            <p:cNvPr name="Freeform 103" id="103"/>
            <p:cNvSpPr/>
            <p:nvPr/>
          </p:nvSpPr>
          <p:spPr>
            <a:xfrm flipH="false" flipV="false" rot="0">
              <a:off x="0" y="0"/>
              <a:ext cx="10745978" cy="1918970"/>
            </a:xfrm>
            <a:custGeom>
              <a:avLst/>
              <a:gdLst/>
              <a:ahLst/>
              <a:cxnLst/>
              <a:rect r="r" b="b" t="t" l="l"/>
              <a:pathLst>
                <a:path h="1918970" w="10745978">
                  <a:moveTo>
                    <a:pt x="8509" y="0"/>
                  </a:moveTo>
                  <a:lnTo>
                    <a:pt x="10737469" y="0"/>
                  </a:lnTo>
                  <a:cubicBezTo>
                    <a:pt x="10742168" y="0"/>
                    <a:pt x="10745978" y="3810"/>
                    <a:pt x="10745978" y="8509"/>
                  </a:cubicBezTo>
                  <a:lnTo>
                    <a:pt x="10745978" y="1910461"/>
                  </a:lnTo>
                  <a:cubicBezTo>
                    <a:pt x="10745978" y="1915160"/>
                    <a:pt x="10742168" y="1918970"/>
                    <a:pt x="10737469" y="1918970"/>
                  </a:cubicBezTo>
                  <a:lnTo>
                    <a:pt x="8509" y="1918970"/>
                  </a:lnTo>
                  <a:cubicBezTo>
                    <a:pt x="3810" y="1918970"/>
                    <a:pt x="0" y="1915160"/>
                    <a:pt x="0" y="1910461"/>
                  </a:cubicBezTo>
                  <a:lnTo>
                    <a:pt x="0" y="8509"/>
                  </a:lnTo>
                  <a:cubicBezTo>
                    <a:pt x="0" y="3810"/>
                    <a:pt x="3810" y="0"/>
                    <a:pt x="8509" y="0"/>
                  </a:cubicBezTo>
                  <a:moveTo>
                    <a:pt x="8509" y="16891"/>
                  </a:moveTo>
                  <a:lnTo>
                    <a:pt x="8509" y="8509"/>
                  </a:lnTo>
                  <a:lnTo>
                    <a:pt x="17018" y="8509"/>
                  </a:lnTo>
                  <a:lnTo>
                    <a:pt x="17018" y="1910461"/>
                  </a:lnTo>
                  <a:lnTo>
                    <a:pt x="8509" y="1910461"/>
                  </a:lnTo>
                  <a:lnTo>
                    <a:pt x="8509" y="1901952"/>
                  </a:lnTo>
                  <a:lnTo>
                    <a:pt x="10737469" y="1901952"/>
                  </a:lnTo>
                  <a:lnTo>
                    <a:pt x="10737469" y="1910461"/>
                  </a:lnTo>
                  <a:lnTo>
                    <a:pt x="10728960" y="1910461"/>
                  </a:lnTo>
                  <a:lnTo>
                    <a:pt x="10728960" y="8509"/>
                  </a:lnTo>
                  <a:lnTo>
                    <a:pt x="10737469" y="8509"/>
                  </a:lnTo>
                  <a:lnTo>
                    <a:pt x="10737469" y="17018"/>
                  </a:lnTo>
                  <a:lnTo>
                    <a:pt x="8509" y="17018"/>
                  </a:lnTo>
                  <a:close/>
                </a:path>
              </a:pathLst>
            </a:custGeom>
            <a:solidFill>
              <a:srgbClr val="1E3352"/>
            </a:solidFill>
          </p:spPr>
        </p:sp>
      </p:grpSp>
      <p:grpSp>
        <p:nvGrpSpPr>
          <p:cNvPr name="Group 104" id="104"/>
          <p:cNvGrpSpPr/>
          <p:nvPr/>
        </p:nvGrpSpPr>
        <p:grpSpPr>
          <a:xfrm rot="0">
            <a:off x="9500240" y="5039976"/>
            <a:ext cx="135131" cy="1451867"/>
            <a:chOff x="0" y="0"/>
            <a:chExt cx="180175" cy="1935823"/>
          </a:xfrm>
        </p:grpSpPr>
        <p:sp>
          <p:nvSpPr>
            <p:cNvPr name="Freeform 105" id="105"/>
            <p:cNvSpPr/>
            <p:nvPr/>
          </p:nvSpPr>
          <p:spPr>
            <a:xfrm flipH="false" flipV="false" rot="0">
              <a:off x="16891" y="16891"/>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1A8FFF"/>
            </a:solidFill>
          </p:spPr>
        </p:sp>
        <p:sp>
          <p:nvSpPr>
            <p:cNvPr name="Freeform 106" id="106"/>
            <p:cNvSpPr/>
            <p:nvPr/>
          </p:nvSpPr>
          <p:spPr>
            <a:xfrm flipH="false" flipV="false" rot="0">
              <a:off x="0" y="0"/>
              <a:ext cx="180086" cy="1935734"/>
            </a:xfrm>
            <a:custGeom>
              <a:avLst/>
              <a:gdLst/>
              <a:ahLst/>
              <a:cxnLst/>
              <a:rect r="r" b="b" t="t" l="l"/>
              <a:pathLst>
                <a:path h="1935734" w="180086">
                  <a:moveTo>
                    <a:pt x="16891" y="0"/>
                  </a:moveTo>
                  <a:lnTo>
                    <a:pt x="163195" y="0"/>
                  </a:lnTo>
                  <a:cubicBezTo>
                    <a:pt x="172593" y="0"/>
                    <a:pt x="180086" y="7620"/>
                    <a:pt x="180086" y="16891"/>
                  </a:cubicBezTo>
                  <a:lnTo>
                    <a:pt x="180086" y="1918843"/>
                  </a:lnTo>
                  <a:cubicBezTo>
                    <a:pt x="180086" y="1928241"/>
                    <a:pt x="172466" y="1935734"/>
                    <a:pt x="163195"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63195" y="1901952"/>
                  </a:lnTo>
                  <a:lnTo>
                    <a:pt x="163195" y="1918843"/>
                  </a:lnTo>
                  <a:lnTo>
                    <a:pt x="146304" y="1918843"/>
                  </a:lnTo>
                  <a:lnTo>
                    <a:pt x="146304" y="16891"/>
                  </a:lnTo>
                  <a:lnTo>
                    <a:pt x="163195" y="16891"/>
                  </a:lnTo>
                  <a:lnTo>
                    <a:pt x="163195" y="33909"/>
                  </a:lnTo>
                  <a:lnTo>
                    <a:pt x="16891" y="33909"/>
                  </a:lnTo>
                  <a:close/>
                </a:path>
              </a:pathLst>
            </a:custGeom>
            <a:solidFill>
              <a:srgbClr val="1A8FFF"/>
            </a:solidFill>
          </p:spPr>
        </p:sp>
      </p:grpSp>
      <p:grpSp>
        <p:nvGrpSpPr>
          <p:cNvPr name="Group 107" id="107"/>
          <p:cNvGrpSpPr/>
          <p:nvPr/>
        </p:nvGrpSpPr>
        <p:grpSpPr>
          <a:xfrm rot="0">
            <a:off x="9842121" y="5198977"/>
            <a:ext cx="7315200" cy="548640"/>
            <a:chOff x="0" y="0"/>
            <a:chExt cx="9753600" cy="731520"/>
          </a:xfrm>
        </p:grpSpPr>
        <p:sp>
          <p:nvSpPr>
            <p:cNvPr name="Freeform 108" id="108"/>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09" id="109"/>
            <p:cNvSpPr txBox="true"/>
            <p:nvPr/>
          </p:nvSpPr>
          <p:spPr>
            <a:xfrm>
              <a:off x="0" y="-47625"/>
              <a:ext cx="975360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6 Graphiques Chart.js</a:t>
              </a:r>
            </a:p>
          </p:txBody>
        </p:sp>
      </p:grpSp>
      <p:grpSp>
        <p:nvGrpSpPr>
          <p:cNvPr name="Group 110" id="110"/>
          <p:cNvGrpSpPr/>
          <p:nvPr/>
        </p:nvGrpSpPr>
        <p:grpSpPr>
          <a:xfrm rot="0">
            <a:off x="9842121" y="5784193"/>
            <a:ext cx="7315200" cy="548640"/>
            <a:chOff x="0" y="0"/>
            <a:chExt cx="9753600" cy="731520"/>
          </a:xfrm>
        </p:grpSpPr>
        <p:sp>
          <p:nvSpPr>
            <p:cNvPr name="Freeform 111" id="111"/>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12" id="112"/>
            <p:cNvSpPr txBox="true"/>
            <p:nvPr/>
          </p:nvSpPr>
          <p:spPr>
            <a:xfrm>
              <a:off x="0" y="-38100"/>
              <a:ext cx="975360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Donut · Bar · Pie · Histogram · Stacked</a:t>
              </a:r>
            </a:p>
          </p:txBody>
        </p:sp>
      </p:grpSp>
      <p:grpSp>
        <p:nvGrpSpPr>
          <p:cNvPr name="Group 113" id="113"/>
          <p:cNvGrpSpPr/>
          <p:nvPr/>
        </p:nvGrpSpPr>
        <p:grpSpPr>
          <a:xfrm rot="0">
            <a:off x="728343" y="6783680"/>
            <a:ext cx="8059417" cy="1439161"/>
            <a:chOff x="0" y="0"/>
            <a:chExt cx="10745889" cy="1918881"/>
          </a:xfrm>
        </p:grpSpPr>
        <p:sp>
          <p:nvSpPr>
            <p:cNvPr name="Freeform 114" id="114"/>
            <p:cNvSpPr/>
            <p:nvPr/>
          </p:nvSpPr>
          <p:spPr>
            <a:xfrm flipH="false" flipV="false" rot="0">
              <a:off x="8509" y="8509"/>
              <a:ext cx="10728960" cy="1901952"/>
            </a:xfrm>
            <a:custGeom>
              <a:avLst/>
              <a:gdLst/>
              <a:ahLst/>
              <a:cxnLst/>
              <a:rect r="r" b="b" t="t" l="l"/>
              <a:pathLst>
                <a:path h="1901952" w="10728960">
                  <a:moveTo>
                    <a:pt x="0" y="0"/>
                  </a:moveTo>
                  <a:lnTo>
                    <a:pt x="10728960" y="0"/>
                  </a:lnTo>
                  <a:lnTo>
                    <a:pt x="10728960" y="1901952"/>
                  </a:lnTo>
                  <a:lnTo>
                    <a:pt x="0" y="1901952"/>
                  </a:lnTo>
                  <a:close/>
                </a:path>
              </a:pathLst>
            </a:custGeom>
            <a:solidFill>
              <a:srgbClr val="0D1E35"/>
            </a:solidFill>
          </p:spPr>
        </p:sp>
        <p:sp>
          <p:nvSpPr>
            <p:cNvPr name="Freeform 115" id="115"/>
            <p:cNvSpPr/>
            <p:nvPr/>
          </p:nvSpPr>
          <p:spPr>
            <a:xfrm flipH="false" flipV="false" rot="0">
              <a:off x="0" y="0"/>
              <a:ext cx="10745978" cy="1918970"/>
            </a:xfrm>
            <a:custGeom>
              <a:avLst/>
              <a:gdLst/>
              <a:ahLst/>
              <a:cxnLst/>
              <a:rect r="r" b="b" t="t" l="l"/>
              <a:pathLst>
                <a:path h="1918970" w="10745978">
                  <a:moveTo>
                    <a:pt x="8509" y="0"/>
                  </a:moveTo>
                  <a:lnTo>
                    <a:pt x="10737469" y="0"/>
                  </a:lnTo>
                  <a:cubicBezTo>
                    <a:pt x="10742168" y="0"/>
                    <a:pt x="10745978" y="3810"/>
                    <a:pt x="10745978" y="8509"/>
                  </a:cubicBezTo>
                  <a:lnTo>
                    <a:pt x="10745978" y="1910461"/>
                  </a:lnTo>
                  <a:cubicBezTo>
                    <a:pt x="10745978" y="1915160"/>
                    <a:pt x="10742168" y="1918970"/>
                    <a:pt x="10737469" y="1918970"/>
                  </a:cubicBezTo>
                  <a:lnTo>
                    <a:pt x="8509" y="1918970"/>
                  </a:lnTo>
                  <a:cubicBezTo>
                    <a:pt x="3810" y="1918970"/>
                    <a:pt x="0" y="1915160"/>
                    <a:pt x="0" y="1910461"/>
                  </a:cubicBezTo>
                  <a:lnTo>
                    <a:pt x="0" y="8509"/>
                  </a:lnTo>
                  <a:cubicBezTo>
                    <a:pt x="0" y="3810"/>
                    <a:pt x="3810" y="0"/>
                    <a:pt x="8509" y="0"/>
                  </a:cubicBezTo>
                  <a:moveTo>
                    <a:pt x="8509" y="16891"/>
                  </a:moveTo>
                  <a:lnTo>
                    <a:pt x="8509" y="8509"/>
                  </a:lnTo>
                  <a:lnTo>
                    <a:pt x="17018" y="8509"/>
                  </a:lnTo>
                  <a:lnTo>
                    <a:pt x="17018" y="1910461"/>
                  </a:lnTo>
                  <a:lnTo>
                    <a:pt x="8509" y="1910461"/>
                  </a:lnTo>
                  <a:lnTo>
                    <a:pt x="8509" y="1901952"/>
                  </a:lnTo>
                  <a:lnTo>
                    <a:pt x="10737469" y="1901952"/>
                  </a:lnTo>
                  <a:lnTo>
                    <a:pt x="10737469" y="1910461"/>
                  </a:lnTo>
                  <a:lnTo>
                    <a:pt x="10728960" y="1910461"/>
                  </a:lnTo>
                  <a:lnTo>
                    <a:pt x="10728960" y="8509"/>
                  </a:lnTo>
                  <a:lnTo>
                    <a:pt x="10737469" y="8509"/>
                  </a:lnTo>
                  <a:lnTo>
                    <a:pt x="10737469" y="17018"/>
                  </a:lnTo>
                  <a:lnTo>
                    <a:pt x="8509" y="17018"/>
                  </a:lnTo>
                  <a:close/>
                </a:path>
              </a:pathLst>
            </a:custGeom>
            <a:solidFill>
              <a:srgbClr val="1E3352"/>
            </a:solidFill>
          </p:spPr>
        </p:sp>
      </p:grpSp>
      <p:grpSp>
        <p:nvGrpSpPr>
          <p:cNvPr name="Group 116" id="116"/>
          <p:cNvGrpSpPr/>
          <p:nvPr/>
        </p:nvGrpSpPr>
        <p:grpSpPr>
          <a:xfrm rot="0">
            <a:off x="722000" y="6777336"/>
            <a:ext cx="135131" cy="1451867"/>
            <a:chOff x="0" y="0"/>
            <a:chExt cx="180175" cy="1935823"/>
          </a:xfrm>
        </p:grpSpPr>
        <p:sp>
          <p:nvSpPr>
            <p:cNvPr name="Freeform 117" id="117"/>
            <p:cNvSpPr/>
            <p:nvPr/>
          </p:nvSpPr>
          <p:spPr>
            <a:xfrm flipH="false" flipV="false" rot="0">
              <a:off x="16891" y="16891"/>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FF4D6A"/>
            </a:solidFill>
          </p:spPr>
        </p:sp>
        <p:sp>
          <p:nvSpPr>
            <p:cNvPr name="Freeform 118" id="118"/>
            <p:cNvSpPr/>
            <p:nvPr/>
          </p:nvSpPr>
          <p:spPr>
            <a:xfrm flipH="false" flipV="false" rot="0">
              <a:off x="0" y="0"/>
              <a:ext cx="180086" cy="1935734"/>
            </a:xfrm>
            <a:custGeom>
              <a:avLst/>
              <a:gdLst/>
              <a:ahLst/>
              <a:cxnLst/>
              <a:rect r="r" b="b" t="t" l="l"/>
              <a:pathLst>
                <a:path h="1935734" w="180086">
                  <a:moveTo>
                    <a:pt x="16891" y="0"/>
                  </a:moveTo>
                  <a:lnTo>
                    <a:pt x="163195" y="0"/>
                  </a:lnTo>
                  <a:cubicBezTo>
                    <a:pt x="172593" y="0"/>
                    <a:pt x="180086" y="7620"/>
                    <a:pt x="180086" y="16891"/>
                  </a:cubicBezTo>
                  <a:lnTo>
                    <a:pt x="180086" y="1918843"/>
                  </a:lnTo>
                  <a:cubicBezTo>
                    <a:pt x="180086" y="1928241"/>
                    <a:pt x="172466" y="1935734"/>
                    <a:pt x="163195"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63195" y="1901952"/>
                  </a:lnTo>
                  <a:lnTo>
                    <a:pt x="163195" y="1918843"/>
                  </a:lnTo>
                  <a:lnTo>
                    <a:pt x="146304" y="1918843"/>
                  </a:lnTo>
                  <a:lnTo>
                    <a:pt x="146304" y="16891"/>
                  </a:lnTo>
                  <a:lnTo>
                    <a:pt x="163195" y="16891"/>
                  </a:lnTo>
                  <a:lnTo>
                    <a:pt x="163195" y="33909"/>
                  </a:lnTo>
                  <a:lnTo>
                    <a:pt x="16891" y="33909"/>
                  </a:lnTo>
                  <a:close/>
                </a:path>
              </a:pathLst>
            </a:custGeom>
            <a:solidFill>
              <a:srgbClr val="FF4D6A"/>
            </a:solidFill>
          </p:spPr>
        </p:sp>
      </p:grpSp>
      <p:grpSp>
        <p:nvGrpSpPr>
          <p:cNvPr name="Group 119" id="119"/>
          <p:cNvGrpSpPr/>
          <p:nvPr/>
        </p:nvGrpSpPr>
        <p:grpSpPr>
          <a:xfrm rot="0">
            <a:off x="1063881" y="6936337"/>
            <a:ext cx="7315200" cy="548640"/>
            <a:chOff x="0" y="0"/>
            <a:chExt cx="9753600" cy="731520"/>
          </a:xfrm>
        </p:grpSpPr>
        <p:sp>
          <p:nvSpPr>
            <p:cNvPr name="Freeform 120" id="120"/>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21" id="121"/>
            <p:cNvSpPr txBox="true"/>
            <p:nvPr/>
          </p:nvSpPr>
          <p:spPr>
            <a:xfrm>
              <a:off x="0" y="-47625"/>
              <a:ext cx="975360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Top 10 clients à risque</a:t>
              </a:r>
            </a:p>
          </p:txBody>
        </p:sp>
      </p:grpSp>
      <p:grpSp>
        <p:nvGrpSpPr>
          <p:cNvPr name="Group 122" id="122"/>
          <p:cNvGrpSpPr/>
          <p:nvPr/>
        </p:nvGrpSpPr>
        <p:grpSpPr>
          <a:xfrm rot="0">
            <a:off x="1063881" y="7521553"/>
            <a:ext cx="7315200" cy="548640"/>
            <a:chOff x="0" y="0"/>
            <a:chExt cx="9753600" cy="731520"/>
          </a:xfrm>
        </p:grpSpPr>
        <p:sp>
          <p:nvSpPr>
            <p:cNvPr name="Freeform 123" id="123"/>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24" id="124"/>
            <p:cNvSpPr txBox="true"/>
            <p:nvPr/>
          </p:nvSpPr>
          <p:spPr>
            <a:xfrm>
              <a:off x="0" y="-38100"/>
              <a:ext cx="975360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Avec actions recommandées</a:t>
              </a:r>
            </a:p>
          </p:txBody>
        </p:sp>
      </p:grpSp>
      <p:grpSp>
        <p:nvGrpSpPr>
          <p:cNvPr name="Group 125" id="125"/>
          <p:cNvGrpSpPr/>
          <p:nvPr/>
        </p:nvGrpSpPr>
        <p:grpSpPr>
          <a:xfrm rot="0">
            <a:off x="9506583" y="6783680"/>
            <a:ext cx="8059417" cy="1439161"/>
            <a:chOff x="0" y="0"/>
            <a:chExt cx="10745889" cy="1918881"/>
          </a:xfrm>
        </p:grpSpPr>
        <p:sp>
          <p:nvSpPr>
            <p:cNvPr name="Freeform 126" id="126"/>
            <p:cNvSpPr/>
            <p:nvPr/>
          </p:nvSpPr>
          <p:spPr>
            <a:xfrm flipH="false" flipV="false" rot="0">
              <a:off x="8509" y="8509"/>
              <a:ext cx="10728960" cy="1901952"/>
            </a:xfrm>
            <a:custGeom>
              <a:avLst/>
              <a:gdLst/>
              <a:ahLst/>
              <a:cxnLst/>
              <a:rect r="r" b="b" t="t" l="l"/>
              <a:pathLst>
                <a:path h="1901952" w="10728960">
                  <a:moveTo>
                    <a:pt x="0" y="0"/>
                  </a:moveTo>
                  <a:lnTo>
                    <a:pt x="10728960" y="0"/>
                  </a:lnTo>
                  <a:lnTo>
                    <a:pt x="10728960" y="1901952"/>
                  </a:lnTo>
                  <a:lnTo>
                    <a:pt x="0" y="1901952"/>
                  </a:lnTo>
                  <a:close/>
                </a:path>
              </a:pathLst>
            </a:custGeom>
            <a:solidFill>
              <a:srgbClr val="0D1E35"/>
            </a:solidFill>
          </p:spPr>
        </p:sp>
        <p:sp>
          <p:nvSpPr>
            <p:cNvPr name="Freeform 127" id="127"/>
            <p:cNvSpPr/>
            <p:nvPr/>
          </p:nvSpPr>
          <p:spPr>
            <a:xfrm flipH="false" flipV="false" rot="0">
              <a:off x="0" y="0"/>
              <a:ext cx="10745978" cy="1918970"/>
            </a:xfrm>
            <a:custGeom>
              <a:avLst/>
              <a:gdLst/>
              <a:ahLst/>
              <a:cxnLst/>
              <a:rect r="r" b="b" t="t" l="l"/>
              <a:pathLst>
                <a:path h="1918970" w="10745978">
                  <a:moveTo>
                    <a:pt x="8509" y="0"/>
                  </a:moveTo>
                  <a:lnTo>
                    <a:pt x="10737469" y="0"/>
                  </a:lnTo>
                  <a:cubicBezTo>
                    <a:pt x="10742168" y="0"/>
                    <a:pt x="10745978" y="3810"/>
                    <a:pt x="10745978" y="8509"/>
                  </a:cubicBezTo>
                  <a:lnTo>
                    <a:pt x="10745978" y="1910461"/>
                  </a:lnTo>
                  <a:cubicBezTo>
                    <a:pt x="10745978" y="1915160"/>
                    <a:pt x="10742168" y="1918970"/>
                    <a:pt x="10737469" y="1918970"/>
                  </a:cubicBezTo>
                  <a:lnTo>
                    <a:pt x="8509" y="1918970"/>
                  </a:lnTo>
                  <a:cubicBezTo>
                    <a:pt x="3810" y="1918970"/>
                    <a:pt x="0" y="1915160"/>
                    <a:pt x="0" y="1910461"/>
                  </a:cubicBezTo>
                  <a:lnTo>
                    <a:pt x="0" y="8509"/>
                  </a:lnTo>
                  <a:cubicBezTo>
                    <a:pt x="0" y="3810"/>
                    <a:pt x="3810" y="0"/>
                    <a:pt x="8509" y="0"/>
                  </a:cubicBezTo>
                  <a:moveTo>
                    <a:pt x="8509" y="16891"/>
                  </a:moveTo>
                  <a:lnTo>
                    <a:pt x="8509" y="8509"/>
                  </a:lnTo>
                  <a:lnTo>
                    <a:pt x="17018" y="8509"/>
                  </a:lnTo>
                  <a:lnTo>
                    <a:pt x="17018" y="1910461"/>
                  </a:lnTo>
                  <a:lnTo>
                    <a:pt x="8509" y="1910461"/>
                  </a:lnTo>
                  <a:lnTo>
                    <a:pt x="8509" y="1901952"/>
                  </a:lnTo>
                  <a:lnTo>
                    <a:pt x="10737469" y="1901952"/>
                  </a:lnTo>
                  <a:lnTo>
                    <a:pt x="10737469" y="1910461"/>
                  </a:lnTo>
                  <a:lnTo>
                    <a:pt x="10728960" y="1910461"/>
                  </a:lnTo>
                  <a:lnTo>
                    <a:pt x="10728960" y="8509"/>
                  </a:lnTo>
                  <a:lnTo>
                    <a:pt x="10737469" y="8509"/>
                  </a:lnTo>
                  <a:lnTo>
                    <a:pt x="10737469" y="17018"/>
                  </a:lnTo>
                  <a:lnTo>
                    <a:pt x="8509" y="17018"/>
                  </a:lnTo>
                  <a:close/>
                </a:path>
              </a:pathLst>
            </a:custGeom>
            <a:solidFill>
              <a:srgbClr val="1E3352"/>
            </a:solidFill>
          </p:spPr>
        </p:sp>
      </p:grpSp>
      <p:grpSp>
        <p:nvGrpSpPr>
          <p:cNvPr name="Group 128" id="128"/>
          <p:cNvGrpSpPr/>
          <p:nvPr/>
        </p:nvGrpSpPr>
        <p:grpSpPr>
          <a:xfrm rot="0">
            <a:off x="9500240" y="6777336"/>
            <a:ext cx="135131" cy="1451867"/>
            <a:chOff x="0" y="0"/>
            <a:chExt cx="180175" cy="1935823"/>
          </a:xfrm>
        </p:grpSpPr>
        <p:sp>
          <p:nvSpPr>
            <p:cNvPr name="Freeform 129" id="129"/>
            <p:cNvSpPr/>
            <p:nvPr/>
          </p:nvSpPr>
          <p:spPr>
            <a:xfrm flipH="false" flipV="false" rot="0">
              <a:off x="16891" y="16891"/>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FFB800"/>
            </a:solidFill>
          </p:spPr>
        </p:sp>
        <p:sp>
          <p:nvSpPr>
            <p:cNvPr name="Freeform 130" id="130"/>
            <p:cNvSpPr/>
            <p:nvPr/>
          </p:nvSpPr>
          <p:spPr>
            <a:xfrm flipH="false" flipV="false" rot="0">
              <a:off x="0" y="0"/>
              <a:ext cx="180086" cy="1935734"/>
            </a:xfrm>
            <a:custGeom>
              <a:avLst/>
              <a:gdLst/>
              <a:ahLst/>
              <a:cxnLst/>
              <a:rect r="r" b="b" t="t" l="l"/>
              <a:pathLst>
                <a:path h="1935734" w="180086">
                  <a:moveTo>
                    <a:pt x="16891" y="0"/>
                  </a:moveTo>
                  <a:lnTo>
                    <a:pt x="163195" y="0"/>
                  </a:lnTo>
                  <a:cubicBezTo>
                    <a:pt x="172593" y="0"/>
                    <a:pt x="180086" y="7620"/>
                    <a:pt x="180086" y="16891"/>
                  </a:cubicBezTo>
                  <a:lnTo>
                    <a:pt x="180086" y="1918843"/>
                  </a:lnTo>
                  <a:cubicBezTo>
                    <a:pt x="180086" y="1928241"/>
                    <a:pt x="172466" y="1935734"/>
                    <a:pt x="163195"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63195" y="1901952"/>
                  </a:lnTo>
                  <a:lnTo>
                    <a:pt x="163195" y="1918843"/>
                  </a:lnTo>
                  <a:lnTo>
                    <a:pt x="146304" y="1918843"/>
                  </a:lnTo>
                  <a:lnTo>
                    <a:pt x="146304" y="16891"/>
                  </a:lnTo>
                  <a:lnTo>
                    <a:pt x="163195" y="16891"/>
                  </a:lnTo>
                  <a:lnTo>
                    <a:pt x="163195" y="33909"/>
                  </a:lnTo>
                  <a:lnTo>
                    <a:pt x="16891" y="33909"/>
                  </a:lnTo>
                  <a:close/>
                </a:path>
              </a:pathLst>
            </a:custGeom>
            <a:solidFill>
              <a:srgbClr val="FFB800"/>
            </a:solidFill>
          </p:spPr>
        </p:sp>
      </p:grpSp>
      <p:grpSp>
        <p:nvGrpSpPr>
          <p:cNvPr name="Group 131" id="131"/>
          <p:cNvGrpSpPr/>
          <p:nvPr/>
        </p:nvGrpSpPr>
        <p:grpSpPr>
          <a:xfrm rot="0">
            <a:off x="9842121" y="6936337"/>
            <a:ext cx="7315200" cy="548640"/>
            <a:chOff x="0" y="0"/>
            <a:chExt cx="9753600" cy="731520"/>
          </a:xfrm>
        </p:grpSpPr>
        <p:sp>
          <p:nvSpPr>
            <p:cNvPr name="Freeform 132" id="132"/>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33" id="133"/>
            <p:cNvSpPr txBox="true"/>
            <p:nvPr/>
          </p:nvSpPr>
          <p:spPr>
            <a:xfrm>
              <a:off x="0" y="-47625"/>
              <a:ext cx="975360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Export CSV &amp; JSON</a:t>
              </a:r>
            </a:p>
          </p:txBody>
        </p:sp>
      </p:grpSp>
      <p:grpSp>
        <p:nvGrpSpPr>
          <p:cNvPr name="Group 134" id="134"/>
          <p:cNvGrpSpPr/>
          <p:nvPr/>
        </p:nvGrpSpPr>
        <p:grpSpPr>
          <a:xfrm rot="0">
            <a:off x="9842121" y="7521553"/>
            <a:ext cx="7315200" cy="548640"/>
            <a:chOff x="0" y="0"/>
            <a:chExt cx="9753600" cy="731520"/>
          </a:xfrm>
        </p:grpSpPr>
        <p:sp>
          <p:nvSpPr>
            <p:cNvPr name="Freeform 135" id="135"/>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36" id="136"/>
            <p:cNvSpPr txBox="true"/>
            <p:nvPr/>
          </p:nvSpPr>
          <p:spPr>
            <a:xfrm>
              <a:off x="0" y="-38100"/>
              <a:ext cx="975360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Horodaté · Données complètes</a:t>
              </a:r>
            </a:p>
          </p:txBody>
        </p:sp>
      </p:grpSp>
      <p:grpSp>
        <p:nvGrpSpPr>
          <p:cNvPr name="Group 137" id="137"/>
          <p:cNvGrpSpPr/>
          <p:nvPr/>
        </p:nvGrpSpPr>
        <p:grpSpPr>
          <a:xfrm rot="0">
            <a:off x="728343" y="8521040"/>
            <a:ext cx="8059417" cy="1439161"/>
            <a:chOff x="0" y="0"/>
            <a:chExt cx="10745889" cy="1918881"/>
          </a:xfrm>
        </p:grpSpPr>
        <p:sp>
          <p:nvSpPr>
            <p:cNvPr name="Freeform 138" id="138"/>
            <p:cNvSpPr/>
            <p:nvPr/>
          </p:nvSpPr>
          <p:spPr>
            <a:xfrm flipH="false" flipV="false" rot="0">
              <a:off x="8509" y="8509"/>
              <a:ext cx="10728960" cy="1901952"/>
            </a:xfrm>
            <a:custGeom>
              <a:avLst/>
              <a:gdLst/>
              <a:ahLst/>
              <a:cxnLst/>
              <a:rect r="r" b="b" t="t" l="l"/>
              <a:pathLst>
                <a:path h="1901952" w="10728960">
                  <a:moveTo>
                    <a:pt x="0" y="0"/>
                  </a:moveTo>
                  <a:lnTo>
                    <a:pt x="10728960" y="0"/>
                  </a:lnTo>
                  <a:lnTo>
                    <a:pt x="10728960" y="1901952"/>
                  </a:lnTo>
                  <a:lnTo>
                    <a:pt x="0" y="1901952"/>
                  </a:lnTo>
                  <a:close/>
                </a:path>
              </a:pathLst>
            </a:custGeom>
            <a:solidFill>
              <a:srgbClr val="0D1E35"/>
            </a:solidFill>
          </p:spPr>
        </p:sp>
        <p:sp>
          <p:nvSpPr>
            <p:cNvPr name="Freeform 139" id="139"/>
            <p:cNvSpPr/>
            <p:nvPr/>
          </p:nvSpPr>
          <p:spPr>
            <a:xfrm flipH="false" flipV="false" rot="0">
              <a:off x="0" y="0"/>
              <a:ext cx="10745978" cy="1918970"/>
            </a:xfrm>
            <a:custGeom>
              <a:avLst/>
              <a:gdLst/>
              <a:ahLst/>
              <a:cxnLst/>
              <a:rect r="r" b="b" t="t" l="l"/>
              <a:pathLst>
                <a:path h="1918970" w="10745978">
                  <a:moveTo>
                    <a:pt x="8509" y="0"/>
                  </a:moveTo>
                  <a:lnTo>
                    <a:pt x="10737469" y="0"/>
                  </a:lnTo>
                  <a:cubicBezTo>
                    <a:pt x="10742168" y="0"/>
                    <a:pt x="10745978" y="3810"/>
                    <a:pt x="10745978" y="8509"/>
                  </a:cubicBezTo>
                  <a:lnTo>
                    <a:pt x="10745978" y="1910461"/>
                  </a:lnTo>
                  <a:cubicBezTo>
                    <a:pt x="10745978" y="1915160"/>
                    <a:pt x="10742168" y="1918970"/>
                    <a:pt x="10737469" y="1918970"/>
                  </a:cubicBezTo>
                  <a:lnTo>
                    <a:pt x="8509" y="1918970"/>
                  </a:lnTo>
                  <a:cubicBezTo>
                    <a:pt x="3810" y="1918970"/>
                    <a:pt x="0" y="1915160"/>
                    <a:pt x="0" y="1910461"/>
                  </a:cubicBezTo>
                  <a:lnTo>
                    <a:pt x="0" y="8509"/>
                  </a:lnTo>
                  <a:cubicBezTo>
                    <a:pt x="0" y="3810"/>
                    <a:pt x="3810" y="0"/>
                    <a:pt x="8509" y="0"/>
                  </a:cubicBezTo>
                  <a:moveTo>
                    <a:pt x="8509" y="16891"/>
                  </a:moveTo>
                  <a:lnTo>
                    <a:pt x="8509" y="8509"/>
                  </a:lnTo>
                  <a:lnTo>
                    <a:pt x="17018" y="8509"/>
                  </a:lnTo>
                  <a:lnTo>
                    <a:pt x="17018" y="1910461"/>
                  </a:lnTo>
                  <a:lnTo>
                    <a:pt x="8509" y="1910461"/>
                  </a:lnTo>
                  <a:lnTo>
                    <a:pt x="8509" y="1901952"/>
                  </a:lnTo>
                  <a:lnTo>
                    <a:pt x="10737469" y="1901952"/>
                  </a:lnTo>
                  <a:lnTo>
                    <a:pt x="10737469" y="1910461"/>
                  </a:lnTo>
                  <a:lnTo>
                    <a:pt x="10728960" y="1910461"/>
                  </a:lnTo>
                  <a:lnTo>
                    <a:pt x="10728960" y="8509"/>
                  </a:lnTo>
                  <a:lnTo>
                    <a:pt x="10737469" y="8509"/>
                  </a:lnTo>
                  <a:lnTo>
                    <a:pt x="10737469" y="17018"/>
                  </a:lnTo>
                  <a:lnTo>
                    <a:pt x="8509" y="17018"/>
                  </a:lnTo>
                  <a:close/>
                </a:path>
              </a:pathLst>
            </a:custGeom>
            <a:solidFill>
              <a:srgbClr val="1E3352"/>
            </a:solidFill>
          </p:spPr>
        </p:sp>
      </p:grpSp>
      <p:grpSp>
        <p:nvGrpSpPr>
          <p:cNvPr name="Group 140" id="140"/>
          <p:cNvGrpSpPr/>
          <p:nvPr/>
        </p:nvGrpSpPr>
        <p:grpSpPr>
          <a:xfrm rot="0">
            <a:off x="722000" y="8514696"/>
            <a:ext cx="135131" cy="1451867"/>
            <a:chOff x="0" y="0"/>
            <a:chExt cx="180175" cy="1935823"/>
          </a:xfrm>
        </p:grpSpPr>
        <p:sp>
          <p:nvSpPr>
            <p:cNvPr name="Freeform 141" id="141"/>
            <p:cNvSpPr/>
            <p:nvPr/>
          </p:nvSpPr>
          <p:spPr>
            <a:xfrm flipH="false" flipV="false" rot="0">
              <a:off x="16891" y="16891"/>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A855F7"/>
            </a:solidFill>
          </p:spPr>
        </p:sp>
        <p:sp>
          <p:nvSpPr>
            <p:cNvPr name="Freeform 142" id="142"/>
            <p:cNvSpPr/>
            <p:nvPr/>
          </p:nvSpPr>
          <p:spPr>
            <a:xfrm flipH="false" flipV="false" rot="0">
              <a:off x="0" y="0"/>
              <a:ext cx="180086" cy="1935734"/>
            </a:xfrm>
            <a:custGeom>
              <a:avLst/>
              <a:gdLst/>
              <a:ahLst/>
              <a:cxnLst/>
              <a:rect r="r" b="b" t="t" l="l"/>
              <a:pathLst>
                <a:path h="1935734" w="180086">
                  <a:moveTo>
                    <a:pt x="16891" y="0"/>
                  </a:moveTo>
                  <a:lnTo>
                    <a:pt x="163195" y="0"/>
                  </a:lnTo>
                  <a:cubicBezTo>
                    <a:pt x="172593" y="0"/>
                    <a:pt x="180086" y="7620"/>
                    <a:pt x="180086" y="16891"/>
                  </a:cubicBezTo>
                  <a:lnTo>
                    <a:pt x="180086" y="1918843"/>
                  </a:lnTo>
                  <a:cubicBezTo>
                    <a:pt x="180086" y="1928241"/>
                    <a:pt x="172466" y="1935734"/>
                    <a:pt x="163195"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63195" y="1901952"/>
                  </a:lnTo>
                  <a:lnTo>
                    <a:pt x="163195" y="1918843"/>
                  </a:lnTo>
                  <a:lnTo>
                    <a:pt x="146304" y="1918843"/>
                  </a:lnTo>
                  <a:lnTo>
                    <a:pt x="146304" y="16891"/>
                  </a:lnTo>
                  <a:lnTo>
                    <a:pt x="163195" y="16891"/>
                  </a:lnTo>
                  <a:lnTo>
                    <a:pt x="163195" y="33909"/>
                  </a:lnTo>
                  <a:lnTo>
                    <a:pt x="16891" y="33909"/>
                  </a:lnTo>
                  <a:close/>
                </a:path>
              </a:pathLst>
            </a:custGeom>
            <a:solidFill>
              <a:srgbClr val="A855F7"/>
            </a:solidFill>
          </p:spPr>
        </p:sp>
      </p:grpSp>
      <p:grpSp>
        <p:nvGrpSpPr>
          <p:cNvPr name="Group 143" id="143"/>
          <p:cNvGrpSpPr/>
          <p:nvPr/>
        </p:nvGrpSpPr>
        <p:grpSpPr>
          <a:xfrm rot="0">
            <a:off x="1063881" y="8673697"/>
            <a:ext cx="7315200" cy="548640"/>
            <a:chOff x="0" y="0"/>
            <a:chExt cx="9753600" cy="731520"/>
          </a:xfrm>
        </p:grpSpPr>
        <p:sp>
          <p:nvSpPr>
            <p:cNvPr name="Freeform 144" id="144"/>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45" id="145"/>
            <p:cNvSpPr txBox="true"/>
            <p:nvPr/>
          </p:nvSpPr>
          <p:spPr>
            <a:xfrm>
              <a:off x="0" y="-47625"/>
              <a:ext cx="975360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Loader animé par étapes</a:t>
              </a:r>
            </a:p>
          </p:txBody>
        </p:sp>
      </p:grpSp>
      <p:grpSp>
        <p:nvGrpSpPr>
          <p:cNvPr name="Group 146" id="146"/>
          <p:cNvGrpSpPr/>
          <p:nvPr/>
        </p:nvGrpSpPr>
        <p:grpSpPr>
          <a:xfrm rot="0">
            <a:off x="1063881" y="9258913"/>
            <a:ext cx="7315200" cy="548640"/>
            <a:chOff x="0" y="0"/>
            <a:chExt cx="9753600" cy="731520"/>
          </a:xfrm>
        </p:grpSpPr>
        <p:sp>
          <p:nvSpPr>
            <p:cNvPr name="Freeform 147" id="147"/>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48" id="148"/>
            <p:cNvSpPr txBox="true"/>
            <p:nvPr/>
          </p:nvSpPr>
          <p:spPr>
            <a:xfrm>
              <a:off x="0" y="-38100"/>
              <a:ext cx="975360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6 étapes du pipeline visualisées</a:t>
              </a:r>
            </a:p>
          </p:txBody>
        </p:sp>
      </p:grpSp>
      <p:grpSp>
        <p:nvGrpSpPr>
          <p:cNvPr name="Group 149" id="149"/>
          <p:cNvGrpSpPr/>
          <p:nvPr/>
        </p:nvGrpSpPr>
        <p:grpSpPr>
          <a:xfrm rot="0">
            <a:off x="9506583" y="8521040"/>
            <a:ext cx="8059417" cy="1439161"/>
            <a:chOff x="0" y="0"/>
            <a:chExt cx="10745889" cy="1918881"/>
          </a:xfrm>
        </p:grpSpPr>
        <p:sp>
          <p:nvSpPr>
            <p:cNvPr name="Freeform 150" id="150"/>
            <p:cNvSpPr/>
            <p:nvPr/>
          </p:nvSpPr>
          <p:spPr>
            <a:xfrm flipH="false" flipV="false" rot="0">
              <a:off x="8509" y="8509"/>
              <a:ext cx="10728960" cy="1901952"/>
            </a:xfrm>
            <a:custGeom>
              <a:avLst/>
              <a:gdLst/>
              <a:ahLst/>
              <a:cxnLst/>
              <a:rect r="r" b="b" t="t" l="l"/>
              <a:pathLst>
                <a:path h="1901952" w="10728960">
                  <a:moveTo>
                    <a:pt x="0" y="0"/>
                  </a:moveTo>
                  <a:lnTo>
                    <a:pt x="10728960" y="0"/>
                  </a:lnTo>
                  <a:lnTo>
                    <a:pt x="10728960" y="1901952"/>
                  </a:lnTo>
                  <a:lnTo>
                    <a:pt x="0" y="1901952"/>
                  </a:lnTo>
                  <a:close/>
                </a:path>
              </a:pathLst>
            </a:custGeom>
            <a:solidFill>
              <a:srgbClr val="0D1E35"/>
            </a:solidFill>
          </p:spPr>
        </p:sp>
        <p:sp>
          <p:nvSpPr>
            <p:cNvPr name="Freeform 151" id="151"/>
            <p:cNvSpPr/>
            <p:nvPr/>
          </p:nvSpPr>
          <p:spPr>
            <a:xfrm flipH="false" flipV="false" rot="0">
              <a:off x="0" y="0"/>
              <a:ext cx="10745978" cy="1918970"/>
            </a:xfrm>
            <a:custGeom>
              <a:avLst/>
              <a:gdLst/>
              <a:ahLst/>
              <a:cxnLst/>
              <a:rect r="r" b="b" t="t" l="l"/>
              <a:pathLst>
                <a:path h="1918970" w="10745978">
                  <a:moveTo>
                    <a:pt x="8509" y="0"/>
                  </a:moveTo>
                  <a:lnTo>
                    <a:pt x="10737469" y="0"/>
                  </a:lnTo>
                  <a:cubicBezTo>
                    <a:pt x="10742168" y="0"/>
                    <a:pt x="10745978" y="3810"/>
                    <a:pt x="10745978" y="8509"/>
                  </a:cubicBezTo>
                  <a:lnTo>
                    <a:pt x="10745978" y="1910461"/>
                  </a:lnTo>
                  <a:cubicBezTo>
                    <a:pt x="10745978" y="1915160"/>
                    <a:pt x="10742168" y="1918970"/>
                    <a:pt x="10737469" y="1918970"/>
                  </a:cubicBezTo>
                  <a:lnTo>
                    <a:pt x="8509" y="1918970"/>
                  </a:lnTo>
                  <a:cubicBezTo>
                    <a:pt x="3810" y="1918970"/>
                    <a:pt x="0" y="1915160"/>
                    <a:pt x="0" y="1910461"/>
                  </a:cubicBezTo>
                  <a:lnTo>
                    <a:pt x="0" y="8509"/>
                  </a:lnTo>
                  <a:cubicBezTo>
                    <a:pt x="0" y="3810"/>
                    <a:pt x="3810" y="0"/>
                    <a:pt x="8509" y="0"/>
                  </a:cubicBezTo>
                  <a:moveTo>
                    <a:pt x="8509" y="16891"/>
                  </a:moveTo>
                  <a:lnTo>
                    <a:pt x="8509" y="8509"/>
                  </a:lnTo>
                  <a:lnTo>
                    <a:pt x="17018" y="8509"/>
                  </a:lnTo>
                  <a:lnTo>
                    <a:pt x="17018" y="1910461"/>
                  </a:lnTo>
                  <a:lnTo>
                    <a:pt x="8509" y="1910461"/>
                  </a:lnTo>
                  <a:lnTo>
                    <a:pt x="8509" y="1901952"/>
                  </a:lnTo>
                  <a:lnTo>
                    <a:pt x="10737469" y="1901952"/>
                  </a:lnTo>
                  <a:lnTo>
                    <a:pt x="10737469" y="1910461"/>
                  </a:lnTo>
                  <a:lnTo>
                    <a:pt x="10728960" y="1910461"/>
                  </a:lnTo>
                  <a:lnTo>
                    <a:pt x="10728960" y="8509"/>
                  </a:lnTo>
                  <a:lnTo>
                    <a:pt x="10737469" y="8509"/>
                  </a:lnTo>
                  <a:lnTo>
                    <a:pt x="10737469" y="17018"/>
                  </a:lnTo>
                  <a:lnTo>
                    <a:pt x="8509" y="17018"/>
                  </a:lnTo>
                  <a:close/>
                </a:path>
              </a:pathLst>
            </a:custGeom>
            <a:solidFill>
              <a:srgbClr val="1E3352"/>
            </a:solidFill>
          </p:spPr>
        </p:sp>
      </p:grpSp>
      <p:grpSp>
        <p:nvGrpSpPr>
          <p:cNvPr name="Group 152" id="152"/>
          <p:cNvGrpSpPr/>
          <p:nvPr/>
        </p:nvGrpSpPr>
        <p:grpSpPr>
          <a:xfrm rot="0">
            <a:off x="9500240" y="8514696"/>
            <a:ext cx="135131" cy="1451867"/>
            <a:chOff x="0" y="0"/>
            <a:chExt cx="180175" cy="1935823"/>
          </a:xfrm>
        </p:grpSpPr>
        <p:sp>
          <p:nvSpPr>
            <p:cNvPr name="Freeform 153" id="153"/>
            <p:cNvSpPr/>
            <p:nvPr/>
          </p:nvSpPr>
          <p:spPr>
            <a:xfrm flipH="false" flipV="false" rot="0">
              <a:off x="16891" y="16891"/>
              <a:ext cx="146304" cy="1901952"/>
            </a:xfrm>
            <a:custGeom>
              <a:avLst/>
              <a:gdLst/>
              <a:ahLst/>
              <a:cxnLst/>
              <a:rect r="r" b="b" t="t" l="l"/>
              <a:pathLst>
                <a:path h="1901952" w="146304">
                  <a:moveTo>
                    <a:pt x="0" y="0"/>
                  </a:moveTo>
                  <a:lnTo>
                    <a:pt x="146304" y="0"/>
                  </a:lnTo>
                  <a:lnTo>
                    <a:pt x="146304" y="1901952"/>
                  </a:lnTo>
                  <a:lnTo>
                    <a:pt x="0" y="1901952"/>
                  </a:lnTo>
                  <a:close/>
                </a:path>
              </a:pathLst>
            </a:custGeom>
            <a:solidFill>
              <a:srgbClr val="00E5A0"/>
            </a:solidFill>
          </p:spPr>
        </p:sp>
        <p:sp>
          <p:nvSpPr>
            <p:cNvPr name="Freeform 154" id="154"/>
            <p:cNvSpPr/>
            <p:nvPr/>
          </p:nvSpPr>
          <p:spPr>
            <a:xfrm flipH="false" flipV="false" rot="0">
              <a:off x="0" y="0"/>
              <a:ext cx="180086" cy="1935734"/>
            </a:xfrm>
            <a:custGeom>
              <a:avLst/>
              <a:gdLst/>
              <a:ahLst/>
              <a:cxnLst/>
              <a:rect r="r" b="b" t="t" l="l"/>
              <a:pathLst>
                <a:path h="1935734" w="180086">
                  <a:moveTo>
                    <a:pt x="16891" y="0"/>
                  </a:moveTo>
                  <a:lnTo>
                    <a:pt x="163195" y="0"/>
                  </a:lnTo>
                  <a:cubicBezTo>
                    <a:pt x="172593" y="0"/>
                    <a:pt x="180086" y="7620"/>
                    <a:pt x="180086" y="16891"/>
                  </a:cubicBezTo>
                  <a:lnTo>
                    <a:pt x="180086" y="1918843"/>
                  </a:lnTo>
                  <a:cubicBezTo>
                    <a:pt x="180086" y="1928241"/>
                    <a:pt x="172466" y="1935734"/>
                    <a:pt x="163195" y="1935734"/>
                  </a:cubicBezTo>
                  <a:lnTo>
                    <a:pt x="16891" y="1935734"/>
                  </a:lnTo>
                  <a:cubicBezTo>
                    <a:pt x="7493" y="1935734"/>
                    <a:pt x="0" y="1928114"/>
                    <a:pt x="0" y="1918843"/>
                  </a:cubicBezTo>
                  <a:lnTo>
                    <a:pt x="0" y="16891"/>
                  </a:lnTo>
                  <a:cubicBezTo>
                    <a:pt x="0" y="7620"/>
                    <a:pt x="7620" y="0"/>
                    <a:pt x="16891" y="0"/>
                  </a:cubicBezTo>
                  <a:moveTo>
                    <a:pt x="16891" y="33909"/>
                  </a:moveTo>
                  <a:lnTo>
                    <a:pt x="16891" y="16891"/>
                  </a:lnTo>
                  <a:lnTo>
                    <a:pt x="33909" y="16891"/>
                  </a:lnTo>
                  <a:lnTo>
                    <a:pt x="33909" y="1918843"/>
                  </a:lnTo>
                  <a:lnTo>
                    <a:pt x="16891" y="1918843"/>
                  </a:lnTo>
                  <a:lnTo>
                    <a:pt x="16891" y="1901952"/>
                  </a:lnTo>
                  <a:lnTo>
                    <a:pt x="163195" y="1901952"/>
                  </a:lnTo>
                  <a:lnTo>
                    <a:pt x="163195" y="1918843"/>
                  </a:lnTo>
                  <a:lnTo>
                    <a:pt x="146304" y="1918843"/>
                  </a:lnTo>
                  <a:lnTo>
                    <a:pt x="146304" y="16891"/>
                  </a:lnTo>
                  <a:lnTo>
                    <a:pt x="163195" y="16891"/>
                  </a:lnTo>
                  <a:lnTo>
                    <a:pt x="163195" y="33909"/>
                  </a:lnTo>
                  <a:lnTo>
                    <a:pt x="16891" y="33909"/>
                  </a:lnTo>
                  <a:close/>
                </a:path>
              </a:pathLst>
            </a:custGeom>
            <a:solidFill>
              <a:srgbClr val="00E5A0"/>
            </a:solidFill>
          </p:spPr>
        </p:sp>
      </p:grpSp>
      <p:grpSp>
        <p:nvGrpSpPr>
          <p:cNvPr name="Group 155" id="155"/>
          <p:cNvGrpSpPr/>
          <p:nvPr/>
        </p:nvGrpSpPr>
        <p:grpSpPr>
          <a:xfrm rot="0">
            <a:off x="9842121" y="8673697"/>
            <a:ext cx="7315200" cy="548640"/>
            <a:chOff x="0" y="0"/>
            <a:chExt cx="9753600" cy="731520"/>
          </a:xfrm>
        </p:grpSpPr>
        <p:sp>
          <p:nvSpPr>
            <p:cNvPr name="Freeform 156" id="156"/>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57" id="157"/>
            <p:cNvSpPr txBox="true"/>
            <p:nvPr/>
          </p:nvSpPr>
          <p:spPr>
            <a:xfrm>
              <a:off x="0" y="-47625"/>
              <a:ext cx="9753600" cy="77914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KPIs en temps réel</a:t>
              </a:r>
            </a:p>
          </p:txBody>
        </p:sp>
      </p:grpSp>
      <p:grpSp>
        <p:nvGrpSpPr>
          <p:cNvPr name="Group 158" id="158"/>
          <p:cNvGrpSpPr/>
          <p:nvPr/>
        </p:nvGrpSpPr>
        <p:grpSpPr>
          <a:xfrm rot="0">
            <a:off x="9842121" y="9258913"/>
            <a:ext cx="7315200" cy="548640"/>
            <a:chOff x="0" y="0"/>
            <a:chExt cx="9753600" cy="731520"/>
          </a:xfrm>
        </p:grpSpPr>
        <p:sp>
          <p:nvSpPr>
            <p:cNvPr name="Freeform 159" id="159"/>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3">
                <a:alphaModFix amt="0"/>
              </a:blip>
              <a:stretch>
                <a:fillRect l="0" t="-209800" r="0" b="-209800"/>
              </a:stretch>
            </a:blipFill>
          </p:spPr>
        </p:sp>
        <p:sp>
          <p:nvSpPr>
            <p:cNvPr name="TextBox 160" id="160"/>
            <p:cNvSpPr txBox="true"/>
            <p:nvPr/>
          </p:nvSpPr>
          <p:spPr>
            <a:xfrm>
              <a:off x="0" y="-38100"/>
              <a:ext cx="9753600" cy="769620"/>
            </a:xfrm>
            <a:prstGeom prst="rect">
              <a:avLst/>
            </a:prstGeom>
          </p:spPr>
          <p:txBody>
            <a:bodyPr anchor="ctr" rtlCol="false" tIns="0" lIns="0" bIns="0" rIns="0"/>
            <a:lstStyle/>
            <a:p>
              <a:pPr algn="l">
                <a:lnSpc>
                  <a:spcPts val="2160"/>
                </a:lnSpc>
              </a:pPr>
              <a:r>
                <a:rPr lang="en-US" sz="1800">
                  <a:solidFill>
                    <a:srgbClr val="6B8BAA"/>
                  </a:solidFill>
                  <a:latin typeface="Calibri (MS)"/>
                  <a:ea typeface="Calibri (MS)"/>
                  <a:cs typeface="Calibri (MS)"/>
                  <a:sym typeface="Calibri (MS)"/>
                </a:rPr>
                <a:t>Churn · Segments · Dépenses · Risque</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1035044" y="224414"/>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1045207" y="234577"/>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07 — INTERFACE</a:t>
              </a:r>
            </a:p>
          </p:txBody>
        </p:sp>
      </p:grpSp>
      <p:grpSp>
        <p:nvGrpSpPr>
          <p:cNvPr name="Group 8" id="8"/>
          <p:cNvGrpSpPr/>
          <p:nvPr/>
        </p:nvGrpSpPr>
        <p:grpSpPr>
          <a:xfrm rot="0">
            <a:off x="1045207" y="896755"/>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Démonstration — Vues de l'Application</a:t>
              </a:r>
            </a:p>
          </p:txBody>
        </p:sp>
      </p:grpSp>
      <p:grpSp>
        <p:nvGrpSpPr>
          <p:cNvPr name="Group 11" id="11"/>
          <p:cNvGrpSpPr/>
          <p:nvPr/>
        </p:nvGrpSpPr>
        <p:grpSpPr>
          <a:xfrm rot="0">
            <a:off x="2031149" y="2353026"/>
            <a:ext cx="14139348" cy="157837"/>
            <a:chOff x="0" y="0"/>
            <a:chExt cx="10762831" cy="120145"/>
          </a:xfrm>
        </p:grpSpPr>
        <p:sp>
          <p:nvSpPr>
            <p:cNvPr name="Freeform 12" id="12"/>
            <p:cNvSpPr/>
            <p:nvPr/>
          </p:nvSpPr>
          <p:spPr>
            <a:xfrm flipH="false" flipV="false" rot="0">
              <a:off x="16891" y="11263"/>
              <a:ext cx="10728960" cy="97559"/>
            </a:xfrm>
            <a:custGeom>
              <a:avLst/>
              <a:gdLst/>
              <a:ahLst/>
              <a:cxnLst/>
              <a:rect r="r" b="b" t="t" l="l"/>
              <a:pathLst>
                <a:path h="97559" w="10728960">
                  <a:moveTo>
                    <a:pt x="0" y="0"/>
                  </a:moveTo>
                  <a:lnTo>
                    <a:pt x="10728960" y="0"/>
                  </a:lnTo>
                  <a:lnTo>
                    <a:pt x="10728960" y="97560"/>
                  </a:lnTo>
                  <a:lnTo>
                    <a:pt x="0" y="97560"/>
                  </a:lnTo>
                  <a:close/>
                </a:path>
              </a:pathLst>
            </a:custGeom>
            <a:solidFill>
              <a:srgbClr val="1A8FFF"/>
            </a:solidFill>
          </p:spPr>
        </p:sp>
        <p:sp>
          <p:nvSpPr>
            <p:cNvPr name="Freeform 13" id="13"/>
            <p:cNvSpPr/>
            <p:nvPr/>
          </p:nvSpPr>
          <p:spPr>
            <a:xfrm flipH="false" flipV="false" rot="0">
              <a:off x="0" y="0"/>
              <a:ext cx="10762742" cy="120087"/>
            </a:xfrm>
            <a:custGeom>
              <a:avLst/>
              <a:gdLst/>
              <a:ahLst/>
              <a:cxnLst/>
              <a:rect r="r" b="b" t="t" l="l"/>
              <a:pathLst>
                <a:path h="120087" w="10762742">
                  <a:moveTo>
                    <a:pt x="16891" y="0"/>
                  </a:moveTo>
                  <a:lnTo>
                    <a:pt x="10745851" y="0"/>
                  </a:lnTo>
                  <a:cubicBezTo>
                    <a:pt x="10755249" y="0"/>
                    <a:pt x="10762742" y="5081"/>
                    <a:pt x="10762742" y="11263"/>
                  </a:cubicBezTo>
                  <a:lnTo>
                    <a:pt x="10762742" y="108823"/>
                  </a:lnTo>
                  <a:cubicBezTo>
                    <a:pt x="10762742" y="115090"/>
                    <a:pt x="10755122" y="120086"/>
                    <a:pt x="10745851" y="120086"/>
                  </a:cubicBezTo>
                  <a:lnTo>
                    <a:pt x="16891" y="120086"/>
                  </a:lnTo>
                  <a:cubicBezTo>
                    <a:pt x="7620" y="120183"/>
                    <a:pt x="0" y="115090"/>
                    <a:pt x="0" y="108823"/>
                  </a:cubicBezTo>
                  <a:lnTo>
                    <a:pt x="0" y="11263"/>
                  </a:lnTo>
                  <a:cubicBezTo>
                    <a:pt x="0" y="5081"/>
                    <a:pt x="7620" y="0"/>
                    <a:pt x="16891" y="0"/>
                  </a:cubicBezTo>
                  <a:moveTo>
                    <a:pt x="16891" y="22611"/>
                  </a:moveTo>
                  <a:lnTo>
                    <a:pt x="16891" y="11263"/>
                  </a:lnTo>
                  <a:lnTo>
                    <a:pt x="33909" y="11263"/>
                  </a:lnTo>
                  <a:lnTo>
                    <a:pt x="33909" y="108823"/>
                  </a:lnTo>
                  <a:lnTo>
                    <a:pt x="16891" y="108823"/>
                  </a:lnTo>
                  <a:lnTo>
                    <a:pt x="16891" y="97559"/>
                  </a:lnTo>
                  <a:lnTo>
                    <a:pt x="10745851" y="97559"/>
                  </a:lnTo>
                  <a:lnTo>
                    <a:pt x="10745851" y="108823"/>
                  </a:lnTo>
                  <a:lnTo>
                    <a:pt x="10728960" y="108823"/>
                  </a:lnTo>
                  <a:lnTo>
                    <a:pt x="10728960" y="11263"/>
                  </a:lnTo>
                  <a:lnTo>
                    <a:pt x="10745851" y="11263"/>
                  </a:lnTo>
                  <a:lnTo>
                    <a:pt x="10745851" y="22611"/>
                  </a:lnTo>
                  <a:lnTo>
                    <a:pt x="16891" y="22611"/>
                  </a:lnTo>
                  <a:close/>
                </a:path>
              </a:pathLst>
            </a:custGeom>
            <a:solidFill>
              <a:srgbClr val="1A8FFF"/>
            </a:solidFill>
          </p:spPr>
        </p:sp>
      </p:grpSp>
      <p:grpSp>
        <p:nvGrpSpPr>
          <p:cNvPr name="Group 14" id="14"/>
          <p:cNvGrpSpPr/>
          <p:nvPr/>
        </p:nvGrpSpPr>
        <p:grpSpPr>
          <a:xfrm rot="0">
            <a:off x="13510260" y="527180"/>
            <a:ext cx="7498080" cy="1120666"/>
            <a:chOff x="0" y="0"/>
            <a:chExt cx="9997440" cy="1494221"/>
          </a:xfrm>
        </p:grpSpPr>
        <p:sp>
          <p:nvSpPr>
            <p:cNvPr name="Freeform 15" id="15"/>
            <p:cNvSpPr/>
            <p:nvPr/>
          </p:nvSpPr>
          <p:spPr>
            <a:xfrm flipH="false" flipV="false" rot="0">
              <a:off x="0" y="0"/>
              <a:ext cx="9997440" cy="1494221"/>
            </a:xfrm>
            <a:custGeom>
              <a:avLst/>
              <a:gdLst/>
              <a:ahLst/>
              <a:cxnLst/>
              <a:rect r="r" b="b" t="t" l="l"/>
              <a:pathLst>
                <a:path h="1494221" w="9997440">
                  <a:moveTo>
                    <a:pt x="0" y="0"/>
                  </a:moveTo>
                  <a:lnTo>
                    <a:pt x="9997440" y="0"/>
                  </a:lnTo>
                  <a:lnTo>
                    <a:pt x="9997440" y="1494221"/>
                  </a:lnTo>
                  <a:lnTo>
                    <a:pt x="0" y="1494221"/>
                  </a:lnTo>
                  <a:close/>
                </a:path>
              </a:pathLst>
            </a:custGeom>
            <a:blipFill>
              <a:blip r:embed="rId3">
                <a:alphaModFix amt="0"/>
              </a:blip>
              <a:stretch>
                <a:fillRect l="0" t="-105890" r="0" b="-54847"/>
              </a:stretch>
            </a:blipFill>
          </p:spPr>
        </p:sp>
        <p:sp>
          <p:nvSpPr>
            <p:cNvPr name="TextBox 16" id="16"/>
            <p:cNvSpPr txBox="true"/>
            <p:nvPr/>
          </p:nvSpPr>
          <p:spPr>
            <a:xfrm>
              <a:off x="0" y="-47625"/>
              <a:ext cx="9997440" cy="1541846"/>
            </a:xfrm>
            <a:prstGeom prst="rect">
              <a:avLst/>
            </a:prstGeom>
          </p:spPr>
          <p:txBody>
            <a:bodyPr anchor="ctr" rtlCol="false" tIns="0" lIns="0" bIns="0" rIns="0"/>
            <a:lstStyle/>
            <a:p>
              <a:pPr algn="l">
                <a:lnSpc>
                  <a:spcPts val="2999"/>
                </a:lnSpc>
              </a:pPr>
              <a:r>
                <a:rPr lang="en-US" sz="2499" b="true">
                  <a:solidFill>
                    <a:srgbClr val="FFFFFF"/>
                  </a:solidFill>
                  <a:latin typeface="Calibri (MS) Bold"/>
                  <a:ea typeface="Calibri (MS) Bold"/>
                  <a:cs typeface="Calibri (MS) Bold"/>
                  <a:sym typeface="Calibri (MS) Bold"/>
                </a:rPr>
                <a:t>Page d'accueil &amp; Upload</a:t>
              </a:r>
            </a:p>
          </p:txBody>
        </p:sp>
      </p:grpSp>
      <p:grpSp>
        <p:nvGrpSpPr>
          <p:cNvPr name="Group 17" id="17"/>
          <p:cNvGrpSpPr/>
          <p:nvPr/>
        </p:nvGrpSpPr>
        <p:grpSpPr>
          <a:xfrm rot="0">
            <a:off x="13510260" y="1167482"/>
            <a:ext cx="7498080" cy="896533"/>
            <a:chOff x="0" y="0"/>
            <a:chExt cx="9997440" cy="1195377"/>
          </a:xfrm>
        </p:grpSpPr>
        <p:sp>
          <p:nvSpPr>
            <p:cNvPr name="Freeform 18" id="18"/>
            <p:cNvSpPr/>
            <p:nvPr/>
          </p:nvSpPr>
          <p:spPr>
            <a:xfrm flipH="false" flipV="false" rot="0">
              <a:off x="0" y="0"/>
              <a:ext cx="9997440" cy="1195377"/>
            </a:xfrm>
            <a:custGeom>
              <a:avLst/>
              <a:gdLst/>
              <a:ahLst/>
              <a:cxnLst/>
              <a:rect r="r" b="b" t="t" l="l"/>
              <a:pathLst>
                <a:path h="1195377" w="9997440">
                  <a:moveTo>
                    <a:pt x="0" y="0"/>
                  </a:moveTo>
                  <a:lnTo>
                    <a:pt x="9997440" y="0"/>
                  </a:lnTo>
                  <a:lnTo>
                    <a:pt x="9997440" y="1195377"/>
                  </a:lnTo>
                  <a:lnTo>
                    <a:pt x="0" y="1195377"/>
                  </a:lnTo>
                  <a:close/>
                </a:path>
              </a:pathLst>
            </a:custGeom>
            <a:blipFill>
              <a:blip r:embed="rId3">
                <a:alphaModFix amt="0"/>
              </a:blip>
              <a:stretch>
                <a:fillRect l="0" t="-138483" r="0" b="-87439"/>
              </a:stretch>
            </a:blipFill>
          </p:spPr>
        </p:sp>
        <p:sp>
          <p:nvSpPr>
            <p:cNvPr name="TextBox 19" id="19"/>
            <p:cNvSpPr txBox="true"/>
            <p:nvPr/>
          </p:nvSpPr>
          <p:spPr>
            <a:xfrm>
              <a:off x="0" y="-47625"/>
              <a:ext cx="9997440" cy="1243002"/>
            </a:xfrm>
            <a:prstGeom prst="rect">
              <a:avLst/>
            </a:prstGeom>
          </p:spPr>
          <p:txBody>
            <a:bodyPr anchor="ctr" rtlCol="false" tIns="0" lIns="0" bIns="0" rIns="0"/>
            <a:lstStyle/>
            <a:p>
              <a:pPr algn="l">
                <a:lnSpc>
                  <a:spcPts val="2519"/>
                </a:lnSpc>
              </a:pPr>
              <a:r>
                <a:rPr lang="en-US" sz="2099">
                  <a:solidFill>
                    <a:srgbClr val="6B8BAA"/>
                  </a:solidFill>
                  <a:latin typeface="Calibri (MS)"/>
                  <a:ea typeface="Calibri (MS)"/>
                  <a:cs typeface="Calibri (MS)"/>
                  <a:sym typeface="Calibri (MS)"/>
                </a:rPr>
                <a:t>Drag &amp; drop CSV, loader animé par étapes</a:t>
              </a:r>
            </a:p>
          </p:txBody>
        </p:sp>
      </p:grpSp>
      <p:sp>
        <p:nvSpPr>
          <p:cNvPr name="Freeform 20" id="20"/>
          <p:cNvSpPr/>
          <p:nvPr/>
        </p:nvSpPr>
        <p:spPr>
          <a:xfrm flipH="false" flipV="false" rot="0">
            <a:off x="2031149" y="2529137"/>
            <a:ext cx="14139348" cy="7285237"/>
          </a:xfrm>
          <a:custGeom>
            <a:avLst/>
            <a:gdLst/>
            <a:ahLst/>
            <a:cxnLst/>
            <a:rect r="r" b="b" t="t" l="l"/>
            <a:pathLst>
              <a:path h="7285237" w="14139348">
                <a:moveTo>
                  <a:pt x="0" y="0"/>
                </a:moveTo>
                <a:lnTo>
                  <a:pt x="14139348" y="0"/>
                </a:lnTo>
                <a:lnTo>
                  <a:pt x="14139348" y="7285237"/>
                </a:lnTo>
                <a:lnTo>
                  <a:pt x="0" y="7285237"/>
                </a:lnTo>
                <a:lnTo>
                  <a:pt x="0" y="0"/>
                </a:lnTo>
                <a:close/>
              </a:path>
            </a:pathLst>
          </a:custGeom>
          <a:blipFill>
            <a:blip r:embed="rId4"/>
            <a:stretch>
              <a:fillRect l="-3671" t="0" r="-3671"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1035044" y="224414"/>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1045207" y="234577"/>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07 — INTERFACE</a:t>
              </a:r>
            </a:p>
          </p:txBody>
        </p:sp>
      </p:grpSp>
      <p:grpSp>
        <p:nvGrpSpPr>
          <p:cNvPr name="Group 8" id="8"/>
          <p:cNvGrpSpPr/>
          <p:nvPr/>
        </p:nvGrpSpPr>
        <p:grpSpPr>
          <a:xfrm rot="0">
            <a:off x="1045207" y="896755"/>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Démonstration — Vues de l'Application</a:t>
              </a:r>
            </a:p>
          </p:txBody>
        </p:sp>
      </p:grpSp>
      <p:grpSp>
        <p:nvGrpSpPr>
          <p:cNvPr name="Group 11" id="11"/>
          <p:cNvGrpSpPr/>
          <p:nvPr/>
        </p:nvGrpSpPr>
        <p:grpSpPr>
          <a:xfrm rot="0">
            <a:off x="2486288" y="2426975"/>
            <a:ext cx="13577038" cy="124661"/>
            <a:chOff x="0" y="0"/>
            <a:chExt cx="10762831" cy="98822"/>
          </a:xfrm>
        </p:grpSpPr>
        <p:sp>
          <p:nvSpPr>
            <p:cNvPr name="Freeform 12" id="12"/>
            <p:cNvSpPr/>
            <p:nvPr/>
          </p:nvSpPr>
          <p:spPr>
            <a:xfrm flipH="false" flipV="false" rot="0">
              <a:off x="16891" y="9264"/>
              <a:ext cx="10728960" cy="80245"/>
            </a:xfrm>
            <a:custGeom>
              <a:avLst/>
              <a:gdLst/>
              <a:ahLst/>
              <a:cxnLst/>
              <a:rect r="r" b="b" t="t" l="l"/>
              <a:pathLst>
                <a:path h="80245" w="10728960">
                  <a:moveTo>
                    <a:pt x="0" y="0"/>
                  </a:moveTo>
                  <a:lnTo>
                    <a:pt x="10728960" y="0"/>
                  </a:lnTo>
                  <a:lnTo>
                    <a:pt x="10728960" y="80245"/>
                  </a:lnTo>
                  <a:lnTo>
                    <a:pt x="0" y="80245"/>
                  </a:lnTo>
                  <a:close/>
                </a:path>
              </a:pathLst>
            </a:custGeom>
            <a:solidFill>
              <a:srgbClr val="00E5A0"/>
            </a:solidFill>
          </p:spPr>
        </p:sp>
        <p:sp>
          <p:nvSpPr>
            <p:cNvPr name="Freeform 13" id="13"/>
            <p:cNvSpPr/>
            <p:nvPr/>
          </p:nvSpPr>
          <p:spPr>
            <a:xfrm flipH="false" flipV="false" rot="0">
              <a:off x="0" y="0"/>
              <a:ext cx="10762742" cy="98775"/>
            </a:xfrm>
            <a:custGeom>
              <a:avLst/>
              <a:gdLst/>
              <a:ahLst/>
              <a:cxnLst/>
              <a:rect r="r" b="b" t="t" l="l"/>
              <a:pathLst>
                <a:path h="98775" w="10762742">
                  <a:moveTo>
                    <a:pt x="16891" y="0"/>
                  </a:moveTo>
                  <a:lnTo>
                    <a:pt x="10745851" y="0"/>
                  </a:lnTo>
                  <a:cubicBezTo>
                    <a:pt x="10755249" y="0"/>
                    <a:pt x="10762742" y="4179"/>
                    <a:pt x="10762742" y="9264"/>
                  </a:cubicBezTo>
                  <a:lnTo>
                    <a:pt x="10762742" y="89509"/>
                  </a:lnTo>
                  <a:cubicBezTo>
                    <a:pt x="10762742" y="94663"/>
                    <a:pt x="10755122" y="98773"/>
                    <a:pt x="10745851" y="98773"/>
                  </a:cubicBezTo>
                  <a:lnTo>
                    <a:pt x="16891" y="98773"/>
                  </a:lnTo>
                  <a:cubicBezTo>
                    <a:pt x="7620" y="98860"/>
                    <a:pt x="0" y="94663"/>
                    <a:pt x="0" y="89509"/>
                  </a:cubicBezTo>
                  <a:lnTo>
                    <a:pt x="0" y="9264"/>
                  </a:lnTo>
                  <a:cubicBezTo>
                    <a:pt x="0" y="4179"/>
                    <a:pt x="7620" y="0"/>
                    <a:pt x="16891" y="0"/>
                  </a:cubicBezTo>
                  <a:moveTo>
                    <a:pt x="16891" y="18598"/>
                  </a:moveTo>
                  <a:lnTo>
                    <a:pt x="16891" y="9264"/>
                  </a:lnTo>
                  <a:lnTo>
                    <a:pt x="33909" y="9264"/>
                  </a:lnTo>
                  <a:lnTo>
                    <a:pt x="33909" y="89509"/>
                  </a:lnTo>
                  <a:lnTo>
                    <a:pt x="16891" y="89509"/>
                  </a:lnTo>
                  <a:lnTo>
                    <a:pt x="16891" y="80245"/>
                  </a:lnTo>
                  <a:lnTo>
                    <a:pt x="10745851" y="80245"/>
                  </a:lnTo>
                  <a:lnTo>
                    <a:pt x="10745851" y="89509"/>
                  </a:lnTo>
                  <a:lnTo>
                    <a:pt x="10728960" y="89509"/>
                  </a:lnTo>
                  <a:lnTo>
                    <a:pt x="10728960" y="9264"/>
                  </a:lnTo>
                  <a:lnTo>
                    <a:pt x="10745851" y="9264"/>
                  </a:lnTo>
                  <a:lnTo>
                    <a:pt x="10745851" y="18598"/>
                  </a:lnTo>
                  <a:lnTo>
                    <a:pt x="16891" y="18598"/>
                  </a:lnTo>
                  <a:close/>
                </a:path>
              </a:pathLst>
            </a:custGeom>
            <a:solidFill>
              <a:srgbClr val="00E5A0"/>
            </a:solidFill>
          </p:spPr>
        </p:sp>
      </p:grpSp>
      <p:grpSp>
        <p:nvGrpSpPr>
          <p:cNvPr name="Group 14" id="14"/>
          <p:cNvGrpSpPr/>
          <p:nvPr/>
        </p:nvGrpSpPr>
        <p:grpSpPr>
          <a:xfrm rot="0">
            <a:off x="13145728" y="224414"/>
            <a:ext cx="7498080" cy="1120666"/>
            <a:chOff x="0" y="0"/>
            <a:chExt cx="9997440" cy="1494221"/>
          </a:xfrm>
        </p:grpSpPr>
        <p:sp>
          <p:nvSpPr>
            <p:cNvPr name="Freeform 15" id="15"/>
            <p:cNvSpPr/>
            <p:nvPr/>
          </p:nvSpPr>
          <p:spPr>
            <a:xfrm flipH="false" flipV="false" rot="0">
              <a:off x="0" y="0"/>
              <a:ext cx="9997440" cy="1494221"/>
            </a:xfrm>
            <a:custGeom>
              <a:avLst/>
              <a:gdLst/>
              <a:ahLst/>
              <a:cxnLst/>
              <a:rect r="r" b="b" t="t" l="l"/>
              <a:pathLst>
                <a:path h="1494221" w="9997440">
                  <a:moveTo>
                    <a:pt x="0" y="0"/>
                  </a:moveTo>
                  <a:lnTo>
                    <a:pt x="9997440" y="0"/>
                  </a:lnTo>
                  <a:lnTo>
                    <a:pt x="9997440" y="1494221"/>
                  </a:lnTo>
                  <a:lnTo>
                    <a:pt x="0" y="1494221"/>
                  </a:lnTo>
                  <a:close/>
                </a:path>
              </a:pathLst>
            </a:custGeom>
            <a:blipFill>
              <a:blip r:embed="rId3">
                <a:alphaModFix amt="0"/>
              </a:blip>
              <a:stretch>
                <a:fillRect l="0" t="-105890" r="0" b="-54847"/>
              </a:stretch>
            </a:blipFill>
          </p:spPr>
        </p:sp>
        <p:sp>
          <p:nvSpPr>
            <p:cNvPr name="TextBox 16" id="16"/>
            <p:cNvSpPr txBox="true"/>
            <p:nvPr/>
          </p:nvSpPr>
          <p:spPr>
            <a:xfrm>
              <a:off x="0" y="-47625"/>
              <a:ext cx="9997440" cy="1541846"/>
            </a:xfrm>
            <a:prstGeom prst="rect">
              <a:avLst/>
            </a:prstGeom>
          </p:spPr>
          <p:txBody>
            <a:bodyPr anchor="ctr" rtlCol="false" tIns="0" lIns="0" bIns="0" rIns="0"/>
            <a:lstStyle/>
            <a:p>
              <a:pPr algn="l">
                <a:lnSpc>
                  <a:spcPts val="2999"/>
                </a:lnSpc>
              </a:pPr>
              <a:r>
                <a:rPr lang="en-US" sz="2499" b="true">
                  <a:solidFill>
                    <a:srgbClr val="FFFFFF"/>
                  </a:solidFill>
                  <a:latin typeface="Calibri (MS) Bold"/>
                  <a:ea typeface="Calibri (MS) Bold"/>
                  <a:cs typeface="Calibri (MS) Bold"/>
                  <a:sym typeface="Calibri (MS) Bold"/>
                </a:rPr>
                <a:t>KPIs &amp; Vue d'ensemble</a:t>
              </a:r>
            </a:p>
          </p:txBody>
        </p:sp>
      </p:grpSp>
      <p:grpSp>
        <p:nvGrpSpPr>
          <p:cNvPr name="Group 17" id="17"/>
          <p:cNvGrpSpPr/>
          <p:nvPr/>
        </p:nvGrpSpPr>
        <p:grpSpPr>
          <a:xfrm rot="0">
            <a:off x="13145728" y="1270369"/>
            <a:ext cx="7498080" cy="896533"/>
            <a:chOff x="0" y="0"/>
            <a:chExt cx="9997440" cy="1195377"/>
          </a:xfrm>
        </p:grpSpPr>
        <p:sp>
          <p:nvSpPr>
            <p:cNvPr name="Freeform 18" id="18"/>
            <p:cNvSpPr/>
            <p:nvPr/>
          </p:nvSpPr>
          <p:spPr>
            <a:xfrm flipH="false" flipV="false" rot="0">
              <a:off x="0" y="0"/>
              <a:ext cx="9997440" cy="1195377"/>
            </a:xfrm>
            <a:custGeom>
              <a:avLst/>
              <a:gdLst/>
              <a:ahLst/>
              <a:cxnLst/>
              <a:rect r="r" b="b" t="t" l="l"/>
              <a:pathLst>
                <a:path h="1195377" w="9997440">
                  <a:moveTo>
                    <a:pt x="0" y="0"/>
                  </a:moveTo>
                  <a:lnTo>
                    <a:pt x="9997440" y="0"/>
                  </a:lnTo>
                  <a:lnTo>
                    <a:pt x="9997440" y="1195377"/>
                  </a:lnTo>
                  <a:lnTo>
                    <a:pt x="0" y="1195377"/>
                  </a:lnTo>
                  <a:close/>
                </a:path>
              </a:pathLst>
            </a:custGeom>
            <a:blipFill>
              <a:blip r:embed="rId3">
                <a:alphaModFix amt="0"/>
              </a:blip>
              <a:stretch>
                <a:fillRect l="0" t="-138483" r="0" b="-87439"/>
              </a:stretch>
            </a:blipFill>
          </p:spPr>
        </p:sp>
        <p:sp>
          <p:nvSpPr>
            <p:cNvPr name="TextBox 19" id="19"/>
            <p:cNvSpPr txBox="true"/>
            <p:nvPr/>
          </p:nvSpPr>
          <p:spPr>
            <a:xfrm>
              <a:off x="0" y="-47625"/>
              <a:ext cx="9997440" cy="1243002"/>
            </a:xfrm>
            <a:prstGeom prst="rect">
              <a:avLst/>
            </a:prstGeom>
          </p:spPr>
          <p:txBody>
            <a:bodyPr anchor="ctr" rtlCol="false" tIns="0" lIns="0" bIns="0" rIns="0"/>
            <a:lstStyle/>
            <a:p>
              <a:pPr algn="l">
                <a:lnSpc>
                  <a:spcPts val="2999"/>
                </a:lnSpc>
              </a:pPr>
              <a:r>
                <a:rPr lang="en-US" sz="2499">
                  <a:solidFill>
                    <a:srgbClr val="6B8BAA"/>
                  </a:solidFill>
                  <a:latin typeface="Calibri (MS)"/>
                  <a:ea typeface="Calibri (MS)"/>
                  <a:cs typeface="Calibri (MS)"/>
                  <a:sym typeface="Calibri (MS)"/>
                </a:rPr>
                <a:t>6 métriques clés + 2 graphiques synthèse</a:t>
              </a:r>
            </a:p>
          </p:txBody>
        </p:sp>
      </p:grpSp>
      <p:sp>
        <p:nvSpPr>
          <p:cNvPr name="Freeform 20" id="20"/>
          <p:cNvSpPr/>
          <p:nvPr/>
        </p:nvSpPr>
        <p:spPr>
          <a:xfrm flipH="false" flipV="false" rot="0">
            <a:off x="2486288" y="2551636"/>
            <a:ext cx="13577038" cy="6919412"/>
          </a:xfrm>
          <a:custGeom>
            <a:avLst/>
            <a:gdLst/>
            <a:ahLst/>
            <a:cxnLst/>
            <a:rect r="r" b="b" t="t" l="l"/>
            <a:pathLst>
              <a:path h="6919412" w="13577038">
                <a:moveTo>
                  <a:pt x="0" y="0"/>
                </a:moveTo>
                <a:lnTo>
                  <a:pt x="13577038" y="0"/>
                </a:lnTo>
                <a:lnTo>
                  <a:pt x="13577038" y="6919412"/>
                </a:lnTo>
                <a:lnTo>
                  <a:pt x="0" y="6919412"/>
                </a:lnTo>
                <a:lnTo>
                  <a:pt x="0" y="0"/>
                </a:lnTo>
                <a:close/>
              </a:path>
            </a:pathLst>
          </a:custGeom>
          <a:blipFill>
            <a:blip r:embed="rId4"/>
            <a:stretch>
              <a:fillRect l="-462" t="0" r="-462" b="0"/>
            </a:stretch>
          </a:blipFill>
          <a:ln cap="sq">
            <a:noFill/>
            <a:prstDash val="solid"/>
            <a:miter/>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1035044" y="224414"/>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1045207" y="234577"/>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07 — INTERFACE</a:t>
              </a:r>
            </a:p>
          </p:txBody>
        </p:sp>
      </p:grpSp>
      <p:grpSp>
        <p:nvGrpSpPr>
          <p:cNvPr name="Group 8" id="8"/>
          <p:cNvGrpSpPr/>
          <p:nvPr/>
        </p:nvGrpSpPr>
        <p:grpSpPr>
          <a:xfrm rot="0">
            <a:off x="1701530" y="1695115"/>
            <a:ext cx="13866371" cy="136737"/>
            <a:chOff x="0" y="0"/>
            <a:chExt cx="10762831" cy="106133"/>
          </a:xfrm>
        </p:grpSpPr>
        <p:sp>
          <p:nvSpPr>
            <p:cNvPr name="Freeform 9" id="9"/>
            <p:cNvSpPr/>
            <p:nvPr/>
          </p:nvSpPr>
          <p:spPr>
            <a:xfrm flipH="false" flipV="false" rot="0">
              <a:off x="16891" y="9950"/>
              <a:ext cx="10728960" cy="86181"/>
            </a:xfrm>
            <a:custGeom>
              <a:avLst/>
              <a:gdLst/>
              <a:ahLst/>
              <a:cxnLst/>
              <a:rect r="r" b="b" t="t" l="l"/>
              <a:pathLst>
                <a:path h="86181" w="10728960">
                  <a:moveTo>
                    <a:pt x="0" y="0"/>
                  </a:moveTo>
                  <a:lnTo>
                    <a:pt x="10728960" y="0"/>
                  </a:lnTo>
                  <a:lnTo>
                    <a:pt x="10728960" y="86181"/>
                  </a:lnTo>
                  <a:lnTo>
                    <a:pt x="0" y="86181"/>
                  </a:lnTo>
                  <a:close/>
                </a:path>
              </a:pathLst>
            </a:custGeom>
            <a:solidFill>
              <a:srgbClr val="FF4D6A"/>
            </a:solidFill>
          </p:spPr>
        </p:sp>
        <p:sp>
          <p:nvSpPr>
            <p:cNvPr name="Freeform 10" id="10"/>
            <p:cNvSpPr/>
            <p:nvPr/>
          </p:nvSpPr>
          <p:spPr>
            <a:xfrm flipH="false" flipV="false" rot="0">
              <a:off x="0" y="0"/>
              <a:ext cx="10762742" cy="106082"/>
            </a:xfrm>
            <a:custGeom>
              <a:avLst/>
              <a:gdLst/>
              <a:ahLst/>
              <a:cxnLst/>
              <a:rect r="r" b="b" t="t" l="l"/>
              <a:pathLst>
                <a:path h="106082" w="10762742">
                  <a:moveTo>
                    <a:pt x="16891" y="0"/>
                  </a:moveTo>
                  <a:lnTo>
                    <a:pt x="10745851" y="0"/>
                  </a:lnTo>
                  <a:cubicBezTo>
                    <a:pt x="10755249" y="0"/>
                    <a:pt x="10762742" y="4489"/>
                    <a:pt x="10762742" y="9950"/>
                  </a:cubicBezTo>
                  <a:lnTo>
                    <a:pt x="10762742" y="96131"/>
                  </a:lnTo>
                  <a:cubicBezTo>
                    <a:pt x="10762742" y="101667"/>
                    <a:pt x="10755122" y="106081"/>
                    <a:pt x="10745851" y="106081"/>
                  </a:cubicBezTo>
                  <a:lnTo>
                    <a:pt x="16891" y="106081"/>
                  </a:lnTo>
                  <a:cubicBezTo>
                    <a:pt x="7620" y="106171"/>
                    <a:pt x="0" y="101667"/>
                    <a:pt x="0" y="96131"/>
                  </a:cubicBezTo>
                  <a:lnTo>
                    <a:pt x="0" y="9950"/>
                  </a:lnTo>
                  <a:cubicBezTo>
                    <a:pt x="0" y="4489"/>
                    <a:pt x="7620" y="0"/>
                    <a:pt x="16891" y="0"/>
                  </a:cubicBezTo>
                  <a:moveTo>
                    <a:pt x="16891" y="19974"/>
                  </a:moveTo>
                  <a:lnTo>
                    <a:pt x="16891" y="9950"/>
                  </a:lnTo>
                  <a:lnTo>
                    <a:pt x="33909" y="9950"/>
                  </a:lnTo>
                  <a:lnTo>
                    <a:pt x="33909" y="96131"/>
                  </a:lnTo>
                  <a:lnTo>
                    <a:pt x="16891" y="96131"/>
                  </a:lnTo>
                  <a:lnTo>
                    <a:pt x="16891" y="86181"/>
                  </a:lnTo>
                  <a:lnTo>
                    <a:pt x="10745851" y="86181"/>
                  </a:lnTo>
                  <a:lnTo>
                    <a:pt x="10745851" y="96131"/>
                  </a:lnTo>
                  <a:lnTo>
                    <a:pt x="10728960" y="96131"/>
                  </a:lnTo>
                  <a:lnTo>
                    <a:pt x="10728960" y="9950"/>
                  </a:lnTo>
                  <a:lnTo>
                    <a:pt x="10745851" y="9950"/>
                  </a:lnTo>
                  <a:lnTo>
                    <a:pt x="10745851" y="19974"/>
                  </a:lnTo>
                  <a:lnTo>
                    <a:pt x="16891" y="19974"/>
                  </a:lnTo>
                  <a:close/>
                </a:path>
              </a:pathLst>
            </a:custGeom>
            <a:solidFill>
              <a:srgbClr val="FF4D6A"/>
            </a:solidFill>
          </p:spPr>
        </p:sp>
      </p:grpSp>
      <p:grpSp>
        <p:nvGrpSpPr>
          <p:cNvPr name="Group 11" id="11"/>
          <p:cNvGrpSpPr/>
          <p:nvPr/>
        </p:nvGrpSpPr>
        <p:grpSpPr>
          <a:xfrm rot="0">
            <a:off x="5748018" y="0"/>
            <a:ext cx="7498080" cy="1254985"/>
            <a:chOff x="0" y="0"/>
            <a:chExt cx="9997440" cy="1673313"/>
          </a:xfrm>
        </p:grpSpPr>
        <p:sp>
          <p:nvSpPr>
            <p:cNvPr name="Freeform 12" id="12"/>
            <p:cNvSpPr/>
            <p:nvPr/>
          </p:nvSpPr>
          <p:spPr>
            <a:xfrm flipH="false" flipV="false" rot="0">
              <a:off x="0" y="0"/>
              <a:ext cx="9997440" cy="1673313"/>
            </a:xfrm>
            <a:custGeom>
              <a:avLst/>
              <a:gdLst/>
              <a:ahLst/>
              <a:cxnLst/>
              <a:rect r="r" b="b" t="t" l="l"/>
              <a:pathLst>
                <a:path h="1673313" w="9997440">
                  <a:moveTo>
                    <a:pt x="0" y="0"/>
                  </a:moveTo>
                  <a:lnTo>
                    <a:pt x="9997440" y="0"/>
                  </a:lnTo>
                  <a:lnTo>
                    <a:pt x="9997440" y="1673313"/>
                  </a:lnTo>
                  <a:lnTo>
                    <a:pt x="0" y="1673313"/>
                  </a:lnTo>
                  <a:close/>
                </a:path>
              </a:pathLst>
            </a:custGeom>
            <a:blipFill>
              <a:blip r:embed="rId3">
                <a:alphaModFix amt="0"/>
              </a:blip>
              <a:stretch>
                <a:fillRect l="0" t="-94557" r="0" b="-38274"/>
              </a:stretch>
            </a:blipFill>
          </p:spPr>
        </p:sp>
        <p:sp>
          <p:nvSpPr>
            <p:cNvPr name="TextBox 13" id="13"/>
            <p:cNvSpPr txBox="true"/>
            <p:nvPr/>
          </p:nvSpPr>
          <p:spPr>
            <a:xfrm>
              <a:off x="0" y="-47625"/>
              <a:ext cx="9997440" cy="1720938"/>
            </a:xfrm>
            <a:prstGeom prst="rect">
              <a:avLst/>
            </a:prstGeom>
          </p:spPr>
          <p:txBody>
            <a:bodyPr anchor="ctr" rtlCol="false" tIns="0" lIns="0" bIns="0" rIns="0"/>
            <a:lstStyle/>
            <a:p>
              <a:pPr algn="l">
                <a:lnSpc>
                  <a:spcPts val="2999"/>
                </a:lnSpc>
              </a:pPr>
              <a:r>
                <a:rPr lang="en-US" sz="2499" b="true">
                  <a:solidFill>
                    <a:srgbClr val="FFFFFF"/>
                  </a:solidFill>
                  <a:latin typeface="Calibri (MS) Bold"/>
                  <a:ea typeface="Calibri (MS) Bold"/>
                  <a:cs typeface="Calibri (MS) Bold"/>
                  <a:sym typeface="Calibri (MS) Bold"/>
                </a:rPr>
                <a:t>Analyse Churn</a:t>
              </a:r>
            </a:p>
          </p:txBody>
        </p:sp>
      </p:grpSp>
      <p:grpSp>
        <p:nvGrpSpPr>
          <p:cNvPr name="Group 14" id="14"/>
          <p:cNvGrpSpPr/>
          <p:nvPr/>
        </p:nvGrpSpPr>
        <p:grpSpPr>
          <a:xfrm rot="0">
            <a:off x="9138956" y="125498"/>
            <a:ext cx="7498080" cy="1003988"/>
            <a:chOff x="0" y="0"/>
            <a:chExt cx="9997440" cy="1338650"/>
          </a:xfrm>
        </p:grpSpPr>
        <p:sp>
          <p:nvSpPr>
            <p:cNvPr name="Freeform 15" id="15"/>
            <p:cNvSpPr/>
            <p:nvPr/>
          </p:nvSpPr>
          <p:spPr>
            <a:xfrm flipH="false" flipV="false" rot="0">
              <a:off x="0" y="0"/>
              <a:ext cx="9997440" cy="1338650"/>
            </a:xfrm>
            <a:custGeom>
              <a:avLst/>
              <a:gdLst/>
              <a:ahLst/>
              <a:cxnLst/>
              <a:rect r="r" b="b" t="t" l="l"/>
              <a:pathLst>
                <a:path h="1338650" w="9997440">
                  <a:moveTo>
                    <a:pt x="0" y="0"/>
                  </a:moveTo>
                  <a:lnTo>
                    <a:pt x="9997440" y="0"/>
                  </a:lnTo>
                  <a:lnTo>
                    <a:pt x="9997440" y="1338650"/>
                  </a:lnTo>
                  <a:lnTo>
                    <a:pt x="0" y="1338650"/>
                  </a:lnTo>
                  <a:close/>
                </a:path>
              </a:pathLst>
            </a:custGeom>
            <a:blipFill>
              <a:blip r:embed="rId3">
                <a:alphaModFix amt="0"/>
              </a:blip>
              <a:stretch>
                <a:fillRect l="0" t="-123661" r="0" b="-67378"/>
              </a:stretch>
            </a:blipFill>
          </p:spPr>
        </p:sp>
        <p:sp>
          <p:nvSpPr>
            <p:cNvPr name="TextBox 16" id="16"/>
            <p:cNvSpPr txBox="true"/>
            <p:nvPr/>
          </p:nvSpPr>
          <p:spPr>
            <a:xfrm>
              <a:off x="0" y="-47625"/>
              <a:ext cx="9997440" cy="1386275"/>
            </a:xfrm>
            <a:prstGeom prst="rect">
              <a:avLst/>
            </a:prstGeom>
          </p:spPr>
          <p:txBody>
            <a:bodyPr anchor="ctr" rtlCol="false" tIns="0" lIns="0" bIns="0" rIns="0"/>
            <a:lstStyle/>
            <a:p>
              <a:pPr algn="l">
                <a:lnSpc>
                  <a:spcPts val="2999"/>
                </a:lnSpc>
              </a:pPr>
              <a:r>
                <a:rPr lang="en-US" sz="2499">
                  <a:solidFill>
                    <a:srgbClr val="6B8BAA"/>
                  </a:solidFill>
                  <a:latin typeface="Calibri (MS)"/>
                  <a:ea typeface="Calibri (MS)"/>
                  <a:cs typeface="Calibri (MS)"/>
                  <a:sym typeface="Calibri (MS)"/>
                </a:rPr>
                <a:t>Histogramme probabilités + top 10 à risque</a:t>
              </a:r>
            </a:p>
          </p:txBody>
        </p:sp>
      </p:grpSp>
      <p:sp>
        <p:nvSpPr>
          <p:cNvPr name="Freeform 17" id="17"/>
          <p:cNvSpPr/>
          <p:nvPr/>
        </p:nvSpPr>
        <p:spPr>
          <a:xfrm flipH="false" flipV="false" rot="0">
            <a:off x="1701530" y="1859312"/>
            <a:ext cx="13866371" cy="8195451"/>
          </a:xfrm>
          <a:custGeom>
            <a:avLst/>
            <a:gdLst/>
            <a:ahLst/>
            <a:cxnLst/>
            <a:rect r="r" b="b" t="t" l="l"/>
            <a:pathLst>
              <a:path h="8195451" w="13866371">
                <a:moveTo>
                  <a:pt x="0" y="0"/>
                </a:moveTo>
                <a:lnTo>
                  <a:pt x="13866371" y="0"/>
                </a:lnTo>
                <a:lnTo>
                  <a:pt x="13866371" y="8195451"/>
                </a:lnTo>
                <a:lnTo>
                  <a:pt x="0" y="8195451"/>
                </a:lnTo>
                <a:lnTo>
                  <a:pt x="0" y="0"/>
                </a:lnTo>
                <a:close/>
              </a:path>
            </a:pathLst>
          </a:custGeom>
          <a:blipFill>
            <a:blip r:embed="rId4"/>
            <a:stretch>
              <a:fillRect l="-2365" t="0" r="-762"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1035044" y="224414"/>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1045207" y="234577"/>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07 — INTERFACE</a:t>
              </a:r>
            </a:p>
          </p:txBody>
        </p:sp>
      </p:grpSp>
      <p:grpSp>
        <p:nvGrpSpPr>
          <p:cNvPr name="Group 8" id="8"/>
          <p:cNvGrpSpPr/>
          <p:nvPr/>
        </p:nvGrpSpPr>
        <p:grpSpPr>
          <a:xfrm rot="0">
            <a:off x="1701530" y="1695115"/>
            <a:ext cx="13866371" cy="136737"/>
            <a:chOff x="0" y="0"/>
            <a:chExt cx="10762831" cy="106133"/>
          </a:xfrm>
        </p:grpSpPr>
        <p:sp>
          <p:nvSpPr>
            <p:cNvPr name="Freeform 9" id="9"/>
            <p:cNvSpPr/>
            <p:nvPr/>
          </p:nvSpPr>
          <p:spPr>
            <a:xfrm flipH="false" flipV="false" rot="0">
              <a:off x="16891" y="9950"/>
              <a:ext cx="10728960" cy="86181"/>
            </a:xfrm>
            <a:custGeom>
              <a:avLst/>
              <a:gdLst/>
              <a:ahLst/>
              <a:cxnLst/>
              <a:rect r="r" b="b" t="t" l="l"/>
              <a:pathLst>
                <a:path h="86181" w="10728960">
                  <a:moveTo>
                    <a:pt x="0" y="0"/>
                  </a:moveTo>
                  <a:lnTo>
                    <a:pt x="10728960" y="0"/>
                  </a:lnTo>
                  <a:lnTo>
                    <a:pt x="10728960" y="86181"/>
                  </a:lnTo>
                  <a:lnTo>
                    <a:pt x="0" y="86181"/>
                  </a:lnTo>
                  <a:close/>
                </a:path>
              </a:pathLst>
            </a:custGeom>
            <a:solidFill>
              <a:srgbClr val="FF4D6A"/>
            </a:solidFill>
          </p:spPr>
        </p:sp>
        <p:sp>
          <p:nvSpPr>
            <p:cNvPr name="Freeform 10" id="10"/>
            <p:cNvSpPr/>
            <p:nvPr/>
          </p:nvSpPr>
          <p:spPr>
            <a:xfrm flipH="false" flipV="false" rot="0">
              <a:off x="0" y="0"/>
              <a:ext cx="10762742" cy="106082"/>
            </a:xfrm>
            <a:custGeom>
              <a:avLst/>
              <a:gdLst/>
              <a:ahLst/>
              <a:cxnLst/>
              <a:rect r="r" b="b" t="t" l="l"/>
              <a:pathLst>
                <a:path h="106082" w="10762742">
                  <a:moveTo>
                    <a:pt x="16891" y="0"/>
                  </a:moveTo>
                  <a:lnTo>
                    <a:pt x="10745851" y="0"/>
                  </a:lnTo>
                  <a:cubicBezTo>
                    <a:pt x="10755249" y="0"/>
                    <a:pt x="10762742" y="4489"/>
                    <a:pt x="10762742" y="9950"/>
                  </a:cubicBezTo>
                  <a:lnTo>
                    <a:pt x="10762742" y="96131"/>
                  </a:lnTo>
                  <a:cubicBezTo>
                    <a:pt x="10762742" y="101667"/>
                    <a:pt x="10755122" y="106081"/>
                    <a:pt x="10745851" y="106081"/>
                  </a:cubicBezTo>
                  <a:lnTo>
                    <a:pt x="16891" y="106081"/>
                  </a:lnTo>
                  <a:cubicBezTo>
                    <a:pt x="7620" y="106171"/>
                    <a:pt x="0" y="101667"/>
                    <a:pt x="0" y="96131"/>
                  </a:cubicBezTo>
                  <a:lnTo>
                    <a:pt x="0" y="9950"/>
                  </a:lnTo>
                  <a:cubicBezTo>
                    <a:pt x="0" y="4489"/>
                    <a:pt x="7620" y="0"/>
                    <a:pt x="16891" y="0"/>
                  </a:cubicBezTo>
                  <a:moveTo>
                    <a:pt x="16891" y="19974"/>
                  </a:moveTo>
                  <a:lnTo>
                    <a:pt x="16891" y="9950"/>
                  </a:lnTo>
                  <a:lnTo>
                    <a:pt x="33909" y="9950"/>
                  </a:lnTo>
                  <a:lnTo>
                    <a:pt x="33909" y="96131"/>
                  </a:lnTo>
                  <a:lnTo>
                    <a:pt x="16891" y="96131"/>
                  </a:lnTo>
                  <a:lnTo>
                    <a:pt x="16891" y="86181"/>
                  </a:lnTo>
                  <a:lnTo>
                    <a:pt x="10745851" y="86181"/>
                  </a:lnTo>
                  <a:lnTo>
                    <a:pt x="10745851" y="96131"/>
                  </a:lnTo>
                  <a:lnTo>
                    <a:pt x="10728960" y="96131"/>
                  </a:lnTo>
                  <a:lnTo>
                    <a:pt x="10728960" y="9950"/>
                  </a:lnTo>
                  <a:lnTo>
                    <a:pt x="10745851" y="9950"/>
                  </a:lnTo>
                  <a:lnTo>
                    <a:pt x="10745851" y="19974"/>
                  </a:lnTo>
                  <a:lnTo>
                    <a:pt x="16891" y="19974"/>
                  </a:lnTo>
                  <a:close/>
                </a:path>
              </a:pathLst>
            </a:custGeom>
            <a:solidFill>
              <a:srgbClr val="FF4D6A"/>
            </a:solidFill>
          </p:spPr>
        </p:sp>
      </p:grpSp>
      <p:grpSp>
        <p:nvGrpSpPr>
          <p:cNvPr name="Group 11" id="11"/>
          <p:cNvGrpSpPr/>
          <p:nvPr/>
        </p:nvGrpSpPr>
        <p:grpSpPr>
          <a:xfrm rot="0">
            <a:off x="5748018" y="0"/>
            <a:ext cx="7498080" cy="1254985"/>
            <a:chOff x="0" y="0"/>
            <a:chExt cx="9997440" cy="1673313"/>
          </a:xfrm>
        </p:grpSpPr>
        <p:sp>
          <p:nvSpPr>
            <p:cNvPr name="Freeform 12" id="12"/>
            <p:cNvSpPr/>
            <p:nvPr/>
          </p:nvSpPr>
          <p:spPr>
            <a:xfrm flipH="false" flipV="false" rot="0">
              <a:off x="0" y="0"/>
              <a:ext cx="9997440" cy="1673313"/>
            </a:xfrm>
            <a:custGeom>
              <a:avLst/>
              <a:gdLst/>
              <a:ahLst/>
              <a:cxnLst/>
              <a:rect r="r" b="b" t="t" l="l"/>
              <a:pathLst>
                <a:path h="1673313" w="9997440">
                  <a:moveTo>
                    <a:pt x="0" y="0"/>
                  </a:moveTo>
                  <a:lnTo>
                    <a:pt x="9997440" y="0"/>
                  </a:lnTo>
                  <a:lnTo>
                    <a:pt x="9997440" y="1673313"/>
                  </a:lnTo>
                  <a:lnTo>
                    <a:pt x="0" y="1673313"/>
                  </a:lnTo>
                  <a:close/>
                </a:path>
              </a:pathLst>
            </a:custGeom>
            <a:blipFill>
              <a:blip r:embed="rId3">
                <a:alphaModFix amt="0"/>
              </a:blip>
              <a:stretch>
                <a:fillRect l="0" t="-94557" r="0" b="-38274"/>
              </a:stretch>
            </a:blipFill>
          </p:spPr>
        </p:sp>
        <p:sp>
          <p:nvSpPr>
            <p:cNvPr name="TextBox 13" id="13"/>
            <p:cNvSpPr txBox="true"/>
            <p:nvPr/>
          </p:nvSpPr>
          <p:spPr>
            <a:xfrm>
              <a:off x="0" y="-47625"/>
              <a:ext cx="9997440" cy="1720938"/>
            </a:xfrm>
            <a:prstGeom prst="rect">
              <a:avLst/>
            </a:prstGeom>
          </p:spPr>
          <p:txBody>
            <a:bodyPr anchor="ctr" rtlCol="false" tIns="0" lIns="0" bIns="0" rIns="0"/>
            <a:lstStyle/>
            <a:p>
              <a:pPr algn="l">
                <a:lnSpc>
                  <a:spcPts val="2999"/>
                </a:lnSpc>
              </a:pPr>
              <a:r>
                <a:rPr lang="en-US" sz="2499" b="true">
                  <a:solidFill>
                    <a:srgbClr val="FFFFFF"/>
                  </a:solidFill>
                  <a:latin typeface="Calibri (MS) Bold"/>
                  <a:ea typeface="Calibri (MS) Bold"/>
                  <a:cs typeface="Calibri (MS) Bold"/>
                  <a:sym typeface="Calibri (MS) Bold"/>
                </a:rPr>
                <a:t>Analyse Churn</a:t>
              </a:r>
            </a:p>
          </p:txBody>
        </p:sp>
      </p:grpSp>
      <p:grpSp>
        <p:nvGrpSpPr>
          <p:cNvPr name="Group 14" id="14"/>
          <p:cNvGrpSpPr/>
          <p:nvPr/>
        </p:nvGrpSpPr>
        <p:grpSpPr>
          <a:xfrm rot="0">
            <a:off x="9138956" y="125498"/>
            <a:ext cx="7498080" cy="1003988"/>
            <a:chOff x="0" y="0"/>
            <a:chExt cx="9997440" cy="1338650"/>
          </a:xfrm>
        </p:grpSpPr>
        <p:sp>
          <p:nvSpPr>
            <p:cNvPr name="Freeform 15" id="15"/>
            <p:cNvSpPr/>
            <p:nvPr/>
          </p:nvSpPr>
          <p:spPr>
            <a:xfrm flipH="false" flipV="false" rot="0">
              <a:off x="0" y="0"/>
              <a:ext cx="9997440" cy="1338650"/>
            </a:xfrm>
            <a:custGeom>
              <a:avLst/>
              <a:gdLst/>
              <a:ahLst/>
              <a:cxnLst/>
              <a:rect r="r" b="b" t="t" l="l"/>
              <a:pathLst>
                <a:path h="1338650" w="9997440">
                  <a:moveTo>
                    <a:pt x="0" y="0"/>
                  </a:moveTo>
                  <a:lnTo>
                    <a:pt x="9997440" y="0"/>
                  </a:lnTo>
                  <a:lnTo>
                    <a:pt x="9997440" y="1338650"/>
                  </a:lnTo>
                  <a:lnTo>
                    <a:pt x="0" y="1338650"/>
                  </a:lnTo>
                  <a:close/>
                </a:path>
              </a:pathLst>
            </a:custGeom>
            <a:blipFill>
              <a:blip r:embed="rId3">
                <a:alphaModFix amt="0"/>
              </a:blip>
              <a:stretch>
                <a:fillRect l="0" t="-123661" r="0" b="-67378"/>
              </a:stretch>
            </a:blipFill>
          </p:spPr>
        </p:sp>
        <p:sp>
          <p:nvSpPr>
            <p:cNvPr name="TextBox 16" id="16"/>
            <p:cNvSpPr txBox="true"/>
            <p:nvPr/>
          </p:nvSpPr>
          <p:spPr>
            <a:xfrm>
              <a:off x="0" y="-47625"/>
              <a:ext cx="9997440" cy="1386275"/>
            </a:xfrm>
            <a:prstGeom prst="rect">
              <a:avLst/>
            </a:prstGeom>
          </p:spPr>
          <p:txBody>
            <a:bodyPr anchor="ctr" rtlCol="false" tIns="0" lIns="0" bIns="0" rIns="0"/>
            <a:lstStyle/>
            <a:p>
              <a:pPr algn="l">
                <a:lnSpc>
                  <a:spcPts val="2999"/>
                </a:lnSpc>
              </a:pPr>
              <a:r>
                <a:rPr lang="en-US" sz="2499">
                  <a:solidFill>
                    <a:srgbClr val="6B8BAA"/>
                  </a:solidFill>
                  <a:latin typeface="Calibri (MS)"/>
                  <a:ea typeface="Calibri (MS)"/>
                  <a:cs typeface="Calibri (MS)"/>
                  <a:sym typeface="Calibri (MS)"/>
                </a:rPr>
                <a:t>Histogramme probabilités + top 10 à risque</a:t>
              </a:r>
            </a:p>
          </p:txBody>
        </p:sp>
      </p:grpSp>
      <p:sp>
        <p:nvSpPr>
          <p:cNvPr name="Freeform 17" id="17"/>
          <p:cNvSpPr/>
          <p:nvPr/>
        </p:nvSpPr>
        <p:spPr>
          <a:xfrm flipH="false" flipV="false" rot="0">
            <a:off x="1717001" y="1831852"/>
            <a:ext cx="13850900" cy="8122384"/>
          </a:xfrm>
          <a:custGeom>
            <a:avLst/>
            <a:gdLst/>
            <a:ahLst/>
            <a:cxnLst/>
            <a:rect r="r" b="b" t="t" l="l"/>
            <a:pathLst>
              <a:path h="8122384" w="13850900">
                <a:moveTo>
                  <a:pt x="0" y="0"/>
                </a:moveTo>
                <a:lnTo>
                  <a:pt x="13850900" y="0"/>
                </a:lnTo>
                <a:lnTo>
                  <a:pt x="13850900" y="8122385"/>
                </a:lnTo>
                <a:lnTo>
                  <a:pt x="0" y="8122385"/>
                </a:lnTo>
                <a:lnTo>
                  <a:pt x="0" y="0"/>
                </a:lnTo>
                <a:close/>
              </a:path>
            </a:pathLst>
          </a:custGeom>
          <a:blipFill>
            <a:blip r:embed="rId4"/>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1035044" y="224414"/>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1045207" y="234577"/>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07 — INTERFACE</a:t>
              </a:r>
            </a:p>
          </p:txBody>
        </p:sp>
      </p:grpSp>
      <p:grpSp>
        <p:nvGrpSpPr>
          <p:cNvPr name="Group 8" id="8"/>
          <p:cNvGrpSpPr/>
          <p:nvPr/>
        </p:nvGrpSpPr>
        <p:grpSpPr>
          <a:xfrm rot="0">
            <a:off x="1701530" y="1695115"/>
            <a:ext cx="13866371" cy="136737"/>
            <a:chOff x="0" y="0"/>
            <a:chExt cx="10762831" cy="106133"/>
          </a:xfrm>
        </p:grpSpPr>
        <p:sp>
          <p:nvSpPr>
            <p:cNvPr name="Freeform 9" id="9"/>
            <p:cNvSpPr/>
            <p:nvPr/>
          </p:nvSpPr>
          <p:spPr>
            <a:xfrm flipH="false" flipV="false" rot="0">
              <a:off x="16891" y="9950"/>
              <a:ext cx="10728960" cy="86181"/>
            </a:xfrm>
            <a:custGeom>
              <a:avLst/>
              <a:gdLst/>
              <a:ahLst/>
              <a:cxnLst/>
              <a:rect r="r" b="b" t="t" l="l"/>
              <a:pathLst>
                <a:path h="86181" w="10728960">
                  <a:moveTo>
                    <a:pt x="0" y="0"/>
                  </a:moveTo>
                  <a:lnTo>
                    <a:pt x="10728960" y="0"/>
                  </a:lnTo>
                  <a:lnTo>
                    <a:pt x="10728960" y="86181"/>
                  </a:lnTo>
                  <a:lnTo>
                    <a:pt x="0" y="86181"/>
                  </a:lnTo>
                  <a:close/>
                </a:path>
              </a:pathLst>
            </a:custGeom>
            <a:solidFill>
              <a:srgbClr val="FF4D6A"/>
            </a:solidFill>
          </p:spPr>
        </p:sp>
        <p:sp>
          <p:nvSpPr>
            <p:cNvPr name="Freeform 10" id="10"/>
            <p:cNvSpPr/>
            <p:nvPr/>
          </p:nvSpPr>
          <p:spPr>
            <a:xfrm flipH="false" flipV="false" rot="0">
              <a:off x="0" y="0"/>
              <a:ext cx="10762742" cy="106082"/>
            </a:xfrm>
            <a:custGeom>
              <a:avLst/>
              <a:gdLst/>
              <a:ahLst/>
              <a:cxnLst/>
              <a:rect r="r" b="b" t="t" l="l"/>
              <a:pathLst>
                <a:path h="106082" w="10762742">
                  <a:moveTo>
                    <a:pt x="16891" y="0"/>
                  </a:moveTo>
                  <a:lnTo>
                    <a:pt x="10745851" y="0"/>
                  </a:lnTo>
                  <a:cubicBezTo>
                    <a:pt x="10755249" y="0"/>
                    <a:pt x="10762742" y="4489"/>
                    <a:pt x="10762742" y="9950"/>
                  </a:cubicBezTo>
                  <a:lnTo>
                    <a:pt x="10762742" y="96131"/>
                  </a:lnTo>
                  <a:cubicBezTo>
                    <a:pt x="10762742" y="101667"/>
                    <a:pt x="10755122" y="106081"/>
                    <a:pt x="10745851" y="106081"/>
                  </a:cubicBezTo>
                  <a:lnTo>
                    <a:pt x="16891" y="106081"/>
                  </a:lnTo>
                  <a:cubicBezTo>
                    <a:pt x="7620" y="106171"/>
                    <a:pt x="0" y="101667"/>
                    <a:pt x="0" y="96131"/>
                  </a:cubicBezTo>
                  <a:lnTo>
                    <a:pt x="0" y="9950"/>
                  </a:lnTo>
                  <a:cubicBezTo>
                    <a:pt x="0" y="4489"/>
                    <a:pt x="7620" y="0"/>
                    <a:pt x="16891" y="0"/>
                  </a:cubicBezTo>
                  <a:moveTo>
                    <a:pt x="16891" y="19974"/>
                  </a:moveTo>
                  <a:lnTo>
                    <a:pt x="16891" y="9950"/>
                  </a:lnTo>
                  <a:lnTo>
                    <a:pt x="33909" y="9950"/>
                  </a:lnTo>
                  <a:lnTo>
                    <a:pt x="33909" y="96131"/>
                  </a:lnTo>
                  <a:lnTo>
                    <a:pt x="16891" y="96131"/>
                  </a:lnTo>
                  <a:lnTo>
                    <a:pt x="16891" y="86181"/>
                  </a:lnTo>
                  <a:lnTo>
                    <a:pt x="10745851" y="86181"/>
                  </a:lnTo>
                  <a:lnTo>
                    <a:pt x="10745851" y="96131"/>
                  </a:lnTo>
                  <a:lnTo>
                    <a:pt x="10728960" y="96131"/>
                  </a:lnTo>
                  <a:lnTo>
                    <a:pt x="10728960" y="9950"/>
                  </a:lnTo>
                  <a:lnTo>
                    <a:pt x="10745851" y="9950"/>
                  </a:lnTo>
                  <a:lnTo>
                    <a:pt x="10745851" y="19974"/>
                  </a:lnTo>
                  <a:lnTo>
                    <a:pt x="16891" y="19974"/>
                  </a:lnTo>
                  <a:close/>
                </a:path>
              </a:pathLst>
            </a:custGeom>
            <a:solidFill>
              <a:srgbClr val="FF4D6A"/>
            </a:solidFill>
          </p:spPr>
        </p:sp>
      </p:grpSp>
      <p:grpSp>
        <p:nvGrpSpPr>
          <p:cNvPr name="Group 11" id="11"/>
          <p:cNvGrpSpPr/>
          <p:nvPr/>
        </p:nvGrpSpPr>
        <p:grpSpPr>
          <a:xfrm rot="0">
            <a:off x="5748018" y="0"/>
            <a:ext cx="7498080" cy="1254985"/>
            <a:chOff x="0" y="0"/>
            <a:chExt cx="9997440" cy="1673313"/>
          </a:xfrm>
        </p:grpSpPr>
        <p:sp>
          <p:nvSpPr>
            <p:cNvPr name="Freeform 12" id="12"/>
            <p:cNvSpPr/>
            <p:nvPr/>
          </p:nvSpPr>
          <p:spPr>
            <a:xfrm flipH="false" flipV="false" rot="0">
              <a:off x="0" y="0"/>
              <a:ext cx="9997440" cy="1673313"/>
            </a:xfrm>
            <a:custGeom>
              <a:avLst/>
              <a:gdLst/>
              <a:ahLst/>
              <a:cxnLst/>
              <a:rect r="r" b="b" t="t" l="l"/>
              <a:pathLst>
                <a:path h="1673313" w="9997440">
                  <a:moveTo>
                    <a:pt x="0" y="0"/>
                  </a:moveTo>
                  <a:lnTo>
                    <a:pt x="9997440" y="0"/>
                  </a:lnTo>
                  <a:lnTo>
                    <a:pt x="9997440" y="1673313"/>
                  </a:lnTo>
                  <a:lnTo>
                    <a:pt x="0" y="1673313"/>
                  </a:lnTo>
                  <a:close/>
                </a:path>
              </a:pathLst>
            </a:custGeom>
            <a:blipFill>
              <a:blip r:embed="rId3">
                <a:alphaModFix amt="0"/>
              </a:blip>
              <a:stretch>
                <a:fillRect l="0" t="-94557" r="0" b="-38274"/>
              </a:stretch>
            </a:blipFill>
          </p:spPr>
        </p:sp>
        <p:sp>
          <p:nvSpPr>
            <p:cNvPr name="TextBox 13" id="13"/>
            <p:cNvSpPr txBox="true"/>
            <p:nvPr/>
          </p:nvSpPr>
          <p:spPr>
            <a:xfrm>
              <a:off x="0" y="-47625"/>
              <a:ext cx="9997440" cy="1720938"/>
            </a:xfrm>
            <a:prstGeom prst="rect">
              <a:avLst/>
            </a:prstGeom>
          </p:spPr>
          <p:txBody>
            <a:bodyPr anchor="ctr" rtlCol="false" tIns="0" lIns="0" bIns="0" rIns="0"/>
            <a:lstStyle/>
            <a:p>
              <a:pPr algn="l">
                <a:lnSpc>
                  <a:spcPts val="2999"/>
                </a:lnSpc>
              </a:pPr>
              <a:r>
                <a:rPr lang="en-US" sz="2499" b="true">
                  <a:solidFill>
                    <a:srgbClr val="FFFFFF"/>
                  </a:solidFill>
                  <a:latin typeface="Calibri (MS) Bold"/>
                  <a:ea typeface="Calibri (MS) Bold"/>
                  <a:cs typeface="Calibri (MS) Bold"/>
                  <a:sym typeface="Calibri (MS) Bold"/>
                </a:rPr>
                <a:t>Analyse Churn</a:t>
              </a:r>
            </a:p>
          </p:txBody>
        </p:sp>
      </p:grpSp>
      <p:grpSp>
        <p:nvGrpSpPr>
          <p:cNvPr name="Group 14" id="14"/>
          <p:cNvGrpSpPr/>
          <p:nvPr/>
        </p:nvGrpSpPr>
        <p:grpSpPr>
          <a:xfrm rot="0">
            <a:off x="9138956" y="125498"/>
            <a:ext cx="7498080" cy="1003988"/>
            <a:chOff x="0" y="0"/>
            <a:chExt cx="9997440" cy="1338650"/>
          </a:xfrm>
        </p:grpSpPr>
        <p:sp>
          <p:nvSpPr>
            <p:cNvPr name="Freeform 15" id="15"/>
            <p:cNvSpPr/>
            <p:nvPr/>
          </p:nvSpPr>
          <p:spPr>
            <a:xfrm flipH="false" flipV="false" rot="0">
              <a:off x="0" y="0"/>
              <a:ext cx="9997440" cy="1338650"/>
            </a:xfrm>
            <a:custGeom>
              <a:avLst/>
              <a:gdLst/>
              <a:ahLst/>
              <a:cxnLst/>
              <a:rect r="r" b="b" t="t" l="l"/>
              <a:pathLst>
                <a:path h="1338650" w="9997440">
                  <a:moveTo>
                    <a:pt x="0" y="0"/>
                  </a:moveTo>
                  <a:lnTo>
                    <a:pt x="9997440" y="0"/>
                  </a:lnTo>
                  <a:lnTo>
                    <a:pt x="9997440" y="1338650"/>
                  </a:lnTo>
                  <a:lnTo>
                    <a:pt x="0" y="1338650"/>
                  </a:lnTo>
                  <a:close/>
                </a:path>
              </a:pathLst>
            </a:custGeom>
            <a:blipFill>
              <a:blip r:embed="rId3">
                <a:alphaModFix amt="0"/>
              </a:blip>
              <a:stretch>
                <a:fillRect l="0" t="-123661" r="0" b="-67378"/>
              </a:stretch>
            </a:blipFill>
          </p:spPr>
        </p:sp>
        <p:sp>
          <p:nvSpPr>
            <p:cNvPr name="TextBox 16" id="16"/>
            <p:cNvSpPr txBox="true"/>
            <p:nvPr/>
          </p:nvSpPr>
          <p:spPr>
            <a:xfrm>
              <a:off x="0" y="-47625"/>
              <a:ext cx="9997440" cy="1386275"/>
            </a:xfrm>
            <a:prstGeom prst="rect">
              <a:avLst/>
            </a:prstGeom>
          </p:spPr>
          <p:txBody>
            <a:bodyPr anchor="ctr" rtlCol="false" tIns="0" lIns="0" bIns="0" rIns="0"/>
            <a:lstStyle/>
            <a:p>
              <a:pPr algn="l">
                <a:lnSpc>
                  <a:spcPts val="2999"/>
                </a:lnSpc>
              </a:pPr>
              <a:r>
                <a:rPr lang="en-US" sz="2499">
                  <a:solidFill>
                    <a:srgbClr val="6B8BAA"/>
                  </a:solidFill>
                  <a:latin typeface="Calibri (MS)"/>
                  <a:ea typeface="Calibri (MS)"/>
                  <a:cs typeface="Calibri (MS)"/>
                  <a:sym typeface="Calibri (MS)"/>
                </a:rPr>
                <a:t>Histogramme probabilités + top 10 à risque</a:t>
              </a:r>
            </a:p>
          </p:txBody>
        </p:sp>
      </p:grpSp>
      <p:sp>
        <p:nvSpPr>
          <p:cNvPr name="Freeform 17" id="17"/>
          <p:cNvSpPr/>
          <p:nvPr/>
        </p:nvSpPr>
        <p:spPr>
          <a:xfrm flipH="false" flipV="false" rot="0">
            <a:off x="1701530" y="1831852"/>
            <a:ext cx="13842680" cy="7426448"/>
          </a:xfrm>
          <a:custGeom>
            <a:avLst/>
            <a:gdLst/>
            <a:ahLst/>
            <a:cxnLst/>
            <a:rect r="r" b="b" t="t" l="l"/>
            <a:pathLst>
              <a:path h="7426448" w="13842680">
                <a:moveTo>
                  <a:pt x="0" y="0"/>
                </a:moveTo>
                <a:lnTo>
                  <a:pt x="13842680" y="0"/>
                </a:lnTo>
                <a:lnTo>
                  <a:pt x="13842680" y="7426448"/>
                </a:lnTo>
                <a:lnTo>
                  <a:pt x="0" y="7426448"/>
                </a:lnTo>
                <a:lnTo>
                  <a:pt x="0" y="0"/>
                </a:lnTo>
                <a:close/>
              </a:path>
            </a:pathLst>
          </a:custGeom>
          <a:blipFill>
            <a:blip r:embed="rId4"/>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1035044" y="224414"/>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1045207" y="234577"/>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07 — INTERFACE</a:t>
              </a:r>
            </a:p>
          </p:txBody>
        </p:sp>
      </p:grpSp>
      <p:grpSp>
        <p:nvGrpSpPr>
          <p:cNvPr name="Group 8" id="8"/>
          <p:cNvGrpSpPr/>
          <p:nvPr/>
        </p:nvGrpSpPr>
        <p:grpSpPr>
          <a:xfrm rot="0">
            <a:off x="5794746" y="224414"/>
            <a:ext cx="7498080" cy="1254985"/>
            <a:chOff x="0" y="0"/>
            <a:chExt cx="9997440" cy="1673313"/>
          </a:xfrm>
        </p:grpSpPr>
        <p:sp>
          <p:nvSpPr>
            <p:cNvPr name="Freeform 9" id="9"/>
            <p:cNvSpPr/>
            <p:nvPr/>
          </p:nvSpPr>
          <p:spPr>
            <a:xfrm flipH="false" flipV="false" rot="0">
              <a:off x="0" y="0"/>
              <a:ext cx="9997440" cy="1673313"/>
            </a:xfrm>
            <a:custGeom>
              <a:avLst/>
              <a:gdLst/>
              <a:ahLst/>
              <a:cxnLst/>
              <a:rect r="r" b="b" t="t" l="l"/>
              <a:pathLst>
                <a:path h="1673313" w="9997440">
                  <a:moveTo>
                    <a:pt x="0" y="0"/>
                  </a:moveTo>
                  <a:lnTo>
                    <a:pt x="9997440" y="0"/>
                  </a:lnTo>
                  <a:lnTo>
                    <a:pt x="9997440" y="1673313"/>
                  </a:lnTo>
                  <a:lnTo>
                    <a:pt x="0" y="1673313"/>
                  </a:lnTo>
                  <a:close/>
                </a:path>
              </a:pathLst>
            </a:custGeom>
            <a:blipFill>
              <a:blip r:embed="rId3">
                <a:alphaModFix amt="0"/>
              </a:blip>
              <a:stretch>
                <a:fillRect l="0" t="-94557" r="0" b="-38274"/>
              </a:stretch>
            </a:blipFill>
          </p:spPr>
        </p:sp>
        <p:sp>
          <p:nvSpPr>
            <p:cNvPr name="TextBox 10" id="10"/>
            <p:cNvSpPr txBox="true"/>
            <p:nvPr/>
          </p:nvSpPr>
          <p:spPr>
            <a:xfrm>
              <a:off x="0" y="-47625"/>
              <a:ext cx="9997440" cy="1720938"/>
            </a:xfrm>
            <a:prstGeom prst="rect">
              <a:avLst/>
            </a:prstGeom>
          </p:spPr>
          <p:txBody>
            <a:bodyPr anchor="ctr" rtlCol="false" tIns="0" lIns="0" bIns="0" rIns="0"/>
            <a:lstStyle/>
            <a:p>
              <a:pPr algn="l">
                <a:lnSpc>
                  <a:spcPts val="2999"/>
                </a:lnSpc>
              </a:pPr>
              <a:r>
                <a:rPr lang="en-US" sz="2499" b="true">
                  <a:solidFill>
                    <a:srgbClr val="FFFFFF"/>
                  </a:solidFill>
                  <a:latin typeface="Calibri (MS) Bold"/>
                  <a:ea typeface="Calibri (MS) Bold"/>
                  <a:cs typeface="Calibri (MS) Bold"/>
                  <a:sym typeface="Calibri (MS) Bold"/>
                </a:rPr>
                <a:t>Segme</a:t>
              </a:r>
              <a:r>
                <a:rPr lang="en-US" sz="2499" b="true">
                  <a:solidFill>
                    <a:srgbClr val="FFFFFF"/>
                  </a:solidFill>
                  <a:latin typeface="Calibri (MS) Bold"/>
                  <a:ea typeface="Calibri (MS) Bold"/>
                  <a:cs typeface="Calibri (MS) Bold"/>
                  <a:sym typeface="Calibri (MS) Bold"/>
                </a:rPr>
                <a:t>nts &amp; Données</a:t>
              </a:r>
            </a:p>
          </p:txBody>
        </p:sp>
      </p:grpSp>
      <p:grpSp>
        <p:nvGrpSpPr>
          <p:cNvPr name="Group 11" id="11"/>
          <p:cNvGrpSpPr/>
          <p:nvPr/>
        </p:nvGrpSpPr>
        <p:grpSpPr>
          <a:xfrm rot="0">
            <a:off x="11140169" y="349912"/>
            <a:ext cx="7498080" cy="1003988"/>
            <a:chOff x="0" y="0"/>
            <a:chExt cx="9997440" cy="1338650"/>
          </a:xfrm>
        </p:grpSpPr>
        <p:sp>
          <p:nvSpPr>
            <p:cNvPr name="Freeform 12" id="12"/>
            <p:cNvSpPr/>
            <p:nvPr/>
          </p:nvSpPr>
          <p:spPr>
            <a:xfrm flipH="false" flipV="false" rot="0">
              <a:off x="0" y="0"/>
              <a:ext cx="9997440" cy="1338650"/>
            </a:xfrm>
            <a:custGeom>
              <a:avLst/>
              <a:gdLst/>
              <a:ahLst/>
              <a:cxnLst/>
              <a:rect r="r" b="b" t="t" l="l"/>
              <a:pathLst>
                <a:path h="1338650" w="9997440">
                  <a:moveTo>
                    <a:pt x="0" y="0"/>
                  </a:moveTo>
                  <a:lnTo>
                    <a:pt x="9997440" y="0"/>
                  </a:lnTo>
                  <a:lnTo>
                    <a:pt x="9997440" y="1338650"/>
                  </a:lnTo>
                  <a:lnTo>
                    <a:pt x="0" y="1338650"/>
                  </a:lnTo>
                  <a:close/>
                </a:path>
              </a:pathLst>
            </a:custGeom>
            <a:blipFill>
              <a:blip r:embed="rId3">
                <a:alphaModFix amt="0"/>
              </a:blip>
              <a:stretch>
                <a:fillRect l="0" t="-123661" r="0" b="-67378"/>
              </a:stretch>
            </a:blipFill>
          </p:spPr>
        </p:sp>
        <p:sp>
          <p:nvSpPr>
            <p:cNvPr name="TextBox 13" id="13"/>
            <p:cNvSpPr txBox="true"/>
            <p:nvPr/>
          </p:nvSpPr>
          <p:spPr>
            <a:xfrm>
              <a:off x="0" y="-47625"/>
              <a:ext cx="9997440" cy="1386275"/>
            </a:xfrm>
            <a:prstGeom prst="rect">
              <a:avLst/>
            </a:prstGeom>
          </p:spPr>
          <p:txBody>
            <a:bodyPr anchor="ctr" rtlCol="false" tIns="0" lIns="0" bIns="0" rIns="0"/>
            <a:lstStyle/>
            <a:p>
              <a:pPr algn="l">
                <a:lnSpc>
                  <a:spcPts val="2999"/>
                </a:lnSpc>
              </a:pPr>
              <a:r>
                <a:rPr lang="en-US" sz="2499">
                  <a:solidFill>
                    <a:srgbClr val="6B8BAA"/>
                  </a:solidFill>
                  <a:latin typeface="Calibri (MS)"/>
                  <a:ea typeface="Calibri (MS)"/>
                  <a:cs typeface="Calibri (MS)"/>
                  <a:sym typeface="Calibri (MS)"/>
                </a:rPr>
                <a:t>P</a:t>
              </a:r>
              <a:r>
                <a:rPr lang="en-US" sz="2499">
                  <a:solidFill>
                    <a:srgbClr val="6B8BAA"/>
                  </a:solidFill>
                  <a:latin typeface="Calibri (MS)"/>
                  <a:ea typeface="Calibri (MS)"/>
                  <a:cs typeface="Calibri (MS)"/>
                  <a:sym typeface="Calibri (MS)"/>
                </a:rPr>
                <a:t>ie chart + stacked bar + tableau 15 lignes</a:t>
              </a:r>
            </a:p>
          </p:txBody>
        </p:sp>
      </p:grpSp>
      <p:grpSp>
        <p:nvGrpSpPr>
          <p:cNvPr name="Group 14" id="14"/>
          <p:cNvGrpSpPr/>
          <p:nvPr/>
        </p:nvGrpSpPr>
        <p:grpSpPr>
          <a:xfrm rot="0">
            <a:off x="2486887" y="1575573"/>
            <a:ext cx="13013206" cy="194293"/>
            <a:chOff x="0" y="0"/>
            <a:chExt cx="10762831" cy="160694"/>
          </a:xfrm>
        </p:grpSpPr>
        <p:sp>
          <p:nvSpPr>
            <p:cNvPr name="Freeform 15" id="15"/>
            <p:cNvSpPr/>
            <p:nvPr/>
          </p:nvSpPr>
          <p:spPr>
            <a:xfrm flipH="false" flipV="false" rot="0">
              <a:off x="16891" y="15065"/>
              <a:ext cx="10728960" cy="130485"/>
            </a:xfrm>
            <a:custGeom>
              <a:avLst/>
              <a:gdLst/>
              <a:ahLst/>
              <a:cxnLst/>
              <a:rect r="r" b="b" t="t" l="l"/>
              <a:pathLst>
                <a:path h="130485" w="10728960">
                  <a:moveTo>
                    <a:pt x="0" y="0"/>
                  </a:moveTo>
                  <a:lnTo>
                    <a:pt x="10728960" y="0"/>
                  </a:lnTo>
                  <a:lnTo>
                    <a:pt x="10728960" y="130485"/>
                  </a:lnTo>
                  <a:lnTo>
                    <a:pt x="0" y="130485"/>
                  </a:lnTo>
                  <a:close/>
                </a:path>
              </a:pathLst>
            </a:custGeom>
            <a:solidFill>
              <a:srgbClr val="FFB800"/>
            </a:solidFill>
          </p:spPr>
        </p:sp>
        <p:sp>
          <p:nvSpPr>
            <p:cNvPr name="Freeform 16" id="16"/>
            <p:cNvSpPr/>
            <p:nvPr/>
          </p:nvSpPr>
          <p:spPr>
            <a:xfrm flipH="false" flipV="false" rot="0">
              <a:off x="0" y="0"/>
              <a:ext cx="10762742" cy="160616"/>
            </a:xfrm>
            <a:custGeom>
              <a:avLst/>
              <a:gdLst/>
              <a:ahLst/>
              <a:cxnLst/>
              <a:rect r="r" b="b" t="t" l="l"/>
              <a:pathLst>
                <a:path h="160616" w="10762742">
                  <a:moveTo>
                    <a:pt x="16891" y="0"/>
                  </a:moveTo>
                  <a:lnTo>
                    <a:pt x="10745851" y="0"/>
                  </a:lnTo>
                  <a:cubicBezTo>
                    <a:pt x="10755249" y="0"/>
                    <a:pt x="10762742" y="6796"/>
                    <a:pt x="10762742" y="15065"/>
                  </a:cubicBezTo>
                  <a:lnTo>
                    <a:pt x="10762742" y="145550"/>
                  </a:lnTo>
                  <a:cubicBezTo>
                    <a:pt x="10762742" y="153932"/>
                    <a:pt x="10755122" y="160615"/>
                    <a:pt x="10745851" y="160615"/>
                  </a:cubicBezTo>
                  <a:lnTo>
                    <a:pt x="16891" y="160615"/>
                  </a:lnTo>
                  <a:cubicBezTo>
                    <a:pt x="7620" y="160732"/>
                    <a:pt x="0" y="153932"/>
                    <a:pt x="0" y="145550"/>
                  </a:cubicBezTo>
                  <a:lnTo>
                    <a:pt x="0" y="15065"/>
                  </a:lnTo>
                  <a:cubicBezTo>
                    <a:pt x="0" y="6796"/>
                    <a:pt x="7620" y="0"/>
                    <a:pt x="16891" y="0"/>
                  </a:cubicBezTo>
                  <a:moveTo>
                    <a:pt x="16891" y="30243"/>
                  </a:moveTo>
                  <a:lnTo>
                    <a:pt x="16891" y="15065"/>
                  </a:lnTo>
                  <a:lnTo>
                    <a:pt x="33909" y="15065"/>
                  </a:lnTo>
                  <a:lnTo>
                    <a:pt x="33909" y="145550"/>
                  </a:lnTo>
                  <a:lnTo>
                    <a:pt x="16891" y="145550"/>
                  </a:lnTo>
                  <a:lnTo>
                    <a:pt x="16891" y="130485"/>
                  </a:lnTo>
                  <a:lnTo>
                    <a:pt x="10745851" y="130485"/>
                  </a:lnTo>
                  <a:lnTo>
                    <a:pt x="10745851" y="145550"/>
                  </a:lnTo>
                  <a:lnTo>
                    <a:pt x="10728960" y="145550"/>
                  </a:lnTo>
                  <a:lnTo>
                    <a:pt x="10728960" y="15065"/>
                  </a:lnTo>
                  <a:lnTo>
                    <a:pt x="10745851" y="15065"/>
                  </a:lnTo>
                  <a:lnTo>
                    <a:pt x="10745851" y="30243"/>
                  </a:lnTo>
                  <a:lnTo>
                    <a:pt x="16891" y="30243"/>
                  </a:lnTo>
                  <a:close/>
                </a:path>
              </a:pathLst>
            </a:custGeom>
            <a:solidFill>
              <a:srgbClr val="FFB800"/>
            </a:solidFill>
          </p:spPr>
        </p:sp>
      </p:grpSp>
      <p:sp>
        <p:nvSpPr>
          <p:cNvPr name="Freeform 17" id="17"/>
          <p:cNvSpPr/>
          <p:nvPr/>
        </p:nvSpPr>
        <p:spPr>
          <a:xfrm flipH="false" flipV="false" rot="0">
            <a:off x="2486887" y="1862939"/>
            <a:ext cx="13013206" cy="7875955"/>
          </a:xfrm>
          <a:custGeom>
            <a:avLst/>
            <a:gdLst/>
            <a:ahLst/>
            <a:cxnLst/>
            <a:rect r="r" b="b" t="t" l="l"/>
            <a:pathLst>
              <a:path h="7875955" w="13013206">
                <a:moveTo>
                  <a:pt x="0" y="0"/>
                </a:moveTo>
                <a:lnTo>
                  <a:pt x="13013206" y="0"/>
                </a:lnTo>
                <a:lnTo>
                  <a:pt x="13013206" y="7875955"/>
                </a:lnTo>
                <a:lnTo>
                  <a:pt x="0" y="7875955"/>
                </a:lnTo>
                <a:lnTo>
                  <a:pt x="0" y="0"/>
                </a:lnTo>
                <a:close/>
              </a:path>
            </a:pathLst>
          </a:custGeom>
          <a:blipFill>
            <a:blip r:embed="rId4"/>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sp>
        <p:nvSpPr>
          <p:cNvPr name="Freeform 2" id="2"/>
          <p:cNvSpPr/>
          <p:nvPr/>
        </p:nvSpPr>
        <p:spPr>
          <a:xfrm flipH="false" flipV="false" rot="0">
            <a:off x="2384094" y="0"/>
            <a:ext cx="13072946" cy="10287000"/>
          </a:xfrm>
          <a:custGeom>
            <a:avLst/>
            <a:gdLst/>
            <a:ahLst/>
            <a:cxnLst/>
            <a:rect r="r" b="b" t="t" l="l"/>
            <a:pathLst>
              <a:path h="10287000" w="13072946">
                <a:moveTo>
                  <a:pt x="0" y="0"/>
                </a:moveTo>
                <a:lnTo>
                  <a:pt x="13072945" y="0"/>
                </a:lnTo>
                <a:lnTo>
                  <a:pt x="13072945" y="10287000"/>
                </a:lnTo>
                <a:lnTo>
                  <a:pt x="0" y="10287000"/>
                </a:lnTo>
                <a:lnTo>
                  <a:pt x="0" y="0"/>
                </a:lnTo>
                <a:close/>
              </a:path>
            </a:pathLst>
          </a:custGeom>
          <a:blipFill>
            <a:blip r:embed="rId2"/>
            <a:stretch>
              <a:fillRect l="-2414" t="0" r="-2414"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904237" y="392173"/>
            <a:ext cx="4043677" cy="605533"/>
            <a:chOff x="0" y="0"/>
            <a:chExt cx="5391569" cy="807377"/>
          </a:xfrm>
        </p:grpSpPr>
        <p:sp>
          <p:nvSpPr>
            <p:cNvPr name="Freeform 3" id="3"/>
            <p:cNvSpPr/>
            <p:nvPr/>
          </p:nvSpPr>
          <p:spPr>
            <a:xfrm flipH="false" flipV="false" rot="0">
              <a:off x="13589" y="13589"/>
              <a:ext cx="5364353" cy="780288"/>
            </a:xfrm>
            <a:custGeom>
              <a:avLst/>
              <a:gdLst/>
              <a:ahLst/>
              <a:cxnLst/>
              <a:rect r="r" b="b" t="t" l="l"/>
              <a:pathLst>
                <a:path h="780288" w="5364353">
                  <a:moveTo>
                    <a:pt x="0" y="195072"/>
                  </a:moveTo>
                  <a:cubicBezTo>
                    <a:pt x="0" y="87376"/>
                    <a:pt x="89916" y="0"/>
                    <a:pt x="200787" y="0"/>
                  </a:cubicBezTo>
                  <a:lnTo>
                    <a:pt x="5163566" y="0"/>
                  </a:lnTo>
                  <a:cubicBezTo>
                    <a:pt x="5274437" y="0"/>
                    <a:pt x="5364353" y="87376"/>
                    <a:pt x="5364353" y="195072"/>
                  </a:cubicBezTo>
                  <a:lnTo>
                    <a:pt x="5364353" y="585216"/>
                  </a:lnTo>
                  <a:cubicBezTo>
                    <a:pt x="5364353" y="692912"/>
                    <a:pt x="5274437" y="780288"/>
                    <a:pt x="5163566" y="780288"/>
                  </a:cubicBezTo>
                  <a:lnTo>
                    <a:pt x="200787" y="780288"/>
                  </a:lnTo>
                  <a:cubicBezTo>
                    <a:pt x="89916" y="780288"/>
                    <a:pt x="0" y="692912"/>
                    <a:pt x="0" y="585216"/>
                  </a:cubicBezTo>
                  <a:close/>
                </a:path>
              </a:pathLst>
            </a:custGeom>
            <a:solidFill>
              <a:srgbClr val="00E5A0">
                <a:alpha val="1961"/>
              </a:srgbClr>
            </a:solidFill>
          </p:spPr>
        </p:sp>
        <p:sp>
          <p:nvSpPr>
            <p:cNvPr name="Freeform 4" id="4"/>
            <p:cNvSpPr/>
            <p:nvPr/>
          </p:nvSpPr>
          <p:spPr>
            <a:xfrm flipH="false" flipV="false" rot="0">
              <a:off x="0" y="0"/>
              <a:ext cx="5391531" cy="807466"/>
            </a:xfrm>
            <a:custGeom>
              <a:avLst/>
              <a:gdLst/>
              <a:ahLst/>
              <a:cxnLst/>
              <a:rect r="r" b="b" t="t" l="l"/>
              <a:pathLst>
                <a:path h="807466" w="5391531">
                  <a:moveTo>
                    <a:pt x="0" y="208661"/>
                  </a:moveTo>
                  <a:cubicBezTo>
                    <a:pt x="0" y="93091"/>
                    <a:pt x="96393" y="0"/>
                    <a:pt x="214376" y="0"/>
                  </a:cubicBezTo>
                  <a:lnTo>
                    <a:pt x="5177155" y="0"/>
                  </a:lnTo>
                  <a:lnTo>
                    <a:pt x="5177155" y="13589"/>
                  </a:lnTo>
                  <a:lnTo>
                    <a:pt x="5177155" y="0"/>
                  </a:lnTo>
                  <a:cubicBezTo>
                    <a:pt x="5295138" y="0"/>
                    <a:pt x="5391531" y="93091"/>
                    <a:pt x="5391531" y="208661"/>
                  </a:cubicBezTo>
                  <a:lnTo>
                    <a:pt x="5377942" y="208661"/>
                  </a:lnTo>
                  <a:lnTo>
                    <a:pt x="5391531" y="208661"/>
                  </a:lnTo>
                  <a:lnTo>
                    <a:pt x="5391531" y="598805"/>
                  </a:lnTo>
                  <a:lnTo>
                    <a:pt x="5377942" y="598805"/>
                  </a:lnTo>
                  <a:lnTo>
                    <a:pt x="5391531" y="598805"/>
                  </a:lnTo>
                  <a:cubicBezTo>
                    <a:pt x="5391531" y="714375"/>
                    <a:pt x="5295138" y="807466"/>
                    <a:pt x="5177155" y="807466"/>
                  </a:cubicBezTo>
                  <a:lnTo>
                    <a:pt x="5177155" y="793877"/>
                  </a:lnTo>
                  <a:lnTo>
                    <a:pt x="5177155" y="807466"/>
                  </a:lnTo>
                  <a:lnTo>
                    <a:pt x="214376" y="807466"/>
                  </a:lnTo>
                  <a:lnTo>
                    <a:pt x="214376" y="793877"/>
                  </a:lnTo>
                  <a:lnTo>
                    <a:pt x="214376" y="807466"/>
                  </a:lnTo>
                  <a:cubicBezTo>
                    <a:pt x="96393" y="807339"/>
                    <a:pt x="0" y="714375"/>
                    <a:pt x="0" y="598805"/>
                  </a:cubicBezTo>
                  <a:lnTo>
                    <a:pt x="0" y="208661"/>
                  </a:lnTo>
                  <a:lnTo>
                    <a:pt x="13589" y="208661"/>
                  </a:lnTo>
                  <a:lnTo>
                    <a:pt x="0" y="208661"/>
                  </a:lnTo>
                  <a:moveTo>
                    <a:pt x="27051" y="208661"/>
                  </a:moveTo>
                  <a:lnTo>
                    <a:pt x="27051" y="598805"/>
                  </a:lnTo>
                  <a:lnTo>
                    <a:pt x="13589" y="598805"/>
                  </a:lnTo>
                  <a:lnTo>
                    <a:pt x="27051" y="598805"/>
                  </a:lnTo>
                  <a:cubicBezTo>
                    <a:pt x="27051" y="698627"/>
                    <a:pt x="110490" y="780288"/>
                    <a:pt x="214376" y="780288"/>
                  </a:cubicBezTo>
                  <a:lnTo>
                    <a:pt x="5177155" y="780288"/>
                  </a:lnTo>
                  <a:cubicBezTo>
                    <a:pt x="5280914" y="780288"/>
                    <a:pt x="5364480" y="698627"/>
                    <a:pt x="5364480" y="598805"/>
                  </a:cubicBezTo>
                  <a:lnTo>
                    <a:pt x="5364480" y="208661"/>
                  </a:lnTo>
                  <a:cubicBezTo>
                    <a:pt x="5364480" y="108839"/>
                    <a:pt x="5281041" y="27178"/>
                    <a:pt x="5177155" y="27178"/>
                  </a:cubicBezTo>
                  <a:lnTo>
                    <a:pt x="214376" y="27178"/>
                  </a:lnTo>
                  <a:lnTo>
                    <a:pt x="214376" y="13589"/>
                  </a:lnTo>
                  <a:lnTo>
                    <a:pt x="214376" y="27051"/>
                  </a:lnTo>
                  <a:cubicBezTo>
                    <a:pt x="110617" y="27051"/>
                    <a:pt x="27051" y="108712"/>
                    <a:pt x="27051" y="208661"/>
                  </a:cubicBezTo>
                  <a:close/>
                </a:path>
              </a:pathLst>
            </a:custGeom>
            <a:solidFill>
              <a:srgbClr val="00E5A0"/>
            </a:solidFill>
          </p:spPr>
        </p:sp>
      </p:grpSp>
      <p:grpSp>
        <p:nvGrpSpPr>
          <p:cNvPr name="Group 5" id="5"/>
          <p:cNvGrpSpPr/>
          <p:nvPr/>
        </p:nvGrpSpPr>
        <p:grpSpPr>
          <a:xfrm rot="0">
            <a:off x="914400" y="402336"/>
            <a:ext cx="4023360" cy="585216"/>
            <a:chOff x="0" y="0"/>
            <a:chExt cx="5364480" cy="780288"/>
          </a:xfrm>
        </p:grpSpPr>
        <p:sp>
          <p:nvSpPr>
            <p:cNvPr name="Freeform 6" id="6"/>
            <p:cNvSpPr/>
            <p:nvPr/>
          </p:nvSpPr>
          <p:spPr>
            <a:xfrm flipH="false" flipV="false" rot="0">
              <a:off x="0" y="0"/>
              <a:ext cx="5364480" cy="780288"/>
            </a:xfrm>
            <a:custGeom>
              <a:avLst/>
              <a:gdLst/>
              <a:ahLst/>
              <a:cxnLst/>
              <a:rect r="r" b="b" t="t" l="l"/>
              <a:pathLst>
                <a:path h="780288" w="5364480">
                  <a:moveTo>
                    <a:pt x="0" y="0"/>
                  </a:moveTo>
                  <a:lnTo>
                    <a:pt x="5364480" y="0"/>
                  </a:lnTo>
                  <a:lnTo>
                    <a:pt x="5364480" y="780288"/>
                  </a:lnTo>
                  <a:lnTo>
                    <a:pt x="0" y="780288"/>
                  </a:lnTo>
                  <a:close/>
                </a:path>
              </a:pathLst>
            </a:custGeom>
            <a:blipFill>
              <a:blip r:embed="rId3">
                <a:alphaModFix amt="0"/>
              </a:blip>
              <a:stretch>
                <a:fillRect l="0" t="-83959" r="0" b="-83959"/>
              </a:stretch>
            </a:blipFill>
          </p:spPr>
        </p:sp>
        <p:sp>
          <p:nvSpPr>
            <p:cNvPr name="TextBox 7" id="7"/>
            <p:cNvSpPr txBox="true"/>
            <p:nvPr/>
          </p:nvSpPr>
          <p:spPr>
            <a:xfrm>
              <a:off x="0" y="-38100"/>
              <a:ext cx="5364480" cy="818388"/>
            </a:xfrm>
            <a:prstGeom prst="rect">
              <a:avLst/>
            </a:prstGeom>
          </p:spPr>
          <p:txBody>
            <a:bodyPr anchor="ctr" rtlCol="false" tIns="0" lIns="0" bIns="0" rIns="0"/>
            <a:lstStyle/>
            <a:p>
              <a:pPr algn="ctr">
                <a:lnSpc>
                  <a:spcPts val="2160"/>
                </a:lnSpc>
              </a:pPr>
              <a:r>
                <a:rPr lang="en-US" b="true" sz="1800" spc="400">
                  <a:solidFill>
                    <a:srgbClr val="00E5A0"/>
                  </a:solidFill>
                  <a:latin typeface="Calibri (MS) Bold"/>
                  <a:ea typeface="Calibri (MS) Bold"/>
                  <a:cs typeface="Calibri (MS) Bold"/>
                  <a:sym typeface="Calibri (MS) Bold"/>
                </a:rPr>
                <a:t>08 — PERSPECTIVES</a:t>
              </a:r>
            </a:p>
          </p:txBody>
        </p:sp>
      </p:grpSp>
      <p:grpSp>
        <p:nvGrpSpPr>
          <p:cNvPr name="Group 8" id="8"/>
          <p:cNvGrpSpPr/>
          <p:nvPr/>
        </p:nvGrpSpPr>
        <p:grpSpPr>
          <a:xfrm rot="0">
            <a:off x="916934" y="987552"/>
            <a:ext cx="16459200" cy="1280160"/>
            <a:chOff x="0" y="0"/>
            <a:chExt cx="21945600" cy="1706880"/>
          </a:xfrm>
        </p:grpSpPr>
        <p:sp>
          <p:nvSpPr>
            <p:cNvPr name="Freeform 9" id="9"/>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3">
                <a:alphaModFix amt="0"/>
              </a:blip>
              <a:stretch>
                <a:fillRect l="0" t="-200521" r="0" b="-200521"/>
              </a:stretch>
            </a:blipFill>
          </p:spPr>
        </p:sp>
        <p:sp>
          <p:nvSpPr>
            <p:cNvPr name="TextBox 10" id="10"/>
            <p:cNvSpPr txBox="true"/>
            <p:nvPr/>
          </p:nvSpPr>
          <p:spPr>
            <a:xfrm>
              <a:off x="0" y="-114300"/>
              <a:ext cx="21945600" cy="182118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Insights Business &amp; Perspectives</a:t>
              </a:r>
            </a:p>
          </p:txBody>
        </p:sp>
      </p:grpSp>
      <p:grpSp>
        <p:nvGrpSpPr>
          <p:cNvPr name="Group 11" id="11"/>
          <p:cNvGrpSpPr/>
          <p:nvPr/>
        </p:nvGrpSpPr>
        <p:grpSpPr>
          <a:xfrm rot="0">
            <a:off x="910580" y="2700271"/>
            <a:ext cx="8059417" cy="7181593"/>
            <a:chOff x="0" y="0"/>
            <a:chExt cx="10745889" cy="9575457"/>
          </a:xfrm>
        </p:grpSpPr>
        <p:sp>
          <p:nvSpPr>
            <p:cNvPr name="Freeform 12" id="12"/>
            <p:cNvSpPr/>
            <p:nvPr/>
          </p:nvSpPr>
          <p:spPr>
            <a:xfrm flipH="false" flipV="false" rot="0">
              <a:off x="8509" y="8509"/>
              <a:ext cx="10728960" cy="9558528"/>
            </a:xfrm>
            <a:custGeom>
              <a:avLst/>
              <a:gdLst/>
              <a:ahLst/>
              <a:cxnLst/>
              <a:rect r="r" b="b" t="t" l="l"/>
              <a:pathLst>
                <a:path h="9558528" w="10728960">
                  <a:moveTo>
                    <a:pt x="0" y="0"/>
                  </a:moveTo>
                  <a:lnTo>
                    <a:pt x="10728960" y="0"/>
                  </a:lnTo>
                  <a:lnTo>
                    <a:pt x="10728960" y="9558528"/>
                  </a:lnTo>
                  <a:lnTo>
                    <a:pt x="0" y="9558528"/>
                  </a:lnTo>
                  <a:close/>
                </a:path>
              </a:pathLst>
            </a:custGeom>
            <a:solidFill>
              <a:srgbClr val="0D1E35"/>
            </a:solidFill>
          </p:spPr>
        </p:sp>
        <p:sp>
          <p:nvSpPr>
            <p:cNvPr name="Freeform 13" id="13"/>
            <p:cNvSpPr/>
            <p:nvPr/>
          </p:nvSpPr>
          <p:spPr>
            <a:xfrm flipH="false" flipV="false" rot="0">
              <a:off x="0" y="0"/>
              <a:ext cx="10745978" cy="9575546"/>
            </a:xfrm>
            <a:custGeom>
              <a:avLst/>
              <a:gdLst/>
              <a:ahLst/>
              <a:cxnLst/>
              <a:rect r="r" b="b" t="t" l="l"/>
              <a:pathLst>
                <a:path h="9575546" w="10745978">
                  <a:moveTo>
                    <a:pt x="8509" y="0"/>
                  </a:moveTo>
                  <a:lnTo>
                    <a:pt x="10737469" y="0"/>
                  </a:lnTo>
                  <a:cubicBezTo>
                    <a:pt x="10742168" y="0"/>
                    <a:pt x="10745978" y="3810"/>
                    <a:pt x="10745978" y="8509"/>
                  </a:cubicBezTo>
                  <a:lnTo>
                    <a:pt x="10745978" y="9567037"/>
                  </a:lnTo>
                  <a:cubicBezTo>
                    <a:pt x="10745978" y="9571736"/>
                    <a:pt x="10742168" y="9575546"/>
                    <a:pt x="10737469" y="9575546"/>
                  </a:cubicBezTo>
                  <a:lnTo>
                    <a:pt x="8509" y="9575546"/>
                  </a:lnTo>
                  <a:cubicBezTo>
                    <a:pt x="3810" y="9575546"/>
                    <a:pt x="0" y="9571736"/>
                    <a:pt x="0" y="9567037"/>
                  </a:cubicBezTo>
                  <a:lnTo>
                    <a:pt x="0" y="8509"/>
                  </a:lnTo>
                  <a:cubicBezTo>
                    <a:pt x="0" y="3810"/>
                    <a:pt x="3810" y="0"/>
                    <a:pt x="8509" y="0"/>
                  </a:cubicBezTo>
                  <a:moveTo>
                    <a:pt x="8509" y="16891"/>
                  </a:moveTo>
                  <a:lnTo>
                    <a:pt x="8509" y="8509"/>
                  </a:lnTo>
                  <a:lnTo>
                    <a:pt x="17018" y="8509"/>
                  </a:lnTo>
                  <a:lnTo>
                    <a:pt x="17018" y="9567037"/>
                  </a:lnTo>
                  <a:lnTo>
                    <a:pt x="8509" y="9567037"/>
                  </a:lnTo>
                  <a:lnTo>
                    <a:pt x="8509" y="9558528"/>
                  </a:lnTo>
                  <a:lnTo>
                    <a:pt x="10737469" y="9558528"/>
                  </a:lnTo>
                  <a:lnTo>
                    <a:pt x="10737469" y="9567037"/>
                  </a:lnTo>
                  <a:lnTo>
                    <a:pt x="10728960" y="9567037"/>
                  </a:lnTo>
                  <a:lnTo>
                    <a:pt x="10728960" y="8509"/>
                  </a:lnTo>
                  <a:lnTo>
                    <a:pt x="10737469" y="8509"/>
                  </a:lnTo>
                  <a:lnTo>
                    <a:pt x="10737469" y="17018"/>
                  </a:lnTo>
                  <a:lnTo>
                    <a:pt x="8509" y="17018"/>
                  </a:lnTo>
                  <a:close/>
                </a:path>
              </a:pathLst>
            </a:custGeom>
            <a:solidFill>
              <a:srgbClr val="1E3352"/>
            </a:solidFill>
          </p:spPr>
        </p:sp>
      </p:grpSp>
      <p:grpSp>
        <p:nvGrpSpPr>
          <p:cNvPr name="Group 14" id="14"/>
          <p:cNvGrpSpPr/>
          <p:nvPr/>
        </p:nvGrpSpPr>
        <p:grpSpPr>
          <a:xfrm rot="0">
            <a:off x="904237" y="2693927"/>
            <a:ext cx="135131" cy="7194299"/>
            <a:chOff x="0" y="0"/>
            <a:chExt cx="180175" cy="9592399"/>
          </a:xfrm>
        </p:grpSpPr>
        <p:sp>
          <p:nvSpPr>
            <p:cNvPr name="Freeform 15" id="15"/>
            <p:cNvSpPr/>
            <p:nvPr/>
          </p:nvSpPr>
          <p:spPr>
            <a:xfrm flipH="false" flipV="false" rot="0">
              <a:off x="16891" y="16891"/>
              <a:ext cx="146304" cy="9558528"/>
            </a:xfrm>
            <a:custGeom>
              <a:avLst/>
              <a:gdLst/>
              <a:ahLst/>
              <a:cxnLst/>
              <a:rect r="r" b="b" t="t" l="l"/>
              <a:pathLst>
                <a:path h="9558528" w="146304">
                  <a:moveTo>
                    <a:pt x="0" y="0"/>
                  </a:moveTo>
                  <a:lnTo>
                    <a:pt x="146304" y="0"/>
                  </a:lnTo>
                  <a:lnTo>
                    <a:pt x="146304" y="9558528"/>
                  </a:lnTo>
                  <a:lnTo>
                    <a:pt x="0" y="9558528"/>
                  </a:lnTo>
                  <a:close/>
                </a:path>
              </a:pathLst>
            </a:custGeom>
            <a:solidFill>
              <a:srgbClr val="00E5A0"/>
            </a:solidFill>
          </p:spPr>
        </p:sp>
        <p:sp>
          <p:nvSpPr>
            <p:cNvPr name="Freeform 16" id="16"/>
            <p:cNvSpPr/>
            <p:nvPr/>
          </p:nvSpPr>
          <p:spPr>
            <a:xfrm flipH="false" flipV="false" rot="0">
              <a:off x="0" y="0"/>
              <a:ext cx="180086" cy="9592310"/>
            </a:xfrm>
            <a:custGeom>
              <a:avLst/>
              <a:gdLst/>
              <a:ahLst/>
              <a:cxnLst/>
              <a:rect r="r" b="b" t="t" l="l"/>
              <a:pathLst>
                <a:path h="9592310" w="180086">
                  <a:moveTo>
                    <a:pt x="16891" y="0"/>
                  </a:moveTo>
                  <a:lnTo>
                    <a:pt x="163195" y="0"/>
                  </a:lnTo>
                  <a:cubicBezTo>
                    <a:pt x="172593" y="0"/>
                    <a:pt x="180086" y="7620"/>
                    <a:pt x="180086" y="16891"/>
                  </a:cubicBezTo>
                  <a:lnTo>
                    <a:pt x="180086" y="9575419"/>
                  </a:lnTo>
                  <a:cubicBezTo>
                    <a:pt x="180086" y="9584817"/>
                    <a:pt x="172466" y="9592310"/>
                    <a:pt x="163195" y="9592310"/>
                  </a:cubicBezTo>
                  <a:lnTo>
                    <a:pt x="16891" y="9592310"/>
                  </a:lnTo>
                  <a:cubicBezTo>
                    <a:pt x="7493" y="9592310"/>
                    <a:pt x="0" y="9584689"/>
                    <a:pt x="0" y="9575419"/>
                  </a:cubicBezTo>
                  <a:lnTo>
                    <a:pt x="0" y="16891"/>
                  </a:lnTo>
                  <a:cubicBezTo>
                    <a:pt x="0" y="7620"/>
                    <a:pt x="7620" y="0"/>
                    <a:pt x="16891" y="0"/>
                  </a:cubicBezTo>
                  <a:moveTo>
                    <a:pt x="16891" y="33909"/>
                  </a:moveTo>
                  <a:lnTo>
                    <a:pt x="16891" y="16891"/>
                  </a:lnTo>
                  <a:lnTo>
                    <a:pt x="33909" y="16891"/>
                  </a:lnTo>
                  <a:lnTo>
                    <a:pt x="33909" y="9575419"/>
                  </a:lnTo>
                  <a:lnTo>
                    <a:pt x="16891" y="9575419"/>
                  </a:lnTo>
                  <a:lnTo>
                    <a:pt x="16891" y="9558527"/>
                  </a:lnTo>
                  <a:lnTo>
                    <a:pt x="163195" y="9558527"/>
                  </a:lnTo>
                  <a:lnTo>
                    <a:pt x="163195" y="9575419"/>
                  </a:lnTo>
                  <a:lnTo>
                    <a:pt x="146304" y="9575419"/>
                  </a:lnTo>
                  <a:lnTo>
                    <a:pt x="146304" y="16891"/>
                  </a:lnTo>
                  <a:lnTo>
                    <a:pt x="163195" y="16891"/>
                  </a:lnTo>
                  <a:lnTo>
                    <a:pt x="163195" y="33909"/>
                  </a:lnTo>
                  <a:lnTo>
                    <a:pt x="16891" y="33909"/>
                  </a:lnTo>
                  <a:close/>
                </a:path>
              </a:pathLst>
            </a:custGeom>
            <a:solidFill>
              <a:srgbClr val="00E5A0"/>
            </a:solidFill>
          </p:spPr>
        </p:sp>
      </p:grpSp>
      <p:grpSp>
        <p:nvGrpSpPr>
          <p:cNvPr name="Group 17" id="17"/>
          <p:cNvGrpSpPr/>
          <p:nvPr/>
        </p:nvGrpSpPr>
        <p:grpSpPr>
          <a:xfrm rot="0">
            <a:off x="1319270" y="2852928"/>
            <a:ext cx="7315200" cy="694944"/>
            <a:chOff x="0" y="0"/>
            <a:chExt cx="9753600" cy="926592"/>
          </a:xfrm>
        </p:grpSpPr>
        <p:sp>
          <p:nvSpPr>
            <p:cNvPr name="Freeform 18" id="18"/>
            <p:cNvSpPr/>
            <p:nvPr/>
          </p:nvSpPr>
          <p:spPr>
            <a:xfrm flipH="false" flipV="false" rot="0">
              <a:off x="0" y="0"/>
              <a:ext cx="9753600" cy="926592"/>
            </a:xfrm>
            <a:custGeom>
              <a:avLst/>
              <a:gdLst/>
              <a:ahLst/>
              <a:cxnLst/>
              <a:rect r="r" b="b" t="t" l="l"/>
              <a:pathLst>
                <a:path h="926592" w="9753600">
                  <a:moveTo>
                    <a:pt x="0" y="0"/>
                  </a:moveTo>
                  <a:lnTo>
                    <a:pt x="9753600" y="0"/>
                  </a:lnTo>
                  <a:lnTo>
                    <a:pt x="9753600" y="926592"/>
                  </a:lnTo>
                  <a:lnTo>
                    <a:pt x="0" y="926592"/>
                  </a:lnTo>
                  <a:close/>
                </a:path>
              </a:pathLst>
            </a:custGeom>
            <a:blipFill>
              <a:blip r:embed="rId3">
                <a:alphaModFix amt="0"/>
              </a:blip>
              <a:stretch>
                <a:fillRect l="0" t="-155105" r="0" b="-155105"/>
              </a:stretch>
            </a:blipFill>
          </p:spPr>
        </p:sp>
        <p:sp>
          <p:nvSpPr>
            <p:cNvPr name="TextBox 19" id="19"/>
            <p:cNvSpPr txBox="true"/>
            <p:nvPr/>
          </p:nvSpPr>
          <p:spPr>
            <a:xfrm>
              <a:off x="0" y="-47625"/>
              <a:ext cx="9753600" cy="974217"/>
            </a:xfrm>
            <a:prstGeom prst="rect">
              <a:avLst/>
            </a:prstGeom>
          </p:spPr>
          <p:txBody>
            <a:bodyPr anchor="ctr" rtlCol="false" tIns="0" lIns="0" bIns="0" rIns="0"/>
            <a:lstStyle/>
            <a:p>
              <a:pPr algn="l" marL="604520" indent="-302260" lvl="1">
                <a:lnSpc>
                  <a:spcPts val="3359"/>
                </a:lnSpc>
                <a:buAutoNum type="arabicPeriod" startAt="1"/>
              </a:pPr>
              <a:r>
                <a:rPr lang="en-US" b="true" sz="2799">
                  <a:solidFill>
                    <a:srgbClr val="00E5A0"/>
                  </a:solidFill>
                  <a:latin typeface="Calibri (MS) Bold"/>
                  <a:ea typeface="Calibri (MS) Bold"/>
                  <a:cs typeface="Calibri (MS) Bold"/>
                  <a:sym typeface="Calibri (MS) Bold"/>
                </a:rPr>
                <a:t>  Insights Business</a:t>
              </a:r>
            </a:p>
          </p:txBody>
        </p:sp>
      </p:grpSp>
      <p:sp>
        <p:nvSpPr>
          <p:cNvPr name="TextBox 20" id="20"/>
          <p:cNvSpPr txBox="true"/>
          <p:nvPr/>
        </p:nvSpPr>
        <p:spPr>
          <a:xfrm rot="0">
            <a:off x="1410710" y="3866769"/>
            <a:ext cx="7132320" cy="4866133"/>
          </a:xfrm>
          <a:prstGeom prst="rect">
            <a:avLst/>
          </a:prstGeom>
        </p:spPr>
        <p:txBody>
          <a:bodyPr anchor="t" rtlCol="false" tIns="0" lIns="0" bIns="0" rIns="0">
            <a:spAutoFit/>
          </a:bodyPr>
          <a:lstStyle/>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Actions de rétention ciblées sur profils at-risk identifiés par le modèle</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Upselling &amp; fidélisation dédiés aux segments VIP haute valeur</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Ajustement pricing basé sur les prédictions de dépenses (régression)</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Campagnes différenciées selon les 4 segments KMeans identifiés</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Priorisation des actions marketing via les scores de probabilité churn</a:t>
            </a:r>
          </a:p>
        </p:txBody>
      </p:sp>
      <p:grpSp>
        <p:nvGrpSpPr>
          <p:cNvPr name="Group 21" id="21"/>
          <p:cNvGrpSpPr/>
          <p:nvPr/>
        </p:nvGrpSpPr>
        <p:grpSpPr>
          <a:xfrm rot="0">
            <a:off x="9323060" y="2700271"/>
            <a:ext cx="8059417" cy="7181593"/>
            <a:chOff x="0" y="0"/>
            <a:chExt cx="10745889" cy="9575457"/>
          </a:xfrm>
        </p:grpSpPr>
        <p:sp>
          <p:nvSpPr>
            <p:cNvPr name="Freeform 22" id="22"/>
            <p:cNvSpPr/>
            <p:nvPr/>
          </p:nvSpPr>
          <p:spPr>
            <a:xfrm flipH="false" flipV="false" rot="0">
              <a:off x="8509" y="8509"/>
              <a:ext cx="10728960" cy="9558528"/>
            </a:xfrm>
            <a:custGeom>
              <a:avLst/>
              <a:gdLst/>
              <a:ahLst/>
              <a:cxnLst/>
              <a:rect r="r" b="b" t="t" l="l"/>
              <a:pathLst>
                <a:path h="9558528" w="10728960">
                  <a:moveTo>
                    <a:pt x="0" y="0"/>
                  </a:moveTo>
                  <a:lnTo>
                    <a:pt x="10728960" y="0"/>
                  </a:lnTo>
                  <a:lnTo>
                    <a:pt x="10728960" y="9558528"/>
                  </a:lnTo>
                  <a:lnTo>
                    <a:pt x="0" y="9558528"/>
                  </a:lnTo>
                  <a:close/>
                </a:path>
              </a:pathLst>
            </a:custGeom>
            <a:solidFill>
              <a:srgbClr val="122540"/>
            </a:solidFill>
          </p:spPr>
        </p:sp>
        <p:sp>
          <p:nvSpPr>
            <p:cNvPr name="Freeform 23" id="23"/>
            <p:cNvSpPr/>
            <p:nvPr/>
          </p:nvSpPr>
          <p:spPr>
            <a:xfrm flipH="false" flipV="false" rot="0">
              <a:off x="0" y="0"/>
              <a:ext cx="10745978" cy="9575546"/>
            </a:xfrm>
            <a:custGeom>
              <a:avLst/>
              <a:gdLst/>
              <a:ahLst/>
              <a:cxnLst/>
              <a:rect r="r" b="b" t="t" l="l"/>
              <a:pathLst>
                <a:path h="9575546" w="10745978">
                  <a:moveTo>
                    <a:pt x="8509" y="0"/>
                  </a:moveTo>
                  <a:lnTo>
                    <a:pt x="10737469" y="0"/>
                  </a:lnTo>
                  <a:cubicBezTo>
                    <a:pt x="10742168" y="0"/>
                    <a:pt x="10745978" y="3810"/>
                    <a:pt x="10745978" y="8509"/>
                  </a:cubicBezTo>
                  <a:lnTo>
                    <a:pt x="10745978" y="9567037"/>
                  </a:lnTo>
                  <a:cubicBezTo>
                    <a:pt x="10745978" y="9571736"/>
                    <a:pt x="10742168" y="9575546"/>
                    <a:pt x="10737469" y="9575546"/>
                  </a:cubicBezTo>
                  <a:lnTo>
                    <a:pt x="8509" y="9575546"/>
                  </a:lnTo>
                  <a:cubicBezTo>
                    <a:pt x="3810" y="9575546"/>
                    <a:pt x="0" y="9571736"/>
                    <a:pt x="0" y="9567037"/>
                  </a:cubicBezTo>
                  <a:lnTo>
                    <a:pt x="0" y="8509"/>
                  </a:lnTo>
                  <a:cubicBezTo>
                    <a:pt x="0" y="3810"/>
                    <a:pt x="3810" y="0"/>
                    <a:pt x="8509" y="0"/>
                  </a:cubicBezTo>
                  <a:moveTo>
                    <a:pt x="8509" y="16891"/>
                  </a:moveTo>
                  <a:lnTo>
                    <a:pt x="8509" y="8509"/>
                  </a:lnTo>
                  <a:lnTo>
                    <a:pt x="17018" y="8509"/>
                  </a:lnTo>
                  <a:lnTo>
                    <a:pt x="17018" y="9567037"/>
                  </a:lnTo>
                  <a:lnTo>
                    <a:pt x="8509" y="9567037"/>
                  </a:lnTo>
                  <a:lnTo>
                    <a:pt x="8509" y="9558528"/>
                  </a:lnTo>
                  <a:lnTo>
                    <a:pt x="10737469" y="9558528"/>
                  </a:lnTo>
                  <a:lnTo>
                    <a:pt x="10737469" y="9567037"/>
                  </a:lnTo>
                  <a:lnTo>
                    <a:pt x="10728960" y="9567037"/>
                  </a:lnTo>
                  <a:lnTo>
                    <a:pt x="10728960" y="8509"/>
                  </a:lnTo>
                  <a:lnTo>
                    <a:pt x="10737469" y="8509"/>
                  </a:lnTo>
                  <a:lnTo>
                    <a:pt x="10737469" y="17018"/>
                  </a:lnTo>
                  <a:lnTo>
                    <a:pt x="8509" y="17018"/>
                  </a:lnTo>
                  <a:close/>
                </a:path>
              </a:pathLst>
            </a:custGeom>
            <a:solidFill>
              <a:srgbClr val="1E3352"/>
            </a:solidFill>
          </p:spPr>
        </p:sp>
      </p:grpSp>
      <p:grpSp>
        <p:nvGrpSpPr>
          <p:cNvPr name="Group 24" id="24"/>
          <p:cNvGrpSpPr/>
          <p:nvPr/>
        </p:nvGrpSpPr>
        <p:grpSpPr>
          <a:xfrm rot="0">
            <a:off x="9316717" y="2693927"/>
            <a:ext cx="135131" cy="7194299"/>
            <a:chOff x="0" y="0"/>
            <a:chExt cx="180175" cy="9592399"/>
          </a:xfrm>
        </p:grpSpPr>
        <p:sp>
          <p:nvSpPr>
            <p:cNvPr name="Freeform 25" id="25"/>
            <p:cNvSpPr/>
            <p:nvPr/>
          </p:nvSpPr>
          <p:spPr>
            <a:xfrm flipH="false" flipV="false" rot="0">
              <a:off x="16891" y="16891"/>
              <a:ext cx="146304" cy="9558528"/>
            </a:xfrm>
            <a:custGeom>
              <a:avLst/>
              <a:gdLst/>
              <a:ahLst/>
              <a:cxnLst/>
              <a:rect r="r" b="b" t="t" l="l"/>
              <a:pathLst>
                <a:path h="9558528" w="146304">
                  <a:moveTo>
                    <a:pt x="0" y="0"/>
                  </a:moveTo>
                  <a:lnTo>
                    <a:pt x="146304" y="0"/>
                  </a:lnTo>
                  <a:lnTo>
                    <a:pt x="146304" y="9558528"/>
                  </a:lnTo>
                  <a:lnTo>
                    <a:pt x="0" y="9558528"/>
                  </a:lnTo>
                  <a:close/>
                </a:path>
              </a:pathLst>
            </a:custGeom>
            <a:solidFill>
              <a:srgbClr val="1A8FFF"/>
            </a:solidFill>
          </p:spPr>
        </p:sp>
        <p:sp>
          <p:nvSpPr>
            <p:cNvPr name="Freeform 26" id="26"/>
            <p:cNvSpPr/>
            <p:nvPr/>
          </p:nvSpPr>
          <p:spPr>
            <a:xfrm flipH="false" flipV="false" rot="0">
              <a:off x="0" y="0"/>
              <a:ext cx="180086" cy="9592310"/>
            </a:xfrm>
            <a:custGeom>
              <a:avLst/>
              <a:gdLst/>
              <a:ahLst/>
              <a:cxnLst/>
              <a:rect r="r" b="b" t="t" l="l"/>
              <a:pathLst>
                <a:path h="9592310" w="180086">
                  <a:moveTo>
                    <a:pt x="16891" y="0"/>
                  </a:moveTo>
                  <a:lnTo>
                    <a:pt x="163195" y="0"/>
                  </a:lnTo>
                  <a:cubicBezTo>
                    <a:pt x="172593" y="0"/>
                    <a:pt x="180086" y="7620"/>
                    <a:pt x="180086" y="16891"/>
                  </a:cubicBezTo>
                  <a:lnTo>
                    <a:pt x="180086" y="9575419"/>
                  </a:lnTo>
                  <a:cubicBezTo>
                    <a:pt x="180086" y="9584817"/>
                    <a:pt x="172466" y="9592310"/>
                    <a:pt x="163195" y="9592310"/>
                  </a:cubicBezTo>
                  <a:lnTo>
                    <a:pt x="16891" y="9592310"/>
                  </a:lnTo>
                  <a:cubicBezTo>
                    <a:pt x="7493" y="9592310"/>
                    <a:pt x="0" y="9584689"/>
                    <a:pt x="0" y="9575419"/>
                  </a:cubicBezTo>
                  <a:lnTo>
                    <a:pt x="0" y="16891"/>
                  </a:lnTo>
                  <a:cubicBezTo>
                    <a:pt x="0" y="7620"/>
                    <a:pt x="7620" y="0"/>
                    <a:pt x="16891" y="0"/>
                  </a:cubicBezTo>
                  <a:moveTo>
                    <a:pt x="16891" y="33909"/>
                  </a:moveTo>
                  <a:lnTo>
                    <a:pt x="16891" y="16891"/>
                  </a:lnTo>
                  <a:lnTo>
                    <a:pt x="33909" y="16891"/>
                  </a:lnTo>
                  <a:lnTo>
                    <a:pt x="33909" y="9575419"/>
                  </a:lnTo>
                  <a:lnTo>
                    <a:pt x="16891" y="9575419"/>
                  </a:lnTo>
                  <a:lnTo>
                    <a:pt x="16891" y="9558527"/>
                  </a:lnTo>
                  <a:lnTo>
                    <a:pt x="163195" y="9558527"/>
                  </a:lnTo>
                  <a:lnTo>
                    <a:pt x="163195" y="9575419"/>
                  </a:lnTo>
                  <a:lnTo>
                    <a:pt x="146304" y="9575419"/>
                  </a:lnTo>
                  <a:lnTo>
                    <a:pt x="146304" y="16891"/>
                  </a:lnTo>
                  <a:lnTo>
                    <a:pt x="163195" y="16891"/>
                  </a:lnTo>
                  <a:lnTo>
                    <a:pt x="163195" y="33909"/>
                  </a:lnTo>
                  <a:lnTo>
                    <a:pt x="16891" y="33909"/>
                  </a:lnTo>
                  <a:close/>
                </a:path>
              </a:pathLst>
            </a:custGeom>
            <a:solidFill>
              <a:srgbClr val="1A8FFF"/>
            </a:solidFill>
          </p:spPr>
        </p:sp>
      </p:grpSp>
      <p:grpSp>
        <p:nvGrpSpPr>
          <p:cNvPr name="Group 27" id="27"/>
          <p:cNvGrpSpPr/>
          <p:nvPr/>
        </p:nvGrpSpPr>
        <p:grpSpPr>
          <a:xfrm rot="0">
            <a:off x="9695174" y="2852928"/>
            <a:ext cx="7315200" cy="694944"/>
            <a:chOff x="0" y="0"/>
            <a:chExt cx="9753600" cy="926592"/>
          </a:xfrm>
        </p:grpSpPr>
        <p:sp>
          <p:nvSpPr>
            <p:cNvPr name="Freeform 28" id="28"/>
            <p:cNvSpPr/>
            <p:nvPr/>
          </p:nvSpPr>
          <p:spPr>
            <a:xfrm flipH="false" flipV="false" rot="0">
              <a:off x="0" y="0"/>
              <a:ext cx="9753600" cy="926592"/>
            </a:xfrm>
            <a:custGeom>
              <a:avLst/>
              <a:gdLst/>
              <a:ahLst/>
              <a:cxnLst/>
              <a:rect r="r" b="b" t="t" l="l"/>
              <a:pathLst>
                <a:path h="926592" w="9753600">
                  <a:moveTo>
                    <a:pt x="0" y="0"/>
                  </a:moveTo>
                  <a:lnTo>
                    <a:pt x="9753600" y="0"/>
                  </a:lnTo>
                  <a:lnTo>
                    <a:pt x="9753600" y="926592"/>
                  </a:lnTo>
                  <a:lnTo>
                    <a:pt x="0" y="926592"/>
                  </a:lnTo>
                  <a:close/>
                </a:path>
              </a:pathLst>
            </a:custGeom>
            <a:blipFill>
              <a:blip r:embed="rId3">
                <a:alphaModFix amt="0"/>
              </a:blip>
              <a:stretch>
                <a:fillRect l="0" t="-155105" r="0" b="-155105"/>
              </a:stretch>
            </a:blipFill>
          </p:spPr>
        </p:sp>
        <p:sp>
          <p:nvSpPr>
            <p:cNvPr name="TextBox 29" id="29"/>
            <p:cNvSpPr txBox="true"/>
            <p:nvPr/>
          </p:nvSpPr>
          <p:spPr>
            <a:xfrm>
              <a:off x="0" y="-47625"/>
              <a:ext cx="9753600" cy="974217"/>
            </a:xfrm>
            <a:prstGeom prst="rect">
              <a:avLst/>
            </a:prstGeom>
          </p:spPr>
          <p:txBody>
            <a:bodyPr anchor="ctr" rtlCol="false" tIns="0" lIns="0" bIns="0" rIns="0"/>
            <a:lstStyle/>
            <a:p>
              <a:pPr algn="l">
                <a:lnSpc>
                  <a:spcPts val="3359"/>
                </a:lnSpc>
              </a:pPr>
              <a:r>
                <a:rPr lang="en-US" sz="2799" b="true">
                  <a:solidFill>
                    <a:srgbClr val="1A8FFF"/>
                  </a:solidFill>
                  <a:latin typeface="Calibri (MS) Bold"/>
                  <a:ea typeface="Calibri (MS) Bold"/>
                  <a:cs typeface="Calibri (MS) Bold"/>
                  <a:sym typeface="Calibri (MS) Bold"/>
                </a:rPr>
                <a:t>2.</a:t>
              </a:r>
              <a:r>
                <a:rPr lang="en-US" sz="2799" b="true">
                  <a:solidFill>
                    <a:srgbClr val="1A8FFF"/>
                  </a:solidFill>
                  <a:latin typeface="Calibri (MS) Bold"/>
                  <a:ea typeface="Calibri (MS) Bold"/>
                  <a:cs typeface="Calibri (MS) Bold"/>
                  <a:sym typeface="Calibri (MS) Bold"/>
                </a:rPr>
                <a:t>  Perspectives</a:t>
              </a:r>
            </a:p>
          </p:txBody>
        </p:sp>
      </p:grpSp>
      <p:sp>
        <p:nvSpPr>
          <p:cNvPr name="TextBox 30" id="30"/>
          <p:cNvSpPr txBox="true"/>
          <p:nvPr/>
        </p:nvSpPr>
        <p:spPr>
          <a:xfrm rot="0">
            <a:off x="9786614" y="3866769"/>
            <a:ext cx="7132320" cy="4866133"/>
          </a:xfrm>
          <a:prstGeom prst="rect">
            <a:avLst/>
          </a:prstGeom>
        </p:spPr>
        <p:txBody>
          <a:bodyPr anchor="t" rtlCol="false" tIns="0" lIns="0" bIns="0" rIns="0">
            <a:spAutoFit/>
          </a:bodyPr>
          <a:lstStyle/>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Deep Learning : LSTM pour exploiter la dimension temporelle des achats</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Feature engineering avancé : scores RFM, ratios comportementaux composites</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Déploiement cloud : Heroku / AWS pour usage en production réelle</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A/B testing pour mesurer l'impact business des prédictions ML</a:t>
            </a:r>
          </a:p>
          <a:p>
            <a:pPr algn="l" marL="530860" indent="-265430" lvl="1">
              <a:lnSpc>
                <a:spcPts val="3850"/>
              </a:lnSpc>
              <a:buFont typeface="Arial"/>
              <a:buChar char="•"/>
            </a:pPr>
            <a:r>
              <a:rPr lang="en-US" sz="2200">
                <a:solidFill>
                  <a:srgbClr val="E2EDF5"/>
                </a:solidFill>
                <a:latin typeface="Calibri (MS)"/>
                <a:ea typeface="Calibri (MS)"/>
                <a:cs typeface="Calibri (MS)"/>
                <a:sym typeface="Calibri (MS)"/>
              </a:rPr>
              <a:t>Explicabilité : SHAP values pour interpréter les décisions modèle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7111F"/>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5877563" cy="10312403"/>
            <a:chOff x="0" y="0"/>
            <a:chExt cx="7836751" cy="13749871"/>
          </a:xfrm>
        </p:grpSpPr>
        <p:sp>
          <p:nvSpPr>
            <p:cNvPr name="Freeform 3" id="3"/>
            <p:cNvSpPr/>
            <p:nvPr/>
          </p:nvSpPr>
          <p:spPr>
            <a:xfrm flipH="false" flipV="false" rot="0">
              <a:off x="16891" y="16891"/>
              <a:ext cx="7802881" cy="13715999"/>
            </a:xfrm>
            <a:custGeom>
              <a:avLst/>
              <a:gdLst/>
              <a:ahLst/>
              <a:cxnLst/>
              <a:rect r="r" b="b" t="t" l="l"/>
              <a:pathLst>
                <a:path h="13715999" w="7802881">
                  <a:moveTo>
                    <a:pt x="0" y="0"/>
                  </a:moveTo>
                  <a:lnTo>
                    <a:pt x="7802881" y="0"/>
                  </a:lnTo>
                  <a:lnTo>
                    <a:pt x="7802881" y="13715999"/>
                  </a:lnTo>
                  <a:lnTo>
                    <a:pt x="0" y="13715999"/>
                  </a:lnTo>
                  <a:close/>
                </a:path>
              </a:pathLst>
            </a:custGeom>
            <a:solidFill>
              <a:srgbClr val="0D1E35"/>
            </a:solidFill>
          </p:spPr>
        </p:sp>
        <p:sp>
          <p:nvSpPr>
            <p:cNvPr name="Freeform 4" id="4"/>
            <p:cNvSpPr/>
            <p:nvPr/>
          </p:nvSpPr>
          <p:spPr>
            <a:xfrm flipH="false" flipV="false" rot="0">
              <a:off x="0" y="0"/>
              <a:ext cx="7836662" cy="13749782"/>
            </a:xfrm>
            <a:custGeom>
              <a:avLst/>
              <a:gdLst/>
              <a:ahLst/>
              <a:cxnLst/>
              <a:rect r="r" b="b" t="t" l="l"/>
              <a:pathLst>
                <a:path h="13749782" w="7836662">
                  <a:moveTo>
                    <a:pt x="16891" y="0"/>
                  </a:moveTo>
                  <a:lnTo>
                    <a:pt x="7819772" y="0"/>
                  </a:lnTo>
                  <a:cubicBezTo>
                    <a:pt x="7829169" y="0"/>
                    <a:pt x="7836662" y="7620"/>
                    <a:pt x="7836662" y="16891"/>
                  </a:cubicBezTo>
                  <a:lnTo>
                    <a:pt x="7836662" y="13732890"/>
                  </a:lnTo>
                  <a:cubicBezTo>
                    <a:pt x="7836662" y="13742290"/>
                    <a:pt x="7829042" y="13749782"/>
                    <a:pt x="7819772"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7819772" y="13716000"/>
                  </a:lnTo>
                  <a:lnTo>
                    <a:pt x="7819772" y="13732890"/>
                  </a:lnTo>
                  <a:lnTo>
                    <a:pt x="7802880" y="13732890"/>
                  </a:lnTo>
                  <a:lnTo>
                    <a:pt x="7802880" y="16891"/>
                  </a:lnTo>
                  <a:lnTo>
                    <a:pt x="7819772" y="16891"/>
                  </a:lnTo>
                  <a:lnTo>
                    <a:pt x="7819772" y="33909"/>
                  </a:lnTo>
                  <a:lnTo>
                    <a:pt x="16891" y="33909"/>
                  </a:lnTo>
                  <a:close/>
                </a:path>
              </a:pathLst>
            </a:custGeom>
            <a:solidFill>
              <a:srgbClr val="1E3352"/>
            </a:solidFill>
          </p:spPr>
        </p:sp>
      </p:grpSp>
      <p:grpSp>
        <p:nvGrpSpPr>
          <p:cNvPr name="Group 5" id="5"/>
          <p:cNvGrpSpPr/>
          <p:nvPr/>
        </p:nvGrpSpPr>
        <p:grpSpPr>
          <a:xfrm rot="0">
            <a:off x="-12697" y="-12697"/>
            <a:ext cx="756923" cy="10312403"/>
            <a:chOff x="0" y="0"/>
            <a:chExt cx="1009231" cy="13749871"/>
          </a:xfrm>
        </p:grpSpPr>
        <p:sp>
          <p:nvSpPr>
            <p:cNvPr name="Freeform 6" id="6"/>
            <p:cNvSpPr/>
            <p:nvPr/>
          </p:nvSpPr>
          <p:spPr>
            <a:xfrm flipH="false" flipV="false" rot="0">
              <a:off x="16891" y="16891"/>
              <a:ext cx="975360" cy="13715999"/>
            </a:xfrm>
            <a:custGeom>
              <a:avLst/>
              <a:gdLst/>
              <a:ahLst/>
              <a:cxnLst/>
              <a:rect r="r" b="b" t="t" l="l"/>
              <a:pathLst>
                <a:path h="13715999" w="975360">
                  <a:moveTo>
                    <a:pt x="0" y="0"/>
                  </a:moveTo>
                  <a:lnTo>
                    <a:pt x="975360" y="0"/>
                  </a:lnTo>
                  <a:lnTo>
                    <a:pt x="975360" y="13715999"/>
                  </a:lnTo>
                  <a:lnTo>
                    <a:pt x="0" y="13715999"/>
                  </a:lnTo>
                  <a:close/>
                </a:path>
              </a:pathLst>
            </a:custGeom>
            <a:solidFill>
              <a:srgbClr val="00E5A0">
                <a:alpha val="15686"/>
              </a:srgbClr>
            </a:solidFill>
          </p:spPr>
        </p:sp>
        <p:sp>
          <p:nvSpPr>
            <p:cNvPr name="Freeform 7" id="7"/>
            <p:cNvSpPr/>
            <p:nvPr/>
          </p:nvSpPr>
          <p:spPr>
            <a:xfrm flipH="false" flipV="false" rot="0">
              <a:off x="0" y="0"/>
              <a:ext cx="1009142" cy="13749782"/>
            </a:xfrm>
            <a:custGeom>
              <a:avLst/>
              <a:gdLst/>
              <a:ahLst/>
              <a:cxnLst/>
              <a:rect r="r" b="b" t="t" l="l"/>
              <a:pathLst>
                <a:path h="13749782" w="1009142">
                  <a:moveTo>
                    <a:pt x="16891" y="0"/>
                  </a:moveTo>
                  <a:lnTo>
                    <a:pt x="992251" y="0"/>
                  </a:lnTo>
                  <a:cubicBezTo>
                    <a:pt x="1001649" y="0"/>
                    <a:pt x="1009142" y="7620"/>
                    <a:pt x="1009142" y="16891"/>
                  </a:cubicBezTo>
                  <a:lnTo>
                    <a:pt x="1009142" y="13732890"/>
                  </a:lnTo>
                  <a:cubicBezTo>
                    <a:pt x="1009142" y="13742290"/>
                    <a:pt x="1001522" y="13749782"/>
                    <a:pt x="992251"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992251" y="13716000"/>
                  </a:lnTo>
                  <a:lnTo>
                    <a:pt x="992251" y="13732890"/>
                  </a:lnTo>
                  <a:lnTo>
                    <a:pt x="975360" y="13732890"/>
                  </a:lnTo>
                  <a:lnTo>
                    <a:pt x="975360" y="16891"/>
                  </a:lnTo>
                  <a:lnTo>
                    <a:pt x="992251" y="16891"/>
                  </a:lnTo>
                  <a:lnTo>
                    <a:pt x="992251" y="33909"/>
                  </a:lnTo>
                  <a:lnTo>
                    <a:pt x="16891" y="33909"/>
                  </a:lnTo>
                  <a:close/>
                </a:path>
              </a:pathLst>
            </a:custGeom>
            <a:solidFill>
              <a:srgbClr val="00E5A0"/>
            </a:solidFill>
          </p:spPr>
        </p:sp>
      </p:grpSp>
      <p:grpSp>
        <p:nvGrpSpPr>
          <p:cNvPr name="Group 8" id="8"/>
          <p:cNvGrpSpPr/>
          <p:nvPr/>
        </p:nvGrpSpPr>
        <p:grpSpPr>
          <a:xfrm rot="0">
            <a:off x="1005840" y="2560320"/>
            <a:ext cx="4572000" cy="1005840"/>
            <a:chOff x="0" y="0"/>
            <a:chExt cx="6096000" cy="1341120"/>
          </a:xfrm>
        </p:grpSpPr>
        <p:sp>
          <p:nvSpPr>
            <p:cNvPr name="Freeform 9" id="9"/>
            <p:cNvSpPr/>
            <p:nvPr/>
          </p:nvSpPr>
          <p:spPr>
            <a:xfrm flipH="false" flipV="false" rot="0">
              <a:off x="0" y="0"/>
              <a:ext cx="6096000" cy="1341120"/>
            </a:xfrm>
            <a:custGeom>
              <a:avLst/>
              <a:gdLst/>
              <a:ahLst/>
              <a:cxnLst/>
              <a:rect r="r" b="b" t="t" l="l"/>
              <a:pathLst>
                <a:path h="1341120" w="6096000">
                  <a:moveTo>
                    <a:pt x="0" y="0"/>
                  </a:moveTo>
                  <a:lnTo>
                    <a:pt x="6096000" y="0"/>
                  </a:lnTo>
                  <a:lnTo>
                    <a:pt x="6096000" y="1341120"/>
                  </a:lnTo>
                  <a:lnTo>
                    <a:pt x="0" y="1341120"/>
                  </a:lnTo>
                  <a:close/>
                </a:path>
              </a:pathLst>
            </a:custGeom>
            <a:blipFill>
              <a:blip r:embed="rId3">
                <a:alphaModFix amt="0"/>
              </a:blip>
              <a:stretch>
                <a:fillRect l="0" t="-38568" r="0" b="-38568"/>
              </a:stretch>
            </a:blipFill>
          </p:spPr>
        </p:sp>
        <p:sp>
          <p:nvSpPr>
            <p:cNvPr name="TextBox 10" id="10"/>
            <p:cNvSpPr txBox="true"/>
            <p:nvPr/>
          </p:nvSpPr>
          <p:spPr>
            <a:xfrm>
              <a:off x="0" y="-76200"/>
              <a:ext cx="6096000" cy="1417320"/>
            </a:xfrm>
            <a:prstGeom prst="rect">
              <a:avLst/>
            </a:prstGeom>
          </p:spPr>
          <p:txBody>
            <a:bodyPr anchor="ctr" rtlCol="false" tIns="0" lIns="0" bIns="0" rIns="0"/>
            <a:lstStyle/>
            <a:p>
              <a:pPr algn="ctr">
                <a:lnSpc>
                  <a:spcPts val="4800"/>
                </a:lnSpc>
              </a:pPr>
              <a:r>
                <a:rPr lang="en-US" sz="4000" b="true">
                  <a:solidFill>
                    <a:srgbClr val="00E5A0"/>
                  </a:solidFill>
                  <a:latin typeface="Calibri (MS) Bold"/>
                  <a:ea typeface="Calibri (MS) Bold"/>
                  <a:cs typeface="Calibri (MS) Bold"/>
                  <a:sym typeface="Calibri (MS) Bold"/>
                </a:rPr>
                <a:t>Siwar ADALI</a:t>
              </a:r>
            </a:p>
          </p:txBody>
        </p:sp>
      </p:grpSp>
      <p:grpSp>
        <p:nvGrpSpPr>
          <p:cNvPr name="Group 11" id="11"/>
          <p:cNvGrpSpPr/>
          <p:nvPr/>
        </p:nvGrpSpPr>
        <p:grpSpPr>
          <a:xfrm rot="0">
            <a:off x="1005840" y="3621024"/>
            <a:ext cx="4572000" cy="640080"/>
            <a:chOff x="0" y="0"/>
            <a:chExt cx="6096000" cy="853440"/>
          </a:xfrm>
        </p:grpSpPr>
        <p:sp>
          <p:nvSpPr>
            <p:cNvPr name="Freeform 12" id="12"/>
            <p:cNvSpPr/>
            <p:nvPr/>
          </p:nvSpPr>
          <p:spPr>
            <a:xfrm flipH="false" flipV="false" rot="0">
              <a:off x="0" y="0"/>
              <a:ext cx="6096000" cy="853440"/>
            </a:xfrm>
            <a:custGeom>
              <a:avLst/>
              <a:gdLst/>
              <a:ahLst/>
              <a:cxnLst/>
              <a:rect r="r" b="b" t="t" l="l"/>
              <a:pathLst>
                <a:path h="853440" w="6096000">
                  <a:moveTo>
                    <a:pt x="0" y="0"/>
                  </a:moveTo>
                  <a:lnTo>
                    <a:pt x="6096000" y="0"/>
                  </a:lnTo>
                  <a:lnTo>
                    <a:pt x="6096000" y="853440"/>
                  </a:lnTo>
                  <a:lnTo>
                    <a:pt x="0" y="853440"/>
                  </a:lnTo>
                  <a:close/>
                </a:path>
              </a:pathLst>
            </a:custGeom>
            <a:blipFill>
              <a:blip r:embed="rId3">
                <a:alphaModFix amt="0"/>
              </a:blip>
              <a:stretch>
                <a:fillRect l="0" t="-89178" r="0" b="-89178"/>
              </a:stretch>
            </a:blipFill>
          </p:spPr>
        </p:sp>
        <p:sp>
          <p:nvSpPr>
            <p:cNvPr name="TextBox 13" id="13"/>
            <p:cNvSpPr txBox="true"/>
            <p:nvPr/>
          </p:nvSpPr>
          <p:spPr>
            <a:xfrm>
              <a:off x="0" y="-38100"/>
              <a:ext cx="6096000" cy="891540"/>
            </a:xfrm>
            <a:prstGeom prst="rect">
              <a:avLst/>
            </a:prstGeom>
          </p:spPr>
          <p:txBody>
            <a:bodyPr anchor="ctr" rtlCol="false" tIns="0" lIns="0" bIns="0" rIns="0"/>
            <a:lstStyle/>
            <a:p>
              <a:pPr algn="ctr">
                <a:lnSpc>
                  <a:spcPts val="2879"/>
                </a:lnSpc>
              </a:pPr>
              <a:r>
                <a:rPr lang="en-US" sz="2400">
                  <a:solidFill>
                    <a:srgbClr val="6B8BAA"/>
                  </a:solidFill>
                  <a:latin typeface="Calibri (MS)"/>
                  <a:ea typeface="Calibri (MS)"/>
                  <a:cs typeface="Calibri (MS)"/>
                  <a:sym typeface="Calibri (MS)"/>
                </a:rPr>
                <a:t>ENIS GI2</a:t>
              </a:r>
            </a:p>
          </p:txBody>
        </p:sp>
      </p:grpSp>
      <p:grpSp>
        <p:nvGrpSpPr>
          <p:cNvPr name="Group 14" id="14"/>
          <p:cNvGrpSpPr/>
          <p:nvPr/>
        </p:nvGrpSpPr>
        <p:grpSpPr>
          <a:xfrm rot="0">
            <a:off x="1005840" y="4389120"/>
            <a:ext cx="4572000" cy="548640"/>
            <a:chOff x="0" y="0"/>
            <a:chExt cx="6096000" cy="731520"/>
          </a:xfrm>
        </p:grpSpPr>
        <p:sp>
          <p:nvSpPr>
            <p:cNvPr name="Freeform 15" id="15"/>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16" id="16"/>
            <p:cNvSpPr txBox="true"/>
            <p:nvPr/>
          </p:nvSpPr>
          <p:spPr>
            <a:xfrm>
              <a:off x="0" y="-38100"/>
              <a:ext cx="6096000" cy="769620"/>
            </a:xfrm>
            <a:prstGeom prst="rect">
              <a:avLst/>
            </a:prstGeom>
          </p:spPr>
          <p:txBody>
            <a:bodyPr anchor="ctr" rtlCol="false" tIns="0" lIns="0" bIns="0" rIns="0"/>
            <a:lstStyle/>
            <a:p>
              <a:pPr algn="ctr">
                <a:lnSpc>
                  <a:spcPts val="2400"/>
                </a:lnSpc>
              </a:pPr>
              <a:r>
                <a:rPr lang="en-US" sz="2000">
                  <a:solidFill>
                    <a:srgbClr val="1E3352"/>
                  </a:solidFill>
                  <a:latin typeface="Calibri (MS)"/>
                  <a:ea typeface="Calibri (MS)"/>
                  <a:cs typeface="Calibri (MS)"/>
                  <a:sym typeface="Calibri (MS)"/>
                </a:rPr>
                <a:t>────────────</a:t>
              </a:r>
            </a:p>
          </p:txBody>
        </p:sp>
      </p:grpSp>
      <p:grpSp>
        <p:nvGrpSpPr>
          <p:cNvPr name="Group 17" id="17"/>
          <p:cNvGrpSpPr/>
          <p:nvPr/>
        </p:nvGrpSpPr>
        <p:grpSpPr>
          <a:xfrm rot="0">
            <a:off x="1005840" y="5029200"/>
            <a:ext cx="4572000" cy="640080"/>
            <a:chOff x="0" y="0"/>
            <a:chExt cx="6096000" cy="853440"/>
          </a:xfrm>
        </p:grpSpPr>
        <p:sp>
          <p:nvSpPr>
            <p:cNvPr name="Freeform 18" id="18"/>
            <p:cNvSpPr/>
            <p:nvPr/>
          </p:nvSpPr>
          <p:spPr>
            <a:xfrm flipH="false" flipV="false" rot="0">
              <a:off x="0" y="0"/>
              <a:ext cx="6096000" cy="853440"/>
            </a:xfrm>
            <a:custGeom>
              <a:avLst/>
              <a:gdLst/>
              <a:ahLst/>
              <a:cxnLst/>
              <a:rect r="r" b="b" t="t" l="l"/>
              <a:pathLst>
                <a:path h="853440" w="6096000">
                  <a:moveTo>
                    <a:pt x="0" y="0"/>
                  </a:moveTo>
                  <a:lnTo>
                    <a:pt x="6096000" y="0"/>
                  </a:lnTo>
                  <a:lnTo>
                    <a:pt x="6096000" y="853440"/>
                  </a:lnTo>
                  <a:lnTo>
                    <a:pt x="0" y="853440"/>
                  </a:lnTo>
                  <a:close/>
                </a:path>
              </a:pathLst>
            </a:custGeom>
            <a:blipFill>
              <a:blip r:embed="rId3">
                <a:alphaModFix amt="0"/>
              </a:blip>
              <a:stretch>
                <a:fillRect l="0" t="-89178" r="0" b="-89178"/>
              </a:stretch>
            </a:blipFill>
          </p:spPr>
        </p:sp>
        <p:sp>
          <p:nvSpPr>
            <p:cNvPr name="TextBox 19" id="19"/>
            <p:cNvSpPr txBox="true"/>
            <p:nvPr/>
          </p:nvSpPr>
          <p:spPr>
            <a:xfrm>
              <a:off x="0" y="-38100"/>
              <a:ext cx="6096000" cy="891540"/>
            </a:xfrm>
            <a:prstGeom prst="rect">
              <a:avLst/>
            </a:prstGeom>
          </p:spPr>
          <p:txBody>
            <a:bodyPr anchor="ctr" rtlCol="false" tIns="0" lIns="0" bIns="0" rIns="0"/>
            <a:lstStyle/>
            <a:p>
              <a:pPr algn="ctr">
                <a:lnSpc>
                  <a:spcPts val="2400"/>
                </a:lnSpc>
              </a:pPr>
              <a:r>
                <a:rPr lang="en-US" sz="2000">
                  <a:solidFill>
                    <a:srgbClr val="6B8BAA"/>
                  </a:solidFill>
                  <a:latin typeface="Calibri (MS)"/>
                  <a:ea typeface="Calibri (MS)"/>
                  <a:cs typeface="Calibri (MS)"/>
                  <a:sym typeface="Calibri (MS)"/>
                </a:rPr>
                <a:t>Atelier Machine Learning</a:t>
              </a:r>
            </a:p>
          </p:txBody>
        </p:sp>
      </p:grpSp>
      <p:grpSp>
        <p:nvGrpSpPr>
          <p:cNvPr name="Group 20" id="20"/>
          <p:cNvGrpSpPr/>
          <p:nvPr/>
        </p:nvGrpSpPr>
        <p:grpSpPr>
          <a:xfrm rot="0">
            <a:off x="1005840" y="5669280"/>
            <a:ext cx="4572000" cy="640080"/>
            <a:chOff x="0" y="0"/>
            <a:chExt cx="6096000" cy="853440"/>
          </a:xfrm>
        </p:grpSpPr>
        <p:sp>
          <p:nvSpPr>
            <p:cNvPr name="Freeform 21" id="21"/>
            <p:cNvSpPr/>
            <p:nvPr/>
          </p:nvSpPr>
          <p:spPr>
            <a:xfrm flipH="false" flipV="false" rot="0">
              <a:off x="0" y="0"/>
              <a:ext cx="6096000" cy="853440"/>
            </a:xfrm>
            <a:custGeom>
              <a:avLst/>
              <a:gdLst/>
              <a:ahLst/>
              <a:cxnLst/>
              <a:rect r="r" b="b" t="t" l="l"/>
              <a:pathLst>
                <a:path h="853440" w="6096000">
                  <a:moveTo>
                    <a:pt x="0" y="0"/>
                  </a:moveTo>
                  <a:lnTo>
                    <a:pt x="6096000" y="0"/>
                  </a:lnTo>
                  <a:lnTo>
                    <a:pt x="6096000" y="853440"/>
                  </a:lnTo>
                  <a:lnTo>
                    <a:pt x="0" y="853440"/>
                  </a:lnTo>
                  <a:close/>
                </a:path>
              </a:pathLst>
            </a:custGeom>
            <a:blipFill>
              <a:blip r:embed="rId3">
                <a:alphaModFix amt="0"/>
              </a:blip>
              <a:stretch>
                <a:fillRect l="0" t="-89178" r="0" b="-89178"/>
              </a:stretch>
            </a:blipFill>
          </p:spPr>
        </p:sp>
        <p:sp>
          <p:nvSpPr>
            <p:cNvPr name="TextBox 22" id="22"/>
            <p:cNvSpPr txBox="true"/>
            <p:nvPr/>
          </p:nvSpPr>
          <p:spPr>
            <a:xfrm>
              <a:off x="0" y="-47625"/>
              <a:ext cx="6096000" cy="90106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2025 — 2026</a:t>
              </a:r>
            </a:p>
          </p:txBody>
        </p:sp>
      </p:grpSp>
      <p:grpSp>
        <p:nvGrpSpPr>
          <p:cNvPr name="Group 23" id="23"/>
          <p:cNvGrpSpPr/>
          <p:nvPr/>
        </p:nvGrpSpPr>
        <p:grpSpPr>
          <a:xfrm rot="0">
            <a:off x="1127503" y="6613903"/>
            <a:ext cx="4036057" cy="451609"/>
            <a:chOff x="0" y="0"/>
            <a:chExt cx="5381409" cy="602145"/>
          </a:xfrm>
        </p:grpSpPr>
        <p:sp>
          <p:nvSpPr>
            <p:cNvPr name="Freeform 24" id="24"/>
            <p:cNvSpPr/>
            <p:nvPr/>
          </p:nvSpPr>
          <p:spPr>
            <a:xfrm flipH="false" flipV="false" rot="0">
              <a:off x="8382" y="8509"/>
              <a:ext cx="5364607" cy="585216"/>
            </a:xfrm>
            <a:custGeom>
              <a:avLst/>
              <a:gdLst/>
              <a:ahLst/>
              <a:cxnLst/>
              <a:rect r="r" b="b" t="t" l="l"/>
              <a:pathLst>
                <a:path h="585216" w="5364607">
                  <a:moveTo>
                    <a:pt x="127" y="97536"/>
                  </a:moveTo>
                  <a:cubicBezTo>
                    <a:pt x="127" y="43688"/>
                    <a:pt x="44831" y="0"/>
                    <a:pt x="100076" y="0"/>
                  </a:cubicBezTo>
                  <a:lnTo>
                    <a:pt x="5264531" y="0"/>
                  </a:lnTo>
                  <a:cubicBezTo>
                    <a:pt x="5319776" y="0"/>
                    <a:pt x="5364607" y="43688"/>
                    <a:pt x="5364607" y="97536"/>
                  </a:cubicBezTo>
                  <a:lnTo>
                    <a:pt x="5364607" y="487680"/>
                  </a:lnTo>
                  <a:cubicBezTo>
                    <a:pt x="5364607" y="541528"/>
                    <a:pt x="5319776" y="585216"/>
                    <a:pt x="5264531" y="585216"/>
                  </a:cubicBezTo>
                  <a:lnTo>
                    <a:pt x="100076" y="585216"/>
                  </a:lnTo>
                  <a:cubicBezTo>
                    <a:pt x="44831" y="585216"/>
                    <a:pt x="0" y="541528"/>
                    <a:pt x="0" y="487680"/>
                  </a:cubicBezTo>
                  <a:close/>
                </a:path>
              </a:pathLst>
            </a:custGeom>
            <a:solidFill>
              <a:srgbClr val="122540"/>
            </a:solidFill>
          </p:spPr>
        </p:sp>
        <p:sp>
          <p:nvSpPr>
            <p:cNvPr name="Freeform 25" id="25"/>
            <p:cNvSpPr/>
            <p:nvPr/>
          </p:nvSpPr>
          <p:spPr>
            <a:xfrm flipH="false" flipV="false" rot="0">
              <a:off x="0" y="0"/>
              <a:ext cx="5381371" cy="602234"/>
            </a:xfrm>
            <a:custGeom>
              <a:avLst/>
              <a:gdLst/>
              <a:ahLst/>
              <a:cxnLst/>
              <a:rect r="r" b="b" t="t" l="l"/>
              <a:pathLst>
                <a:path h="602234" w="5381371">
                  <a:moveTo>
                    <a:pt x="0" y="106045"/>
                  </a:moveTo>
                  <a:cubicBezTo>
                    <a:pt x="0" y="47244"/>
                    <a:pt x="48768" y="0"/>
                    <a:pt x="108458" y="0"/>
                  </a:cubicBezTo>
                  <a:lnTo>
                    <a:pt x="5272913" y="0"/>
                  </a:lnTo>
                  <a:lnTo>
                    <a:pt x="5272913" y="8509"/>
                  </a:lnTo>
                  <a:lnTo>
                    <a:pt x="5272913" y="0"/>
                  </a:lnTo>
                  <a:cubicBezTo>
                    <a:pt x="5332603" y="0"/>
                    <a:pt x="5381371" y="47244"/>
                    <a:pt x="5381371" y="106045"/>
                  </a:cubicBezTo>
                  <a:lnTo>
                    <a:pt x="5372862" y="106045"/>
                  </a:lnTo>
                  <a:lnTo>
                    <a:pt x="5381371" y="106045"/>
                  </a:lnTo>
                  <a:lnTo>
                    <a:pt x="5381371" y="496189"/>
                  </a:lnTo>
                  <a:lnTo>
                    <a:pt x="5372862" y="496189"/>
                  </a:lnTo>
                  <a:lnTo>
                    <a:pt x="5381371" y="496189"/>
                  </a:lnTo>
                  <a:cubicBezTo>
                    <a:pt x="5381371" y="554990"/>
                    <a:pt x="5332603" y="602234"/>
                    <a:pt x="5272913" y="602234"/>
                  </a:cubicBezTo>
                  <a:lnTo>
                    <a:pt x="5272913" y="593725"/>
                  </a:lnTo>
                  <a:lnTo>
                    <a:pt x="5272913" y="602234"/>
                  </a:lnTo>
                  <a:lnTo>
                    <a:pt x="108458" y="602234"/>
                  </a:lnTo>
                  <a:lnTo>
                    <a:pt x="108458" y="593725"/>
                  </a:lnTo>
                  <a:lnTo>
                    <a:pt x="108458" y="602234"/>
                  </a:lnTo>
                  <a:cubicBezTo>
                    <a:pt x="48768" y="602107"/>
                    <a:pt x="0" y="554863"/>
                    <a:pt x="0" y="496189"/>
                  </a:cubicBezTo>
                  <a:lnTo>
                    <a:pt x="0" y="106045"/>
                  </a:lnTo>
                  <a:lnTo>
                    <a:pt x="8509" y="106045"/>
                  </a:lnTo>
                  <a:lnTo>
                    <a:pt x="0" y="106045"/>
                  </a:lnTo>
                  <a:moveTo>
                    <a:pt x="16891" y="106045"/>
                  </a:moveTo>
                  <a:lnTo>
                    <a:pt x="16891" y="496189"/>
                  </a:lnTo>
                  <a:lnTo>
                    <a:pt x="8509" y="496189"/>
                  </a:lnTo>
                  <a:lnTo>
                    <a:pt x="17018" y="496189"/>
                  </a:lnTo>
                  <a:cubicBezTo>
                    <a:pt x="17018" y="545211"/>
                    <a:pt x="57785" y="585216"/>
                    <a:pt x="108585" y="585216"/>
                  </a:cubicBezTo>
                  <a:lnTo>
                    <a:pt x="5272913" y="585216"/>
                  </a:lnTo>
                  <a:cubicBezTo>
                    <a:pt x="5323713" y="585216"/>
                    <a:pt x="5364480" y="545084"/>
                    <a:pt x="5364480" y="496189"/>
                  </a:cubicBezTo>
                  <a:lnTo>
                    <a:pt x="5364480" y="106045"/>
                  </a:lnTo>
                  <a:cubicBezTo>
                    <a:pt x="5364480" y="57023"/>
                    <a:pt x="5323713" y="17018"/>
                    <a:pt x="5272913" y="17018"/>
                  </a:cubicBezTo>
                  <a:lnTo>
                    <a:pt x="108458" y="17018"/>
                  </a:lnTo>
                  <a:lnTo>
                    <a:pt x="108458" y="8509"/>
                  </a:lnTo>
                  <a:lnTo>
                    <a:pt x="108458" y="17018"/>
                  </a:lnTo>
                  <a:cubicBezTo>
                    <a:pt x="57658" y="17018"/>
                    <a:pt x="16891" y="57150"/>
                    <a:pt x="16891" y="106045"/>
                  </a:cubicBezTo>
                  <a:close/>
                </a:path>
              </a:pathLst>
            </a:custGeom>
            <a:solidFill>
              <a:srgbClr val="1E3352"/>
            </a:solidFill>
          </p:spPr>
        </p:sp>
      </p:grpSp>
      <p:grpSp>
        <p:nvGrpSpPr>
          <p:cNvPr name="Group 26" id="26"/>
          <p:cNvGrpSpPr/>
          <p:nvPr/>
        </p:nvGrpSpPr>
        <p:grpSpPr>
          <a:xfrm rot="0">
            <a:off x="1133856" y="6620256"/>
            <a:ext cx="4023360" cy="438912"/>
            <a:chOff x="0" y="0"/>
            <a:chExt cx="5364480" cy="585216"/>
          </a:xfrm>
        </p:grpSpPr>
        <p:sp>
          <p:nvSpPr>
            <p:cNvPr name="Freeform 27" id="27"/>
            <p:cNvSpPr/>
            <p:nvPr/>
          </p:nvSpPr>
          <p:spPr>
            <a:xfrm flipH="false" flipV="false" rot="0">
              <a:off x="0" y="0"/>
              <a:ext cx="5364480" cy="585216"/>
            </a:xfrm>
            <a:custGeom>
              <a:avLst/>
              <a:gdLst/>
              <a:ahLst/>
              <a:cxnLst/>
              <a:rect r="r" b="b" t="t" l="l"/>
              <a:pathLst>
                <a:path h="585216" w="5364480">
                  <a:moveTo>
                    <a:pt x="0" y="0"/>
                  </a:moveTo>
                  <a:lnTo>
                    <a:pt x="5364480" y="0"/>
                  </a:lnTo>
                  <a:lnTo>
                    <a:pt x="5364480" y="585216"/>
                  </a:lnTo>
                  <a:lnTo>
                    <a:pt x="0" y="585216"/>
                  </a:lnTo>
                  <a:close/>
                </a:path>
              </a:pathLst>
            </a:custGeom>
            <a:blipFill>
              <a:blip r:embed="rId3">
                <a:alphaModFix amt="0"/>
              </a:blip>
              <a:stretch>
                <a:fillRect l="0" t="-128612" r="0" b="-128612"/>
              </a:stretch>
            </a:blipFill>
          </p:spPr>
        </p:sp>
        <p:sp>
          <p:nvSpPr>
            <p:cNvPr name="TextBox 28" id="28"/>
            <p:cNvSpPr txBox="true"/>
            <p:nvPr/>
          </p:nvSpPr>
          <p:spPr>
            <a:xfrm>
              <a:off x="0" y="-28575"/>
              <a:ext cx="5364480" cy="613791"/>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scikit-learn</a:t>
              </a:r>
            </a:p>
          </p:txBody>
        </p:sp>
      </p:grpSp>
      <p:grpSp>
        <p:nvGrpSpPr>
          <p:cNvPr name="Group 29" id="29"/>
          <p:cNvGrpSpPr/>
          <p:nvPr/>
        </p:nvGrpSpPr>
        <p:grpSpPr>
          <a:xfrm rot="0">
            <a:off x="1127503" y="7162543"/>
            <a:ext cx="4036057" cy="451609"/>
            <a:chOff x="0" y="0"/>
            <a:chExt cx="5381409" cy="602145"/>
          </a:xfrm>
        </p:grpSpPr>
        <p:sp>
          <p:nvSpPr>
            <p:cNvPr name="Freeform 30" id="30"/>
            <p:cNvSpPr/>
            <p:nvPr/>
          </p:nvSpPr>
          <p:spPr>
            <a:xfrm flipH="false" flipV="false" rot="0">
              <a:off x="8382" y="8509"/>
              <a:ext cx="5364607" cy="585216"/>
            </a:xfrm>
            <a:custGeom>
              <a:avLst/>
              <a:gdLst/>
              <a:ahLst/>
              <a:cxnLst/>
              <a:rect r="r" b="b" t="t" l="l"/>
              <a:pathLst>
                <a:path h="585216" w="5364607">
                  <a:moveTo>
                    <a:pt x="127" y="97536"/>
                  </a:moveTo>
                  <a:cubicBezTo>
                    <a:pt x="127" y="43688"/>
                    <a:pt x="44831" y="0"/>
                    <a:pt x="100076" y="0"/>
                  </a:cubicBezTo>
                  <a:lnTo>
                    <a:pt x="5264531" y="0"/>
                  </a:lnTo>
                  <a:cubicBezTo>
                    <a:pt x="5319776" y="0"/>
                    <a:pt x="5364607" y="43688"/>
                    <a:pt x="5364607" y="97536"/>
                  </a:cubicBezTo>
                  <a:lnTo>
                    <a:pt x="5364607" y="487680"/>
                  </a:lnTo>
                  <a:cubicBezTo>
                    <a:pt x="5364607" y="541528"/>
                    <a:pt x="5319776" y="585216"/>
                    <a:pt x="5264531" y="585216"/>
                  </a:cubicBezTo>
                  <a:lnTo>
                    <a:pt x="100076" y="585216"/>
                  </a:lnTo>
                  <a:cubicBezTo>
                    <a:pt x="44831" y="585216"/>
                    <a:pt x="0" y="541528"/>
                    <a:pt x="0" y="487680"/>
                  </a:cubicBezTo>
                  <a:close/>
                </a:path>
              </a:pathLst>
            </a:custGeom>
            <a:solidFill>
              <a:srgbClr val="122540"/>
            </a:solidFill>
          </p:spPr>
        </p:sp>
        <p:sp>
          <p:nvSpPr>
            <p:cNvPr name="Freeform 31" id="31"/>
            <p:cNvSpPr/>
            <p:nvPr/>
          </p:nvSpPr>
          <p:spPr>
            <a:xfrm flipH="false" flipV="false" rot="0">
              <a:off x="0" y="0"/>
              <a:ext cx="5381371" cy="602234"/>
            </a:xfrm>
            <a:custGeom>
              <a:avLst/>
              <a:gdLst/>
              <a:ahLst/>
              <a:cxnLst/>
              <a:rect r="r" b="b" t="t" l="l"/>
              <a:pathLst>
                <a:path h="602234" w="5381371">
                  <a:moveTo>
                    <a:pt x="0" y="106045"/>
                  </a:moveTo>
                  <a:cubicBezTo>
                    <a:pt x="0" y="47244"/>
                    <a:pt x="48768" y="0"/>
                    <a:pt x="108458" y="0"/>
                  </a:cubicBezTo>
                  <a:lnTo>
                    <a:pt x="5272913" y="0"/>
                  </a:lnTo>
                  <a:lnTo>
                    <a:pt x="5272913" y="8509"/>
                  </a:lnTo>
                  <a:lnTo>
                    <a:pt x="5272913" y="0"/>
                  </a:lnTo>
                  <a:cubicBezTo>
                    <a:pt x="5332603" y="0"/>
                    <a:pt x="5381371" y="47244"/>
                    <a:pt x="5381371" y="106045"/>
                  </a:cubicBezTo>
                  <a:lnTo>
                    <a:pt x="5372862" y="106045"/>
                  </a:lnTo>
                  <a:lnTo>
                    <a:pt x="5381371" y="106045"/>
                  </a:lnTo>
                  <a:lnTo>
                    <a:pt x="5381371" y="496189"/>
                  </a:lnTo>
                  <a:lnTo>
                    <a:pt x="5372862" y="496189"/>
                  </a:lnTo>
                  <a:lnTo>
                    <a:pt x="5381371" y="496189"/>
                  </a:lnTo>
                  <a:cubicBezTo>
                    <a:pt x="5381371" y="554990"/>
                    <a:pt x="5332603" y="602234"/>
                    <a:pt x="5272913" y="602234"/>
                  </a:cubicBezTo>
                  <a:lnTo>
                    <a:pt x="5272913" y="593725"/>
                  </a:lnTo>
                  <a:lnTo>
                    <a:pt x="5272913" y="602234"/>
                  </a:lnTo>
                  <a:lnTo>
                    <a:pt x="108458" y="602234"/>
                  </a:lnTo>
                  <a:lnTo>
                    <a:pt x="108458" y="593725"/>
                  </a:lnTo>
                  <a:lnTo>
                    <a:pt x="108458" y="602234"/>
                  </a:lnTo>
                  <a:cubicBezTo>
                    <a:pt x="48768" y="602107"/>
                    <a:pt x="0" y="554863"/>
                    <a:pt x="0" y="496189"/>
                  </a:cubicBezTo>
                  <a:lnTo>
                    <a:pt x="0" y="106045"/>
                  </a:lnTo>
                  <a:lnTo>
                    <a:pt x="8509" y="106045"/>
                  </a:lnTo>
                  <a:lnTo>
                    <a:pt x="0" y="106045"/>
                  </a:lnTo>
                  <a:moveTo>
                    <a:pt x="16891" y="106045"/>
                  </a:moveTo>
                  <a:lnTo>
                    <a:pt x="16891" y="496189"/>
                  </a:lnTo>
                  <a:lnTo>
                    <a:pt x="8509" y="496189"/>
                  </a:lnTo>
                  <a:lnTo>
                    <a:pt x="17018" y="496189"/>
                  </a:lnTo>
                  <a:cubicBezTo>
                    <a:pt x="17018" y="545211"/>
                    <a:pt x="57785" y="585216"/>
                    <a:pt x="108585" y="585216"/>
                  </a:cubicBezTo>
                  <a:lnTo>
                    <a:pt x="5272913" y="585216"/>
                  </a:lnTo>
                  <a:cubicBezTo>
                    <a:pt x="5323713" y="585216"/>
                    <a:pt x="5364480" y="545084"/>
                    <a:pt x="5364480" y="496189"/>
                  </a:cubicBezTo>
                  <a:lnTo>
                    <a:pt x="5364480" y="106045"/>
                  </a:lnTo>
                  <a:cubicBezTo>
                    <a:pt x="5364480" y="57023"/>
                    <a:pt x="5323713" y="17018"/>
                    <a:pt x="5272913" y="17018"/>
                  </a:cubicBezTo>
                  <a:lnTo>
                    <a:pt x="108458" y="17018"/>
                  </a:lnTo>
                  <a:lnTo>
                    <a:pt x="108458" y="8509"/>
                  </a:lnTo>
                  <a:lnTo>
                    <a:pt x="108458" y="17018"/>
                  </a:lnTo>
                  <a:cubicBezTo>
                    <a:pt x="57658" y="17018"/>
                    <a:pt x="16891" y="57150"/>
                    <a:pt x="16891" y="106045"/>
                  </a:cubicBezTo>
                  <a:close/>
                </a:path>
              </a:pathLst>
            </a:custGeom>
            <a:solidFill>
              <a:srgbClr val="1E3352"/>
            </a:solidFill>
          </p:spPr>
        </p:sp>
      </p:grpSp>
      <p:grpSp>
        <p:nvGrpSpPr>
          <p:cNvPr name="Group 32" id="32"/>
          <p:cNvGrpSpPr/>
          <p:nvPr/>
        </p:nvGrpSpPr>
        <p:grpSpPr>
          <a:xfrm rot="0">
            <a:off x="1133856" y="7168896"/>
            <a:ext cx="4023360" cy="438912"/>
            <a:chOff x="0" y="0"/>
            <a:chExt cx="5364480" cy="585216"/>
          </a:xfrm>
        </p:grpSpPr>
        <p:sp>
          <p:nvSpPr>
            <p:cNvPr name="Freeform 33" id="33"/>
            <p:cNvSpPr/>
            <p:nvPr/>
          </p:nvSpPr>
          <p:spPr>
            <a:xfrm flipH="false" flipV="false" rot="0">
              <a:off x="0" y="0"/>
              <a:ext cx="5364480" cy="585216"/>
            </a:xfrm>
            <a:custGeom>
              <a:avLst/>
              <a:gdLst/>
              <a:ahLst/>
              <a:cxnLst/>
              <a:rect r="r" b="b" t="t" l="l"/>
              <a:pathLst>
                <a:path h="585216" w="5364480">
                  <a:moveTo>
                    <a:pt x="0" y="0"/>
                  </a:moveTo>
                  <a:lnTo>
                    <a:pt x="5364480" y="0"/>
                  </a:lnTo>
                  <a:lnTo>
                    <a:pt x="5364480" y="585216"/>
                  </a:lnTo>
                  <a:lnTo>
                    <a:pt x="0" y="585216"/>
                  </a:lnTo>
                  <a:close/>
                </a:path>
              </a:pathLst>
            </a:custGeom>
            <a:blipFill>
              <a:blip r:embed="rId3">
                <a:alphaModFix amt="0"/>
              </a:blip>
              <a:stretch>
                <a:fillRect l="0" t="-128612" r="0" b="-128612"/>
              </a:stretch>
            </a:blipFill>
          </p:spPr>
        </p:sp>
        <p:sp>
          <p:nvSpPr>
            <p:cNvPr name="TextBox 34" id="34"/>
            <p:cNvSpPr txBox="true"/>
            <p:nvPr/>
          </p:nvSpPr>
          <p:spPr>
            <a:xfrm>
              <a:off x="0" y="-28575"/>
              <a:ext cx="5364480" cy="613791"/>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XGBoost</a:t>
              </a:r>
            </a:p>
          </p:txBody>
        </p:sp>
      </p:grpSp>
      <p:grpSp>
        <p:nvGrpSpPr>
          <p:cNvPr name="Group 35" id="35"/>
          <p:cNvGrpSpPr/>
          <p:nvPr/>
        </p:nvGrpSpPr>
        <p:grpSpPr>
          <a:xfrm rot="0">
            <a:off x="1127503" y="7711183"/>
            <a:ext cx="4036057" cy="451609"/>
            <a:chOff x="0" y="0"/>
            <a:chExt cx="5381409" cy="602145"/>
          </a:xfrm>
        </p:grpSpPr>
        <p:sp>
          <p:nvSpPr>
            <p:cNvPr name="Freeform 36" id="36"/>
            <p:cNvSpPr/>
            <p:nvPr/>
          </p:nvSpPr>
          <p:spPr>
            <a:xfrm flipH="false" flipV="false" rot="0">
              <a:off x="8382" y="8509"/>
              <a:ext cx="5364607" cy="585216"/>
            </a:xfrm>
            <a:custGeom>
              <a:avLst/>
              <a:gdLst/>
              <a:ahLst/>
              <a:cxnLst/>
              <a:rect r="r" b="b" t="t" l="l"/>
              <a:pathLst>
                <a:path h="585216" w="5364607">
                  <a:moveTo>
                    <a:pt x="127" y="97536"/>
                  </a:moveTo>
                  <a:cubicBezTo>
                    <a:pt x="127" y="43688"/>
                    <a:pt x="44831" y="0"/>
                    <a:pt x="100076" y="0"/>
                  </a:cubicBezTo>
                  <a:lnTo>
                    <a:pt x="5264531" y="0"/>
                  </a:lnTo>
                  <a:cubicBezTo>
                    <a:pt x="5319776" y="0"/>
                    <a:pt x="5364607" y="43688"/>
                    <a:pt x="5364607" y="97536"/>
                  </a:cubicBezTo>
                  <a:lnTo>
                    <a:pt x="5364607" y="487680"/>
                  </a:lnTo>
                  <a:cubicBezTo>
                    <a:pt x="5364607" y="541528"/>
                    <a:pt x="5319776" y="585216"/>
                    <a:pt x="5264531" y="585216"/>
                  </a:cubicBezTo>
                  <a:lnTo>
                    <a:pt x="100076" y="585216"/>
                  </a:lnTo>
                  <a:cubicBezTo>
                    <a:pt x="44831" y="585216"/>
                    <a:pt x="0" y="541528"/>
                    <a:pt x="0" y="487680"/>
                  </a:cubicBezTo>
                  <a:close/>
                </a:path>
              </a:pathLst>
            </a:custGeom>
            <a:solidFill>
              <a:srgbClr val="122540"/>
            </a:solidFill>
          </p:spPr>
        </p:sp>
        <p:sp>
          <p:nvSpPr>
            <p:cNvPr name="Freeform 37" id="37"/>
            <p:cNvSpPr/>
            <p:nvPr/>
          </p:nvSpPr>
          <p:spPr>
            <a:xfrm flipH="false" flipV="false" rot="0">
              <a:off x="0" y="0"/>
              <a:ext cx="5381371" cy="602234"/>
            </a:xfrm>
            <a:custGeom>
              <a:avLst/>
              <a:gdLst/>
              <a:ahLst/>
              <a:cxnLst/>
              <a:rect r="r" b="b" t="t" l="l"/>
              <a:pathLst>
                <a:path h="602234" w="5381371">
                  <a:moveTo>
                    <a:pt x="0" y="106045"/>
                  </a:moveTo>
                  <a:cubicBezTo>
                    <a:pt x="0" y="47244"/>
                    <a:pt x="48768" y="0"/>
                    <a:pt x="108458" y="0"/>
                  </a:cubicBezTo>
                  <a:lnTo>
                    <a:pt x="5272913" y="0"/>
                  </a:lnTo>
                  <a:lnTo>
                    <a:pt x="5272913" y="8509"/>
                  </a:lnTo>
                  <a:lnTo>
                    <a:pt x="5272913" y="0"/>
                  </a:lnTo>
                  <a:cubicBezTo>
                    <a:pt x="5332603" y="0"/>
                    <a:pt x="5381371" y="47244"/>
                    <a:pt x="5381371" y="106045"/>
                  </a:cubicBezTo>
                  <a:lnTo>
                    <a:pt x="5372862" y="106045"/>
                  </a:lnTo>
                  <a:lnTo>
                    <a:pt x="5381371" y="106045"/>
                  </a:lnTo>
                  <a:lnTo>
                    <a:pt x="5381371" y="496189"/>
                  </a:lnTo>
                  <a:lnTo>
                    <a:pt x="5372862" y="496189"/>
                  </a:lnTo>
                  <a:lnTo>
                    <a:pt x="5381371" y="496189"/>
                  </a:lnTo>
                  <a:cubicBezTo>
                    <a:pt x="5381371" y="554990"/>
                    <a:pt x="5332603" y="602234"/>
                    <a:pt x="5272913" y="602234"/>
                  </a:cubicBezTo>
                  <a:lnTo>
                    <a:pt x="5272913" y="593725"/>
                  </a:lnTo>
                  <a:lnTo>
                    <a:pt x="5272913" y="602234"/>
                  </a:lnTo>
                  <a:lnTo>
                    <a:pt x="108458" y="602234"/>
                  </a:lnTo>
                  <a:lnTo>
                    <a:pt x="108458" y="593725"/>
                  </a:lnTo>
                  <a:lnTo>
                    <a:pt x="108458" y="602234"/>
                  </a:lnTo>
                  <a:cubicBezTo>
                    <a:pt x="48768" y="602107"/>
                    <a:pt x="0" y="554863"/>
                    <a:pt x="0" y="496189"/>
                  </a:cubicBezTo>
                  <a:lnTo>
                    <a:pt x="0" y="106045"/>
                  </a:lnTo>
                  <a:lnTo>
                    <a:pt x="8509" y="106045"/>
                  </a:lnTo>
                  <a:lnTo>
                    <a:pt x="0" y="106045"/>
                  </a:lnTo>
                  <a:moveTo>
                    <a:pt x="16891" y="106045"/>
                  </a:moveTo>
                  <a:lnTo>
                    <a:pt x="16891" y="496189"/>
                  </a:lnTo>
                  <a:lnTo>
                    <a:pt x="8509" y="496189"/>
                  </a:lnTo>
                  <a:lnTo>
                    <a:pt x="17018" y="496189"/>
                  </a:lnTo>
                  <a:cubicBezTo>
                    <a:pt x="17018" y="545211"/>
                    <a:pt x="57785" y="585216"/>
                    <a:pt x="108585" y="585216"/>
                  </a:cubicBezTo>
                  <a:lnTo>
                    <a:pt x="5272913" y="585216"/>
                  </a:lnTo>
                  <a:cubicBezTo>
                    <a:pt x="5323713" y="585216"/>
                    <a:pt x="5364480" y="545084"/>
                    <a:pt x="5364480" y="496189"/>
                  </a:cubicBezTo>
                  <a:lnTo>
                    <a:pt x="5364480" y="106045"/>
                  </a:lnTo>
                  <a:cubicBezTo>
                    <a:pt x="5364480" y="57023"/>
                    <a:pt x="5323713" y="17018"/>
                    <a:pt x="5272913" y="17018"/>
                  </a:cubicBezTo>
                  <a:lnTo>
                    <a:pt x="108458" y="17018"/>
                  </a:lnTo>
                  <a:lnTo>
                    <a:pt x="108458" y="8509"/>
                  </a:lnTo>
                  <a:lnTo>
                    <a:pt x="108458" y="17018"/>
                  </a:lnTo>
                  <a:cubicBezTo>
                    <a:pt x="57658" y="17018"/>
                    <a:pt x="16891" y="57150"/>
                    <a:pt x="16891" y="106045"/>
                  </a:cubicBezTo>
                  <a:close/>
                </a:path>
              </a:pathLst>
            </a:custGeom>
            <a:solidFill>
              <a:srgbClr val="1E3352"/>
            </a:solidFill>
          </p:spPr>
        </p:sp>
      </p:grpSp>
      <p:grpSp>
        <p:nvGrpSpPr>
          <p:cNvPr name="Group 38" id="38"/>
          <p:cNvGrpSpPr/>
          <p:nvPr/>
        </p:nvGrpSpPr>
        <p:grpSpPr>
          <a:xfrm rot="0">
            <a:off x="1133856" y="7717536"/>
            <a:ext cx="4023360" cy="438912"/>
            <a:chOff x="0" y="0"/>
            <a:chExt cx="5364480" cy="585216"/>
          </a:xfrm>
        </p:grpSpPr>
        <p:sp>
          <p:nvSpPr>
            <p:cNvPr name="Freeform 39" id="39"/>
            <p:cNvSpPr/>
            <p:nvPr/>
          </p:nvSpPr>
          <p:spPr>
            <a:xfrm flipH="false" flipV="false" rot="0">
              <a:off x="0" y="0"/>
              <a:ext cx="5364480" cy="585216"/>
            </a:xfrm>
            <a:custGeom>
              <a:avLst/>
              <a:gdLst/>
              <a:ahLst/>
              <a:cxnLst/>
              <a:rect r="r" b="b" t="t" l="l"/>
              <a:pathLst>
                <a:path h="585216" w="5364480">
                  <a:moveTo>
                    <a:pt x="0" y="0"/>
                  </a:moveTo>
                  <a:lnTo>
                    <a:pt x="5364480" y="0"/>
                  </a:lnTo>
                  <a:lnTo>
                    <a:pt x="5364480" y="585216"/>
                  </a:lnTo>
                  <a:lnTo>
                    <a:pt x="0" y="585216"/>
                  </a:lnTo>
                  <a:close/>
                </a:path>
              </a:pathLst>
            </a:custGeom>
            <a:blipFill>
              <a:blip r:embed="rId3">
                <a:alphaModFix amt="0"/>
              </a:blip>
              <a:stretch>
                <a:fillRect l="0" t="-128612" r="0" b="-128612"/>
              </a:stretch>
            </a:blipFill>
          </p:spPr>
        </p:sp>
        <p:sp>
          <p:nvSpPr>
            <p:cNvPr name="TextBox 40" id="40"/>
            <p:cNvSpPr txBox="true"/>
            <p:nvPr/>
          </p:nvSpPr>
          <p:spPr>
            <a:xfrm>
              <a:off x="0" y="-28575"/>
              <a:ext cx="5364480" cy="613791"/>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pandas / numpy</a:t>
              </a:r>
            </a:p>
          </p:txBody>
        </p:sp>
      </p:grpSp>
      <p:grpSp>
        <p:nvGrpSpPr>
          <p:cNvPr name="Group 41" id="41"/>
          <p:cNvGrpSpPr/>
          <p:nvPr/>
        </p:nvGrpSpPr>
        <p:grpSpPr>
          <a:xfrm rot="0">
            <a:off x="1127503" y="8259823"/>
            <a:ext cx="4036057" cy="451609"/>
            <a:chOff x="0" y="0"/>
            <a:chExt cx="5381409" cy="602145"/>
          </a:xfrm>
        </p:grpSpPr>
        <p:sp>
          <p:nvSpPr>
            <p:cNvPr name="Freeform 42" id="42"/>
            <p:cNvSpPr/>
            <p:nvPr/>
          </p:nvSpPr>
          <p:spPr>
            <a:xfrm flipH="false" flipV="false" rot="0">
              <a:off x="8382" y="8509"/>
              <a:ext cx="5364607" cy="585216"/>
            </a:xfrm>
            <a:custGeom>
              <a:avLst/>
              <a:gdLst/>
              <a:ahLst/>
              <a:cxnLst/>
              <a:rect r="r" b="b" t="t" l="l"/>
              <a:pathLst>
                <a:path h="585216" w="5364607">
                  <a:moveTo>
                    <a:pt x="127" y="97536"/>
                  </a:moveTo>
                  <a:cubicBezTo>
                    <a:pt x="127" y="43688"/>
                    <a:pt x="44831" y="0"/>
                    <a:pt x="100076" y="0"/>
                  </a:cubicBezTo>
                  <a:lnTo>
                    <a:pt x="5264531" y="0"/>
                  </a:lnTo>
                  <a:cubicBezTo>
                    <a:pt x="5319776" y="0"/>
                    <a:pt x="5364607" y="43688"/>
                    <a:pt x="5364607" y="97536"/>
                  </a:cubicBezTo>
                  <a:lnTo>
                    <a:pt x="5364607" y="487680"/>
                  </a:lnTo>
                  <a:cubicBezTo>
                    <a:pt x="5364607" y="541528"/>
                    <a:pt x="5319776" y="585216"/>
                    <a:pt x="5264531" y="585216"/>
                  </a:cubicBezTo>
                  <a:lnTo>
                    <a:pt x="100076" y="585216"/>
                  </a:lnTo>
                  <a:cubicBezTo>
                    <a:pt x="44831" y="585216"/>
                    <a:pt x="0" y="541528"/>
                    <a:pt x="0" y="487680"/>
                  </a:cubicBezTo>
                  <a:close/>
                </a:path>
              </a:pathLst>
            </a:custGeom>
            <a:solidFill>
              <a:srgbClr val="122540"/>
            </a:solidFill>
          </p:spPr>
        </p:sp>
        <p:sp>
          <p:nvSpPr>
            <p:cNvPr name="Freeform 43" id="43"/>
            <p:cNvSpPr/>
            <p:nvPr/>
          </p:nvSpPr>
          <p:spPr>
            <a:xfrm flipH="false" flipV="false" rot="0">
              <a:off x="0" y="0"/>
              <a:ext cx="5381371" cy="602234"/>
            </a:xfrm>
            <a:custGeom>
              <a:avLst/>
              <a:gdLst/>
              <a:ahLst/>
              <a:cxnLst/>
              <a:rect r="r" b="b" t="t" l="l"/>
              <a:pathLst>
                <a:path h="602234" w="5381371">
                  <a:moveTo>
                    <a:pt x="0" y="106045"/>
                  </a:moveTo>
                  <a:cubicBezTo>
                    <a:pt x="0" y="47244"/>
                    <a:pt x="48768" y="0"/>
                    <a:pt x="108458" y="0"/>
                  </a:cubicBezTo>
                  <a:lnTo>
                    <a:pt x="5272913" y="0"/>
                  </a:lnTo>
                  <a:lnTo>
                    <a:pt x="5272913" y="8509"/>
                  </a:lnTo>
                  <a:lnTo>
                    <a:pt x="5272913" y="0"/>
                  </a:lnTo>
                  <a:cubicBezTo>
                    <a:pt x="5332603" y="0"/>
                    <a:pt x="5381371" y="47244"/>
                    <a:pt x="5381371" y="106045"/>
                  </a:cubicBezTo>
                  <a:lnTo>
                    <a:pt x="5372862" y="106045"/>
                  </a:lnTo>
                  <a:lnTo>
                    <a:pt x="5381371" y="106045"/>
                  </a:lnTo>
                  <a:lnTo>
                    <a:pt x="5381371" y="496189"/>
                  </a:lnTo>
                  <a:lnTo>
                    <a:pt x="5372862" y="496189"/>
                  </a:lnTo>
                  <a:lnTo>
                    <a:pt x="5381371" y="496189"/>
                  </a:lnTo>
                  <a:cubicBezTo>
                    <a:pt x="5381371" y="554990"/>
                    <a:pt x="5332603" y="602234"/>
                    <a:pt x="5272913" y="602234"/>
                  </a:cubicBezTo>
                  <a:lnTo>
                    <a:pt x="5272913" y="593725"/>
                  </a:lnTo>
                  <a:lnTo>
                    <a:pt x="5272913" y="602234"/>
                  </a:lnTo>
                  <a:lnTo>
                    <a:pt x="108458" y="602234"/>
                  </a:lnTo>
                  <a:lnTo>
                    <a:pt x="108458" y="593725"/>
                  </a:lnTo>
                  <a:lnTo>
                    <a:pt x="108458" y="602234"/>
                  </a:lnTo>
                  <a:cubicBezTo>
                    <a:pt x="48768" y="602107"/>
                    <a:pt x="0" y="554863"/>
                    <a:pt x="0" y="496189"/>
                  </a:cubicBezTo>
                  <a:lnTo>
                    <a:pt x="0" y="106045"/>
                  </a:lnTo>
                  <a:lnTo>
                    <a:pt x="8509" y="106045"/>
                  </a:lnTo>
                  <a:lnTo>
                    <a:pt x="0" y="106045"/>
                  </a:lnTo>
                  <a:moveTo>
                    <a:pt x="16891" y="106045"/>
                  </a:moveTo>
                  <a:lnTo>
                    <a:pt x="16891" y="496189"/>
                  </a:lnTo>
                  <a:lnTo>
                    <a:pt x="8509" y="496189"/>
                  </a:lnTo>
                  <a:lnTo>
                    <a:pt x="17018" y="496189"/>
                  </a:lnTo>
                  <a:cubicBezTo>
                    <a:pt x="17018" y="545211"/>
                    <a:pt x="57785" y="585216"/>
                    <a:pt x="108585" y="585216"/>
                  </a:cubicBezTo>
                  <a:lnTo>
                    <a:pt x="5272913" y="585216"/>
                  </a:lnTo>
                  <a:cubicBezTo>
                    <a:pt x="5323713" y="585216"/>
                    <a:pt x="5364480" y="545084"/>
                    <a:pt x="5364480" y="496189"/>
                  </a:cubicBezTo>
                  <a:lnTo>
                    <a:pt x="5364480" y="106045"/>
                  </a:lnTo>
                  <a:cubicBezTo>
                    <a:pt x="5364480" y="57023"/>
                    <a:pt x="5323713" y="17018"/>
                    <a:pt x="5272913" y="17018"/>
                  </a:cubicBezTo>
                  <a:lnTo>
                    <a:pt x="108458" y="17018"/>
                  </a:lnTo>
                  <a:lnTo>
                    <a:pt x="108458" y="8509"/>
                  </a:lnTo>
                  <a:lnTo>
                    <a:pt x="108458" y="17018"/>
                  </a:lnTo>
                  <a:cubicBezTo>
                    <a:pt x="57658" y="17018"/>
                    <a:pt x="16891" y="57150"/>
                    <a:pt x="16891" y="106045"/>
                  </a:cubicBezTo>
                  <a:close/>
                </a:path>
              </a:pathLst>
            </a:custGeom>
            <a:solidFill>
              <a:srgbClr val="1E3352"/>
            </a:solidFill>
          </p:spPr>
        </p:sp>
      </p:grpSp>
      <p:grpSp>
        <p:nvGrpSpPr>
          <p:cNvPr name="Group 44" id="44"/>
          <p:cNvGrpSpPr/>
          <p:nvPr/>
        </p:nvGrpSpPr>
        <p:grpSpPr>
          <a:xfrm rot="0">
            <a:off x="1133856" y="8266176"/>
            <a:ext cx="4023360" cy="438912"/>
            <a:chOff x="0" y="0"/>
            <a:chExt cx="5364480" cy="585216"/>
          </a:xfrm>
        </p:grpSpPr>
        <p:sp>
          <p:nvSpPr>
            <p:cNvPr name="Freeform 45" id="45"/>
            <p:cNvSpPr/>
            <p:nvPr/>
          </p:nvSpPr>
          <p:spPr>
            <a:xfrm flipH="false" flipV="false" rot="0">
              <a:off x="0" y="0"/>
              <a:ext cx="5364480" cy="585216"/>
            </a:xfrm>
            <a:custGeom>
              <a:avLst/>
              <a:gdLst/>
              <a:ahLst/>
              <a:cxnLst/>
              <a:rect r="r" b="b" t="t" l="l"/>
              <a:pathLst>
                <a:path h="585216" w="5364480">
                  <a:moveTo>
                    <a:pt x="0" y="0"/>
                  </a:moveTo>
                  <a:lnTo>
                    <a:pt x="5364480" y="0"/>
                  </a:lnTo>
                  <a:lnTo>
                    <a:pt x="5364480" y="585216"/>
                  </a:lnTo>
                  <a:lnTo>
                    <a:pt x="0" y="585216"/>
                  </a:lnTo>
                  <a:close/>
                </a:path>
              </a:pathLst>
            </a:custGeom>
            <a:blipFill>
              <a:blip r:embed="rId3">
                <a:alphaModFix amt="0"/>
              </a:blip>
              <a:stretch>
                <a:fillRect l="0" t="-128612" r="0" b="-128612"/>
              </a:stretch>
            </a:blipFill>
          </p:spPr>
        </p:sp>
        <p:sp>
          <p:nvSpPr>
            <p:cNvPr name="TextBox 46" id="46"/>
            <p:cNvSpPr txBox="true"/>
            <p:nvPr/>
          </p:nvSpPr>
          <p:spPr>
            <a:xfrm>
              <a:off x="0" y="-28575"/>
              <a:ext cx="5364480" cy="613791"/>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Flask</a:t>
              </a:r>
            </a:p>
          </p:txBody>
        </p:sp>
      </p:grpSp>
      <p:grpSp>
        <p:nvGrpSpPr>
          <p:cNvPr name="Group 47" id="47"/>
          <p:cNvGrpSpPr/>
          <p:nvPr/>
        </p:nvGrpSpPr>
        <p:grpSpPr>
          <a:xfrm rot="0">
            <a:off x="1127503" y="8808463"/>
            <a:ext cx="4036057" cy="451609"/>
            <a:chOff x="0" y="0"/>
            <a:chExt cx="5381409" cy="602145"/>
          </a:xfrm>
        </p:grpSpPr>
        <p:sp>
          <p:nvSpPr>
            <p:cNvPr name="Freeform 48" id="48"/>
            <p:cNvSpPr/>
            <p:nvPr/>
          </p:nvSpPr>
          <p:spPr>
            <a:xfrm flipH="false" flipV="false" rot="0">
              <a:off x="8382" y="8509"/>
              <a:ext cx="5364607" cy="585216"/>
            </a:xfrm>
            <a:custGeom>
              <a:avLst/>
              <a:gdLst/>
              <a:ahLst/>
              <a:cxnLst/>
              <a:rect r="r" b="b" t="t" l="l"/>
              <a:pathLst>
                <a:path h="585216" w="5364607">
                  <a:moveTo>
                    <a:pt x="127" y="97536"/>
                  </a:moveTo>
                  <a:cubicBezTo>
                    <a:pt x="127" y="43688"/>
                    <a:pt x="44831" y="0"/>
                    <a:pt x="100076" y="0"/>
                  </a:cubicBezTo>
                  <a:lnTo>
                    <a:pt x="5264531" y="0"/>
                  </a:lnTo>
                  <a:cubicBezTo>
                    <a:pt x="5319776" y="0"/>
                    <a:pt x="5364607" y="43688"/>
                    <a:pt x="5364607" y="97536"/>
                  </a:cubicBezTo>
                  <a:lnTo>
                    <a:pt x="5364607" y="487680"/>
                  </a:lnTo>
                  <a:cubicBezTo>
                    <a:pt x="5364607" y="541528"/>
                    <a:pt x="5319776" y="585216"/>
                    <a:pt x="5264531" y="585216"/>
                  </a:cubicBezTo>
                  <a:lnTo>
                    <a:pt x="100076" y="585216"/>
                  </a:lnTo>
                  <a:cubicBezTo>
                    <a:pt x="44831" y="585216"/>
                    <a:pt x="0" y="541528"/>
                    <a:pt x="0" y="487680"/>
                  </a:cubicBezTo>
                  <a:close/>
                </a:path>
              </a:pathLst>
            </a:custGeom>
            <a:solidFill>
              <a:srgbClr val="122540"/>
            </a:solidFill>
          </p:spPr>
        </p:sp>
        <p:sp>
          <p:nvSpPr>
            <p:cNvPr name="Freeform 49" id="49"/>
            <p:cNvSpPr/>
            <p:nvPr/>
          </p:nvSpPr>
          <p:spPr>
            <a:xfrm flipH="false" flipV="false" rot="0">
              <a:off x="0" y="0"/>
              <a:ext cx="5381371" cy="602234"/>
            </a:xfrm>
            <a:custGeom>
              <a:avLst/>
              <a:gdLst/>
              <a:ahLst/>
              <a:cxnLst/>
              <a:rect r="r" b="b" t="t" l="l"/>
              <a:pathLst>
                <a:path h="602234" w="5381371">
                  <a:moveTo>
                    <a:pt x="0" y="106045"/>
                  </a:moveTo>
                  <a:cubicBezTo>
                    <a:pt x="0" y="47244"/>
                    <a:pt x="48768" y="0"/>
                    <a:pt x="108458" y="0"/>
                  </a:cubicBezTo>
                  <a:lnTo>
                    <a:pt x="5272913" y="0"/>
                  </a:lnTo>
                  <a:lnTo>
                    <a:pt x="5272913" y="8509"/>
                  </a:lnTo>
                  <a:lnTo>
                    <a:pt x="5272913" y="0"/>
                  </a:lnTo>
                  <a:cubicBezTo>
                    <a:pt x="5332603" y="0"/>
                    <a:pt x="5381371" y="47244"/>
                    <a:pt x="5381371" y="106045"/>
                  </a:cubicBezTo>
                  <a:lnTo>
                    <a:pt x="5372862" y="106045"/>
                  </a:lnTo>
                  <a:lnTo>
                    <a:pt x="5381371" y="106045"/>
                  </a:lnTo>
                  <a:lnTo>
                    <a:pt x="5381371" y="496189"/>
                  </a:lnTo>
                  <a:lnTo>
                    <a:pt x="5372862" y="496189"/>
                  </a:lnTo>
                  <a:lnTo>
                    <a:pt x="5381371" y="496189"/>
                  </a:lnTo>
                  <a:cubicBezTo>
                    <a:pt x="5381371" y="554990"/>
                    <a:pt x="5332603" y="602234"/>
                    <a:pt x="5272913" y="602234"/>
                  </a:cubicBezTo>
                  <a:lnTo>
                    <a:pt x="5272913" y="593725"/>
                  </a:lnTo>
                  <a:lnTo>
                    <a:pt x="5272913" y="602234"/>
                  </a:lnTo>
                  <a:lnTo>
                    <a:pt x="108458" y="602234"/>
                  </a:lnTo>
                  <a:lnTo>
                    <a:pt x="108458" y="593725"/>
                  </a:lnTo>
                  <a:lnTo>
                    <a:pt x="108458" y="602234"/>
                  </a:lnTo>
                  <a:cubicBezTo>
                    <a:pt x="48768" y="602107"/>
                    <a:pt x="0" y="554863"/>
                    <a:pt x="0" y="496189"/>
                  </a:cubicBezTo>
                  <a:lnTo>
                    <a:pt x="0" y="106045"/>
                  </a:lnTo>
                  <a:lnTo>
                    <a:pt x="8509" y="106045"/>
                  </a:lnTo>
                  <a:lnTo>
                    <a:pt x="0" y="106045"/>
                  </a:lnTo>
                  <a:moveTo>
                    <a:pt x="16891" y="106045"/>
                  </a:moveTo>
                  <a:lnTo>
                    <a:pt x="16891" y="496189"/>
                  </a:lnTo>
                  <a:lnTo>
                    <a:pt x="8509" y="496189"/>
                  </a:lnTo>
                  <a:lnTo>
                    <a:pt x="17018" y="496189"/>
                  </a:lnTo>
                  <a:cubicBezTo>
                    <a:pt x="17018" y="545211"/>
                    <a:pt x="57785" y="585216"/>
                    <a:pt x="108585" y="585216"/>
                  </a:cubicBezTo>
                  <a:lnTo>
                    <a:pt x="5272913" y="585216"/>
                  </a:lnTo>
                  <a:cubicBezTo>
                    <a:pt x="5323713" y="585216"/>
                    <a:pt x="5364480" y="545084"/>
                    <a:pt x="5364480" y="496189"/>
                  </a:cubicBezTo>
                  <a:lnTo>
                    <a:pt x="5364480" y="106045"/>
                  </a:lnTo>
                  <a:cubicBezTo>
                    <a:pt x="5364480" y="57023"/>
                    <a:pt x="5323713" y="17018"/>
                    <a:pt x="5272913" y="17018"/>
                  </a:cubicBezTo>
                  <a:lnTo>
                    <a:pt x="108458" y="17018"/>
                  </a:lnTo>
                  <a:lnTo>
                    <a:pt x="108458" y="8509"/>
                  </a:lnTo>
                  <a:lnTo>
                    <a:pt x="108458" y="17018"/>
                  </a:lnTo>
                  <a:cubicBezTo>
                    <a:pt x="57658" y="17018"/>
                    <a:pt x="16891" y="57150"/>
                    <a:pt x="16891" y="106045"/>
                  </a:cubicBezTo>
                  <a:close/>
                </a:path>
              </a:pathLst>
            </a:custGeom>
            <a:solidFill>
              <a:srgbClr val="1E3352"/>
            </a:solidFill>
          </p:spPr>
        </p:sp>
      </p:grpSp>
      <p:grpSp>
        <p:nvGrpSpPr>
          <p:cNvPr name="Group 50" id="50"/>
          <p:cNvGrpSpPr/>
          <p:nvPr/>
        </p:nvGrpSpPr>
        <p:grpSpPr>
          <a:xfrm rot="0">
            <a:off x="1133856" y="8814816"/>
            <a:ext cx="4023360" cy="438912"/>
            <a:chOff x="0" y="0"/>
            <a:chExt cx="5364480" cy="585216"/>
          </a:xfrm>
        </p:grpSpPr>
        <p:sp>
          <p:nvSpPr>
            <p:cNvPr name="Freeform 51" id="51"/>
            <p:cNvSpPr/>
            <p:nvPr/>
          </p:nvSpPr>
          <p:spPr>
            <a:xfrm flipH="false" flipV="false" rot="0">
              <a:off x="0" y="0"/>
              <a:ext cx="5364480" cy="585216"/>
            </a:xfrm>
            <a:custGeom>
              <a:avLst/>
              <a:gdLst/>
              <a:ahLst/>
              <a:cxnLst/>
              <a:rect r="r" b="b" t="t" l="l"/>
              <a:pathLst>
                <a:path h="585216" w="5364480">
                  <a:moveTo>
                    <a:pt x="0" y="0"/>
                  </a:moveTo>
                  <a:lnTo>
                    <a:pt x="5364480" y="0"/>
                  </a:lnTo>
                  <a:lnTo>
                    <a:pt x="5364480" y="585216"/>
                  </a:lnTo>
                  <a:lnTo>
                    <a:pt x="0" y="585216"/>
                  </a:lnTo>
                  <a:close/>
                </a:path>
              </a:pathLst>
            </a:custGeom>
            <a:blipFill>
              <a:blip r:embed="rId3">
                <a:alphaModFix amt="0"/>
              </a:blip>
              <a:stretch>
                <a:fillRect l="0" t="-128612" r="0" b="-128612"/>
              </a:stretch>
            </a:blipFill>
          </p:spPr>
        </p:sp>
        <p:sp>
          <p:nvSpPr>
            <p:cNvPr name="TextBox 52" id="52"/>
            <p:cNvSpPr txBox="true"/>
            <p:nvPr/>
          </p:nvSpPr>
          <p:spPr>
            <a:xfrm>
              <a:off x="0" y="-28575"/>
              <a:ext cx="5364480" cy="613791"/>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Chart.js</a:t>
              </a:r>
            </a:p>
          </p:txBody>
        </p:sp>
      </p:grpSp>
      <p:grpSp>
        <p:nvGrpSpPr>
          <p:cNvPr name="Group 53" id="53"/>
          <p:cNvGrpSpPr/>
          <p:nvPr/>
        </p:nvGrpSpPr>
        <p:grpSpPr>
          <a:xfrm rot="0">
            <a:off x="1127503" y="9357103"/>
            <a:ext cx="4036057" cy="451609"/>
            <a:chOff x="0" y="0"/>
            <a:chExt cx="5381409" cy="602145"/>
          </a:xfrm>
        </p:grpSpPr>
        <p:sp>
          <p:nvSpPr>
            <p:cNvPr name="Freeform 54" id="54"/>
            <p:cNvSpPr/>
            <p:nvPr/>
          </p:nvSpPr>
          <p:spPr>
            <a:xfrm flipH="false" flipV="false" rot="0">
              <a:off x="8382" y="8509"/>
              <a:ext cx="5364607" cy="585216"/>
            </a:xfrm>
            <a:custGeom>
              <a:avLst/>
              <a:gdLst/>
              <a:ahLst/>
              <a:cxnLst/>
              <a:rect r="r" b="b" t="t" l="l"/>
              <a:pathLst>
                <a:path h="585216" w="5364607">
                  <a:moveTo>
                    <a:pt x="127" y="97536"/>
                  </a:moveTo>
                  <a:cubicBezTo>
                    <a:pt x="127" y="43688"/>
                    <a:pt x="44831" y="0"/>
                    <a:pt x="100076" y="0"/>
                  </a:cubicBezTo>
                  <a:lnTo>
                    <a:pt x="5264531" y="0"/>
                  </a:lnTo>
                  <a:cubicBezTo>
                    <a:pt x="5319776" y="0"/>
                    <a:pt x="5364607" y="43688"/>
                    <a:pt x="5364607" y="97536"/>
                  </a:cubicBezTo>
                  <a:lnTo>
                    <a:pt x="5364607" y="487680"/>
                  </a:lnTo>
                  <a:cubicBezTo>
                    <a:pt x="5364607" y="541528"/>
                    <a:pt x="5319776" y="585216"/>
                    <a:pt x="5264531" y="585216"/>
                  </a:cubicBezTo>
                  <a:lnTo>
                    <a:pt x="100076" y="585216"/>
                  </a:lnTo>
                  <a:cubicBezTo>
                    <a:pt x="44831" y="585216"/>
                    <a:pt x="0" y="541528"/>
                    <a:pt x="0" y="487680"/>
                  </a:cubicBezTo>
                  <a:close/>
                </a:path>
              </a:pathLst>
            </a:custGeom>
            <a:solidFill>
              <a:srgbClr val="122540"/>
            </a:solidFill>
          </p:spPr>
        </p:sp>
        <p:sp>
          <p:nvSpPr>
            <p:cNvPr name="Freeform 55" id="55"/>
            <p:cNvSpPr/>
            <p:nvPr/>
          </p:nvSpPr>
          <p:spPr>
            <a:xfrm flipH="false" flipV="false" rot="0">
              <a:off x="0" y="0"/>
              <a:ext cx="5381371" cy="602234"/>
            </a:xfrm>
            <a:custGeom>
              <a:avLst/>
              <a:gdLst/>
              <a:ahLst/>
              <a:cxnLst/>
              <a:rect r="r" b="b" t="t" l="l"/>
              <a:pathLst>
                <a:path h="602234" w="5381371">
                  <a:moveTo>
                    <a:pt x="0" y="106045"/>
                  </a:moveTo>
                  <a:cubicBezTo>
                    <a:pt x="0" y="47244"/>
                    <a:pt x="48768" y="0"/>
                    <a:pt x="108458" y="0"/>
                  </a:cubicBezTo>
                  <a:lnTo>
                    <a:pt x="5272913" y="0"/>
                  </a:lnTo>
                  <a:lnTo>
                    <a:pt x="5272913" y="8509"/>
                  </a:lnTo>
                  <a:lnTo>
                    <a:pt x="5272913" y="0"/>
                  </a:lnTo>
                  <a:cubicBezTo>
                    <a:pt x="5332603" y="0"/>
                    <a:pt x="5381371" y="47244"/>
                    <a:pt x="5381371" y="106045"/>
                  </a:cubicBezTo>
                  <a:lnTo>
                    <a:pt x="5372862" y="106045"/>
                  </a:lnTo>
                  <a:lnTo>
                    <a:pt x="5381371" y="106045"/>
                  </a:lnTo>
                  <a:lnTo>
                    <a:pt x="5381371" y="496189"/>
                  </a:lnTo>
                  <a:lnTo>
                    <a:pt x="5372862" y="496189"/>
                  </a:lnTo>
                  <a:lnTo>
                    <a:pt x="5381371" y="496189"/>
                  </a:lnTo>
                  <a:cubicBezTo>
                    <a:pt x="5381371" y="554990"/>
                    <a:pt x="5332603" y="602234"/>
                    <a:pt x="5272913" y="602234"/>
                  </a:cubicBezTo>
                  <a:lnTo>
                    <a:pt x="5272913" y="593725"/>
                  </a:lnTo>
                  <a:lnTo>
                    <a:pt x="5272913" y="602234"/>
                  </a:lnTo>
                  <a:lnTo>
                    <a:pt x="108458" y="602234"/>
                  </a:lnTo>
                  <a:lnTo>
                    <a:pt x="108458" y="593725"/>
                  </a:lnTo>
                  <a:lnTo>
                    <a:pt x="108458" y="602234"/>
                  </a:lnTo>
                  <a:cubicBezTo>
                    <a:pt x="48768" y="602107"/>
                    <a:pt x="0" y="554863"/>
                    <a:pt x="0" y="496189"/>
                  </a:cubicBezTo>
                  <a:lnTo>
                    <a:pt x="0" y="106045"/>
                  </a:lnTo>
                  <a:lnTo>
                    <a:pt x="8509" y="106045"/>
                  </a:lnTo>
                  <a:lnTo>
                    <a:pt x="0" y="106045"/>
                  </a:lnTo>
                  <a:moveTo>
                    <a:pt x="16891" y="106045"/>
                  </a:moveTo>
                  <a:lnTo>
                    <a:pt x="16891" y="496189"/>
                  </a:lnTo>
                  <a:lnTo>
                    <a:pt x="8509" y="496189"/>
                  </a:lnTo>
                  <a:lnTo>
                    <a:pt x="17018" y="496189"/>
                  </a:lnTo>
                  <a:cubicBezTo>
                    <a:pt x="17018" y="545211"/>
                    <a:pt x="57785" y="585216"/>
                    <a:pt x="108585" y="585216"/>
                  </a:cubicBezTo>
                  <a:lnTo>
                    <a:pt x="5272913" y="585216"/>
                  </a:lnTo>
                  <a:cubicBezTo>
                    <a:pt x="5323713" y="585216"/>
                    <a:pt x="5364480" y="545084"/>
                    <a:pt x="5364480" y="496189"/>
                  </a:cubicBezTo>
                  <a:lnTo>
                    <a:pt x="5364480" y="106045"/>
                  </a:lnTo>
                  <a:cubicBezTo>
                    <a:pt x="5364480" y="57023"/>
                    <a:pt x="5323713" y="17018"/>
                    <a:pt x="5272913" y="17018"/>
                  </a:cubicBezTo>
                  <a:lnTo>
                    <a:pt x="108458" y="17018"/>
                  </a:lnTo>
                  <a:lnTo>
                    <a:pt x="108458" y="8509"/>
                  </a:lnTo>
                  <a:lnTo>
                    <a:pt x="108458" y="17018"/>
                  </a:lnTo>
                  <a:cubicBezTo>
                    <a:pt x="57658" y="17018"/>
                    <a:pt x="16891" y="57150"/>
                    <a:pt x="16891" y="106045"/>
                  </a:cubicBezTo>
                  <a:close/>
                </a:path>
              </a:pathLst>
            </a:custGeom>
            <a:solidFill>
              <a:srgbClr val="1E3352"/>
            </a:solidFill>
          </p:spPr>
        </p:sp>
      </p:grpSp>
      <p:grpSp>
        <p:nvGrpSpPr>
          <p:cNvPr name="Group 56" id="56"/>
          <p:cNvGrpSpPr/>
          <p:nvPr/>
        </p:nvGrpSpPr>
        <p:grpSpPr>
          <a:xfrm rot="0">
            <a:off x="1133856" y="9363456"/>
            <a:ext cx="4023360" cy="438912"/>
            <a:chOff x="0" y="0"/>
            <a:chExt cx="5364480" cy="585216"/>
          </a:xfrm>
        </p:grpSpPr>
        <p:sp>
          <p:nvSpPr>
            <p:cNvPr name="Freeform 57" id="57"/>
            <p:cNvSpPr/>
            <p:nvPr/>
          </p:nvSpPr>
          <p:spPr>
            <a:xfrm flipH="false" flipV="false" rot="0">
              <a:off x="0" y="0"/>
              <a:ext cx="5364480" cy="585216"/>
            </a:xfrm>
            <a:custGeom>
              <a:avLst/>
              <a:gdLst/>
              <a:ahLst/>
              <a:cxnLst/>
              <a:rect r="r" b="b" t="t" l="l"/>
              <a:pathLst>
                <a:path h="585216" w="5364480">
                  <a:moveTo>
                    <a:pt x="0" y="0"/>
                  </a:moveTo>
                  <a:lnTo>
                    <a:pt x="5364480" y="0"/>
                  </a:lnTo>
                  <a:lnTo>
                    <a:pt x="5364480" y="585216"/>
                  </a:lnTo>
                  <a:lnTo>
                    <a:pt x="0" y="585216"/>
                  </a:lnTo>
                  <a:close/>
                </a:path>
              </a:pathLst>
            </a:custGeom>
            <a:blipFill>
              <a:blip r:embed="rId3">
                <a:alphaModFix amt="0"/>
              </a:blip>
              <a:stretch>
                <a:fillRect l="0" t="-128612" r="0" b="-128612"/>
              </a:stretch>
            </a:blipFill>
          </p:spPr>
        </p:sp>
        <p:sp>
          <p:nvSpPr>
            <p:cNvPr name="TextBox 58" id="58"/>
            <p:cNvSpPr txBox="true"/>
            <p:nvPr/>
          </p:nvSpPr>
          <p:spPr>
            <a:xfrm>
              <a:off x="0" y="-28575"/>
              <a:ext cx="5364480" cy="613791"/>
            </a:xfrm>
            <a:prstGeom prst="rect">
              <a:avLst/>
            </a:prstGeom>
          </p:spPr>
          <p:txBody>
            <a:bodyPr anchor="ctr" rtlCol="false" tIns="0" lIns="0" bIns="0" rIns="0"/>
            <a:lstStyle/>
            <a:p>
              <a:pPr algn="ctr">
                <a:lnSpc>
                  <a:spcPts val="1920"/>
                </a:lnSpc>
              </a:pPr>
              <a:r>
                <a:rPr lang="en-US" sz="1600">
                  <a:solidFill>
                    <a:srgbClr val="6B8BAA"/>
                  </a:solidFill>
                  <a:latin typeface="Calibri (MS)"/>
                  <a:ea typeface="Calibri (MS)"/>
                  <a:cs typeface="Calibri (MS)"/>
                  <a:sym typeface="Calibri (MS)"/>
                </a:rPr>
                <a:t>PptxGenJS</a:t>
              </a:r>
            </a:p>
          </p:txBody>
        </p:sp>
      </p:grpSp>
      <p:grpSp>
        <p:nvGrpSpPr>
          <p:cNvPr name="Group 59" id="59"/>
          <p:cNvGrpSpPr/>
          <p:nvPr/>
        </p:nvGrpSpPr>
        <p:grpSpPr>
          <a:xfrm rot="0">
            <a:off x="6400800" y="2194560"/>
            <a:ext cx="11155680" cy="1371600"/>
            <a:chOff x="0" y="0"/>
            <a:chExt cx="14874240" cy="1828800"/>
          </a:xfrm>
        </p:grpSpPr>
        <p:sp>
          <p:nvSpPr>
            <p:cNvPr name="Freeform 60" id="60"/>
            <p:cNvSpPr/>
            <p:nvPr/>
          </p:nvSpPr>
          <p:spPr>
            <a:xfrm flipH="false" flipV="false" rot="0">
              <a:off x="0" y="0"/>
              <a:ext cx="14874239" cy="1828800"/>
            </a:xfrm>
            <a:custGeom>
              <a:avLst/>
              <a:gdLst/>
              <a:ahLst/>
              <a:cxnLst/>
              <a:rect r="r" b="b" t="t" l="l"/>
              <a:pathLst>
                <a:path h="1828800" w="14874239">
                  <a:moveTo>
                    <a:pt x="0" y="0"/>
                  </a:moveTo>
                  <a:lnTo>
                    <a:pt x="14874239" y="0"/>
                  </a:lnTo>
                  <a:lnTo>
                    <a:pt x="14874239" y="1828800"/>
                  </a:lnTo>
                  <a:lnTo>
                    <a:pt x="0" y="1828800"/>
                  </a:lnTo>
                  <a:close/>
                </a:path>
              </a:pathLst>
            </a:custGeom>
            <a:blipFill>
              <a:blip r:embed="rId3">
                <a:alphaModFix amt="0"/>
              </a:blip>
              <a:stretch>
                <a:fillRect l="0" t="-108478" r="0" b="-108478"/>
              </a:stretch>
            </a:blipFill>
          </p:spPr>
        </p:sp>
        <p:sp>
          <p:nvSpPr>
            <p:cNvPr name="TextBox 61" id="61"/>
            <p:cNvSpPr txBox="true"/>
            <p:nvPr/>
          </p:nvSpPr>
          <p:spPr>
            <a:xfrm>
              <a:off x="0" y="-114300"/>
              <a:ext cx="14874240" cy="194310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Merci pour votre attention !</a:t>
              </a:r>
            </a:p>
          </p:txBody>
        </p:sp>
      </p:grpSp>
      <p:grpSp>
        <p:nvGrpSpPr>
          <p:cNvPr name="Group 62" id="62"/>
          <p:cNvGrpSpPr/>
          <p:nvPr/>
        </p:nvGrpSpPr>
        <p:grpSpPr>
          <a:xfrm rot="0">
            <a:off x="6400800" y="3566160"/>
            <a:ext cx="11155680" cy="914400"/>
            <a:chOff x="0" y="0"/>
            <a:chExt cx="14874240" cy="1219200"/>
          </a:xfrm>
        </p:grpSpPr>
        <p:sp>
          <p:nvSpPr>
            <p:cNvPr name="Freeform 63" id="63"/>
            <p:cNvSpPr/>
            <p:nvPr/>
          </p:nvSpPr>
          <p:spPr>
            <a:xfrm flipH="false" flipV="false" rot="0">
              <a:off x="0" y="0"/>
              <a:ext cx="14874239" cy="1219200"/>
            </a:xfrm>
            <a:custGeom>
              <a:avLst/>
              <a:gdLst/>
              <a:ahLst/>
              <a:cxnLst/>
              <a:rect r="r" b="b" t="t" l="l"/>
              <a:pathLst>
                <a:path h="1219200" w="14874239">
                  <a:moveTo>
                    <a:pt x="0" y="0"/>
                  </a:moveTo>
                  <a:lnTo>
                    <a:pt x="14874239" y="0"/>
                  </a:lnTo>
                  <a:lnTo>
                    <a:pt x="14874239" y="1219200"/>
                  </a:lnTo>
                  <a:lnTo>
                    <a:pt x="0" y="1219200"/>
                  </a:lnTo>
                  <a:close/>
                </a:path>
              </a:pathLst>
            </a:custGeom>
            <a:blipFill>
              <a:blip r:embed="rId3">
                <a:alphaModFix amt="0"/>
              </a:blip>
              <a:stretch>
                <a:fillRect l="0" t="-187717" r="0" b="-187717"/>
              </a:stretch>
            </a:blipFill>
          </p:spPr>
        </p:sp>
        <p:sp>
          <p:nvSpPr>
            <p:cNvPr name="TextBox 64" id="64"/>
            <p:cNvSpPr txBox="true"/>
            <p:nvPr/>
          </p:nvSpPr>
          <p:spPr>
            <a:xfrm>
              <a:off x="0" y="-76200"/>
              <a:ext cx="14874240" cy="1295400"/>
            </a:xfrm>
            <a:prstGeom prst="rect">
              <a:avLst/>
            </a:prstGeom>
          </p:spPr>
          <p:txBody>
            <a:bodyPr anchor="ctr" rtlCol="false" tIns="0" lIns="0" bIns="0" rIns="0"/>
            <a:lstStyle/>
            <a:p>
              <a:pPr algn="l">
                <a:lnSpc>
                  <a:spcPts val="4800"/>
                </a:lnSpc>
              </a:pPr>
              <a:r>
                <a:rPr lang="en-US" sz="4000" i="true">
                  <a:solidFill>
                    <a:srgbClr val="00E5A0"/>
                  </a:solidFill>
                  <a:latin typeface="Calibri (MS) Italics"/>
                  <a:ea typeface="Calibri (MS) Italics"/>
                  <a:cs typeface="Calibri (MS) Italics"/>
                  <a:sym typeface="Calibri (MS) Italics"/>
                </a:rPr>
                <a:t>Des questions ?</a:t>
              </a:r>
            </a:p>
          </p:txBody>
        </p:sp>
      </p:grpSp>
      <p:grpSp>
        <p:nvGrpSpPr>
          <p:cNvPr name="Group 65" id="65"/>
          <p:cNvGrpSpPr/>
          <p:nvPr/>
        </p:nvGrpSpPr>
        <p:grpSpPr>
          <a:xfrm rot="0">
            <a:off x="6275330" y="4833623"/>
            <a:ext cx="5520430" cy="793499"/>
            <a:chOff x="0" y="0"/>
            <a:chExt cx="7360573" cy="1057999"/>
          </a:xfrm>
        </p:grpSpPr>
        <p:sp>
          <p:nvSpPr>
            <p:cNvPr name="Freeform 66" id="66"/>
            <p:cNvSpPr/>
            <p:nvPr/>
          </p:nvSpPr>
          <p:spPr>
            <a:xfrm flipH="false" flipV="false" rot="0">
              <a:off x="25962" y="16891"/>
              <a:ext cx="7308707" cy="1024128"/>
            </a:xfrm>
            <a:custGeom>
              <a:avLst/>
              <a:gdLst/>
              <a:ahLst/>
              <a:cxnLst/>
              <a:rect r="r" b="b" t="t" l="l"/>
              <a:pathLst>
                <a:path h="1024128" w="7308707">
                  <a:moveTo>
                    <a:pt x="0" y="243840"/>
                  </a:moveTo>
                  <a:cubicBezTo>
                    <a:pt x="0" y="109220"/>
                    <a:pt x="172172" y="0"/>
                    <a:pt x="384556" y="0"/>
                  </a:cubicBezTo>
                  <a:lnTo>
                    <a:pt x="6924152" y="0"/>
                  </a:lnTo>
                  <a:cubicBezTo>
                    <a:pt x="7136536" y="0"/>
                    <a:pt x="7308707" y="109220"/>
                    <a:pt x="7308707" y="243840"/>
                  </a:cubicBezTo>
                  <a:lnTo>
                    <a:pt x="7308707" y="780288"/>
                  </a:lnTo>
                  <a:cubicBezTo>
                    <a:pt x="7308707" y="914908"/>
                    <a:pt x="7136536" y="1024128"/>
                    <a:pt x="6924152" y="1024128"/>
                  </a:cubicBezTo>
                  <a:lnTo>
                    <a:pt x="384556" y="1024128"/>
                  </a:lnTo>
                  <a:cubicBezTo>
                    <a:pt x="172172" y="1024128"/>
                    <a:pt x="0" y="914908"/>
                    <a:pt x="0" y="780288"/>
                  </a:cubicBezTo>
                  <a:close/>
                </a:path>
              </a:pathLst>
            </a:custGeom>
            <a:solidFill>
              <a:srgbClr val="1A8FFF">
                <a:alpha val="1961"/>
              </a:srgbClr>
            </a:solidFill>
          </p:spPr>
        </p:sp>
        <p:sp>
          <p:nvSpPr>
            <p:cNvPr name="Freeform 67" id="67"/>
            <p:cNvSpPr/>
            <p:nvPr/>
          </p:nvSpPr>
          <p:spPr>
            <a:xfrm flipH="false" flipV="false" rot="0">
              <a:off x="0" y="0"/>
              <a:ext cx="7360611" cy="1057910"/>
            </a:xfrm>
            <a:custGeom>
              <a:avLst/>
              <a:gdLst/>
              <a:ahLst/>
              <a:cxnLst/>
              <a:rect r="r" b="b" t="t" l="l"/>
              <a:pathLst>
                <a:path h="1057910" w="7360611">
                  <a:moveTo>
                    <a:pt x="0" y="260731"/>
                  </a:moveTo>
                  <a:cubicBezTo>
                    <a:pt x="0" y="116332"/>
                    <a:pt x="184470" y="0"/>
                    <a:pt x="410518" y="0"/>
                  </a:cubicBezTo>
                  <a:lnTo>
                    <a:pt x="6950114" y="0"/>
                  </a:lnTo>
                  <a:lnTo>
                    <a:pt x="6950114" y="16891"/>
                  </a:lnTo>
                  <a:lnTo>
                    <a:pt x="6950114" y="0"/>
                  </a:lnTo>
                  <a:cubicBezTo>
                    <a:pt x="7176162" y="0"/>
                    <a:pt x="7360611" y="116332"/>
                    <a:pt x="7360611" y="260731"/>
                  </a:cubicBezTo>
                  <a:lnTo>
                    <a:pt x="7334669" y="260731"/>
                  </a:lnTo>
                  <a:lnTo>
                    <a:pt x="7360611" y="260731"/>
                  </a:lnTo>
                  <a:lnTo>
                    <a:pt x="7360611" y="797179"/>
                  </a:lnTo>
                  <a:lnTo>
                    <a:pt x="7334669" y="797179"/>
                  </a:lnTo>
                  <a:lnTo>
                    <a:pt x="7360611" y="797179"/>
                  </a:lnTo>
                  <a:cubicBezTo>
                    <a:pt x="7360611" y="941578"/>
                    <a:pt x="7176162" y="1057910"/>
                    <a:pt x="6950114" y="1057910"/>
                  </a:cubicBezTo>
                  <a:lnTo>
                    <a:pt x="6950114" y="1041019"/>
                  </a:lnTo>
                  <a:lnTo>
                    <a:pt x="6950114" y="1057910"/>
                  </a:lnTo>
                  <a:lnTo>
                    <a:pt x="410518" y="1057910"/>
                  </a:lnTo>
                  <a:lnTo>
                    <a:pt x="410518" y="1041019"/>
                  </a:lnTo>
                  <a:lnTo>
                    <a:pt x="410518" y="1057910"/>
                  </a:lnTo>
                  <a:cubicBezTo>
                    <a:pt x="184470" y="1058037"/>
                    <a:pt x="0" y="941705"/>
                    <a:pt x="0" y="797179"/>
                  </a:cubicBezTo>
                  <a:lnTo>
                    <a:pt x="0" y="260731"/>
                  </a:lnTo>
                  <a:lnTo>
                    <a:pt x="25962" y="260731"/>
                  </a:lnTo>
                  <a:lnTo>
                    <a:pt x="0" y="260731"/>
                  </a:lnTo>
                  <a:moveTo>
                    <a:pt x="52120" y="260731"/>
                  </a:moveTo>
                  <a:lnTo>
                    <a:pt x="52120" y="797179"/>
                  </a:lnTo>
                  <a:lnTo>
                    <a:pt x="25962" y="797179"/>
                  </a:lnTo>
                  <a:lnTo>
                    <a:pt x="52120" y="797179"/>
                  </a:lnTo>
                  <a:cubicBezTo>
                    <a:pt x="52120" y="922147"/>
                    <a:pt x="211994" y="1024128"/>
                    <a:pt x="410518" y="1024128"/>
                  </a:cubicBezTo>
                  <a:lnTo>
                    <a:pt x="6950114" y="1024128"/>
                  </a:lnTo>
                  <a:cubicBezTo>
                    <a:pt x="7148638" y="1024128"/>
                    <a:pt x="7308512" y="922147"/>
                    <a:pt x="7308512" y="797179"/>
                  </a:cubicBezTo>
                  <a:lnTo>
                    <a:pt x="7308512" y="260731"/>
                  </a:lnTo>
                  <a:cubicBezTo>
                    <a:pt x="7308512" y="135763"/>
                    <a:pt x="7148638" y="33782"/>
                    <a:pt x="6950114" y="33782"/>
                  </a:cubicBezTo>
                  <a:lnTo>
                    <a:pt x="410518" y="33782"/>
                  </a:lnTo>
                  <a:lnTo>
                    <a:pt x="410518" y="16891"/>
                  </a:lnTo>
                  <a:lnTo>
                    <a:pt x="410518" y="33909"/>
                  </a:lnTo>
                  <a:cubicBezTo>
                    <a:pt x="211994" y="33909"/>
                    <a:pt x="52120" y="135890"/>
                    <a:pt x="52120" y="260731"/>
                  </a:cubicBezTo>
                  <a:close/>
                </a:path>
              </a:pathLst>
            </a:custGeom>
            <a:solidFill>
              <a:srgbClr val="1A8FFF"/>
            </a:solidFill>
          </p:spPr>
        </p:sp>
      </p:grpSp>
      <p:grpSp>
        <p:nvGrpSpPr>
          <p:cNvPr name="Group 68" id="68"/>
          <p:cNvGrpSpPr/>
          <p:nvPr/>
        </p:nvGrpSpPr>
        <p:grpSpPr>
          <a:xfrm rot="0">
            <a:off x="12205335" y="4833623"/>
            <a:ext cx="5382139" cy="793499"/>
            <a:chOff x="0" y="0"/>
            <a:chExt cx="7176186" cy="1057999"/>
          </a:xfrm>
        </p:grpSpPr>
        <p:sp>
          <p:nvSpPr>
            <p:cNvPr name="Freeform 69" id="69"/>
            <p:cNvSpPr/>
            <p:nvPr/>
          </p:nvSpPr>
          <p:spPr>
            <a:xfrm flipH="false" flipV="false" rot="0">
              <a:off x="25312" y="16891"/>
              <a:ext cx="7125619" cy="1024128"/>
            </a:xfrm>
            <a:custGeom>
              <a:avLst/>
              <a:gdLst/>
              <a:ahLst/>
              <a:cxnLst/>
              <a:rect r="r" b="b" t="t" l="l"/>
              <a:pathLst>
                <a:path h="1024128" w="7125619">
                  <a:moveTo>
                    <a:pt x="0" y="243840"/>
                  </a:moveTo>
                  <a:cubicBezTo>
                    <a:pt x="0" y="109220"/>
                    <a:pt x="167859" y="0"/>
                    <a:pt x="374922" y="0"/>
                  </a:cubicBezTo>
                  <a:lnTo>
                    <a:pt x="6750697" y="0"/>
                  </a:lnTo>
                  <a:cubicBezTo>
                    <a:pt x="6957760" y="0"/>
                    <a:pt x="7125619" y="109220"/>
                    <a:pt x="7125619" y="243840"/>
                  </a:cubicBezTo>
                  <a:lnTo>
                    <a:pt x="7125619" y="780288"/>
                  </a:lnTo>
                  <a:cubicBezTo>
                    <a:pt x="7125619" y="914908"/>
                    <a:pt x="6957760" y="1024128"/>
                    <a:pt x="6750697" y="1024128"/>
                  </a:cubicBezTo>
                  <a:lnTo>
                    <a:pt x="374922" y="1024128"/>
                  </a:lnTo>
                  <a:cubicBezTo>
                    <a:pt x="167859" y="1024128"/>
                    <a:pt x="0" y="914908"/>
                    <a:pt x="0" y="780288"/>
                  </a:cubicBezTo>
                  <a:close/>
                </a:path>
              </a:pathLst>
            </a:custGeom>
            <a:solidFill>
              <a:srgbClr val="FFB800">
                <a:alpha val="1961"/>
              </a:srgbClr>
            </a:solidFill>
          </p:spPr>
        </p:sp>
        <p:sp>
          <p:nvSpPr>
            <p:cNvPr name="Freeform 70" id="70"/>
            <p:cNvSpPr/>
            <p:nvPr/>
          </p:nvSpPr>
          <p:spPr>
            <a:xfrm flipH="false" flipV="false" rot="0">
              <a:off x="0" y="0"/>
              <a:ext cx="7176224" cy="1057910"/>
            </a:xfrm>
            <a:custGeom>
              <a:avLst/>
              <a:gdLst/>
              <a:ahLst/>
              <a:cxnLst/>
              <a:rect r="r" b="b" t="t" l="l"/>
              <a:pathLst>
                <a:path h="1057910" w="7176224">
                  <a:moveTo>
                    <a:pt x="0" y="260731"/>
                  </a:moveTo>
                  <a:cubicBezTo>
                    <a:pt x="0" y="116332"/>
                    <a:pt x="179849" y="0"/>
                    <a:pt x="400234" y="0"/>
                  </a:cubicBezTo>
                  <a:lnTo>
                    <a:pt x="6776009" y="0"/>
                  </a:lnTo>
                  <a:lnTo>
                    <a:pt x="6776009" y="16891"/>
                  </a:lnTo>
                  <a:lnTo>
                    <a:pt x="6776009" y="0"/>
                  </a:lnTo>
                  <a:cubicBezTo>
                    <a:pt x="6996394" y="0"/>
                    <a:pt x="7176224" y="116332"/>
                    <a:pt x="7176224" y="260731"/>
                  </a:cubicBezTo>
                  <a:lnTo>
                    <a:pt x="7150931" y="260731"/>
                  </a:lnTo>
                  <a:lnTo>
                    <a:pt x="7176224" y="260731"/>
                  </a:lnTo>
                  <a:lnTo>
                    <a:pt x="7176224" y="797179"/>
                  </a:lnTo>
                  <a:lnTo>
                    <a:pt x="7150931" y="797179"/>
                  </a:lnTo>
                  <a:lnTo>
                    <a:pt x="7176224" y="797179"/>
                  </a:lnTo>
                  <a:cubicBezTo>
                    <a:pt x="7176224" y="941578"/>
                    <a:pt x="6996394" y="1057910"/>
                    <a:pt x="6776009" y="1057910"/>
                  </a:cubicBezTo>
                  <a:lnTo>
                    <a:pt x="6776009" y="1041019"/>
                  </a:lnTo>
                  <a:lnTo>
                    <a:pt x="6776009" y="1057910"/>
                  </a:lnTo>
                  <a:lnTo>
                    <a:pt x="400234" y="1057910"/>
                  </a:lnTo>
                  <a:lnTo>
                    <a:pt x="400234" y="1041019"/>
                  </a:lnTo>
                  <a:lnTo>
                    <a:pt x="400234" y="1057910"/>
                  </a:lnTo>
                  <a:cubicBezTo>
                    <a:pt x="179849" y="1058037"/>
                    <a:pt x="0" y="941705"/>
                    <a:pt x="0" y="797179"/>
                  </a:cubicBezTo>
                  <a:lnTo>
                    <a:pt x="0" y="260731"/>
                  </a:lnTo>
                  <a:lnTo>
                    <a:pt x="25312" y="260731"/>
                  </a:lnTo>
                  <a:lnTo>
                    <a:pt x="0" y="260731"/>
                  </a:lnTo>
                  <a:moveTo>
                    <a:pt x="50814" y="260731"/>
                  </a:moveTo>
                  <a:lnTo>
                    <a:pt x="50814" y="797179"/>
                  </a:lnTo>
                  <a:lnTo>
                    <a:pt x="25312" y="797179"/>
                  </a:lnTo>
                  <a:lnTo>
                    <a:pt x="50814" y="797179"/>
                  </a:lnTo>
                  <a:cubicBezTo>
                    <a:pt x="50814" y="922147"/>
                    <a:pt x="206683" y="1024128"/>
                    <a:pt x="400234" y="1024128"/>
                  </a:cubicBezTo>
                  <a:lnTo>
                    <a:pt x="6776009" y="1024128"/>
                  </a:lnTo>
                  <a:cubicBezTo>
                    <a:pt x="6969560" y="1024128"/>
                    <a:pt x="7125429" y="922147"/>
                    <a:pt x="7125429" y="797179"/>
                  </a:cubicBezTo>
                  <a:lnTo>
                    <a:pt x="7125429" y="260731"/>
                  </a:lnTo>
                  <a:cubicBezTo>
                    <a:pt x="7125429" y="135763"/>
                    <a:pt x="6969560" y="33782"/>
                    <a:pt x="6776009" y="33782"/>
                  </a:cubicBezTo>
                  <a:lnTo>
                    <a:pt x="400234" y="33782"/>
                  </a:lnTo>
                  <a:lnTo>
                    <a:pt x="400234" y="16891"/>
                  </a:lnTo>
                  <a:lnTo>
                    <a:pt x="400234" y="33909"/>
                  </a:lnTo>
                  <a:cubicBezTo>
                    <a:pt x="206683" y="33909"/>
                    <a:pt x="50814" y="135890"/>
                    <a:pt x="50814" y="260731"/>
                  </a:cubicBezTo>
                  <a:close/>
                </a:path>
              </a:pathLst>
            </a:custGeom>
            <a:solidFill>
              <a:srgbClr val="FFB800"/>
            </a:solidFill>
          </p:spPr>
        </p:sp>
      </p:grpSp>
      <p:grpSp>
        <p:nvGrpSpPr>
          <p:cNvPr name="Group 71" id="71"/>
          <p:cNvGrpSpPr/>
          <p:nvPr/>
        </p:nvGrpSpPr>
        <p:grpSpPr>
          <a:xfrm rot="0">
            <a:off x="6211567" y="6120127"/>
            <a:ext cx="11344913" cy="3208154"/>
            <a:chOff x="0" y="0"/>
            <a:chExt cx="14891169" cy="4210977"/>
          </a:xfrm>
        </p:grpSpPr>
        <p:sp>
          <p:nvSpPr>
            <p:cNvPr name="Freeform 72" id="72"/>
            <p:cNvSpPr/>
            <p:nvPr/>
          </p:nvSpPr>
          <p:spPr>
            <a:xfrm flipH="false" flipV="false" rot="0">
              <a:off x="8509" y="8509"/>
              <a:ext cx="14874240" cy="4194048"/>
            </a:xfrm>
            <a:custGeom>
              <a:avLst/>
              <a:gdLst/>
              <a:ahLst/>
              <a:cxnLst/>
              <a:rect r="r" b="b" t="t" l="l"/>
              <a:pathLst>
                <a:path h="4194048" w="14874240">
                  <a:moveTo>
                    <a:pt x="0" y="0"/>
                  </a:moveTo>
                  <a:lnTo>
                    <a:pt x="14874240" y="0"/>
                  </a:lnTo>
                  <a:lnTo>
                    <a:pt x="14874240" y="4194048"/>
                  </a:lnTo>
                  <a:lnTo>
                    <a:pt x="0" y="4194048"/>
                  </a:lnTo>
                  <a:close/>
                </a:path>
              </a:pathLst>
            </a:custGeom>
            <a:solidFill>
              <a:srgbClr val="0D1E35"/>
            </a:solidFill>
          </p:spPr>
        </p:sp>
        <p:sp>
          <p:nvSpPr>
            <p:cNvPr name="Freeform 73" id="73"/>
            <p:cNvSpPr/>
            <p:nvPr/>
          </p:nvSpPr>
          <p:spPr>
            <a:xfrm flipH="false" flipV="false" rot="0">
              <a:off x="0" y="0"/>
              <a:ext cx="14891257" cy="4211066"/>
            </a:xfrm>
            <a:custGeom>
              <a:avLst/>
              <a:gdLst/>
              <a:ahLst/>
              <a:cxnLst/>
              <a:rect r="r" b="b" t="t" l="l"/>
              <a:pathLst>
                <a:path h="4211066" w="14891257">
                  <a:moveTo>
                    <a:pt x="8509" y="0"/>
                  </a:moveTo>
                  <a:lnTo>
                    <a:pt x="14882749" y="0"/>
                  </a:lnTo>
                  <a:cubicBezTo>
                    <a:pt x="14887448" y="0"/>
                    <a:pt x="14891257" y="3810"/>
                    <a:pt x="14891257" y="8509"/>
                  </a:cubicBezTo>
                  <a:lnTo>
                    <a:pt x="14891257" y="4202557"/>
                  </a:lnTo>
                  <a:cubicBezTo>
                    <a:pt x="14891257" y="4207256"/>
                    <a:pt x="14887448" y="4211066"/>
                    <a:pt x="14882749" y="4211066"/>
                  </a:cubicBezTo>
                  <a:lnTo>
                    <a:pt x="8509" y="4211066"/>
                  </a:lnTo>
                  <a:cubicBezTo>
                    <a:pt x="3810" y="4211066"/>
                    <a:pt x="0" y="4207256"/>
                    <a:pt x="0" y="4202557"/>
                  </a:cubicBezTo>
                  <a:lnTo>
                    <a:pt x="0" y="8509"/>
                  </a:lnTo>
                  <a:cubicBezTo>
                    <a:pt x="0" y="3810"/>
                    <a:pt x="3810" y="0"/>
                    <a:pt x="8509" y="0"/>
                  </a:cubicBezTo>
                  <a:moveTo>
                    <a:pt x="8509" y="16891"/>
                  </a:moveTo>
                  <a:lnTo>
                    <a:pt x="8509" y="8509"/>
                  </a:lnTo>
                  <a:lnTo>
                    <a:pt x="17018" y="8509"/>
                  </a:lnTo>
                  <a:lnTo>
                    <a:pt x="17018" y="4202557"/>
                  </a:lnTo>
                  <a:lnTo>
                    <a:pt x="8509" y="4202557"/>
                  </a:lnTo>
                  <a:lnTo>
                    <a:pt x="8509" y="4194048"/>
                  </a:lnTo>
                  <a:lnTo>
                    <a:pt x="14882749" y="4194048"/>
                  </a:lnTo>
                  <a:lnTo>
                    <a:pt x="14882749" y="4202557"/>
                  </a:lnTo>
                  <a:lnTo>
                    <a:pt x="14874239" y="4202557"/>
                  </a:lnTo>
                  <a:lnTo>
                    <a:pt x="14874239" y="8509"/>
                  </a:lnTo>
                  <a:lnTo>
                    <a:pt x="14882749" y="8509"/>
                  </a:lnTo>
                  <a:lnTo>
                    <a:pt x="14882749" y="17018"/>
                  </a:lnTo>
                  <a:lnTo>
                    <a:pt x="8509" y="17018"/>
                  </a:lnTo>
                  <a:close/>
                </a:path>
              </a:pathLst>
            </a:custGeom>
            <a:solidFill>
              <a:srgbClr val="1E3352"/>
            </a:solidFill>
          </p:spPr>
        </p:sp>
      </p:grpSp>
      <p:grpSp>
        <p:nvGrpSpPr>
          <p:cNvPr name="Group 74" id="74"/>
          <p:cNvGrpSpPr/>
          <p:nvPr/>
        </p:nvGrpSpPr>
        <p:grpSpPr>
          <a:xfrm rot="0">
            <a:off x="6583680" y="6400800"/>
            <a:ext cx="10424160" cy="1828800"/>
            <a:chOff x="0" y="0"/>
            <a:chExt cx="13898880" cy="2438400"/>
          </a:xfrm>
        </p:grpSpPr>
        <p:sp>
          <p:nvSpPr>
            <p:cNvPr name="Freeform 75" id="75"/>
            <p:cNvSpPr/>
            <p:nvPr/>
          </p:nvSpPr>
          <p:spPr>
            <a:xfrm flipH="false" flipV="false" rot="0">
              <a:off x="0" y="0"/>
              <a:ext cx="13898880" cy="2438400"/>
            </a:xfrm>
            <a:custGeom>
              <a:avLst/>
              <a:gdLst/>
              <a:ahLst/>
              <a:cxnLst/>
              <a:rect r="r" b="b" t="t" l="l"/>
              <a:pathLst>
                <a:path h="2438400" w="13898880">
                  <a:moveTo>
                    <a:pt x="0" y="0"/>
                  </a:moveTo>
                  <a:lnTo>
                    <a:pt x="13898880" y="0"/>
                  </a:lnTo>
                  <a:lnTo>
                    <a:pt x="13898880" y="2438400"/>
                  </a:lnTo>
                  <a:lnTo>
                    <a:pt x="0" y="2438400"/>
                  </a:lnTo>
                  <a:close/>
                </a:path>
              </a:pathLst>
            </a:custGeom>
            <a:blipFill>
              <a:blip r:embed="rId3">
                <a:alphaModFix amt="0"/>
              </a:blip>
              <a:stretch>
                <a:fillRect l="0" t="-61064" r="0" b="-61064"/>
              </a:stretch>
            </a:blipFill>
          </p:spPr>
        </p:sp>
        <p:sp>
          <p:nvSpPr>
            <p:cNvPr name="TextBox 76" id="76"/>
            <p:cNvSpPr txBox="true"/>
            <p:nvPr/>
          </p:nvSpPr>
          <p:spPr>
            <a:xfrm>
              <a:off x="0" y="-38100"/>
              <a:ext cx="13898880" cy="2476500"/>
            </a:xfrm>
            <a:prstGeom prst="rect">
              <a:avLst/>
            </a:prstGeom>
          </p:spPr>
          <p:txBody>
            <a:bodyPr anchor="ctr" rtlCol="false" tIns="0" lIns="0" bIns="0" rIns="0"/>
            <a:lstStyle/>
            <a:p>
              <a:pPr algn="ctr">
                <a:lnSpc>
                  <a:spcPts val="2879"/>
                </a:lnSpc>
              </a:pPr>
              <a:r>
                <a:rPr lang="en-US" sz="2400" i="true">
                  <a:solidFill>
                    <a:srgbClr val="6B8BAA"/>
                  </a:solidFill>
                  <a:latin typeface="Calibri (MS) Italics"/>
                  <a:ea typeface="Calibri (MS) Italics"/>
                  <a:cs typeface="Calibri (MS) Italics"/>
                  <a:sym typeface="Calibri (MS) Italics"/>
                </a:rPr>
                <a:t>"Les données ne parlent pas d'elles-mêmes.</a:t>
              </a:r>
            </a:p>
            <a:p>
              <a:pPr algn="ctr">
                <a:lnSpc>
                  <a:spcPts val="2879"/>
                </a:lnSpc>
              </a:pPr>
              <a:r>
                <a:rPr lang="en-US" sz="2400" i="true">
                  <a:solidFill>
                    <a:srgbClr val="6B8BAA"/>
                  </a:solidFill>
                  <a:latin typeface="Calibri (MS) Italics"/>
                  <a:ea typeface="Calibri (MS) Italics"/>
                  <a:cs typeface="Calibri (MS) Italics"/>
                  <a:sym typeface="Calibri (MS) Italics"/>
                </a:rPr>
                <a:t>C'est la modélisation qui leur donne une voix."</a:t>
              </a:r>
            </a:p>
          </p:txBody>
        </p:sp>
      </p:grpSp>
      <p:grpSp>
        <p:nvGrpSpPr>
          <p:cNvPr name="Group 77" id="77"/>
          <p:cNvGrpSpPr/>
          <p:nvPr/>
        </p:nvGrpSpPr>
        <p:grpSpPr>
          <a:xfrm rot="0">
            <a:off x="6583680" y="8321040"/>
            <a:ext cx="10424160" cy="731520"/>
            <a:chOff x="0" y="0"/>
            <a:chExt cx="13898880" cy="975360"/>
          </a:xfrm>
        </p:grpSpPr>
        <p:sp>
          <p:nvSpPr>
            <p:cNvPr name="Freeform 78" id="78"/>
            <p:cNvSpPr/>
            <p:nvPr/>
          </p:nvSpPr>
          <p:spPr>
            <a:xfrm flipH="false" flipV="false" rot="0">
              <a:off x="0" y="0"/>
              <a:ext cx="13898880" cy="975360"/>
            </a:xfrm>
            <a:custGeom>
              <a:avLst/>
              <a:gdLst/>
              <a:ahLst/>
              <a:cxnLst/>
              <a:rect r="r" b="b" t="t" l="l"/>
              <a:pathLst>
                <a:path h="975360" w="13898880">
                  <a:moveTo>
                    <a:pt x="0" y="0"/>
                  </a:moveTo>
                  <a:lnTo>
                    <a:pt x="13898880" y="0"/>
                  </a:lnTo>
                  <a:lnTo>
                    <a:pt x="13898880" y="975360"/>
                  </a:lnTo>
                  <a:lnTo>
                    <a:pt x="0" y="975360"/>
                  </a:lnTo>
                  <a:close/>
                </a:path>
              </a:pathLst>
            </a:custGeom>
            <a:blipFill>
              <a:blip r:embed="rId3">
                <a:alphaModFix amt="0"/>
              </a:blip>
              <a:stretch>
                <a:fillRect l="0" t="-227661" r="0" b="-227661"/>
              </a:stretch>
            </a:blipFill>
          </p:spPr>
        </p:sp>
        <p:sp>
          <p:nvSpPr>
            <p:cNvPr name="TextBox 79" id="79"/>
            <p:cNvSpPr txBox="true"/>
            <p:nvPr/>
          </p:nvSpPr>
          <p:spPr>
            <a:xfrm>
              <a:off x="0" y="-38100"/>
              <a:ext cx="13898880" cy="1013460"/>
            </a:xfrm>
            <a:prstGeom prst="rect">
              <a:avLst/>
            </a:prstGeom>
          </p:spPr>
          <p:txBody>
            <a:bodyPr anchor="ctr" rtlCol="false" tIns="0" lIns="0" bIns="0" rIns="0"/>
            <a:lstStyle/>
            <a:p>
              <a:pPr algn="ctr">
                <a:lnSpc>
                  <a:spcPts val="2160"/>
                </a:lnSpc>
              </a:pPr>
              <a:r>
                <a:rPr lang="en-US" sz="1800">
                  <a:solidFill>
                    <a:srgbClr val="FFFFFF"/>
                  </a:solidFill>
                  <a:latin typeface="Calibri (MS)"/>
                  <a:ea typeface="Calibri (MS)"/>
                  <a:cs typeface="Calibri (MS)"/>
                  <a:sym typeface="Calibri (MS)"/>
                </a:rPr>
                <a:t>— Analyse Comportementale Clientèle Retail · 2025-2026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DAHHfvqQOvw</dc:identifier>
  <dcterms:modified xsi:type="dcterms:W3CDTF">2011-08-01T06:04:30Z</dcterms:modified>
  <cp:revision>1</cp:revision>
  <dc:title>ProjetML_Siwar_ADALI.pptx</dc:title>
</cp:coreProperties>
</file>